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3965248" y="1640793"/>
            <a:ext cx="4051419" cy="3426864"/>
          </a:xfrm>
          <a:prstGeom prst="rect">
            <a:avLst/>
          </a:prstGeom>
          <a:blipFill dpi="0"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45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4328" y="341745"/>
            <a:ext cx="1064952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Pollution Preparedness, Response and Cooperation </a:t>
            </a:r>
            <a:r>
              <a:rPr lang="en-GB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1 - </a:t>
            </a:r>
            <a:r>
              <a:rPr lang="en-GB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Level Course</a:t>
            </a:r>
            <a:r>
              <a:rPr lang="en-GB" altLang="en-US" sz="40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b="1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b="1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CA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and Orientation</a:t>
            </a:r>
            <a:endParaRPr lang="en-IN" sz="4000" dirty="0">
              <a:solidFill>
                <a:srgbClr val="00B0F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63040" y="1234440"/>
            <a:ext cx="1003161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Welcome</a:t>
            </a:r>
            <a:endParaRPr lang="en-GB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endParaRPr lang="en-GB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GB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Domestic arrangements</a:t>
            </a:r>
          </a:p>
          <a:p>
            <a:pPr>
              <a:defRPr/>
            </a:pPr>
            <a:endParaRPr lang="en-GB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GB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Aims and objectives</a:t>
            </a:r>
          </a:p>
          <a:p>
            <a:pPr>
              <a:defRPr/>
            </a:pPr>
            <a:endParaRPr lang="en-GB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GB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content and timetable</a:t>
            </a:r>
          </a:p>
          <a:p>
            <a:pPr>
              <a:defRPr/>
            </a:pPr>
            <a:endParaRPr lang="en-GB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GB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18836" y="-19231"/>
            <a:ext cx="10954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</a:t>
            </a:r>
            <a:r>
              <a:rPr lang="en-US" sz="4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Orientation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58545" y="1281667"/>
            <a:ext cx="10619485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fire escapes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alarm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aid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security considerations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37308" y="0"/>
            <a:ext cx="10917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 Briefing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87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02326" y="838322"/>
            <a:ext cx="10571019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Smoking areas</a:t>
            </a:r>
          </a:p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Toilets</a:t>
            </a:r>
          </a:p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Refreshments and lunches</a:t>
            </a:r>
          </a:p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Cell phones – silent mode</a:t>
            </a:r>
          </a:p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cards or contact details</a:t>
            </a:r>
          </a:p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materials</a:t>
            </a:r>
          </a:p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 photograph</a:t>
            </a:r>
          </a:p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forms</a:t>
            </a:r>
          </a:p>
          <a:p>
            <a:pPr>
              <a:spcBef>
                <a:spcPts val="60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Certificate of attendance</a:t>
            </a: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32691" y="0"/>
            <a:ext cx="10926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Domestic Arrangements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82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80744" y="315163"/>
            <a:ext cx="10095437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40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course is based on a series of model OPRC courses developed by IMO.</a:t>
            </a:r>
          </a:p>
          <a:p>
            <a:pPr>
              <a:spcBef>
                <a:spcPct val="0"/>
              </a:spcBef>
            </a:pPr>
            <a:endParaRPr lang="en-GB" altLang="en-US" sz="2000" dirty="0" smtClean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3 – The Strategic Level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Incident Preparedness and Response Objectives</a:t>
            </a:r>
          </a:p>
          <a:p>
            <a:pPr>
              <a:spcBef>
                <a:spcPct val="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2 – The Tactical Level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Incident Management and Tactics </a:t>
            </a:r>
          </a:p>
          <a:p>
            <a:pPr>
              <a:spcBef>
                <a:spcPct val="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1 – The Operational Level 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Response Operations</a:t>
            </a:r>
          </a:p>
          <a:p>
            <a:pPr>
              <a:spcBef>
                <a:spcPct val="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Introductory Level – Awareness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Introduction to Oil Spill Response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905162" y="-38780"/>
            <a:ext cx="10571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17321" y="1335023"/>
            <a:ext cx="994867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Focused on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activities that take place in the field.</a:t>
            </a:r>
          </a:p>
          <a:p>
            <a:pPr algn="just">
              <a:defRPr/>
            </a:pPr>
            <a:endParaRPr lang="en-GB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Designed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prepare </a:t>
            </a: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 assist in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 of field operations &amp;</a:t>
            </a: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health and safety aspects of a response.</a:t>
            </a:r>
          </a:p>
          <a:p>
            <a:pPr lvl="1" algn="just">
              <a:spcBef>
                <a:spcPct val="0"/>
              </a:spcBef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29366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2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09838" y="1299987"/>
            <a:ext cx="1057101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Consists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a number of modules: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 of oil spill response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 response techniques – at sea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 response techniques – shoreline assessment and clean-up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 response support issues</a:t>
            </a:r>
          </a:p>
          <a:p>
            <a:pPr lvl="1">
              <a:spcBef>
                <a:spcPct val="0"/>
              </a:spcBef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</a:t>
            </a:r>
            <a:r>
              <a:rPr lang="en-US" sz="36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Content</a:t>
            </a:r>
            <a:endParaRPr lang="en-IN" sz="36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15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35854" y="1160549"/>
            <a:ext cx="10571019" cy="503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Please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introduce yourself: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Who are you?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Who do you represent?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What does your job entail?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Any previous oil spill response experience?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What are your expectations of this course?</a:t>
            </a:r>
          </a:p>
          <a:p>
            <a:pPr lvl="1">
              <a:spcBef>
                <a:spcPct val="0"/>
              </a:spcBef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29366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71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56883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364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inherit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38</cp:revision>
  <dcterms:created xsi:type="dcterms:W3CDTF">2024-09-27T05:40:49Z</dcterms:created>
  <dcterms:modified xsi:type="dcterms:W3CDTF">2025-05-08T09:13:57Z</dcterms:modified>
</cp:coreProperties>
</file>
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6" r:id="rId5"/>
    <p:sldId id="293" r:id="rId6"/>
    <p:sldId id="267" r:id="rId7"/>
    <p:sldId id="268" r:id="rId8"/>
    <p:sldId id="269" r:id="rId9"/>
    <p:sldId id="270" r:id="rId10"/>
    <p:sldId id="271" r:id="rId11"/>
    <p:sldId id="272" r:id="rId12"/>
    <p:sldId id="294" r:id="rId13"/>
    <p:sldId id="295" r:id="rId14"/>
    <p:sldId id="296" r:id="rId15"/>
    <p:sldId id="297" r:id="rId16"/>
    <p:sldId id="298" r:id="rId17"/>
    <p:sldId id="273" r:id="rId18"/>
    <p:sldId id="299" r:id="rId19"/>
    <p:sldId id="300" r:id="rId20"/>
    <p:sldId id="301" r:id="rId21"/>
    <p:sldId id="302" r:id="rId22"/>
    <p:sldId id="303" r:id="rId23"/>
    <p:sldId id="304" r:id="rId24"/>
    <p:sldId id="305" r:id="rId25"/>
    <p:sldId id="307" r:id="rId26"/>
    <p:sldId id="306" r:id="rId27"/>
    <p:sldId id="274" r:id="rId28"/>
    <p:sldId id="308" r:id="rId29"/>
    <p:sldId id="309" r:id="rId30"/>
    <p:sldId id="310" r:id="rId31"/>
    <p:sldId id="311" r:id="rId32"/>
    <p:sldId id="312" r:id="rId33"/>
    <p:sldId id="313" r:id="rId34"/>
    <p:sldId id="314" r:id="rId35"/>
    <p:sldId id="315" r:id="rId36"/>
    <p:sldId id="264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1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15-01-2025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43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15-01-2025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895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15-01-2025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6282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15-01-2025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750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15-01-2025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587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15-01-2025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6559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15-01-2025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471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15-01-2025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691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15-01-2025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775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15-01-2025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961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15-01-2025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7002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/>
            </a:gs>
            <a:gs pos="50000">
              <a:schemeClr val="accent2"/>
            </a:gs>
            <a:gs pos="100000">
              <a:schemeClr val="accent2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DD1F7B-0C96-49B7-BB03-29AB0B73B640}" type="datetimeFigureOut">
              <a:rPr lang="en-IN" smtClean="0"/>
              <a:t>15-01-2025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510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33165" y="6378300"/>
            <a:ext cx="1193158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4195" y="2197977"/>
            <a:ext cx="10649528" cy="11209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en-US" sz="4000" b="1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Impacts </a:t>
            </a:r>
            <a:r>
              <a:rPr lang="en-US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 Oil Spills</a:t>
            </a:r>
            <a:endParaRPr lang="en-IN" sz="44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4839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363698" y="2695296"/>
            <a:ext cx="975540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be aware of and recognize the impacts of oil spills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612918" y="0"/>
            <a:ext cx="109543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Objective</a:t>
            </a:r>
            <a:endParaRPr lang="en-IN" sz="40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6444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Impacts of </a:t>
            </a:r>
            <a:r>
              <a:rPr lang="en-US" altLang="en-US" sz="4000" b="1" dirty="0" smtClean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</a:t>
            </a:r>
            <a:r>
              <a:rPr lang="en-US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lang="en-US" altLang="en-US" sz="4000" b="1" dirty="0" smtClean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pills</a:t>
            </a:r>
            <a:r>
              <a:rPr lang="en-US" altLang="en-US" sz="40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 oil spills</a:t>
            </a:r>
            <a:endParaRPr lang="en-IN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59098" y="1239349"/>
            <a:ext cx="9439563" cy="3847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spills can adversely impact: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en-US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health and safety due to oil toxicity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en-US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social and economic activities</a:t>
            </a:r>
            <a:r>
              <a:rPr lang="ja-JP" altLang="en-US" sz="2800" dirty="0">
                <a:ln w="0"/>
                <a:latin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(e.g. fisheries)</a:t>
            </a:r>
            <a:endParaRPr lang="en-US" altLang="en-US" sz="28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en-US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marine and coastal environment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altLang="en-US" sz="32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Impacts can be from: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en-US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interference with activities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en-US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smothering</a:t>
            </a:r>
          </a:p>
        </p:txBody>
      </p:sp>
    </p:spTree>
    <p:extLst>
      <p:ext uri="{BB962C8B-B14F-4D97-AF65-F5344CB8AC3E}">
        <p14:creationId xmlns:p14="http://schemas.microsoft.com/office/powerpoint/2010/main" val="3394738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</a:t>
            </a:r>
            <a:r>
              <a:rPr lang="en-CA" altLang="en-US" sz="4000" b="1" dirty="0" smtClean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Toxicity </a:t>
            </a:r>
            <a:endParaRPr lang="en-IN" b="1" dirty="0">
              <a:ln w="0"/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425263" y="1103245"/>
            <a:ext cx="10289309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Will depend on: 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en-CA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type and the amount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en-CA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exposure duration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en-CA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sensitivity of organisms</a:t>
            </a:r>
          </a:p>
          <a:p>
            <a:pPr marL="914400" lvl="1" indent="-457200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CA" altLang="en-US" sz="32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Toxic components: 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en-CA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Polycyclic Aromatic Hydrocarbons (PAHs)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en-CA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light fractions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CA" altLang="en-US" sz="24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BETX (Benzene, Ethylene, Toluene, Xylene)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en-CA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heavy metals</a:t>
            </a:r>
          </a:p>
        </p:txBody>
      </p:sp>
    </p:spTree>
    <p:extLst>
      <p:ext uri="{BB962C8B-B14F-4D97-AF65-F5344CB8AC3E}">
        <p14:creationId xmlns:p14="http://schemas.microsoft.com/office/powerpoint/2010/main" val="2688954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</a:t>
            </a:r>
            <a:r>
              <a:rPr lang="en-CA" altLang="en-US" sz="4000" b="1" dirty="0" smtClean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Toxicity </a:t>
            </a:r>
            <a:endParaRPr lang="en-IN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474307" y="1221479"/>
            <a:ext cx="8885845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CA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Generally:  </a:t>
            </a:r>
          </a:p>
          <a:p>
            <a:pPr lvl="1" algn="just">
              <a:lnSpc>
                <a:spcPct val="150000"/>
              </a:lnSpc>
            </a:pPr>
            <a:r>
              <a:rPr lang="en-CA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Light oil: effects are from oil toxicity</a:t>
            </a:r>
          </a:p>
          <a:p>
            <a:pPr lvl="1" algn="just">
              <a:lnSpc>
                <a:spcPct val="150000"/>
              </a:lnSpc>
            </a:pPr>
            <a:r>
              <a:rPr lang="en-CA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Heavy oil: effects are from smothering of organisms</a:t>
            </a:r>
          </a:p>
        </p:txBody>
      </p:sp>
    </p:spTree>
    <p:extLst>
      <p:ext uri="{BB962C8B-B14F-4D97-AF65-F5344CB8AC3E}">
        <p14:creationId xmlns:p14="http://schemas.microsoft.com/office/powerpoint/2010/main" val="157399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altLang="en-US" sz="4000" b="1" dirty="0" smtClean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Impacts </a:t>
            </a:r>
            <a:r>
              <a:rPr lang="en-CA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 O</a:t>
            </a:r>
            <a:r>
              <a:rPr lang="en-CA" altLang="en-US" sz="4000" b="1" dirty="0" smtClean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il</a:t>
            </a:r>
            <a:endParaRPr lang="en-IN" b="1" dirty="0">
              <a:ln w="0"/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72101" y="1209963"/>
            <a:ext cx="10117235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CA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Important to differentiate between impacts to individuals and those to population.</a:t>
            </a:r>
          </a:p>
          <a:p>
            <a:pPr marL="914400" lvl="1" indent="-457200" algn="just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CA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few individuals may suffer severe adverse effects with no impacts to overall population.</a:t>
            </a:r>
          </a:p>
          <a:p>
            <a:pPr marL="457200" indent="-4572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CA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Impacts from oil have been studied since the first major shipping incidents.</a:t>
            </a:r>
          </a:p>
          <a:p>
            <a:pPr marL="457200" indent="-4572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CA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Generally, short term impacts with moderate to low long term impacts.</a:t>
            </a:r>
          </a:p>
        </p:txBody>
      </p:sp>
    </p:spTree>
    <p:extLst>
      <p:ext uri="{BB962C8B-B14F-4D97-AF65-F5344CB8AC3E}">
        <p14:creationId xmlns:p14="http://schemas.microsoft.com/office/powerpoint/2010/main" val="691025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Factors </a:t>
            </a:r>
            <a:r>
              <a:rPr lang="en-GB" altLang="en-US" sz="4000" b="1" dirty="0" smtClean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Affecting </a:t>
            </a:r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GB" altLang="en-US" sz="4000" b="1" dirty="0" smtClean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 </a:t>
            </a:r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 </a:t>
            </a:r>
            <a:r>
              <a:rPr lang="en-GB" altLang="en-US" sz="4000" b="1" dirty="0" smtClean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</a:t>
            </a:r>
            <a:endParaRPr lang="en-IN" sz="4000" b="1" dirty="0">
              <a:ln w="0"/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21450" y="1012561"/>
            <a:ext cx="10732654" cy="4955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Type of oil and degree of weathering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Biological characteristics of the area 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Geographic location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Degree of oiling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Oceanographic conditions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Season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Choice of response strategy and effectiveness of response</a:t>
            </a:r>
          </a:p>
        </p:txBody>
      </p:sp>
    </p:spTree>
    <p:extLst>
      <p:ext uri="{BB962C8B-B14F-4D97-AF65-F5344CB8AC3E}">
        <p14:creationId xmlns:p14="http://schemas.microsoft.com/office/powerpoint/2010/main" val="509122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175491" y="2495241"/>
            <a:ext cx="1187796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Impacts on </a:t>
            </a:r>
            <a:r>
              <a:rPr lang="en-GB" altLang="en-US" sz="4000" b="1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Social </a:t>
            </a:r>
            <a:r>
              <a:rPr lang="en-GB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 </a:t>
            </a:r>
            <a:br>
              <a:rPr lang="en-GB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GB" altLang="en-US" sz="4000" b="1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Economic </a:t>
            </a:r>
            <a:r>
              <a:rPr lang="en-GB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lang="en-GB" altLang="en-US" sz="4000" b="1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ctivities</a:t>
            </a:r>
            <a:endParaRPr lang="en-IN" sz="40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4174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Social and </a:t>
            </a:r>
            <a:r>
              <a:rPr lang="en-GB" altLang="en-US" sz="4000" b="1" dirty="0" smtClean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Economic </a:t>
            </a:r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lang="en-GB" altLang="en-US" sz="4000" b="1" dirty="0" smtClean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ctivities </a:t>
            </a:r>
            <a:endParaRPr lang="en-IN" sz="4000" b="1" dirty="0">
              <a:ln w="0"/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93248" y="753049"/>
            <a:ext cx="9704648" cy="22079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Presence of oil will interfere with normal activities.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Can cause financial losses and loss of enjoyment.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 coastal activities can be impacted.</a:t>
            </a:r>
          </a:p>
        </p:txBody>
      </p:sp>
      <p:pic>
        <p:nvPicPr>
          <p:cNvPr id="6" name="Image 1" descr="cleanupops_touristbeach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248" y="3213097"/>
            <a:ext cx="3848100" cy="291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6"/>
          <p:cNvSpPr txBox="1">
            <a:spLocks noChangeArrowheads="1"/>
          </p:cNvSpPr>
          <p:nvPr/>
        </p:nvSpPr>
        <p:spPr bwMode="auto">
          <a:xfrm>
            <a:off x="3945890" y="5892797"/>
            <a:ext cx="898525" cy="233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CA" altLang="en-US" sz="800" dirty="0">
                <a:solidFill>
                  <a:schemeClr val="bg1"/>
                </a:solidFill>
                <a:latin typeface="Tahoma" panose="020B0604030504040204" pitchFamily="34" charset="0"/>
              </a:rPr>
              <a:t>Source: ITOPF</a:t>
            </a:r>
            <a:endParaRPr lang="en-CA" altLang="en-US" sz="800" dirty="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593" y="3213097"/>
            <a:ext cx="6487895" cy="2913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039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Social and </a:t>
            </a:r>
            <a:r>
              <a:rPr lang="en-GB" altLang="en-US" sz="4000" b="1" dirty="0" smtClean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Economic </a:t>
            </a:r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lang="en-GB" altLang="en-US" sz="4000" b="1" dirty="0" smtClean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ctivities </a:t>
            </a:r>
            <a:endParaRPr lang="en-IN" sz="4000" b="1" dirty="0">
              <a:ln w="0"/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30055" y="1109116"/>
            <a:ext cx="10331890" cy="4462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Impacts on tourism: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Important for many coastal communities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Direct oil impacts on beaches and coastal structures can lead to closures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Potentially fewer clients for restaurants, hotels, water parks, etc.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Positive financial impacts from oil spill workers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Impacts are generally short lived and activities resume following clean-up, however there can be significant image damage that may persist</a:t>
            </a:r>
          </a:p>
        </p:txBody>
      </p:sp>
    </p:spTree>
    <p:extLst>
      <p:ext uri="{BB962C8B-B14F-4D97-AF65-F5344CB8AC3E}">
        <p14:creationId xmlns:p14="http://schemas.microsoft.com/office/powerpoint/2010/main" val="4046821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Social and </a:t>
            </a:r>
            <a:r>
              <a:rPr lang="en-GB" altLang="en-US" sz="4000" b="1" dirty="0" smtClean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Economic </a:t>
            </a:r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lang="en-GB" altLang="en-US" sz="4000" b="1" dirty="0" smtClean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ctivities </a:t>
            </a:r>
            <a:endParaRPr lang="en-IN" sz="4000" b="1" dirty="0">
              <a:ln w="0"/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78361" y="1036703"/>
            <a:ext cx="10012727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Impacts on water intakes: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Many industries need water to function properly</a:t>
            </a: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</a:p>
          <a:p>
            <a:pPr marL="1371600" lvl="2" indent="-457200" algn="just">
              <a:buFont typeface="Wingdings" panose="05000000000000000000" pitchFamily="2" charset="2"/>
              <a:buChar char="§"/>
            </a:pPr>
            <a:r>
              <a:rPr lang="en-GB" altLang="en-US" sz="24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Power and desalination plants</a:t>
            </a:r>
          </a:p>
          <a:p>
            <a:pPr marL="1371600" lvl="2" indent="-457200" algn="just">
              <a:buFont typeface="Wingdings" panose="05000000000000000000" pitchFamily="2" charset="2"/>
              <a:buChar char="§"/>
            </a:pPr>
            <a:r>
              <a:rPr lang="en-GB" altLang="en-US" sz="24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Fish plant</a:t>
            </a:r>
          </a:p>
          <a:p>
            <a:pPr marL="1371600" lvl="2" indent="-457200" algn="just">
              <a:buFont typeface="Wingdings" panose="05000000000000000000" pitchFamily="2" charset="2"/>
              <a:buChar char="§"/>
            </a:pPr>
            <a:r>
              <a:rPr lang="en-GB" altLang="en-US" sz="24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Aquarium, pools, etc.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in a water intake can lead to contamination of water supply, malfunctions, etc.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Can have serious implications for power plants and desalination activities.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Important to protect these areas to avoid contamination.</a:t>
            </a:r>
          </a:p>
        </p:txBody>
      </p:sp>
    </p:spTree>
    <p:extLst>
      <p:ext uri="{BB962C8B-B14F-4D97-AF65-F5344CB8AC3E}">
        <p14:creationId xmlns:p14="http://schemas.microsoft.com/office/powerpoint/2010/main" val="2612325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Social and </a:t>
            </a:r>
            <a:r>
              <a:rPr lang="en-GB" altLang="en-US" sz="4000" b="1" dirty="0" smtClean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Economic </a:t>
            </a:r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lang="en-GB" altLang="en-US" sz="4000" b="1" dirty="0" smtClean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ctivities </a:t>
            </a:r>
            <a:endParaRPr lang="en-IN" sz="4000" b="1" dirty="0">
              <a:ln w="0"/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92545" y="766618"/>
            <a:ext cx="10324223" cy="55399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Impacts on ports and marinas:</a:t>
            </a:r>
          </a:p>
          <a:p>
            <a:pPr marL="1371600" lvl="2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Ports are the entrance or exit for many essential goods and trade.</a:t>
            </a:r>
          </a:p>
          <a:p>
            <a:pPr marL="1371600" lvl="2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Ports and marinas can be affected by:</a:t>
            </a:r>
          </a:p>
          <a:p>
            <a:pPr marL="1714500" lvl="3" indent="-342900" algn="just">
              <a:buFont typeface="Wingdings" panose="05000000000000000000" pitchFamily="2" charset="2"/>
              <a:buChar char="§"/>
            </a:pPr>
            <a:r>
              <a:rPr lang="en-GB" altLang="en-US" sz="24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Navigation channels closed or restricted</a:t>
            </a:r>
          </a:p>
          <a:p>
            <a:pPr marL="1714500" lvl="3" indent="-342900" algn="just">
              <a:buFont typeface="Wingdings" panose="05000000000000000000" pitchFamily="2" charset="2"/>
              <a:buChar char="§"/>
            </a:pPr>
            <a:r>
              <a:rPr lang="en-GB" altLang="en-US" sz="24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Contamination of structures such as wharves, jetties, etc.</a:t>
            </a:r>
          </a:p>
          <a:p>
            <a:pPr marL="1714500" lvl="3" indent="-342900" algn="just">
              <a:buFont typeface="Wingdings" panose="05000000000000000000" pitchFamily="2" charset="2"/>
              <a:buChar char="§"/>
            </a:pPr>
            <a:r>
              <a:rPr lang="en-GB" altLang="en-US" sz="24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Contamination of vessels</a:t>
            </a:r>
          </a:p>
          <a:p>
            <a:pPr marL="1714500" lvl="3" indent="-342900" algn="just">
              <a:buFont typeface="Wingdings" panose="05000000000000000000" pitchFamily="2" charset="2"/>
              <a:buChar char="§"/>
            </a:pPr>
            <a:r>
              <a:rPr lang="en-GB" altLang="en-US" sz="24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Closure or limited access due to response operations (booms)</a:t>
            </a:r>
          </a:p>
          <a:p>
            <a:pPr marL="1371600" lvl="2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Cleaning of vessels is often required.</a:t>
            </a:r>
          </a:p>
          <a:p>
            <a:pPr marL="1371600" lvl="2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Contaminated structures can be difficult to clean</a:t>
            </a:r>
          </a:p>
        </p:txBody>
      </p:sp>
    </p:spTree>
    <p:extLst>
      <p:ext uri="{BB962C8B-B14F-4D97-AF65-F5344CB8AC3E}">
        <p14:creationId xmlns:p14="http://schemas.microsoft.com/office/powerpoint/2010/main" val="1350090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pic>
        <p:nvPicPr>
          <p:cNvPr id="6" name="Espace réservé du contenu 3" descr="oil port on marina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97" b="2397"/>
          <a:stretch>
            <a:fillRect/>
          </a:stretch>
        </p:blipFill>
        <p:spPr>
          <a:xfrm>
            <a:off x="256250" y="2001058"/>
            <a:ext cx="5321931" cy="337561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77112" y="977469"/>
            <a:ext cx="390203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GB" altLang="en-US" sz="3200" dirty="0">
                <a:ln w="0"/>
                <a:latin typeface="Tahoma" panose="020B0604030504040204" pitchFamily="34" charset="0"/>
              </a:rPr>
              <a:t>Examples of impacts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Social and </a:t>
            </a:r>
            <a:r>
              <a:rPr lang="en-GB" altLang="en-US" sz="4000" b="1" dirty="0" smtClean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Economic </a:t>
            </a:r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lang="en-GB" altLang="en-US" sz="4000" b="1" dirty="0" smtClean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ctivities </a:t>
            </a:r>
            <a:endParaRPr lang="en-IN" sz="4000" b="1" dirty="0">
              <a:ln w="0"/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l="4359" t="19548" r="3562" b="13470"/>
          <a:stretch/>
        </p:blipFill>
        <p:spPr>
          <a:xfrm>
            <a:off x="5746177" y="2001058"/>
            <a:ext cx="6189487" cy="3375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130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58982" y="967515"/>
            <a:ext cx="10177826" cy="45704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  <a:defRPr/>
            </a:pPr>
            <a:r>
              <a:rPr lang="en-GB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Impacts on coastal communities</a:t>
            </a:r>
            <a:r>
              <a:rPr lang="en-GB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  <a:p>
            <a:pPr marL="457200" indent="-457200" algn="just">
              <a:buFont typeface="Arial" panose="020B0604020202020204" pitchFamily="34" charset="0"/>
              <a:buChar char="•"/>
              <a:defRPr/>
            </a:pPr>
            <a:endParaRPr lang="en-GB" sz="20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algn="just"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r>
              <a:rPr lang="en-GB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many parts of the world, populations live near or on the coast.</a:t>
            </a:r>
          </a:p>
          <a:p>
            <a:pPr marL="914400" lvl="1" indent="-457200" algn="just"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r>
              <a:rPr lang="en-GB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Exposure to oil vapours can cause breathing difficulties, headaches and nausea.</a:t>
            </a:r>
          </a:p>
          <a:p>
            <a:pPr marL="914400" lvl="1" indent="-457200" algn="just"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r>
              <a:rPr lang="en-GB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Usually, vapours are present at the beginning of a spill and the impact is likely to be short-lived.</a:t>
            </a:r>
          </a:p>
          <a:p>
            <a:pPr marL="914400" lvl="1" indent="-457200" algn="just"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r>
              <a:rPr lang="en-GB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Daily activities can be impacted by the presence of oil and by response operations.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Social and </a:t>
            </a:r>
            <a:r>
              <a:rPr lang="en-GB" altLang="en-US" sz="4000" b="1" dirty="0" smtClean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Economic </a:t>
            </a:r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lang="en-GB" altLang="en-US" sz="4000" b="1" dirty="0" smtClean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ctivities </a:t>
            </a:r>
            <a:endParaRPr lang="en-IN" sz="4000" b="1" dirty="0">
              <a:ln w="0"/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3486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83490" y="1088050"/>
            <a:ext cx="10353318" cy="45704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Impacts on archaeological sites and coastal artefacts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GB" altLang="en-US" sz="20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algn="just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Many archaeological sites and associated artefacts are found in coastal areas.</a:t>
            </a:r>
          </a:p>
          <a:p>
            <a:pPr marL="914400" lvl="1" indent="-457200" algn="just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These areas can be contaminated by direct contact with oil.</a:t>
            </a:r>
          </a:p>
          <a:p>
            <a:pPr marL="914400" lvl="1" indent="-457200" algn="just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These areas are very sensitive and clean-up methods must be adapted to preserve these sites.</a:t>
            </a:r>
          </a:p>
          <a:p>
            <a:pPr marL="914400" lvl="1" indent="-457200" algn="just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Archaeologists are required to identify these areas and to provide recommendations for clean-up.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4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Social and </a:t>
            </a:r>
            <a:r>
              <a:rPr lang="en-GB" altLang="en-US" sz="40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Economic </a:t>
            </a:r>
            <a:r>
              <a:rPr lang="en-GB" altLang="en-US" sz="4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lang="en-GB" altLang="en-US" sz="40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ctivities </a:t>
            </a:r>
            <a:endParaRPr lang="en-IN" sz="4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8549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2987683"/>
            <a:ext cx="12192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Impacts on </a:t>
            </a:r>
            <a:r>
              <a:rPr lang="en-GB" altLang="en-US" sz="4000" b="1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Marine </a:t>
            </a:r>
            <a:r>
              <a:rPr lang="en-GB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lang="en-GB" altLang="en-US" sz="4000" b="1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nvironment </a:t>
            </a:r>
            <a:endParaRPr lang="en-IN" sz="40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5464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-1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Impacts on </a:t>
            </a:r>
            <a:r>
              <a:rPr lang="en-GB" altLang="en-US" sz="4000" b="1" dirty="0" smtClean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Marine </a:t>
            </a:r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lang="en-GB" altLang="en-US" sz="4000" b="1" dirty="0" smtClean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nvironment </a:t>
            </a:r>
            <a:endParaRPr lang="en-IN" sz="4000" b="1" dirty="0">
              <a:ln w="0"/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55808" y="946657"/>
            <a:ext cx="10080383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Plankton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Very sensitive to oil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Affected by dispersed oil (naturally or chemically)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Mortality is compensated by over production of young life stage and recruitment from non- affected area 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Significant decline has not been observed following an oil spill</a:t>
            </a:r>
          </a:p>
        </p:txBody>
      </p:sp>
    </p:spTree>
    <p:extLst>
      <p:ext uri="{BB962C8B-B14F-4D97-AF65-F5344CB8AC3E}">
        <p14:creationId xmlns:p14="http://schemas.microsoft.com/office/powerpoint/2010/main" val="1710466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Impacts on Marine Environment </a:t>
            </a:r>
            <a:endParaRPr lang="en-IN" sz="4000" b="1" dirty="0">
              <a:ln w="0"/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43000" y="954130"/>
            <a:ext cx="9546336" cy="43242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Fish</a:t>
            </a:r>
          </a:p>
          <a:p>
            <a:pPr marL="914400" lvl="1" indent="-457200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Juveniles susceptible to oil exposure</a:t>
            </a:r>
          </a:p>
          <a:p>
            <a:pPr marL="914400" lvl="1" indent="-457200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Adults more resilient, free swimming fish will avoid oil</a:t>
            </a:r>
          </a:p>
          <a:p>
            <a:pPr marL="914400" lvl="1" indent="-457200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Mortality associated with localized conditions</a:t>
            </a:r>
          </a:p>
          <a:p>
            <a:pPr marL="1371600" lvl="2" indent="-4572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GB" altLang="en-US" sz="24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Dispersed oil (naturally or chemically)</a:t>
            </a:r>
          </a:p>
          <a:p>
            <a:pPr marL="1371600" lvl="2" indent="-4572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GB" altLang="en-US" sz="24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Shallow waters, light oil</a:t>
            </a:r>
          </a:p>
          <a:p>
            <a:pPr marL="914400" lvl="1" indent="-457200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Depuration processes</a:t>
            </a:r>
          </a:p>
          <a:p>
            <a:pPr marL="914400" lvl="1" indent="-457200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Generally low impacts on fish population</a:t>
            </a:r>
          </a:p>
        </p:txBody>
      </p:sp>
    </p:spTree>
    <p:extLst>
      <p:ext uri="{BB962C8B-B14F-4D97-AF65-F5344CB8AC3E}">
        <p14:creationId xmlns:p14="http://schemas.microsoft.com/office/powerpoint/2010/main" val="263648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Impacts on Marine Environment </a:t>
            </a:r>
            <a:endParaRPr lang="en-IN" sz="4000" b="1" dirty="0">
              <a:ln w="0"/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13400" y="1011580"/>
            <a:ext cx="10565200" cy="46705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Marine 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mammals</a:t>
            </a:r>
          </a:p>
          <a:p>
            <a:pPr marL="285750" indent="-285750" algn="just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en-GB" altLang="en-US" sz="10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algn="just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Whales, dolphins, seals, otters, manatees, etc.</a:t>
            </a:r>
          </a:p>
          <a:p>
            <a:pPr marL="914400" lvl="1" indent="-457200" algn="just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Species surfacing to breath can be exposed to floating oil.</a:t>
            </a:r>
          </a:p>
          <a:p>
            <a:pPr marL="914400" lvl="1" indent="-457200" algn="just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Irritation to airways, eyes has been reported.</a:t>
            </a:r>
          </a:p>
          <a:p>
            <a:pPr marL="914400" lvl="1" indent="-457200" algn="just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Generally no mortalities but may be exceptions.</a:t>
            </a:r>
          </a:p>
          <a:p>
            <a:pPr marL="914400" lvl="1" indent="-457200" algn="just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Species using the shoreline such as seals and otters can suffer from oil exposure especially if their haul-out is contaminated.</a:t>
            </a:r>
          </a:p>
        </p:txBody>
      </p:sp>
    </p:spTree>
    <p:extLst>
      <p:ext uri="{BB962C8B-B14F-4D97-AF65-F5344CB8AC3E}">
        <p14:creationId xmlns:p14="http://schemas.microsoft.com/office/powerpoint/2010/main" val="69211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Impacts on Marine Environment </a:t>
            </a:r>
            <a:endParaRPr lang="en-IN" sz="4000" b="1" dirty="0">
              <a:ln w="0"/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4946" y="766618"/>
            <a:ext cx="10583302" cy="2536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25000"/>
              </a:lnSpc>
              <a:buFont typeface="Arial" panose="020B0604020202020204" pitchFamily="34" charset="0"/>
              <a:buChar char="•"/>
              <a:defRPr/>
            </a:pPr>
            <a:r>
              <a:rPr lang="en-GB" sz="26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Marine mammals</a:t>
            </a:r>
          </a:p>
          <a:p>
            <a:pPr marL="914400" lvl="1" indent="-457200" algn="just">
              <a:lnSpc>
                <a:spcPct val="125000"/>
              </a:lnSpc>
              <a:buFont typeface="Wingdings" panose="05000000000000000000" pitchFamily="2" charset="2"/>
              <a:buChar char="ü"/>
              <a:defRPr/>
            </a:pPr>
            <a:r>
              <a:rPr lang="en-GB" sz="26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Furry animals can suffer from hypothermia if the fur is oiled.</a:t>
            </a:r>
          </a:p>
          <a:p>
            <a:pPr marL="914400" lvl="1" indent="-457200" algn="just">
              <a:lnSpc>
                <a:spcPct val="125000"/>
              </a:lnSpc>
              <a:buFont typeface="Wingdings" panose="05000000000000000000" pitchFamily="2" charset="2"/>
              <a:buChar char="ü"/>
              <a:defRPr/>
            </a:pPr>
            <a:r>
              <a:rPr lang="en-GB" sz="26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Generally, impacts are mild with skin irritations and disruption the most reported.</a:t>
            </a:r>
          </a:p>
          <a:p>
            <a:pPr marL="914400" lvl="1" indent="-457200" algn="just">
              <a:lnSpc>
                <a:spcPct val="125000"/>
              </a:lnSpc>
              <a:buFont typeface="Wingdings" panose="05000000000000000000" pitchFamily="2" charset="2"/>
              <a:buChar char="ü"/>
              <a:defRPr/>
            </a:pPr>
            <a:r>
              <a:rPr lang="en-GB" sz="26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Mortality is usually rare following an oil spill.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725" y="3303082"/>
            <a:ext cx="8802947" cy="3007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140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Impacts on Marine Environment </a:t>
            </a:r>
            <a:endParaRPr lang="en-IN" sz="4000" b="1" dirty="0">
              <a:ln w="0"/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08613" y="903519"/>
            <a:ext cx="10565940" cy="5058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Sea 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turtles</a:t>
            </a:r>
          </a:p>
          <a:p>
            <a:pPr marL="457200" indent="-457200" algn="just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en-GB" altLang="en-US" sz="10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 species are endangered.</a:t>
            </a:r>
          </a:p>
          <a:p>
            <a:pPr marL="914400" lvl="1" indent="-457200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They are vulnerable to oil particularly during nesting season and in shallow waters.</a:t>
            </a:r>
          </a:p>
          <a:p>
            <a:pPr marL="914400" lvl="1" indent="-457200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They use sand beaches for nesting and to lay eggs so clean-up of these areas during nesting season will be high priority.</a:t>
            </a:r>
          </a:p>
          <a:p>
            <a:pPr marL="914400" lvl="1" indent="-457200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Adults can suffer irritation and inflammation of membranes.</a:t>
            </a:r>
          </a:p>
          <a:p>
            <a:pPr marL="914400" lvl="1" indent="-457200" algn="just"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 is possible to clean sea turtles.</a:t>
            </a:r>
          </a:p>
        </p:txBody>
      </p:sp>
    </p:spTree>
    <p:extLst>
      <p:ext uri="{BB962C8B-B14F-4D97-AF65-F5344CB8AC3E}">
        <p14:creationId xmlns:p14="http://schemas.microsoft.com/office/powerpoint/2010/main" val="2887776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Impacts on Marine Environment </a:t>
            </a:r>
            <a:endParaRPr lang="en-IN" sz="4000" b="1" dirty="0">
              <a:ln w="0"/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96794" y="766618"/>
            <a:ext cx="10813750" cy="53212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Seabirds, wildfowl and 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waders</a:t>
            </a:r>
          </a:p>
          <a:p>
            <a:pPr marL="457200" indent="-457200" algn="just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en-GB" altLang="en-US" sz="10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algn="just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Are vulnerable to floating oil.</a:t>
            </a:r>
          </a:p>
          <a:p>
            <a:pPr marL="914400" lvl="1" indent="-457200" algn="just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Large numbers can die from contact with floating oil at sea or on shorelines.</a:t>
            </a:r>
          </a:p>
          <a:p>
            <a:pPr marL="914400" lvl="1" indent="-457200" algn="just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disrupts the feathers, affecting insulation properties which results in hypothermia.</a:t>
            </a:r>
          </a:p>
          <a:p>
            <a:pPr marL="914400" lvl="1" indent="-457200" algn="just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Birds will also ingest oil as they attempt to clean their feathers.</a:t>
            </a:r>
          </a:p>
          <a:p>
            <a:pPr marL="914400" lvl="1" indent="-457200" algn="just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Exhaustion resulting from smothering, particularly following exposure to viscous oils, is a commonly observed effect.</a:t>
            </a:r>
          </a:p>
        </p:txBody>
      </p:sp>
    </p:spTree>
    <p:extLst>
      <p:ext uri="{BB962C8B-B14F-4D97-AF65-F5344CB8AC3E}">
        <p14:creationId xmlns:p14="http://schemas.microsoft.com/office/powerpoint/2010/main" val="3523131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Impacts on Marine Environment </a:t>
            </a:r>
            <a:endParaRPr lang="en-IN" sz="4000" b="1" dirty="0">
              <a:ln w="0"/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60218" y="831965"/>
            <a:ext cx="11028218" cy="47782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  <a:defRPr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Seabirds, wildfowl and 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waders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  <a:defRPr/>
            </a:pPr>
            <a:endParaRPr lang="en-GB" altLang="en-US" sz="10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Contamination of habitat especially during nesting season can cause significant impacts.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Oiled birds can be cleaned and rehabilitated but depending on species it may be that only a small fraction will survive.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Short and long term </a:t>
            </a:r>
            <a:r>
              <a:rPr lang="en-GB" altLang="en-US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damage is </a:t>
            </a: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possible </a:t>
            </a:r>
            <a:r>
              <a:rPr lang="en-GB" altLang="en-US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</a:t>
            </a:r>
          </a:p>
          <a:p>
            <a:pPr lvl="1">
              <a:lnSpc>
                <a:spcPct val="150000"/>
              </a:lnSpc>
              <a:defRPr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altLang="en-US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individuals </a:t>
            </a: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 population.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36737" y="4354964"/>
            <a:ext cx="2593848" cy="1830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779769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Impacts on Marine Environment </a:t>
            </a:r>
            <a:endParaRPr lang="en-IN" sz="4000" b="1" dirty="0">
              <a:ln w="0"/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0857" y="1615800"/>
            <a:ext cx="3162300" cy="476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9248" y="1612690"/>
            <a:ext cx="5238750" cy="3919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1400857" y="898105"/>
            <a:ext cx="633921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alt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Seabirds, wildfowl and waders</a:t>
            </a:r>
          </a:p>
        </p:txBody>
      </p:sp>
    </p:spTree>
    <p:extLst>
      <p:ext uri="{BB962C8B-B14F-4D97-AF65-F5344CB8AC3E}">
        <p14:creationId xmlns:p14="http://schemas.microsoft.com/office/powerpoint/2010/main" val="1435532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Impacts on Marine Environment </a:t>
            </a:r>
            <a:endParaRPr lang="en-IN" sz="4000" b="1" dirty="0">
              <a:ln w="0"/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47806" y="1123234"/>
            <a:ext cx="10496388" cy="4585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Corals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Highly sensitive organisms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Long recovery time if exposed to oil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Can be exposed to dispersed oil especially near shore with high energy breaking waves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Exposed coral reef can be affected by floating oil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High priority areas for protection</a:t>
            </a:r>
          </a:p>
        </p:txBody>
      </p:sp>
    </p:spTree>
    <p:extLst>
      <p:ext uri="{BB962C8B-B14F-4D97-AF65-F5344CB8AC3E}">
        <p14:creationId xmlns:p14="http://schemas.microsoft.com/office/powerpoint/2010/main" val="3589492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4061" y="2864573"/>
            <a:ext cx="1173941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Impacts on </a:t>
            </a:r>
            <a:r>
              <a:rPr lang="en-GB" altLang="en-US" sz="4000" b="1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Coastal </a:t>
            </a:r>
            <a:r>
              <a:rPr lang="en-GB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lang="en-GB" altLang="en-US" sz="4000" b="1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nvironment </a:t>
            </a:r>
            <a:endParaRPr lang="en-IN" sz="40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2711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Impacts on </a:t>
            </a:r>
            <a:r>
              <a:rPr lang="en-GB" altLang="en-US" sz="4000" b="1" dirty="0" smtClean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Coastal </a:t>
            </a:r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lang="en-GB" altLang="en-US" sz="4000" b="1" dirty="0" smtClean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nvironment </a:t>
            </a:r>
            <a:endParaRPr lang="en-IN" sz="4000" b="1" dirty="0">
              <a:ln w="0"/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71391" y="1040728"/>
            <a:ext cx="10081953" cy="38010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GB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Shorelines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GB" sz="10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r>
              <a:rPr lang="en-GB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Shorelines are almost always impacted during an oil spill.</a:t>
            </a:r>
          </a:p>
          <a:p>
            <a:pPr marL="914400" lvl="1" indent="-45720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r>
              <a:rPr lang="en-GB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Degree of sensitivity to oil is very variable between shoreline types.</a:t>
            </a:r>
          </a:p>
          <a:p>
            <a:pPr marL="914400" lvl="1" indent="-45720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r>
              <a:rPr lang="en-GB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 is related to oil persistence and biological activity.</a:t>
            </a:r>
          </a:p>
        </p:txBody>
      </p:sp>
    </p:spTree>
    <p:extLst>
      <p:ext uri="{BB962C8B-B14F-4D97-AF65-F5344CB8AC3E}">
        <p14:creationId xmlns:p14="http://schemas.microsoft.com/office/powerpoint/2010/main" val="3923294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Impacts on Coastal Environment </a:t>
            </a:r>
            <a:endParaRPr lang="en-IN" sz="4000" b="1" dirty="0">
              <a:ln w="0"/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63782" y="991838"/>
            <a:ext cx="5661891" cy="43862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Mangroves</a:t>
            </a:r>
          </a:p>
          <a:p>
            <a:pPr marL="457200" indent="-457200">
              <a:lnSpc>
                <a:spcPct val="125000"/>
              </a:lnSpc>
              <a:buFont typeface="Wingdings" panose="05000000000000000000" pitchFamily="2" charset="2"/>
              <a:buChar char="Ø"/>
            </a:pPr>
            <a:endParaRPr lang="en-GB" altLang="en-US" sz="10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Highly sensitive to oil.</a:t>
            </a:r>
          </a:p>
          <a:p>
            <a:pPr marL="914400" lvl="1" indent="-457200">
              <a:lnSpc>
                <a:spcPct val="114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Trees suffer from asphyxia from oil coating of roots and pores.</a:t>
            </a:r>
          </a:p>
          <a:p>
            <a:pPr marL="914400" lvl="1" indent="-457200">
              <a:lnSpc>
                <a:spcPct val="114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Clean-up is extremely difficult and recovery can take decades.</a:t>
            </a:r>
          </a:p>
        </p:txBody>
      </p:sp>
      <p:pic>
        <p:nvPicPr>
          <p:cNvPr id="6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9500" y="1778728"/>
            <a:ext cx="4587054" cy="34398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10933592" y="5002645"/>
            <a:ext cx="842962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CA" altLang="en-US" sz="800" dirty="0">
                <a:solidFill>
                  <a:schemeClr val="bg1"/>
                </a:solidFill>
                <a:latin typeface="Tahoma" panose="020B0604030504040204" pitchFamily="34" charset="0"/>
              </a:rPr>
              <a:t>Source: ITOPF</a:t>
            </a:r>
            <a:endParaRPr lang="en-CA" altLang="en-US" sz="800" dirty="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4394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Impacts on Coastal Environment </a:t>
            </a:r>
            <a:endParaRPr lang="en-IN" sz="4000" b="1" dirty="0">
              <a:ln w="0"/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85213" y="930543"/>
            <a:ext cx="10032723" cy="48300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Marshes</a:t>
            </a:r>
          </a:p>
          <a:p>
            <a:pPr marL="457200" indent="-457200" algn="just">
              <a:lnSpc>
                <a:spcPct val="125000"/>
              </a:lnSpc>
              <a:buFont typeface="Wingdings" panose="05000000000000000000" pitchFamily="2" charset="2"/>
              <a:buChar char="Ø"/>
            </a:pPr>
            <a:endParaRPr lang="en-GB" altLang="en-US" sz="10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algn="just">
              <a:lnSpc>
                <a:spcPct val="114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High biological importance.</a:t>
            </a:r>
          </a:p>
          <a:p>
            <a:pPr marL="914400" lvl="1" indent="-457200" algn="just">
              <a:lnSpc>
                <a:spcPct val="114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Plants are relatively resistant to oiling</a:t>
            </a:r>
          </a:p>
          <a:p>
            <a:pPr marL="1371600" lvl="2" indent="-457200" algn="just">
              <a:lnSpc>
                <a:spcPct val="114000"/>
              </a:lnSpc>
              <a:buFont typeface="Wingdings" panose="05000000000000000000" pitchFamily="2" charset="2"/>
              <a:buChar char="§"/>
            </a:pPr>
            <a:r>
              <a:rPr lang="en-GB" altLang="en-US" sz="24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Will depend on growth cycle.</a:t>
            </a:r>
          </a:p>
          <a:p>
            <a:pPr marL="914400" lvl="1" indent="-457200" algn="just">
              <a:lnSpc>
                <a:spcPct val="114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Long-term impacts due to oil penetration in the substrate affecting the root system.</a:t>
            </a:r>
          </a:p>
          <a:p>
            <a:pPr marL="914400" lvl="1" indent="-457200" algn="just">
              <a:lnSpc>
                <a:spcPct val="114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Penetration is generally caused by trampling or use of mechanical equipment.</a:t>
            </a:r>
          </a:p>
          <a:p>
            <a:pPr marL="914400" lvl="1" indent="-457200" algn="just">
              <a:lnSpc>
                <a:spcPct val="114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Needs to be considered on a case by case basis.</a:t>
            </a:r>
          </a:p>
        </p:txBody>
      </p:sp>
    </p:spTree>
    <p:extLst>
      <p:ext uri="{BB962C8B-B14F-4D97-AF65-F5344CB8AC3E}">
        <p14:creationId xmlns:p14="http://schemas.microsoft.com/office/powerpoint/2010/main" val="774697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Impacts on Coastal Environment </a:t>
            </a:r>
            <a:endParaRPr lang="en-IN" sz="4000" b="1" dirty="0">
              <a:ln w="0"/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20034" y="948041"/>
            <a:ext cx="9632142" cy="36394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Mud flats </a:t>
            </a:r>
            <a:endParaRPr lang="en-GB" altLang="en-US" sz="3200" dirty="0" smtClean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 algn="just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en-GB" altLang="en-US" sz="10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Used by many vertebrate and invertebrate species.</a:t>
            </a:r>
          </a:p>
          <a:p>
            <a:pPr marL="914400" lvl="1" indent="-45720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Low energy shoreline.</a:t>
            </a:r>
          </a:p>
          <a:p>
            <a:pPr marL="914400" lvl="1" indent="-457200" algn="just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Long term impacts are generally caused by oil penetration in sediments caused by trampling or by oil penetration through worm burrows.</a:t>
            </a:r>
          </a:p>
        </p:txBody>
      </p:sp>
    </p:spTree>
    <p:extLst>
      <p:ext uri="{BB962C8B-B14F-4D97-AF65-F5344CB8AC3E}">
        <p14:creationId xmlns:p14="http://schemas.microsoft.com/office/powerpoint/2010/main" val="1929677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Impacts on Coastal Environment </a:t>
            </a:r>
            <a:endParaRPr lang="en-IN" sz="4000" b="1" dirty="0">
              <a:ln w="0"/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68218" y="1096083"/>
            <a:ext cx="10077150" cy="3939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Rocky shorelines 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Less biologically active.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Usually, they are colonized by algae or small invertebrates.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Recolonization can be rapid following an oil spill.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Short term impacts are typical for these shorelines.</a:t>
            </a:r>
          </a:p>
        </p:txBody>
      </p:sp>
    </p:spTree>
    <p:extLst>
      <p:ext uri="{BB962C8B-B14F-4D97-AF65-F5344CB8AC3E}">
        <p14:creationId xmlns:p14="http://schemas.microsoft.com/office/powerpoint/2010/main" val="3984339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Impacts on </a:t>
            </a:r>
            <a:r>
              <a:rPr lang="en-GB" altLang="en-US" sz="4000" b="1" dirty="0" smtClean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Coastal </a:t>
            </a:r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lang="en-GB" altLang="en-US" sz="4000" b="1" dirty="0" smtClean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nvironment </a:t>
            </a:r>
            <a:endParaRPr lang="en-IN" sz="4000" b="1" dirty="0">
              <a:ln w="0"/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49499" y="1006117"/>
            <a:ext cx="9913574" cy="40626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Sandy shorelines 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Less biologically active.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Short term impacts are typical for these shorelines.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Potential for oil burial due to sand movement. 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Potential for oil and sand interaction in the intertidal zone leading to sunken oil. </a:t>
            </a:r>
          </a:p>
        </p:txBody>
      </p:sp>
    </p:spTree>
    <p:extLst>
      <p:ext uri="{BB962C8B-B14F-4D97-AF65-F5344CB8AC3E}">
        <p14:creationId xmlns:p14="http://schemas.microsoft.com/office/powerpoint/2010/main" val="1964903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Impacts on </a:t>
            </a:r>
            <a:r>
              <a:rPr lang="en-GB" altLang="en-US" sz="4000" b="1" dirty="0" smtClean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Marine/Coastal </a:t>
            </a:r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lang="en-GB" altLang="en-US" sz="4000" b="1" dirty="0" smtClean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nvironment</a:t>
            </a:r>
            <a:endParaRPr lang="en-IN" sz="4000" b="1" dirty="0">
              <a:ln w="0"/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72806" y="947331"/>
            <a:ext cx="10209138" cy="4876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Post spill 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studies</a:t>
            </a:r>
          </a:p>
          <a:p>
            <a:pPr marL="285750" indent="-28575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endParaRPr lang="en-GB" altLang="en-US" sz="10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algn="just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Various studies can be undertaken to evaluate environmental damages</a:t>
            </a:r>
          </a:p>
          <a:p>
            <a:pPr marL="1371600" lvl="2" indent="-4572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altLang="en-US" sz="24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Chemical analysis, population inventories, etc.</a:t>
            </a:r>
          </a:p>
          <a:p>
            <a:pPr marL="914400" lvl="1" indent="-457200" algn="just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Should have clear objectives, achievable goals and focus on likely impacts from the spill.</a:t>
            </a:r>
          </a:p>
          <a:p>
            <a:pPr marL="914400" lvl="1" indent="-457200" algn="just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Importance of pre spill background data</a:t>
            </a:r>
            <a:r>
              <a:rPr lang="en-GB" altLang="en-US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914400" lvl="1" indent="-4572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GB" altLang="en-US" sz="10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Restoration measures can be identified and implemented in some cases.</a:t>
            </a:r>
          </a:p>
        </p:txBody>
      </p:sp>
    </p:spTree>
    <p:extLst>
      <p:ext uri="{BB962C8B-B14F-4D97-AF65-F5344CB8AC3E}">
        <p14:creationId xmlns:p14="http://schemas.microsoft.com/office/powerpoint/2010/main" val="4116286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Impacts </a:t>
            </a:r>
            <a:r>
              <a:rPr lang="en-GB" altLang="en-US" sz="4000" b="1" dirty="0" smtClean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Affecting </a:t>
            </a:r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lang="en-GB" altLang="en-US" sz="4000" b="1" dirty="0" smtClean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perational </a:t>
            </a:r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lang="en-GB" altLang="en-US" sz="4000" b="1" dirty="0" smtClean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esponse</a:t>
            </a:r>
            <a:endParaRPr lang="en-IN" sz="4000" b="1" dirty="0">
              <a:ln w="0"/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4391" y="940969"/>
            <a:ext cx="10629577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impacts of oil spills on the various activities and environments can affect the operational response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altLang="en-US" sz="12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algn="just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Public/media attention to operational activities especially in areas of high population density</a:t>
            </a:r>
            <a:r>
              <a:rPr lang="en-GB" altLang="en-US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914400" lvl="1" indent="-457200" algn="just">
              <a:spcAft>
                <a:spcPts val="600"/>
              </a:spcAft>
              <a:buFont typeface="Wingdings" panose="05000000000000000000" pitchFamily="2" charset="2"/>
              <a:buChar char="ü"/>
            </a:pPr>
            <a:endParaRPr lang="en-GB" altLang="en-US" sz="12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algn="just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Access restrictions due to the impacts proximity to sensitivities such as cultural sites, private property, etc</a:t>
            </a:r>
            <a:r>
              <a:rPr lang="en-GB" altLang="en-US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914400" lvl="1" indent="-457200" algn="just">
              <a:spcAft>
                <a:spcPts val="600"/>
              </a:spcAft>
              <a:buFont typeface="Wingdings" panose="05000000000000000000" pitchFamily="2" charset="2"/>
              <a:buChar char="ü"/>
            </a:pPr>
            <a:endParaRPr lang="en-GB" altLang="en-US" sz="12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algn="just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Seasonal restrictions due wildlife nesting, etc</a:t>
            </a:r>
            <a:r>
              <a:rPr lang="en-GB" altLang="en-US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914400" lvl="1" indent="-457200" algn="just">
              <a:spcAft>
                <a:spcPts val="600"/>
              </a:spcAft>
              <a:buFont typeface="Wingdings" panose="05000000000000000000" pitchFamily="2" charset="2"/>
              <a:buChar char="ü"/>
            </a:pPr>
            <a:endParaRPr lang="en-GB" altLang="en-US" sz="12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algn="just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Prioritization of operational activities.</a:t>
            </a:r>
          </a:p>
        </p:txBody>
      </p:sp>
    </p:spTree>
    <p:extLst>
      <p:ext uri="{BB962C8B-B14F-4D97-AF65-F5344CB8AC3E}">
        <p14:creationId xmlns:p14="http://schemas.microsoft.com/office/powerpoint/2010/main" val="19664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Conclusion</a:t>
            </a:r>
            <a:endParaRPr lang="en-IN" sz="4000" b="1" dirty="0">
              <a:ln w="0"/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50698" y="1411310"/>
            <a:ext cx="10991272" cy="347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spills interfere with coastal activities.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GB" altLang="en-US" sz="32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Effects on marine life are caused by:</a:t>
            </a:r>
          </a:p>
          <a:p>
            <a:pPr marL="914400" lvl="1" indent="-457200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physical contamination and smothering;</a:t>
            </a:r>
          </a:p>
          <a:p>
            <a:pPr marL="914400" lvl="1" indent="-457200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tainting as a result of the smothering and toxic effects.</a:t>
            </a:r>
          </a:p>
          <a:p>
            <a:pPr marL="914400" lvl="1" indent="-457200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en-GB" altLang="en-US" sz="28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Health of biological </a:t>
            </a:r>
            <a:r>
              <a:rPr lang="en-GB" altLang="en-US" sz="3200" u="sng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populations</a:t>
            </a: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more important than individuals.</a:t>
            </a:r>
          </a:p>
        </p:txBody>
      </p:sp>
    </p:spTree>
    <p:extLst>
      <p:ext uri="{BB962C8B-B14F-4D97-AF65-F5344CB8AC3E}">
        <p14:creationId xmlns:p14="http://schemas.microsoft.com/office/powerpoint/2010/main" val="432400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10490" y="2568836"/>
            <a:ext cx="1057101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GB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Any questions?</a:t>
            </a:r>
          </a:p>
          <a:p>
            <a:pPr lvl="1">
              <a:spcBef>
                <a:spcPct val="0"/>
              </a:spcBef>
            </a:pPr>
            <a:endParaRPr lang="en-GB" altLang="en-US" sz="40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283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539</TotalTime>
  <Words>1941</Words>
  <Application>Microsoft Office PowerPoint</Application>
  <PresentationFormat>Widescreen</PresentationFormat>
  <Paragraphs>254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5" baseType="lpstr">
      <vt:lpstr>MS PGothic</vt:lpstr>
      <vt:lpstr>游ゴシック</vt:lpstr>
      <vt:lpstr>Arial</vt:lpstr>
      <vt:lpstr>Calibri</vt:lpstr>
      <vt:lpstr>Calibri Light</vt:lpstr>
      <vt:lpstr>inherit</vt:lpstr>
      <vt:lpstr>Tahoma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Syed, Mohammad Muktadar</dc:creator>
  <cp:lastModifiedBy>Sajith, Sadanandan </cp:lastModifiedBy>
  <cp:revision>178</cp:revision>
  <dcterms:created xsi:type="dcterms:W3CDTF">2024-09-27T05:40:49Z</dcterms:created>
  <dcterms:modified xsi:type="dcterms:W3CDTF">2025-01-15T09:45:28Z</dcterms:modified>
</cp:coreProperties>
</file>
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911545" y="2560320"/>
            <a:ext cx="6374828" cy="7589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altLang="en-US" b="1" dirty="0" smtClean="0"/>
              <a:t>Administrative Issues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3619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116730" y="1557338"/>
            <a:ext cx="9946703" cy="3024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dirty="0" smtClean="0">
                <a:ea typeface="ＭＳ Ｐゴシック" charset="0"/>
              </a:rPr>
              <a:t>To understand the various administrative tasks that should take place following response to an oil spill.</a:t>
            </a:r>
            <a:r>
              <a:rPr lang="en-CA" dirty="0" smtClean="0">
                <a:ea typeface="ＭＳ Ｐゴシック" charset="0"/>
              </a:rPr>
              <a:t> </a:t>
            </a:r>
            <a:endParaRPr lang="en-US" dirty="0" smtClean="0">
              <a:ea typeface="ＭＳ Ｐゴシック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dirty="0" smtClean="0">
              <a:ea typeface="ＭＳ Ｐゴシック" charset="0"/>
            </a:endParaRPr>
          </a:p>
          <a:p>
            <a:pPr algn="just">
              <a:defRPr/>
            </a:pPr>
            <a:endParaRPr lang="en-US" dirty="0" smtClean="0">
              <a:latin typeface="Arial" pitchFamily="34" charset="0"/>
              <a:ea typeface="ＭＳ Ｐゴシック" charset="0"/>
            </a:endParaRPr>
          </a:p>
          <a:p>
            <a:pPr algn="just">
              <a:defRPr/>
            </a:pPr>
            <a:endParaRPr lang="en-US" dirty="0" smtClean="0">
              <a:latin typeface="Arial" pitchFamily="34" charset="0"/>
              <a:ea typeface="ＭＳ Ｐゴシック" charset="0"/>
            </a:endParaRPr>
          </a:p>
          <a:p>
            <a:pPr algn="just">
              <a:defRPr/>
            </a:pPr>
            <a:endParaRPr lang="fr-FR" dirty="0">
              <a:latin typeface="Arial" pitchFamily="3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98448" y="130175"/>
            <a:ext cx="96012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Administrative Issues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11174" y="1160187"/>
            <a:ext cx="99578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just"/>
            <a:r>
              <a:rPr lang="en-GB" altLang="en-US" dirty="0" smtClean="0"/>
              <a:t>Response to an oil spill involves multiple operations</a:t>
            </a:r>
          </a:p>
          <a:p>
            <a:pPr marL="712788" lvl="1" indent="-447675" algn="just" defTabSz="712788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On-water operations</a:t>
            </a:r>
          </a:p>
          <a:p>
            <a:pPr marL="712788" lvl="1" indent="-447675" algn="just" defTabSz="712788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Aerial operations</a:t>
            </a:r>
          </a:p>
          <a:p>
            <a:pPr marL="712788" lvl="1" indent="-447675" algn="just" defTabSz="712788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Shoreline operations</a:t>
            </a:r>
          </a:p>
          <a:p>
            <a:pPr marL="712788" lvl="1" indent="-447675" algn="just" defTabSz="712788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etc.</a:t>
            </a:r>
          </a:p>
          <a:p>
            <a:pPr algn="just">
              <a:spcBef>
                <a:spcPct val="0"/>
              </a:spcBef>
            </a:pPr>
            <a:endParaRPr lang="en-GB" altLang="en-US" dirty="0" smtClean="0"/>
          </a:p>
          <a:p>
            <a:pPr algn="just">
              <a:spcBef>
                <a:spcPct val="0"/>
              </a:spcBef>
            </a:pPr>
            <a:r>
              <a:rPr lang="en-GB" altLang="en-US" dirty="0" smtClean="0"/>
              <a:t>Many administrative tasks must be completed during and after the response.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16736" y="130175"/>
            <a:ext cx="96560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Administrative Issues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069848" y="1160187"/>
            <a:ext cx="99029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dirty="0" smtClean="0"/>
              <a:t>Record keeping</a:t>
            </a:r>
          </a:p>
          <a:p>
            <a:pPr marL="630238" lvl="1" indent="-365125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Activity logs must be completed by all during a response;</a:t>
            </a:r>
          </a:p>
          <a:p>
            <a:pPr marL="712788" lvl="1" indent="-447675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Necessary to document decisions and actions taken while responding;</a:t>
            </a:r>
          </a:p>
          <a:p>
            <a:pPr lvl="2" indent="-51276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What, when, where, how, why</a:t>
            </a:r>
          </a:p>
          <a:p>
            <a:pPr marL="630238" lvl="1" indent="-365125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At the end of a spill, it is necessary to collect and compile response information;</a:t>
            </a:r>
          </a:p>
          <a:p>
            <a:pPr lvl="2" indent="-51276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altLang="en-US" dirty="0" smtClean="0"/>
              <a:t>Can be used for investigation, claims and compensation process, costs audit, etc.</a:t>
            </a:r>
          </a:p>
          <a:p>
            <a:pPr marL="630238" lvl="1" indent="-365125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You must ensure that activity logs are kept!</a:t>
            </a:r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591056" y="130175"/>
            <a:ext cx="921715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Administrative Issues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868680" y="1160187"/>
            <a:ext cx="100766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dirty="0" smtClean="0"/>
              <a:t>Claims documentation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IOPC Fund Claims Manual provides guidance on claims admissibility and documentation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Claims must be well documented to avoid delays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Basic information:</a:t>
            </a:r>
          </a:p>
          <a:p>
            <a:pPr marL="1055687" lvl="2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Factual record of events and costs</a:t>
            </a:r>
          </a:p>
          <a:p>
            <a:pPr marL="1055687" lvl="2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Supporting narrative (activity logs)</a:t>
            </a:r>
          </a:p>
          <a:p>
            <a:pPr marL="1055687" lvl="2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Every cost item in a claim should be supported by invoices, receipts, worksheets, wages records etc.</a:t>
            </a:r>
          </a:p>
          <a:p>
            <a:pPr lvl="1" algn="just">
              <a:lnSpc>
                <a:spcPct val="100000"/>
              </a:lnSpc>
            </a:pPr>
            <a:endParaRPr lang="en-US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43584" y="130175"/>
            <a:ext cx="1023004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Administrative Issues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770192" y="1085719"/>
            <a:ext cx="1075829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dirty="0" smtClean="0"/>
              <a:t>Debriefing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M</a:t>
            </a:r>
            <a:r>
              <a:rPr lang="en-US" altLang="en-US" dirty="0" smtClean="0"/>
              <a:t>any lessons can be learned following an incident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altLang="en-US" dirty="0" smtClean="0"/>
              <a:t>It is important to initiate a process where responders have an opportunity to identify what went well and areas for improvement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Incident management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Availability of equipment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Communications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Availability of expertise</a:t>
            </a:r>
          </a:p>
          <a:p>
            <a:pPr lvl="2" indent="-430213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 smtClean="0"/>
              <a:t>etc.</a:t>
            </a:r>
          </a:p>
          <a:p>
            <a:pPr lvl="2" algn="just">
              <a:lnSpc>
                <a:spcPct val="100000"/>
              </a:lnSpc>
            </a:pPr>
            <a:endParaRPr lang="en-US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  <a:p>
            <a:pPr algn="just">
              <a:lnSpc>
                <a:spcPct val="100000"/>
              </a:lnSpc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7160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Administrative Issues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455992" y="1258951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</a:rPr>
              <a:t>Debriefing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ea typeface="ＭＳ Ｐゴシック" charset="0"/>
              </a:rPr>
              <a:t>Debriefing can be conducted in many ways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ea typeface="ＭＳ Ｐゴシック" charset="0"/>
              </a:rPr>
              <a:t>Survey/questionnaire</a:t>
            </a:r>
          </a:p>
          <a:p>
            <a:pPr lvl="2" indent="-430213"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ea typeface="ＭＳ Ｐゴシック" charset="0"/>
              </a:rPr>
              <a:t>Group discussions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US" dirty="0" smtClean="0">
                <a:ea typeface="ＭＳ Ｐゴシック" charset="0"/>
              </a:rPr>
              <a:t>Important to identify concrete recommendations</a:t>
            </a:r>
          </a:p>
          <a:p>
            <a:pPr marL="457200" lvl="1" indent="0">
              <a:buFont typeface="Arial" charset="0"/>
              <a:buNone/>
              <a:defRPr/>
            </a:pPr>
            <a:endParaRPr lang="en-US" dirty="0" smtClean="0">
              <a:ea typeface="ＭＳ Ｐゴシック" charset="0"/>
            </a:endParaRPr>
          </a:p>
          <a:p>
            <a:pPr marL="457200" lvl="1" indent="0" algn="ctr">
              <a:buFont typeface="Arial" charset="0"/>
              <a:buNone/>
              <a:defRPr/>
            </a:pPr>
            <a:r>
              <a:rPr lang="en-US" dirty="0" smtClean="0">
                <a:ea typeface="ＭＳ Ｐゴシック" charset="0"/>
              </a:rPr>
              <a:t>The challenge is implementation of recommendations!</a:t>
            </a:r>
          </a:p>
          <a:p>
            <a:pPr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>
              <a:buFont typeface="Arial" charset="0"/>
              <a:buChar char="•"/>
              <a:defRPr/>
            </a:pPr>
            <a:endParaRPr lang="en-GB" dirty="0" smtClean="0">
              <a:ea typeface="ＭＳ Ｐゴシック" charset="0"/>
            </a:endParaRPr>
          </a:p>
          <a:p>
            <a:pPr>
              <a:buFont typeface="Arial" charset="0"/>
              <a:buChar char="•"/>
              <a:defRPr/>
            </a:pPr>
            <a:endParaRPr lang="en-GB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655064" y="130175"/>
            <a:ext cx="93613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Administrative</a:t>
            </a:r>
            <a:r>
              <a:rPr lang="fr-FR" altLang="en-US" sz="4000" dirty="0" smtClean="0"/>
              <a:t> </a:t>
            </a:r>
            <a:r>
              <a:rPr lang="fr-FR" altLang="en-US" sz="4000" b="1" dirty="0"/>
              <a:t>I</a:t>
            </a:r>
            <a:r>
              <a:rPr lang="fr-FR" altLang="en-US" sz="4000" b="1" dirty="0" smtClean="0"/>
              <a:t>ssues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724472" y="1179576"/>
            <a:ext cx="10476928" cy="2505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GB" altLang="en-US" sz="2800" dirty="0" smtClean="0"/>
              <a:t>Incident report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To provide the history of the incident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To provide a record of the situation and the actions taken to respond</a:t>
            </a:r>
          </a:p>
          <a:p>
            <a:pPr marL="712787" lvl="2" indent="0">
              <a:lnSpc>
                <a:spcPct val="100000"/>
              </a:lnSpc>
              <a:buNone/>
            </a:pPr>
            <a:r>
              <a:rPr lang="en-GB" altLang="en-US" sz="2800" dirty="0" smtClean="0"/>
              <a:t> </a:t>
            </a:r>
          </a:p>
          <a:p>
            <a:pPr lvl="2" indent="-430213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Might be required by legislation, inquiries or insurers, etc.</a:t>
            </a:r>
          </a:p>
          <a:p>
            <a:pPr>
              <a:lnSpc>
                <a:spcPct val="100000"/>
              </a:lnSpc>
            </a:pPr>
            <a:endParaRPr lang="en-GB" altLang="en-US" dirty="0" smtClean="0"/>
          </a:p>
          <a:p>
            <a:pPr>
              <a:lnSpc>
                <a:spcPct val="100000"/>
              </a:lnSpc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200" y="130175"/>
            <a:ext cx="97566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Conclusion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804672" y="1639571"/>
            <a:ext cx="10387584" cy="28958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dirty="0" smtClean="0"/>
              <a:t>Many tasks must be undertaken after active clean-up to terminate an oil spill response.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dirty="0" smtClean="0"/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r>
              <a:rPr lang="en-GB" altLang="en-US" dirty="0" smtClean="0"/>
              <a:t>It is important to plan for those during the response and to keep resources available.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456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143</cp:revision>
  <dcterms:created xsi:type="dcterms:W3CDTF">2024-09-27T05:40:49Z</dcterms:created>
  <dcterms:modified xsi:type="dcterms:W3CDTF">2025-05-05T09:03:13Z</dcterms:modified>
</cp:coreProperties>
</file>
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71" r:id="rId21"/>
    <p:sldId id="283" r:id="rId22"/>
    <p:sldId id="284" r:id="rId23"/>
    <p:sldId id="285" r:id="rId24"/>
    <p:sldId id="286" r:id="rId25"/>
    <p:sldId id="287" r:id="rId26"/>
    <p:sldId id="288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212759" y="2591096"/>
            <a:ext cx="8121866" cy="8664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altLang="en-US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Oiled</a:t>
            </a:r>
            <a:r>
              <a:rPr lang="fr-CA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CA" altLang="en-US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Wildlife</a:t>
            </a:r>
            <a:r>
              <a:rPr lang="fr-CA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Management</a:t>
            </a:r>
            <a:endParaRPr lang="en-GB" altLang="en-US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33475" y="130175"/>
            <a:ext cx="1007586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Objectives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4588" y="1557338"/>
            <a:ext cx="10075862" cy="4105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/>
              <a:t>To understand wildlife management techniques and wildlife response related issues during an oil spill</a:t>
            </a:r>
          </a:p>
          <a:p>
            <a:pPr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62025" y="130175"/>
            <a:ext cx="100965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Wildlife Response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62025" y="1342749"/>
            <a:ext cx="100965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Oil released in the marine environment can potentially affect significant numbers of animals, especially birds, and once washed ashore, pose a significant animal welfare and management </a:t>
            </a:r>
            <a:r>
              <a:rPr lang="en-GB" altLang="en-US" dirty="0" smtClean="0"/>
              <a:t>problem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Oiled wildlife response planning should have been considered as part of general oil spill preparedness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52525" y="130175"/>
            <a:ext cx="958215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Wildlife Response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71550" y="1241425"/>
            <a:ext cx="969645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Includes activities undertaken to deal with wild animals that are/may be affected by an oil spill </a:t>
            </a:r>
            <a:r>
              <a:rPr lang="en-CA" altLang="en-US" dirty="0" smtClean="0"/>
              <a:t>incident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Animals that are extremely vulnerable to an oil spill:</a:t>
            </a:r>
          </a:p>
          <a:p>
            <a:pPr lvl="1" indent="-50323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use the surface of the water to rest</a:t>
            </a:r>
          </a:p>
          <a:p>
            <a:pPr lvl="1" indent="-50323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dive through the surface of the water to feed </a:t>
            </a:r>
          </a:p>
          <a:p>
            <a:pPr lvl="1" indent="-50323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break though the surface of the water to breathe</a:t>
            </a:r>
          </a:p>
          <a:p>
            <a:pPr lvl="1" algn="just"/>
            <a:endParaRPr lang="en-CA" altLang="en-US" dirty="0" smtClean="0"/>
          </a:p>
          <a:p>
            <a:pPr lvl="1" algn="just">
              <a:buFont typeface="Arial" panose="020B0604020202020204" pitchFamily="34" charset="0"/>
              <a:buNone/>
            </a:pPr>
            <a:r>
              <a:rPr lang="en-CA" altLang="en-US" dirty="0" smtClean="0"/>
              <a:t>Examples: sea turtles, seabirds, sea ducks, seals, otters</a:t>
            </a:r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238375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Wildlife Response</a:t>
            </a:r>
          </a:p>
        </p:txBody>
      </p:sp>
      <p:pic>
        <p:nvPicPr>
          <p:cNvPr id="6" name="Content Placeholder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72200" y="877888"/>
            <a:ext cx="3422650" cy="5156200"/>
          </a:xfrm>
          <a:prstGeom prst="rect">
            <a:avLst/>
          </a:prstGeom>
        </p:spPr>
      </p:pic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8613775" y="5799138"/>
            <a:ext cx="22320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USCG</a:t>
            </a:r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525" y="877888"/>
            <a:ext cx="3521075" cy="255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525" y="3400425"/>
            <a:ext cx="3521075" cy="263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5092700" y="5807075"/>
            <a:ext cx="13065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latin typeface="Tahoma" panose="020B0604030504040204" pitchFamily="34" charset="0"/>
              </a:rPr>
              <a:t>Source: ITOPF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046663" y="3098800"/>
            <a:ext cx="13065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ITOPF</a:t>
            </a:r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04925" y="130175"/>
            <a:ext cx="97520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Wildlife Management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04925" y="1262063"/>
            <a:ext cx="9752012" cy="41767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CA" altLang="en-US" dirty="0" smtClean="0"/>
              <a:t>Planning</a:t>
            </a:r>
          </a:p>
          <a:p>
            <a:pPr>
              <a:lnSpc>
                <a:spcPct val="150000"/>
              </a:lnSpc>
            </a:pPr>
            <a:r>
              <a:rPr lang="en-CA" altLang="en-US" dirty="0" smtClean="0"/>
              <a:t>Environmental Impact Assessment (EIA)</a:t>
            </a:r>
          </a:p>
          <a:p>
            <a:pPr>
              <a:lnSpc>
                <a:spcPct val="150000"/>
              </a:lnSpc>
            </a:pPr>
            <a:r>
              <a:rPr lang="en-CA" altLang="en-US" dirty="0" smtClean="0"/>
              <a:t>Incident assessment</a:t>
            </a:r>
          </a:p>
          <a:p>
            <a:pPr>
              <a:lnSpc>
                <a:spcPct val="150000"/>
              </a:lnSpc>
            </a:pPr>
            <a:r>
              <a:rPr lang="en-CA" altLang="en-US" dirty="0" smtClean="0"/>
              <a:t>Wildlife response</a:t>
            </a:r>
          </a:p>
          <a:p>
            <a:pPr>
              <a:lnSpc>
                <a:spcPct val="150000"/>
              </a:lnSpc>
            </a:pPr>
            <a:r>
              <a:rPr lang="en-CA" altLang="en-US" dirty="0" smtClean="0"/>
              <a:t>Documentation</a:t>
            </a:r>
          </a:p>
          <a:p>
            <a:pPr>
              <a:lnSpc>
                <a:spcPct val="150000"/>
              </a:lnSpc>
            </a:pPr>
            <a:r>
              <a:rPr lang="en-CA" altLang="en-US" dirty="0" smtClean="0"/>
              <a:t>Response structure</a:t>
            </a:r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58800" y="59384"/>
            <a:ext cx="10842625" cy="647850"/>
          </a:xfrm>
          <a:prstGeom prst="rect">
            <a:avLst/>
          </a:prstGeom>
        </p:spPr>
        <p:txBody>
          <a:bodyPr lIns="90488" tIns="44450" rIns="90488" bIns="4445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altLang="en-US" sz="4000" b="1" dirty="0" smtClean="0"/>
              <a:t>Planning</a:t>
            </a:r>
            <a:br>
              <a:rPr lang="en-GB" altLang="en-US" sz="4000" b="1" dirty="0" smtClean="0"/>
            </a:br>
            <a:r>
              <a:rPr lang="en-GB" altLang="en-US" sz="4000" b="1" dirty="0" smtClean="0"/>
              <a:t/>
            </a:r>
            <a:br>
              <a:rPr lang="en-GB" altLang="en-US" sz="4000" b="1" dirty="0" smtClean="0"/>
            </a:br>
            <a:endParaRPr lang="en-GB" altLang="en-US" sz="4000" b="1" dirty="0" smtClean="0"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047750" y="1037806"/>
            <a:ext cx="10172700" cy="5040312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Carried out pre-spill and integrated into the contingency plan and addresses:</a:t>
            </a:r>
          </a:p>
          <a:p>
            <a:pPr marL="0" indent="0" algn="just"/>
            <a:r>
              <a:rPr lang="en-GB" altLang="en-US" dirty="0" smtClean="0"/>
              <a:t> Resources at risk</a:t>
            </a:r>
          </a:p>
          <a:p>
            <a:pPr marL="0" indent="0" algn="just"/>
            <a:r>
              <a:rPr lang="en-GB" altLang="en-US" dirty="0" smtClean="0"/>
              <a:t> Sensitivity mapping</a:t>
            </a:r>
          </a:p>
          <a:p>
            <a:pPr marL="0" indent="0" algn="just"/>
            <a:r>
              <a:rPr lang="en-GB" altLang="en-US" dirty="0" smtClean="0"/>
              <a:t> Conservation responsibility</a:t>
            </a:r>
          </a:p>
          <a:p>
            <a:pPr marL="0" indent="0" algn="just"/>
            <a:r>
              <a:rPr lang="en-GB" altLang="en-US" dirty="0" smtClean="0"/>
              <a:t> Public perception/responsibility</a:t>
            </a:r>
          </a:p>
          <a:p>
            <a:pPr marL="0" indent="0" algn="just"/>
            <a:r>
              <a:rPr lang="en-GB" altLang="en-US" dirty="0" smtClean="0"/>
              <a:t> Regulations, permits, approvals</a:t>
            </a:r>
          </a:p>
          <a:p>
            <a:pPr marL="971550" lvl="1" indent="-70643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Must comply with local regulations</a:t>
            </a:r>
          </a:p>
          <a:p>
            <a:pPr marL="0" indent="0" algn="just"/>
            <a:endParaRPr lang="en-GB" altLang="en-US" sz="360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07442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Wildlife Response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66750" y="1160187"/>
            <a:ext cx="1031519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/>
              <a:t>Planning should include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Identification of species and areas vulnerable to oil pollution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Actions to protect vulnerable species from oiling during a response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Actions to enhance the treatment of live oiled animals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Actions to enhance assessments of oil spill impact on wildlife populations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Actions to enhance the effectiveness of an oiled wildlife response </a:t>
            </a:r>
          </a:p>
          <a:p>
            <a:pPr lvl="1" algn="just"/>
            <a:endParaRPr lang="en-GB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243013" y="1341018"/>
            <a:ext cx="10159555" cy="4895850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just">
              <a:lnSpc>
                <a:spcPct val="150000"/>
              </a:lnSpc>
            </a:pPr>
            <a:r>
              <a:rPr lang="en-GB" altLang="en-US" dirty="0" smtClean="0"/>
              <a:t>Determine expertise and resources required/available</a:t>
            </a:r>
          </a:p>
          <a:p>
            <a:pPr marL="571500" indent="-571500" algn="just">
              <a:lnSpc>
                <a:spcPct val="100000"/>
              </a:lnSpc>
            </a:pPr>
            <a:r>
              <a:rPr lang="en-GB" altLang="en-US" dirty="0" smtClean="0"/>
              <a:t>Locate potential holding centres, rehabilitation facilities and transportation methods</a:t>
            </a:r>
          </a:p>
          <a:p>
            <a:pPr marL="571500" indent="-571500" algn="just">
              <a:lnSpc>
                <a:spcPct val="150000"/>
              </a:lnSpc>
            </a:pPr>
            <a:r>
              <a:rPr lang="en-GB" altLang="en-US" dirty="0" smtClean="0"/>
              <a:t>Determine final disposal sites</a:t>
            </a:r>
          </a:p>
          <a:p>
            <a:pPr marL="571500" indent="-571500" algn="just">
              <a:lnSpc>
                <a:spcPct val="150000"/>
              </a:lnSpc>
            </a:pPr>
            <a:r>
              <a:rPr lang="en-GB" altLang="en-US" dirty="0" smtClean="0"/>
              <a:t>Assess cost effective solutions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33463" y="0"/>
            <a:ext cx="9901237" cy="908050"/>
          </a:xfrm>
          <a:prstGeom prst="rect">
            <a:avLst/>
          </a:prstGeom>
        </p:spPr>
        <p:txBody>
          <a:bodyPr lIns="90488" tIns="44450" rIns="90488" bIns="4445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Planning</a:t>
            </a:r>
            <a:endParaRPr lang="en-GB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92523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14451" y="130175"/>
            <a:ext cx="1001731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4000" b="1" dirty="0" smtClean="0"/>
              <a:t>Environmental Impact Assessment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10383" y="896793"/>
            <a:ext cx="1004811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1028700" indent="-5715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GB" altLang="en-US" sz="2400" dirty="0">
                <a:latin typeface="+mj-lt"/>
              </a:rPr>
              <a:t>A reliable scientific evaluation on what impact the spill has had, typically includes:</a:t>
            </a:r>
          </a:p>
          <a:p>
            <a:pPr>
              <a:buFontTx/>
              <a:buNone/>
            </a:pPr>
            <a:endParaRPr lang="en-GB" altLang="en-US" sz="2400" dirty="0" smtClean="0">
              <a:latin typeface="+mj-lt"/>
            </a:endParaRPr>
          </a:p>
          <a:p>
            <a:r>
              <a:rPr lang="en-GB" altLang="en-US" sz="2400" dirty="0" smtClean="0">
                <a:latin typeface="+mj-lt"/>
              </a:rPr>
              <a:t> </a:t>
            </a:r>
            <a:r>
              <a:rPr lang="en-GB" altLang="en-US" sz="2400" dirty="0">
                <a:latin typeface="+mj-lt"/>
              </a:rPr>
              <a:t>Scope of the impact to habitat, nesting areas and animals</a:t>
            </a:r>
          </a:p>
          <a:p>
            <a:r>
              <a:rPr lang="en-GB" altLang="en-US" sz="2400" dirty="0">
                <a:latin typeface="+mj-lt"/>
              </a:rPr>
              <a:t> Type of species and age structure</a:t>
            </a:r>
          </a:p>
          <a:p>
            <a:r>
              <a:rPr lang="en-GB" altLang="en-US" sz="2400" dirty="0">
                <a:latin typeface="+mj-lt"/>
              </a:rPr>
              <a:t> Number of dead/alive animals recorded and examined</a:t>
            </a:r>
          </a:p>
          <a:p>
            <a:r>
              <a:rPr lang="en-GB" altLang="en-US" sz="2400" dirty="0">
                <a:latin typeface="+mj-lt"/>
              </a:rPr>
              <a:t> Estimate of losses at sea</a:t>
            </a:r>
          </a:p>
          <a:p>
            <a:r>
              <a:rPr lang="en-GB" altLang="en-US" sz="2400" dirty="0">
                <a:latin typeface="+mj-lt"/>
              </a:rPr>
              <a:t> Endangered/protected species</a:t>
            </a:r>
          </a:p>
          <a:p>
            <a:pPr>
              <a:buFontTx/>
              <a:buNone/>
            </a:pPr>
            <a:endParaRPr lang="en-US" altLang="en-US" sz="2400" dirty="0">
              <a:latin typeface="+mj-lt"/>
            </a:endParaRPr>
          </a:p>
          <a:p>
            <a:pPr>
              <a:buFontTx/>
              <a:buNone/>
            </a:pPr>
            <a:r>
              <a:rPr lang="en-US" altLang="en-US" sz="2400" dirty="0">
                <a:latin typeface="+mj-lt"/>
              </a:rPr>
              <a:t>Oiled wildlife team may support spill impact assessments</a:t>
            </a:r>
          </a:p>
          <a:p>
            <a:pPr>
              <a:buFontTx/>
              <a:buNone/>
            </a:pPr>
            <a:endParaRPr lang="en-US" altLang="en-US" sz="2400" dirty="0">
              <a:latin typeface="+mj-lt"/>
            </a:endParaRPr>
          </a:p>
          <a:p>
            <a:pPr>
              <a:buFontTx/>
              <a:buNone/>
            </a:pPr>
            <a:r>
              <a:rPr lang="en-US" altLang="en-US" sz="2400" dirty="0">
                <a:latin typeface="+mj-lt"/>
              </a:rPr>
              <a:t>Post-release monitoring may assist evaluation of effectiveness</a:t>
            </a:r>
            <a:endParaRPr lang="en-GB" altLang="en-US" sz="2400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GB" altLang="en-US" dirty="0">
              <a:latin typeface="+mj-lt"/>
            </a:endParaRPr>
          </a:p>
          <a:p>
            <a:endParaRPr lang="en-GB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501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14525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en-US" sz="4000" b="1" dirty="0" smtClean="0"/>
              <a:t>Incident Assessment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695450" y="1085719"/>
            <a:ext cx="94488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CA" altLang="en-US" dirty="0" smtClean="0"/>
              <a:t>To determine whether to respond consider...</a:t>
            </a:r>
          </a:p>
          <a:p>
            <a:pPr algn="just"/>
            <a:r>
              <a:rPr lang="en-CA" altLang="en-US" dirty="0" smtClean="0"/>
              <a:t>Human health and safety</a:t>
            </a:r>
          </a:p>
          <a:p>
            <a:pPr algn="just"/>
            <a:r>
              <a:rPr lang="en-CA" altLang="en-US" dirty="0" smtClean="0"/>
              <a:t>Wildlife impacts (data from EIA)</a:t>
            </a:r>
          </a:p>
          <a:p>
            <a:pPr algn="just"/>
            <a:r>
              <a:rPr lang="en-CA" altLang="en-US" dirty="0" smtClean="0"/>
              <a:t>Location of sensitive areas</a:t>
            </a:r>
          </a:p>
          <a:p>
            <a:pPr algn="just"/>
            <a:r>
              <a:rPr lang="en-CA" altLang="en-US" dirty="0" smtClean="0"/>
              <a:t>Effect of seasonality</a:t>
            </a:r>
          </a:p>
          <a:p>
            <a:pPr algn="just"/>
            <a:r>
              <a:rPr lang="en-CA" altLang="en-US" dirty="0" smtClean="0"/>
              <a:t>Type and volume of oil spilled</a:t>
            </a:r>
          </a:p>
          <a:p>
            <a:pPr algn="just"/>
            <a:r>
              <a:rPr lang="en-CA" altLang="en-US" dirty="0" smtClean="0"/>
              <a:t>Resources available and the need for external support</a:t>
            </a:r>
          </a:p>
          <a:p>
            <a:pPr algn="just"/>
            <a:r>
              <a:rPr lang="en-CA" altLang="en-US" dirty="0" smtClean="0"/>
              <a:t>Considerations for oiled wildlife triage/euthanasia</a:t>
            </a:r>
          </a:p>
        </p:txBody>
      </p:sp>
    </p:spTree>
    <p:extLst>
      <p:ext uri="{BB962C8B-B14F-4D97-AF65-F5344CB8AC3E}">
        <p14:creationId xmlns:p14="http://schemas.microsoft.com/office/powerpoint/2010/main" val="166869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609724" y="130175"/>
            <a:ext cx="922825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Wildlife Response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620838" y="981075"/>
            <a:ext cx="9447212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571500" indent="-571500">
              <a:spcBef>
                <a:spcPct val="20000"/>
              </a:spcBef>
              <a:defRPr/>
            </a:pPr>
            <a:r>
              <a:rPr lang="en-GB" sz="3200" dirty="0">
                <a:latin typeface="+mn-lt"/>
                <a:ea typeface="ＭＳ Ｐゴシック" charset="0"/>
                <a:cs typeface="ＭＳ Ｐゴシック" charset="0"/>
              </a:rPr>
              <a:t>Measures to mitigate the effect of oil on animals:</a:t>
            </a:r>
          </a:p>
          <a:p>
            <a:pPr marL="571500" indent="-5715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GB" sz="3200" dirty="0">
                <a:latin typeface="+mj-lt"/>
                <a:ea typeface="ＭＳ Ｐゴシック" charset="0"/>
                <a:cs typeface="ＭＳ Ｐゴシック" charset="0"/>
              </a:rPr>
              <a:t>Search and collection (dead and alive)</a:t>
            </a:r>
          </a:p>
          <a:p>
            <a:pPr marL="571500" indent="-5715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GB" sz="3200" dirty="0">
                <a:latin typeface="+mj-lt"/>
                <a:ea typeface="ＭＳ Ｐゴシック" charset="0"/>
                <a:cs typeface="ＭＳ Ｐゴシック" charset="0"/>
              </a:rPr>
              <a:t>Transport</a:t>
            </a:r>
          </a:p>
          <a:p>
            <a:pPr marL="571500" indent="-5715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GB" sz="3200" dirty="0">
                <a:latin typeface="+mj-lt"/>
                <a:ea typeface="ＭＳ Ｐゴシック" charset="0"/>
                <a:cs typeface="ＭＳ Ｐゴシック" charset="0"/>
              </a:rPr>
              <a:t>Reception</a:t>
            </a:r>
          </a:p>
          <a:p>
            <a:pPr marL="571500" indent="-5715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GB" sz="3200" dirty="0">
                <a:latin typeface="+mj-lt"/>
                <a:ea typeface="ＭＳ Ｐゴシック" charset="0"/>
                <a:cs typeface="ＭＳ Ｐゴシック" charset="0"/>
              </a:rPr>
              <a:t>Triage</a:t>
            </a:r>
          </a:p>
          <a:p>
            <a:pPr marL="571500" indent="-5715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GB" sz="3200" dirty="0">
                <a:latin typeface="+mj-lt"/>
                <a:ea typeface="ＭＳ Ｐゴシック" charset="0"/>
                <a:cs typeface="ＭＳ Ｐゴシック" charset="0"/>
              </a:rPr>
              <a:t>Treatment and washing</a:t>
            </a:r>
          </a:p>
          <a:p>
            <a:pPr marL="571500" indent="-5715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GB" sz="3200" dirty="0">
                <a:latin typeface="+mj-lt"/>
                <a:ea typeface="ＭＳ Ｐゴシック" charset="0"/>
                <a:cs typeface="ＭＳ Ｐゴシック" charset="0"/>
              </a:rPr>
              <a:t>Post-wash treatment</a:t>
            </a:r>
          </a:p>
          <a:p>
            <a:pPr marL="571500" indent="-5715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GB" sz="3200" dirty="0">
                <a:latin typeface="+mj-lt"/>
                <a:ea typeface="ＭＳ Ｐゴシック" charset="0"/>
                <a:cs typeface="ＭＳ Ｐゴシック" charset="0"/>
              </a:rPr>
              <a:t>Rehabilitation</a:t>
            </a:r>
          </a:p>
          <a:p>
            <a:pPr marL="571500" indent="-5715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GB" sz="3200" dirty="0">
                <a:latin typeface="+mj-lt"/>
                <a:ea typeface="ＭＳ Ｐゴシック" charset="0"/>
                <a:cs typeface="ＭＳ Ｐゴシック" charset="0"/>
              </a:rPr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331281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514475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Wildlife Response</a:t>
            </a:r>
          </a:p>
        </p:txBody>
      </p:sp>
      <p:sp>
        <p:nvSpPr>
          <p:cNvPr id="6" name="Espace réservé du contenu 5"/>
          <p:cNvSpPr txBox="1">
            <a:spLocks/>
          </p:cNvSpPr>
          <p:nvPr/>
        </p:nvSpPr>
        <p:spPr>
          <a:xfrm>
            <a:off x="990600" y="1241425"/>
            <a:ext cx="1042035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u="sng" dirty="0" smtClean="0"/>
              <a:t>Pro-active</a:t>
            </a:r>
            <a:r>
              <a:rPr lang="en-GB" altLang="en-US" dirty="0" smtClean="0"/>
              <a:t> measures to prevent impact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0" indent="0" algn="just"/>
            <a:r>
              <a:rPr lang="en-GB" altLang="en-US" dirty="0" smtClean="0"/>
              <a:t>   Protect habitat and nesting areas from spilled oil</a:t>
            </a:r>
          </a:p>
          <a:p>
            <a:pPr marL="0" indent="0" algn="just"/>
            <a:r>
              <a:rPr lang="en-GB" altLang="en-US" dirty="0" smtClean="0"/>
              <a:t>   Remove oil from water or shoreline prior to wildlife impact  </a:t>
            </a:r>
          </a:p>
          <a:p>
            <a:pPr marL="0" indent="0" algn="just"/>
            <a:r>
              <a:rPr lang="en-GB" altLang="en-US" dirty="0" smtClean="0"/>
              <a:t>   Hazing (deterrence) or pre-emptive capturing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0" indent="0" algn="just"/>
            <a:endParaRPr lang="en-GB" altLang="en-US" dirty="0" smtClean="0"/>
          </a:p>
          <a:p>
            <a:pPr marL="0" indent="0" algn="just"/>
            <a:endParaRPr lang="en-GB" altLang="en-US" dirty="0" smtClean="0"/>
          </a:p>
          <a:p>
            <a:pPr marL="0" indent="0" algn="just"/>
            <a:endParaRPr lang="en-GB" altLang="en-US" dirty="0" smtClean="0"/>
          </a:p>
          <a:p>
            <a:pPr marL="0" indent="0" algn="just"/>
            <a:endParaRPr lang="en-GB" altLang="en-US" dirty="0" smtClean="0"/>
          </a:p>
          <a:p>
            <a:pPr marL="0" indent="0" algn="just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4429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24050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Wildlife Response</a:t>
            </a:r>
            <a:endParaRPr lang="en-CA" altLang="en-US" b="1" dirty="0" smtClean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6350" y="1331913"/>
            <a:ext cx="6985000" cy="4327525"/>
          </a:xfrm>
          <a:prstGeom prst="rect">
            <a:avLst/>
          </a:prstGeom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798763" y="5659438"/>
            <a:ext cx="66246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2400">
                <a:latin typeface="Tahoma" panose="020B0604030504040204" pitchFamily="34" charset="0"/>
              </a:rPr>
              <a:t>A geographic model of a response organization </a:t>
            </a:r>
            <a:r>
              <a:rPr lang="en-CA" altLang="en-US" sz="800">
                <a:latin typeface="Tahoma" panose="020B0604030504040204" pitchFamily="34" charset="0"/>
              </a:rPr>
              <a:t>Source: IPIECA</a:t>
            </a:r>
          </a:p>
        </p:txBody>
      </p:sp>
    </p:spTree>
    <p:extLst>
      <p:ext uri="{BB962C8B-B14F-4D97-AF65-F5344CB8AC3E}">
        <p14:creationId xmlns:p14="http://schemas.microsoft.com/office/powerpoint/2010/main" val="243257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90725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Wildlife Response</a:t>
            </a:r>
            <a:endParaRPr lang="en-CA" altLang="en-US" b="1" dirty="0" smtClean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6575" y="1527175"/>
            <a:ext cx="4679950" cy="3375025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662613" y="4887913"/>
            <a:ext cx="8858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800" b="1">
                <a:latin typeface="Tahoma" panose="020B0604030504040204" pitchFamily="34" charset="0"/>
              </a:rPr>
              <a:t>Source: ITOPF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988" y="1527175"/>
            <a:ext cx="3675062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9113838" y="4887913"/>
            <a:ext cx="11922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800" b="1">
                <a:latin typeface="Tahoma" panose="020B0604030504040204" pitchFamily="34" charset="0"/>
              </a:rPr>
              <a:t>Source: IPIECA/IOGP</a:t>
            </a:r>
          </a:p>
        </p:txBody>
      </p:sp>
    </p:spTree>
    <p:extLst>
      <p:ext uri="{BB962C8B-B14F-4D97-AF65-F5344CB8AC3E}">
        <p14:creationId xmlns:p14="http://schemas.microsoft.com/office/powerpoint/2010/main" val="94778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04949" y="130175"/>
            <a:ext cx="947737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Documentation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13295" y="1276074"/>
            <a:ext cx="933565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22350">
              <a:buFont typeface="Arial" panose="020B0604020202020204" pitchFamily="34" charset="0"/>
              <a:buNone/>
            </a:pPr>
            <a:r>
              <a:rPr lang="en-CA" altLang="en-US" dirty="0" smtClean="0"/>
              <a:t>Documentation is a </a:t>
            </a:r>
            <a:r>
              <a:rPr lang="en-CA" altLang="en-US" u="sng" dirty="0" smtClean="0"/>
              <a:t>critical</a:t>
            </a:r>
            <a:r>
              <a:rPr lang="en-CA" altLang="en-US" dirty="0" smtClean="0"/>
              <a:t> component of Oiled wildlife management:</a:t>
            </a:r>
          </a:p>
          <a:p>
            <a:r>
              <a:rPr lang="en-CA" altLang="en-US" dirty="0" smtClean="0"/>
              <a:t>Record keeping, evaluation and reporting</a:t>
            </a:r>
          </a:p>
          <a:p>
            <a:r>
              <a:rPr lang="en-CA" altLang="en-US" dirty="0" smtClean="0"/>
              <a:t>Using a centralized Database </a:t>
            </a:r>
          </a:p>
          <a:p>
            <a:r>
              <a:rPr lang="en-CA" altLang="en-US" dirty="0" smtClean="0"/>
              <a:t>Labelling and record keeping in all areas from collection through to release/disposal</a:t>
            </a:r>
          </a:p>
          <a:p>
            <a:r>
              <a:rPr lang="en-CA" altLang="en-US" dirty="0" smtClean="0"/>
              <a:t>Evidence gathering</a:t>
            </a:r>
          </a:p>
          <a:p>
            <a:endParaRPr lang="en-CA" altLang="en-US" dirty="0" smtClean="0"/>
          </a:p>
          <a:p>
            <a:pPr>
              <a:buFont typeface="Arial" panose="020B0604020202020204" pitchFamily="34" charset="0"/>
              <a:buNone/>
            </a:pPr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9136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24050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Wildlife Management </a:t>
            </a:r>
            <a:r>
              <a:rPr lang="en-CA" altLang="en-US" sz="4000" b="1" dirty="0"/>
              <a:t>S</a:t>
            </a:r>
            <a:r>
              <a:rPr lang="en-CA" altLang="en-US" sz="4000" b="1" dirty="0" smtClean="0"/>
              <a:t>tructure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623175" y="5913438"/>
            <a:ext cx="15113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1000">
                <a:latin typeface="Tahoma" panose="020B0604030504040204" pitchFamily="34" charset="0"/>
              </a:rPr>
              <a:t>Source: IPIECA/IOGP</a:t>
            </a: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38" y="852488"/>
            <a:ext cx="8777287" cy="502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045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379538" y="15875"/>
            <a:ext cx="9336087" cy="798513"/>
          </a:xfrm>
          <a:prstGeom prst="rect">
            <a:avLst/>
          </a:prstGeom>
        </p:spPr>
        <p:txBody>
          <a:bodyPr lIns="90488" tIns="44450" rIns="90488" bIns="4445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Arial" panose="020B0604020202020204" pitchFamily="34" charset="0"/>
              </a:rPr>
              <a:t>Wildlife Response </a:t>
            </a:r>
            <a:r>
              <a:rPr lang="en-GB" altLang="en-US" sz="4000" b="1" dirty="0">
                <a:latin typeface="Arial" panose="020B0604020202020204" pitchFamily="34" charset="0"/>
              </a:rPr>
              <a:t>I</a:t>
            </a:r>
            <a:r>
              <a:rPr lang="en-GB" altLang="en-US" sz="4000" b="1" dirty="0" smtClean="0">
                <a:latin typeface="Arial" panose="020B0604020202020204" pitchFamily="34" charset="0"/>
              </a:rPr>
              <a:t>ssues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493963" y="1109663"/>
            <a:ext cx="7561262" cy="3889375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/>
            <a:r>
              <a:rPr lang="en-GB" altLang="en-US" dirty="0" smtClean="0"/>
              <a:t>Human health and safety</a:t>
            </a:r>
          </a:p>
          <a:p>
            <a:pPr marL="571500" indent="-571500"/>
            <a:r>
              <a:rPr lang="en-GB" altLang="en-US" dirty="0" smtClean="0"/>
              <a:t>Waste management</a:t>
            </a:r>
          </a:p>
          <a:p>
            <a:pPr marL="571500" indent="-571500"/>
            <a:r>
              <a:rPr lang="en-GB" altLang="en-US" dirty="0" smtClean="0"/>
              <a:t>Cross-border incidents/impacts</a:t>
            </a:r>
          </a:p>
          <a:p>
            <a:pPr marL="571500" indent="-571500"/>
            <a:r>
              <a:rPr lang="en-GB" altLang="en-US" dirty="0" smtClean="0"/>
              <a:t>Volunteers</a:t>
            </a:r>
          </a:p>
          <a:p>
            <a:pPr marL="571500" indent="-571500"/>
            <a:r>
              <a:rPr lang="en-GB" altLang="en-US" dirty="0" smtClean="0"/>
              <a:t>Public and media expectations/reactions</a:t>
            </a:r>
          </a:p>
          <a:p>
            <a:pPr marL="571500" indent="-571500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0411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1125" y="130175"/>
            <a:ext cx="100203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Human </a:t>
            </a:r>
            <a:r>
              <a:rPr lang="en-CA" altLang="en-US" sz="4000" b="1" dirty="0"/>
              <a:t>H</a:t>
            </a:r>
            <a:r>
              <a:rPr lang="en-CA" altLang="en-US" sz="4000" b="1" dirty="0" smtClean="0"/>
              <a:t>ealth and Safety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81125" y="1342749"/>
            <a:ext cx="100203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GB" altLang="en-US" sz="3200" dirty="0" smtClean="0">
                <a:solidFill>
                  <a:srgbClr val="000000"/>
                </a:solidFill>
              </a:rPr>
              <a:t>Response priority is human health and safety</a:t>
            </a:r>
          </a:p>
          <a:p>
            <a:pPr algn="just"/>
            <a:endParaRPr lang="en-GB" altLang="en-US" sz="3200" dirty="0" smtClean="0">
              <a:solidFill>
                <a:srgbClr val="FF0000"/>
              </a:solidFill>
            </a:endParaRPr>
          </a:p>
          <a:p>
            <a:pPr algn="just"/>
            <a:r>
              <a:rPr lang="en-CA" altLang="en-US" dirty="0" smtClean="0"/>
              <a:t>Health and safety policy is required for wildlife response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H &amp; S for on-water activities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H &amp; S for shoreline activities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H &amp; S for wildlife response centres</a:t>
            </a:r>
          </a:p>
        </p:txBody>
      </p:sp>
    </p:spTree>
    <p:extLst>
      <p:ext uri="{BB962C8B-B14F-4D97-AF65-F5344CB8AC3E}">
        <p14:creationId xmlns:p14="http://schemas.microsoft.com/office/powerpoint/2010/main" val="422741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733550" y="130175"/>
            <a:ext cx="8229600" cy="561975"/>
          </a:xfrm>
          <a:prstGeom prst="rect">
            <a:avLst/>
          </a:prstGeom>
        </p:spPr>
        <p:txBody>
          <a:bodyPr lIns="90488" tIns="44450" rIns="90488" bIns="4445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Waste Management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87538" y="1268413"/>
            <a:ext cx="36734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GB" altLang="en-US" b="1" dirty="0"/>
              <a:t>Liquid:</a:t>
            </a:r>
            <a:endParaRPr lang="en-GB" altLang="en-US" dirty="0"/>
          </a:p>
          <a:p>
            <a:pPr>
              <a:buSzPct val="75000"/>
            </a:pPr>
            <a:r>
              <a:rPr lang="en-GB" altLang="en-US" dirty="0"/>
              <a:t>Oil</a:t>
            </a:r>
          </a:p>
          <a:p>
            <a:pPr>
              <a:buSzPct val="75000"/>
            </a:pPr>
            <a:r>
              <a:rPr lang="en-GB" altLang="en-US" dirty="0"/>
              <a:t>Oil/water mixture from washing  operations</a:t>
            </a:r>
          </a:p>
          <a:p>
            <a:pPr>
              <a:buSzPct val="75000"/>
              <a:buFontTx/>
              <a:buNone/>
            </a:pPr>
            <a:endParaRPr lang="en-GB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135688" y="1268413"/>
            <a:ext cx="3960812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ct val="30000"/>
              </a:spcAft>
              <a:buSzPct val="75000"/>
              <a:buFont typeface="Wingdings" panose="05000000000000000000" pitchFamily="2" charset="2"/>
              <a:buNone/>
            </a:pPr>
            <a:r>
              <a:rPr lang="en-GB" altLang="en-US" b="1"/>
              <a:t>Solid:</a:t>
            </a:r>
            <a:endParaRPr lang="en-GB" altLang="en-US"/>
          </a:p>
          <a:p>
            <a:pPr>
              <a:buSzPct val="75000"/>
            </a:pPr>
            <a:r>
              <a:rPr lang="en-GB" altLang="en-US"/>
              <a:t>Oiled dead carcasses</a:t>
            </a:r>
          </a:p>
          <a:p>
            <a:pPr>
              <a:buSzPct val="75000"/>
            </a:pPr>
            <a:r>
              <a:rPr lang="en-GB" altLang="en-US"/>
              <a:t>Excrement</a:t>
            </a:r>
          </a:p>
          <a:p>
            <a:pPr>
              <a:buSzPct val="75000"/>
            </a:pPr>
            <a:r>
              <a:rPr lang="en-GB" altLang="en-US"/>
              <a:t>Medical waste</a:t>
            </a:r>
          </a:p>
          <a:p>
            <a:pPr>
              <a:buSzPct val="75000"/>
            </a:pPr>
            <a:r>
              <a:rPr lang="en-GB" altLang="en-US"/>
              <a:t>Cleaning materials</a:t>
            </a:r>
          </a:p>
          <a:p>
            <a:pPr lvl="1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lang="en-GB" altLang="en-US" sz="3200"/>
              <a:t>Sorbent materials </a:t>
            </a:r>
          </a:p>
          <a:p>
            <a:pPr lvl="1">
              <a:spcBef>
                <a:spcPct val="0"/>
              </a:spcBef>
              <a:buSzPct val="80000"/>
              <a:buFont typeface="Arial" panose="020B0604020202020204" pitchFamily="34" charset="0"/>
              <a:buChar char="•"/>
            </a:pPr>
            <a:r>
              <a:rPr lang="en-GB" altLang="en-US" sz="3200"/>
              <a:t>PPE</a:t>
            </a:r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66900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Waste Management	</a:t>
            </a:r>
          </a:p>
        </p:txBody>
      </p:sp>
      <p:pic>
        <p:nvPicPr>
          <p:cNvPr id="6" name="Content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1188" y="1773238"/>
            <a:ext cx="3898900" cy="3063875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550" y="1766888"/>
            <a:ext cx="4178300" cy="308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9299575" y="4613275"/>
            <a:ext cx="10795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800" b="1">
                <a:latin typeface="Tahoma" panose="020B0604030504040204" pitchFamily="34" charset="0"/>
              </a:rPr>
              <a:t>Source: IPIECA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4835525" y="4613275"/>
            <a:ext cx="10795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800" b="1">
                <a:solidFill>
                  <a:schemeClr val="bg1"/>
                </a:solidFill>
                <a:latin typeface="Tahoma" panose="020B0604030504040204" pitchFamily="34" charset="0"/>
              </a:rPr>
              <a:t>Source: IPIECA</a:t>
            </a:r>
          </a:p>
        </p:txBody>
      </p:sp>
    </p:spTree>
    <p:extLst>
      <p:ext uri="{BB962C8B-B14F-4D97-AF65-F5344CB8AC3E}">
        <p14:creationId xmlns:p14="http://schemas.microsoft.com/office/powerpoint/2010/main" val="233255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2"/>
          <p:cNvSpPr txBox="1">
            <a:spLocks/>
          </p:cNvSpPr>
          <p:nvPr/>
        </p:nvSpPr>
        <p:spPr>
          <a:xfrm>
            <a:off x="1495425" y="130175"/>
            <a:ext cx="934463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Waste Management</a:t>
            </a:r>
          </a:p>
        </p:txBody>
      </p:sp>
      <p:sp>
        <p:nvSpPr>
          <p:cNvPr id="6" name="Espace réservé du contenu 3"/>
          <p:cNvSpPr txBox="1">
            <a:spLocks/>
          </p:cNvSpPr>
          <p:nvPr/>
        </p:nvSpPr>
        <p:spPr>
          <a:xfrm>
            <a:off x="1300594" y="1342749"/>
            <a:ext cx="978650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Large numbers of freezers may be required for carcasses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Important to think about the waste stream before beginning wildlife response operations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Disposal sites for carcasses and other waste must be identified</a:t>
            </a:r>
          </a:p>
        </p:txBody>
      </p:sp>
    </p:spTree>
    <p:extLst>
      <p:ext uri="{BB962C8B-B14F-4D97-AF65-F5344CB8AC3E}">
        <p14:creationId xmlns:p14="http://schemas.microsoft.com/office/powerpoint/2010/main" val="247710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381124" y="130175"/>
            <a:ext cx="9669857" cy="561975"/>
          </a:xfrm>
          <a:prstGeom prst="rect">
            <a:avLst/>
          </a:prstGeom>
        </p:spPr>
        <p:txBody>
          <a:bodyPr lIns="90488" tIns="44450" rIns="90488" bIns="4445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sz="4000" b="1" dirty="0" smtClean="0">
                <a:latin typeface="+mn-lt"/>
                <a:ea typeface="ＭＳ Ｐゴシック" charset="0"/>
                <a:cs typeface="ＭＳ Ｐゴシック" charset="0"/>
              </a:rPr>
              <a:t>Cross-border Issues</a:t>
            </a:r>
            <a:endParaRPr lang="en-GB" sz="4000" b="1" dirty="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Espace réservé du contenu 3"/>
          <p:cNvSpPr txBox="1">
            <a:spLocks/>
          </p:cNvSpPr>
          <p:nvPr/>
        </p:nvSpPr>
        <p:spPr>
          <a:xfrm>
            <a:off x="1164328" y="822325"/>
            <a:ext cx="1010344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Oil may impact wildlife in another jurisdiction or oiled wildlife may wash ashore in another location(national/international)</a:t>
            </a:r>
          </a:p>
          <a:p>
            <a:pPr marL="0" indent="0" algn="just">
              <a:buNone/>
            </a:pPr>
            <a:r>
              <a:rPr lang="en-GB" altLang="en-US" dirty="0" smtClean="0"/>
              <a:t> </a:t>
            </a:r>
          </a:p>
          <a:p>
            <a:pPr algn="just"/>
            <a:r>
              <a:rPr lang="en-GB" altLang="en-US" dirty="0" smtClean="0"/>
              <a:t>Legislation may differ with respect to wildlife collection/care/rehabilitation/release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Some countries require collection for evidence gathering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Policies with respect to euthanasia may differ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Cross-border resources and expertise may be available</a:t>
            </a:r>
          </a:p>
          <a:p>
            <a:pPr algn="just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28646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62075" y="130175"/>
            <a:ext cx="973455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Volunteers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62075" y="1160187"/>
            <a:ext cx="973455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CA" altLang="en-US" smtClean="0"/>
              <a:t>It is common for people to want to volunteer to help wildlife in an oil spill </a:t>
            </a:r>
          </a:p>
          <a:p>
            <a:pPr algn="just"/>
            <a:r>
              <a:rPr lang="en-CA" altLang="en-US" smtClean="0"/>
              <a:t>Health and safety of volunteers is a priority</a:t>
            </a:r>
          </a:p>
          <a:p>
            <a:pPr algn="just"/>
            <a:r>
              <a:rPr lang="en-CA" altLang="en-US" smtClean="0"/>
              <a:t>Proper training and supervision is required</a:t>
            </a:r>
          </a:p>
          <a:p>
            <a:pPr algn="just"/>
            <a:r>
              <a:rPr lang="en-CA" altLang="en-US" smtClean="0"/>
              <a:t>Provide appropriate PPE</a:t>
            </a:r>
          </a:p>
          <a:p>
            <a:pPr algn="just"/>
            <a:r>
              <a:rPr lang="en-CA" altLang="en-US" smtClean="0"/>
              <a:t>Robust registration and documentation procedures are required</a:t>
            </a:r>
          </a:p>
          <a:p>
            <a:pPr algn="just"/>
            <a:r>
              <a:rPr lang="en-CA" altLang="en-US" smtClean="0"/>
              <a:t>Monitor for signs of stress and fatigue</a:t>
            </a:r>
          </a:p>
          <a:p>
            <a:pPr algn="just"/>
            <a:r>
              <a:rPr lang="en-CA" altLang="en-US" smtClean="0"/>
              <a:t>Ensure proper insurance is in place</a:t>
            </a:r>
          </a:p>
        </p:txBody>
      </p:sp>
    </p:spTree>
    <p:extLst>
      <p:ext uri="{BB962C8B-B14F-4D97-AF65-F5344CB8AC3E}">
        <p14:creationId xmlns:p14="http://schemas.microsoft.com/office/powerpoint/2010/main" val="277293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00149" y="130175"/>
            <a:ext cx="1006792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Public/Media Expectations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00149" y="963402"/>
            <a:ext cx="10067925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altLang="en-US" dirty="0" smtClean="0"/>
          </a:p>
          <a:p>
            <a:r>
              <a:rPr lang="en-CA" altLang="en-US" dirty="0" smtClean="0"/>
              <a:t>Media will focus on wildlife!!</a:t>
            </a:r>
          </a:p>
          <a:p>
            <a:r>
              <a:rPr lang="en-CA" altLang="en-US" dirty="0" smtClean="0"/>
              <a:t>Media can affect public opinion</a:t>
            </a:r>
          </a:p>
          <a:p>
            <a:r>
              <a:rPr lang="en-CA" altLang="en-US" dirty="0" smtClean="0"/>
              <a:t>Public expectations may vary in different countries/cultures </a:t>
            </a:r>
          </a:p>
        </p:txBody>
      </p:sp>
    </p:spTree>
    <p:extLst>
      <p:ext uri="{BB962C8B-B14F-4D97-AF65-F5344CB8AC3E}">
        <p14:creationId xmlns:p14="http://schemas.microsoft.com/office/powerpoint/2010/main" val="301313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208519" y="49724"/>
            <a:ext cx="9763125" cy="561975"/>
          </a:xfrm>
          <a:prstGeom prst="rect">
            <a:avLst/>
          </a:prstGeom>
        </p:spPr>
        <p:txBody>
          <a:bodyPr lIns="90488" tIns="44450" rIns="90488" bIns="4445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sz="4000" b="1" dirty="0" smtClean="0">
                <a:latin typeface="+mn-lt"/>
                <a:ea typeface="ＭＳ Ｐゴシック" charset="0"/>
                <a:cs typeface="ＭＳ Ｐゴシック" charset="0"/>
              </a:rPr>
              <a:t>Conclusion</a:t>
            </a:r>
            <a:endParaRPr lang="en-GB" sz="4000" b="1" dirty="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1008493" y="1160187"/>
            <a:ext cx="1016317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Health and safety of personnel is the first priority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Planning is a critical component to effective wildlife management, and includes assessing resources at risk, and identifying available expertise and response resources</a:t>
            </a:r>
          </a:p>
          <a:p>
            <a:pPr marL="0" indent="0" algn="just">
              <a:buNone/>
            </a:pPr>
            <a:r>
              <a:rPr lang="en-CA" altLang="en-US" dirty="0" smtClean="0"/>
              <a:t> </a:t>
            </a:r>
          </a:p>
          <a:p>
            <a:pPr algn="just"/>
            <a:r>
              <a:rPr lang="en-GB" altLang="en-US" dirty="0" smtClean="0"/>
              <a:t>Understand local legislation with respect to wildlife response, as well as policies in neighbouring jurisdictions</a:t>
            </a:r>
          </a:p>
        </p:txBody>
      </p:sp>
    </p:spTree>
    <p:extLst>
      <p:ext uri="{BB962C8B-B14F-4D97-AF65-F5344CB8AC3E}">
        <p14:creationId xmlns:p14="http://schemas.microsoft.com/office/powerpoint/2010/main" val="22964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1167</Words>
  <Application>Microsoft Office PowerPoint</Application>
  <PresentationFormat>Widescreen</PresentationFormat>
  <Paragraphs>191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ＭＳ Ｐゴシック</vt:lpstr>
      <vt:lpstr>Arial</vt:lpstr>
      <vt:lpstr>Calibri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154</cp:revision>
  <dcterms:created xsi:type="dcterms:W3CDTF">2024-09-27T05:40:49Z</dcterms:created>
  <dcterms:modified xsi:type="dcterms:W3CDTF">2025-05-05T07:35:07Z</dcterms:modified>
</cp:coreProperties>
</file>
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65" r:id="rId4"/>
    <p:sldId id="266" r:id="rId5"/>
    <p:sldId id="267" r:id="rId6"/>
    <p:sldId id="268" r:id="rId7"/>
    <p:sldId id="269" r:id="rId8"/>
    <p:sldId id="270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71" r:id="rId30"/>
    <p:sldId id="292" r:id="rId31"/>
    <p:sldId id="293" r:id="rId32"/>
    <p:sldId id="294" r:id="rId33"/>
    <p:sldId id="295" r:id="rId34"/>
    <p:sldId id="296" r:id="rId35"/>
    <p:sldId id="297" r:id="rId36"/>
    <p:sldId id="298" r:id="rId37"/>
    <p:sldId id="299" r:id="rId38"/>
    <p:sldId id="300" r:id="rId39"/>
    <p:sldId id="301" r:id="rId40"/>
    <p:sldId id="303" r:id="rId41"/>
    <p:sldId id="304" r:id="rId42"/>
    <p:sldId id="305" r:id="rId43"/>
    <p:sldId id="306" r:id="rId44"/>
    <p:sldId id="307" r:id="rId45"/>
    <p:sldId id="308" r:id="rId46"/>
    <p:sldId id="302" r:id="rId47"/>
    <p:sldId id="309" r:id="rId48"/>
    <p:sldId id="310" r:id="rId49"/>
    <p:sldId id="264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DAF0AE-E67F-48C8-9593-4E8BE343FA5A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93F763-ADBC-4FD1-BB94-8B441FBE3B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5810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43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895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282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75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7587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6559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471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691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775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961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002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/>
            </a:gs>
            <a:gs pos="50000">
              <a:schemeClr val="accent2"/>
            </a:gs>
            <a:gs pos="100000">
              <a:schemeClr val="accent2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D1F7B-0C96-49B7-BB03-29AB0B73B640}" type="datetimeFigureOut">
              <a:rPr lang="en-IN" smtClean="0"/>
              <a:t>09-05-2025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B83F58-AF5F-4FE2-9C7E-DA9D3F7CC1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510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33165" y="6378300"/>
            <a:ext cx="1193158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6" name="Rectangle 2"/>
          <p:cNvSpPr txBox="1">
            <a:spLocks/>
          </p:cNvSpPr>
          <p:nvPr/>
        </p:nvSpPr>
        <p:spPr>
          <a:xfrm>
            <a:off x="2037652" y="2706624"/>
            <a:ext cx="8587676" cy="134416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Communications and Media</a:t>
            </a:r>
          </a:p>
        </p:txBody>
      </p:sp>
    </p:spTree>
    <p:extLst>
      <p:ext uri="{BB962C8B-B14F-4D97-AF65-F5344CB8AC3E}">
        <p14:creationId xmlns:p14="http://schemas.microsoft.com/office/powerpoint/2010/main" val="3674839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645920" y="130175"/>
            <a:ext cx="919886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Objective</a:t>
            </a:r>
          </a:p>
        </p:txBody>
      </p:sp>
      <p:sp>
        <p:nvSpPr>
          <p:cNvPr id="6" name="Content Placeholder 2">
            <a:extLst/>
          </p:cNvPr>
          <p:cNvSpPr txBox="1">
            <a:spLocks/>
          </p:cNvSpPr>
          <p:nvPr/>
        </p:nvSpPr>
        <p:spPr>
          <a:xfrm>
            <a:off x="1408176" y="1429258"/>
            <a:ext cx="9738360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defRPr/>
            </a:pPr>
            <a:r>
              <a:rPr lang="en-US" dirty="0" smtClean="0"/>
              <a:t>To understand the need for a communications plan and a media response plan to gather and disseminate information during an incident.</a:t>
            </a:r>
          </a:p>
          <a:p>
            <a:pPr marL="0" indent="0" algn="just">
              <a:buNone/>
              <a:defRPr/>
            </a:pPr>
            <a:r>
              <a:rPr lang="en-US" dirty="0" smtClean="0"/>
              <a:t> </a:t>
            </a:r>
          </a:p>
          <a:p>
            <a:pPr algn="just">
              <a:defRPr/>
            </a:pPr>
            <a:r>
              <a:rPr lang="en-US" dirty="0" smtClean="0"/>
              <a:t>To understand some basic guidance on being interviewed</a:t>
            </a:r>
          </a:p>
          <a:p>
            <a:pPr algn="just">
              <a:defRPr/>
            </a:pPr>
            <a:endParaRPr lang="en-US" dirty="0" smtClean="0"/>
          </a:p>
          <a:p>
            <a:pPr algn="just">
              <a:defRPr/>
            </a:pPr>
            <a:r>
              <a:rPr lang="en-US" dirty="0" smtClean="0"/>
              <a:t>To consider the contents of a press release</a:t>
            </a:r>
          </a:p>
          <a:p>
            <a:pPr marL="0" indent="0" algn="just">
              <a:buFont typeface="Arial" panose="020B0604020202020204" pitchFamily="34" charset="0"/>
              <a:buNone/>
              <a:defRPr/>
            </a:pPr>
            <a:endParaRPr lang="en-US" dirty="0" smtClean="0"/>
          </a:p>
          <a:p>
            <a:pPr marL="0" indent="0" algn="just">
              <a:buFont typeface="Arial" panose="020B0604020202020204" pitchFamily="34" charset="0"/>
              <a:buNone/>
              <a:defRPr/>
            </a:pPr>
            <a:endParaRPr lang="en-US" dirty="0" smtClean="0"/>
          </a:p>
          <a:p>
            <a:pPr algn="just">
              <a:buFont typeface="Arial" panose="020B0604020202020204" pitchFamily="34" charset="0"/>
              <a:buNone/>
              <a:defRPr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96444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2633472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smtClean="0"/>
              <a:t>Strong visuals….</a:t>
            </a:r>
            <a:endParaRPr lang="en-US" altLang="en-US" sz="4000" b="1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299" y="1585289"/>
            <a:ext cx="4494345" cy="33707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7256" y="1578330"/>
            <a:ext cx="6004830" cy="337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36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1975282" y="1306"/>
            <a:ext cx="8229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4000" b="1" dirty="0">
                <a:latin typeface="+mj-lt"/>
              </a:rPr>
              <a:t>Strong visuals….</a:t>
            </a:r>
            <a:endParaRPr lang="en-US" altLang="en-US" sz="4000" b="1" dirty="0">
              <a:latin typeface="+mj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9330" y="1187958"/>
            <a:ext cx="7077278" cy="4710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505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636776" y="130175"/>
            <a:ext cx="906170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Typical Challenges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325880" y="1085719"/>
            <a:ext cx="9683496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GB" altLang="en-US" dirty="0" smtClean="0"/>
              <a:t>Issues common to many incidents:</a:t>
            </a:r>
          </a:p>
          <a:p>
            <a:pPr lvl="1" indent="-420688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altLang="en-US" dirty="0" smtClean="0"/>
              <a:t>Flexibility of scale</a:t>
            </a:r>
          </a:p>
          <a:p>
            <a:pPr lvl="1" indent="-420688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altLang="en-US" dirty="0" smtClean="0"/>
              <a:t>Response organization</a:t>
            </a:r>
          </a:p>
          <a:p>
            <a:pPr lvl="1" indent="-420688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altLang="en-US" b="1" u="sng" dirty="0" smtClean="0"/>
              <a:t>Internal communication</a:t>
            </a:r>
          </a:p>
          <a:p>
            <a:pPr lvl="1" indent="-420688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altLang="en-US" dirty="0" smtClean="0"/>
              <a:t>Management of volunteers</a:t>
            </a:r>
          </a:p>
          <a:p>
            <a:pPr lvl="1" indent="-420688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altLang="en-US" dirty="0" smtClean="0"/>
              <a:t>Health and Safety</a:t>
            </a:r>
          </a:p>
          <a:p>
            <a:pPr lvl="1" indent="-420688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GB" altLang="en-US" b="1" u="sng" dirty="0" smtClean="0"/>
              <a:t>Media and Public Relations</a:t>
            </a:r>
          </a:p>
        </p:txBody>
      </p:sp>
    </p:spTree>
    <p:extLst>
      <p:ext uri="{BB962C8B-B14F-4D97-AF65-F5344CB8AC3E}">
        <p14:creationId xmlns:p14="http://schemas.microsoft.com/office/powerpoint/2010/main" val="233949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755648" y="130175"/>
            <a:ext cx="912571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Effective Response</a:t>
            </a:r>
          </a:p>
        </p:txBody>
      </p:sp>
      <p:sp>
        <p:nvSpPr>
          <p:cNvPr id="6" name="Content Placeholder 2">
            <a:extLst/>
          </p:cNvPr>
          <p:cNvSpPr txBox="1">
            <a:spLocks/>
          </p:cNvSpPr>
          <p:nvPr/>
        </p:nvSpPr>
        <p:spPr>
          <a:xfrm>
            <a:off x="1234618" y="1160187"/>
            <a:ext cx="9710928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defRPr/>
            </a:pPr>
            <a:r>
              <a:rPr lang="en-GB" dirty="0" smtClean="0"/>
              <a:t>An effective response does not necessarily depend on large amounts of specialist equipment.</a:t>
            </a:r>
          </a:p>
          <a:p>
            <a:pPr algn="just">
              <a:defRPr/>
            </a:pPr>
            <a:endParaRPr lang="en-GB" dirty="0" smtClean="0"/>
          </a:p>
          <a:p>
            <a:pPr algn="just">
              <a:defRPr/>
            </a:pPr>
            <a:r>
              <a:rPr lang="en-GB" dirty="0" smtClean="0"/>
              <a:t>However it does depend on:</a:t>
            </a:r>
          </a:p>
          <a:p>
            <a:pPr lvl="1" indent="-420688" algn="just">
              <a:buFont typeface="Wingdings" panose="05000000000000000000" pitchFamily="2" charset="2"/>
              <a:buChar char="ü"/>
              <a:defRPr/>
            </a:pPr>
            <a:r>
              <a:rPr lang="en-GB" dirty="0" smtClean="0"/>
              <a:t>organizational infrastructure</a:t>
            </a:r>
          </a:p>
          <a:p>
            <a:pPr lvl="2" algn="just">
              <a:defRPr/>
            </a:pPr>
            <a:r>
              <a:rPr lang="en-GB" dirty="0" smtClean="0"/>
              <a:t>clearly defined and understood</a:t>
            </a:r>
          </a:p>
          <a:p>
            <a:pPr lvl="1" indent="-420688" algn="just">
              <a:buFont typeface="Wingdings" panose="05000000000000000000" pitchFamily="2" charset="2"/>
              <a:buChar char="ü"/>
              <a:defRPr/>
            </a:pPr>
            <a:r>
              <a:rPr lang="en-GB" dirty="0" smtClean="0"/>
              <a:t> leadership</a:t>
            </a:r>
          </a:p>
          <a:p>
            <a:pPr lvl="1" indent="-420688" algn="just">
              <a:buFont typeface="Wingdings" panose="05000000000000000000" pitchFamily="2" charset="2"/>
              <a:buChar char="ü"/>
              <a:defRPr/>
            </a:pPr>
            <a:r>
              <a:rPr lang="en-GB" dirty="0" smtClean="0"/>
              <a:t> well-managed resources </a:t>
            </a:r>
          </a:p>
          <a:p>
            <a:pPr lvl="1" indent="-420688" algn="just">
              <a:buFont typeface="Wingdings" panose="05000000000000000000" pitchFamily="2" charset="2"/>
              <a:buChar char="ü"/>
              <a:defRPr/>
            </a:pPr>
            <a:r>
              <a:rPr lang="en-GB" dirty="0" smtClean="0"/>
              <a:t>information management</a:t>
            </a:r>
          </a:p>
          <a:p>
            <a:pPr marL="177800" indent="-177800" algn="just">
              <a:buFont typeface="Arial" panose="020B0604020202020204" pitchFamily="34" charset="0"/>
              <a:buNone/>
              <a:defRPr/>
            </a:pPr>
            <a:endParaRPr lang="en-GB" dirty="0" smtClean="0"/>
          </a:p>
          <a:p>
            <a:pPr marL="577850" lvl="1" indent="-177800" algn="just">
              <a:buFont typeface="Arial" panose="020B0604020202020204" pitchFamily="34" charset="0"/>
              <a:buNone/>
              <a:defRPr/>
            </a:pPr>
            <a:r>
              <a:rPr lang="en-GB" dirty="0" smtClean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4750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2" descr="Scan00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r="2986"/>
          <a:stretch>
            <a:fillRect/>
          </a:stretch>
        </p:blipFill>
        <p:spPr bwMode="auto">
          <a:xfrm>
            <a:off x="1999234" y="1125538"/>
            <a:ext cx="3455988" cy="496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4">
            <a:extLst/>
          </p:cNvPr>
          <p:cNvSpPr>
            <a:spLocks noChangeArrowheads="1"/>
          </p:cNvSpPr>
          <p:nvPr/>
        </p:nvSpPr>
        <p:spPr bwMode="auto">
          <a:xfrm>
            <a:off x="6320409" y="1412875"/>
            <a:ext cx="3816350" cy="3046413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sv-SE" sz="3200" dirty="0">
                <a:latin typeface="+mn-lt"/>
                <a:ea typeface="+mn-ea"/>
              </a:rPr>
              <a:t>Often, the real crisis is not in what actually</a:t>
            </a:r>
          </a:p>
          <a:p>
            <a:pPr>
              <a:defRPr/>
            </a:pPr>
            <a:r>
              <a:rPr lang="sv-SE" sz="3200" dirty="0">
                <a:latin typeface="+mn-lt"/>
                <a:ea typeface="+mn-ea"/>
              </a:rPr>
              <a:t>has happened but what people and the media believe has happened.</a:t>
            </a:r>
          </a:p>
        </p:txBody>
      </p:sp>
      <p:sp>
        <p:nvSpPr>
          <p:cNvPr id="7" name="Rectangle 5">
            <a:extLst/>
          </p:cNvPr>
          <p:cNvSpPr>
            <a:spLocks noChangeArrowheads="1"/>
          </p:cNvSpPr>
          <p:nvPr/>
        </p:nvSpPr>
        <p:spPr bwMode="auto">
          <a:xfrm>
            <a:off x="1252728" y="57366"/>
            <a:ext cx="89646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4000" b="1" dirty="0">
                <a:latin typeface="+mn-lt"/>
                <a:ea typeface="ＭＳ Ｐゴシック" charset="0"/>
                <a:cs typeface="ＭＳ Ｐゴシック" charset="0"/>
              </a:rPr>
              <a:t>Crisis  </a:t>
            </a:r>
            <a:r>
              <a:rPr lang="en-US" sz="4000" b="1" dirty="0">
                <a:latin typeface="+mn-lt"/>
                <a:ea typeface="ＭＳ Ｐゴシック" charset="0"/>
                <a:cs typeface="ＭＳ Ｐゴシック" charset="0"/>
                <a:sym typeface="Symbol" panose="05050102010706020507" pitchFamily="18" charset="2"/>
              </a:rPr>
              <a:t></a:t>
            </a:r>
            <a:r>
              <a:rPr lang="en-US" sz="4000" b="1" dirty="0">
                <a:latin typeface="+mn-lt"/>
                <a:ea typeface="ＭＳ Ｐゴシック" charset="0"/>
                <a:cs typeface="ＭＳ Ｐゴシック" charset="0"/>
              </a:rPr>
              <a:t>  Perception vs. </a:t>
            </a:r>
            <a:r>
              <a:rPr lang="en-US" sz="4000" b="1" dirty="0" smtClean="0">
                <a:ea typeface="ＭＳ Ｐゴシック" charset="0"/>
                <a:cs typeface="ＭＳ Ｐゴシック" charset="0"/>
              </a:rPr>
              <a:t>R</a:t>
            </a:r>
            <a:r>
              <a:rPr lang="en-US" sz="4000" b="1" dirty="0" smtClean="0">
                <a:latin typeface="+mn-lt"/>
                <a:ea typeface="ＭＳ Ｐゴシック" charset="0"/>
                <a:cs typeface="ＭＳ Ｐゴシック" charset="0"/>
              </a:rPr>
              <a:t>eality</a:t>
            </a:r>
            <a:endParaRPr lang="en-US" sz="4000" b="1" dirty="0">
              <a:latin typeface="+mn-lt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611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518082" y="88519"/>
            <a:ext cx="9144000" cy="589580"/>
          </a:xfrm>
          <a:prstGeom prst="rect">
            <a:avLst/>
          </a:prstGeom>
          <a:noFill/>
        </p:spPr>
        <p:txBody>
          <a:bodyPr lIns="44048" tIns="17619" rIns="44048" bIns="17619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989013"/>
            <a:r>
              <a:rPr lang="en-GB" altLang="en-US" sz="4000" b="1" dirty="0" smtClean="0"/>
              <a:t>Challenges</a:t>
            </a:r>
          </a:p>
        </p:txBody>
      </p:sp>
      <p:sp>
        <p:nvSpPr>
          <p:cNvPr id="6" name="Rectangle 3"/>
          <p:cNvSpPr txBox="1">
            <a:spLocks/>
          </p:cNvSpPr>
          <p:nvPr/>
        </p:nvSpPr>
        <p:spPr>
          <a:xfrm>
            <a:off x="1805178" y="1341438"/>
            <a:ext cx="5472113" cy="4392612"/>
          </a:xfrm>
          <a:prstGeom prst="rect">
            <a:avLst/>
          </a:prstGeom>
          <a:noFill/>
        </p:spPr>
        <p:txBody>
          <a:bodyPr vert="horz" lIns="83692" tIns="41112" rIns="83692" bIns="41112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71475" indent="-371475" defTabSz="989013">
              <a:lnSpc>
                <a:spcPct val="110000"/>
              </a:lnSpc>
              <a:spcBef>
                <a:spcPct val="0"/>
              </a:spcBef>
            </a:pPr>
            <a:r>
              <a:rPr lang="en-GB" altLang="en-US" dirty="0" smtClean="0"/>
              <a:t>Emergencies/ </a:t>
            </a:r>
            <a:br>
              <a:rPr lang="en-GB" altLang="en-US" dirty="0" smtClean="0"/>
            </a:br>
            <a:r>
              <a:rPr lang="en-GB" altLang="en-US" dirty="0" smtClean="0"/>
              <a:t>Crisis</a:t>
            </a:r>
          </a:p>
          <a:p>
            <a:pPr marL="371475" indent="-371475" defTabSz="989013">
              <a:lnSpc>
                <a:spcPct val="110000"/>
              </a:lnSpc>
              <a:spcBef>
                <a:spcPct val="0"/>
              </a:spcBef>
            </a:pPr>
            <a:endParaRPr lang="en-GB" altLang="en-US" dirty="0" smtClean="0"/>
          </a:p>
          <a:p>
            <a:pPr marL="371475" indent="-371475" defTabSz="989013">
              <a:lnSpc>
                <a:spcPct val="110000"/>
              </a:lnSpc>
              <a:spcBef>
                <a:spcPct val="0"/>
              </a:spcBef>
            </a:pPr>
            <a:r>
              <a:rPr lang="en-GB" altLang="en-US" dirty="0" smtClean="0"/>
              <a:t>Emotional stories</a:t>
            </a:r>
          </a:p>
          <a:p>
            <a:pPr marL="371475" indent="-371475" defTabSz="989013">
              <a:lnSpc>
                <a:spcPct val="110000"/>
              </a:lnSpc>
              <a:spcBef>
                <a:spcPct val="0"/>
              </a:spcBef>
            </a:pPr>
            <a:endParaRPr lang="en-GB" altLang="en-US" dirty="0" smtClean="0"/>
          </a:p>
          <a:p>
            <a:pPr marL="371475" indent="-371475" defTabSz="989013">
              <a:lnSpc>
                <a:spcPct val="110000"/>
              </a:lnSpc>
              <a:spcBef>
                <a:spcPct val="0"/>
              </a:spcBef>
            </a:pPr>
            <a:r>
              <a:rPr lang="en-GB" altLang="en-US" dirty="0" smtClean="0"/>
              <a:t>Highly visible</a:t>
            </a:r>
          </a:p>
          <a:p>
            <a:pPr marL="371475" indent="-371475" defTabSz="989013">
              <a:lnSpc>
                <a:spcPct val="11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en-GB" altLang="en-US" dirty="0" smtClean="0"/>
          </a:p>
          <a:p>
            <a:pPr marL="371475" indent="-371475" defTabSz="989013">
              <a:lnSpc>
                <a:spcPct val="110000"/>
              </a:lnSpc>
              <a:spcBef>
                <a:spcPct val="0"/>
              </a:spcBef>
            </a:pPr>
            <a:r>
              <a:rPr lang="en-GB" altLang="en-US" dirty="0" smtClean="0"/>
              <a:t>Public concerns</a:t>
            </a:r>
          </a:p>
        </p:txBody>
      </p:sp>
      <p:pic>
        <p:nvPicPr>
          <p:cNvPr id="7" name="Content Placeholder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61166" y="1557338"/>
            <a:ext cx="5076825" cy="387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619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/>
          </p:cNvPr>
          <p:cNvSpPr txBox="1">
            <a:spLocks noChangeArrowheads="1"/>
          </p:cNvSpPr>
          <p:nvPr/>
        </p:nvSpPr>
        <p:spPr>
          <a:xfrm>
            <a:off x="1024128" y="1160187"/>
            <a:ext cx="9482328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912813">
              <a:defRPr/>
            </a:pPr>
            <a:r>
              <a:rPr lang="en-GB" dirty="0" smtClean="0"/>
              <a:t>Oil spills generate bad publicity for the country, the Administration and industry</a:t>
            </a:r>
          </a:p>
          <a:p>
            <a:pPr marL="457200" lvl="1" indent="-457200" algn="just" defTabSz="912813">
              <a:defRPr/>
            </a:pPr>
            <a:endParaRPr lang="en-GB" sz="3200" dirty="0" smtClean="0"/>
          </a:p>
          <a:p>
            <a:pPr algn="just" defTabSz="912813">
              <a:defRPr/>
            </a:pPr>
            <a:r>
              <a:rPr lang="en-GB" dirty="0" smtClean="0"/>
              <a:t>Negative impressions can be redressed with good media communications</a:t>
            </a:r>
          </a:p>
          <a:p>
            <a:pPr algn="just" defTabSz="912813">
              <a:defRPr/>
            </a:pPr>
            <a:endParaRPr lang="en-GB" dirty="0" smtClean="0"/>
          </a:p>
          <a:p>
            <a:pPr algn="just" defTabSz="912813">
              <a:defRPr/>
            </a:pPr>
            <a:r>
              <a:rPr lang="en-GB" dirty="0" smtClean="0"/>
              <a:t>Senior managers and administrators have a responsibility to plan and deliver that plan</a:t>
            </a:r>
            <a:endParaRPr lang="en-GB" dirty="0"/>
          </a:p>
        </p:txBody>
      </p:sp>
      <p:sp>
        <p:nvSpPr>
          <p:cNvPr id="6" name="Rectangle 2">
            <a:extLst/>
          </p:cNvPr>
          <p:cNvSpPr txBox="1">
            <a:spLocks noChangeArrowheads="1"/>
          </p:cNvSpPr>
          <p:nvPr/>
        </p:nvSpPr>
        <p:spPr>
          <a:xfrm>
            <a:off x="1792224" y="130175"/>
            <a:ext cx="9052560" cy="561975"/>
          </a:xfrm>
          <a:prstGeom prst="rect">
            <a:avLst/>
          </a:prstGeom>
        </p:spPr>
        <p:txBody>
          <a:bodyPr>
            <a:normAutofit fontScale="9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914363">
              <a:defRPr/>
            </a:pPr>
            <a:r>
              <a:rPr lang="en-GB" b="1" dirty="0" smtClean="0"/>
              <a:t>Challenges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425827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499616" y="130175"/>
            <a:ext cx="9363456" cy="561975"/>
          </a:xfrm>
          <a:prstGeom prst="rect">
            <a:avLst/>
          </a:prstGeom>
        </p:spPr>
        <p:txBody>
          <a:bodyPr lIns="75749" tIns="37874" rIns="75749" bIns="37874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sv-SE" altLang="en-US" sz="4000" b="1" dirty="0" smtClean="0"/>
              <a:t>Information</a:t>
            </a:r>
          </a:p>
        </p:txBody>
      </p:sp>
      <p:sp>
        <p:nvSpPr>
          <p:cNvPr id="6" name="Rectangle 3"/>
          <p:cNvSpPr txBox="1">
            <a:spLocks/>
          </p:cNvSpPr>
          <p:nvPr/>
        </p:nvSpPr>
        <p:spPr>
          <a:xfrm>
            <a:off x="1408354" y="963402"/>
            <a:ext cx="9363456" cy="5218113"/>
          </a:xfrm>
          <a:prstGeom prst="rect">
            <a:avLst/>
          </a:prstGeom>
        </p:spPr>
        <p:txBody>
          <a:bodyPr lIns="75749" tIns="37874" rIns="75749" bIns="37874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sv-SE" altLang="en-US" dirty="0" smtClean="0"/>
              <a:t>Information can be used to:</a:t>
            </a:r>
          </a:p>
          <a:p>
            <a:pPr lvl="1" indent="-420688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sv-SE" altLang="en-US" dirty="0" smtClean="0"/>
              <a:t>Warn people threatened by immediate danger</a:t>
            </a:r>
          </a:p>
          <a:p>
            <a:pPr lvl="1" indent="-420688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sv-SE" altLang="en-US" dirty="0" smtClean="0"/>
              <a:t>Advise the community on how to act properly to avoid danger/hazard</a:t>
            </a:r>
          </a:p>
          <a:p>
            <a:pPr lvl="1" indent="-420688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sv-SE" altLang="en-US" dirty="0" smtClean="0"/>
              <a:t>Advise on the current response operation</a:t>
            </a:r>
          </a:p>
          <a:p>
            <a:pPr lvl="1" indent="-420688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sv-SE" altLang="en-US" dirty="0" smtClean="0"/>
              <a:t>Create a solid foundation for people’s faith in the response</a:t>
            </a:r>
          </a:p>
          <a:p>
            <a:pPr>
              <a:lnSpc>
                <a:spcPct val="150000"/>
              </a:lnSpc>
            </a:pPr>
            <a:r>
              <a:rPr lang="sv-SE" altLang="en-US" dirty="0" smtClean="0"/>
              <a:t>This requires a </a:t>
            </a:r>
            <a:r>
              <a:rPr lang="sv-SE" altLang="en-US" b="1" dirty="0" smtClean="0"/>
              <a:t>Communications Plan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None/>
            </a:pPr>
            <a:endParaRPr lang="sv-SE" altLang="en-US" sz="3000" b="1" dirty="0" smtClean="0"/>
          </a:p>
        </p:txBody>
      </p:sp>
    </p:spTree>
    <p:extLst>
      <p:ext uri="{BB962C8B-B14F-4D97-AF65-F5344CB8AC3E}">
        <p14:creationId xmlns:p14="http://schemas.microsoft.com/office/powerpoint/2010/main" val="498717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389888" y="130175"/>
            <a:ext cx="9573768" cy="635000"/>
          </a:xfrm>
          <a:prstGeom prst="rect">
            <a:avLst/>
          </a:prstGeom>
        </p:spPr>
        <p:txBody>
          <a:bodyPr lIns="75749" tIns="37874" rIns="75749" bIns="37874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sv-SE" altLang="en-US" sz="4000" b="1" dirty="0" smtClean="0"/>
              <a:t>Information</a:t>
            </a:r>
          </a:p>
        </p:txBody>
      </p:sp>
      <p:sp>
        <p:nvSpPr>
          <p:cNvPr id="6" name="Rectangle 3"/>
          <p:cNvSpPr txBox="1">
            <a:spLocks/>
          </p:cNvSpPr>
          <p:nvPr/>
        </p:nvSpPr>
        <p:spPr>
          <a:xfrm>
            <a:off x="1655064" y="1525312"/>
            <a:ext cx="9573768" cy="5218113"/>
          </a:xfrm>
          <a:prstGeom prst="rect">
            <a:avLst/>
          </a:prstGeom>
        </p:spPr>
        <p:txBody>
          <a:bodyPr lIns="75749" tIns="37874" rIns="75749" bIns="37874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altLang="en-US" dirty="0" smtClean="0"/>
              <a:t>Information must be: </a:t>
            </a:r>
          </a:p>
          <a:p>
            <a:pPr lvl="1" indent="-420688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sv-SE" altLang="en-US" sz="2800" dirty="0" smtClean="0"/>
              <a:t>open and accurate</a:t>
            </a:r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sv-SE" altLang="en-US" sz="2800" dirty="0" smtClean="0"/>
              <a:t>given swiftly and continuously</a:t>
            </a:r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sv-SE" altLang="en-US" sz="2800" dirty="0" smtClean="0"/>
              <a:t>simple and easily accessible</a:t>
            </a:r>
          </a:p>
          <a:p>
            <a:pPr lvl="1" indent="-420688">
              <a:buFont typeface="Wingdings" panose="05000000000000000000" pitchFamily="2" charset="2"/>
              <a:buChar char="ü"/>
            </a:pPr>
            <a:r>
              <a:rPr lang="sv-SE" altLang="en-US" sz="2800" dirty="0" smtClean="0"/>
              <a:t>clear and concise</a:t>
            </a:r>
          </a:p>
          <a:p>
            <a:endParaRPr lang="sv-SE" altLang="en-US" sz="2900" dirty="0" smtClean="0"/>
          </a:p>
          <a:p>
            <a:endParaRPr lang="sv-SE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2393976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755648" y="130175"/>
            <a:ext cx="9272016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4000" b="1" dirty="0" smtClean="0"/>
              <a:t>Media Challenges</a:t>
            </a:r>
          </a:p>
        </p:txBody>
      </p:sp>
      <p:sp>
        <p:nvSpPr>
          <p:cNvPr id="6" name="Rectangle 3"/>
          <p:cNvSpPr txBox="1">
            <a:spLocks/>
          </p:cNvSpPr>
          <p:nvPr/>
        </p:nvSpPr>
        <p:spPr>
          <a:xfrm>
            <a:off x="1216152" y="1085719"/>
            <a:ext cx="9729216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en-US" dirty="0" smtClean="0"/>
              <a:t>Inequality of an emergency event</a:t>
            </a:r>
          </a:p>
          <a:p>
            <a:pPr algn="just">
              <a:buFontTx/>
              <a:buNone/>
            </a:pPr>
            <a:endParaRPr lang="en-US" altLang="en-US" sz="1100" b="1" dirty="0" smtClean="0"/>
          </a:p>
          <a:p>
            <a:pPr marL="857250" lvl="2" indent="-592138" algn="just">
              <a:buFont typeface="Wingdings" panose="05000000000000000000" pitchFamily="2" charset="2"/>
              <a:buChar char="ü"/>
            </a:pPr>
            <a:r>
              <a:rPr lang="en-US" altLang="en-US" sz="2800" dirty="0" smtClean="0"/>
              <a:t>Circumstances do not </a:t>
            </a:r>
            <a:r>
              <a:rPr lang="en-US" altLang="en-US" sz="2800" dirty="0" err="1" smtClean="0"/>
              <a:t>favour</a:t>
            </a:r>
            <a:r>
              <a:rPr lang="en-US" altLang="en-US" sz="2800" dirty="0" smtClean="0"/>
              <a:t> the authority dealing with the event</a:t>
            </a:r>
          </a:p>
          <a:p>
            <a:pPr marL="857250" lvl="2" indent="-592138" algn="just">
              <a:buFont typeface="Wingdings" panose="05000000000000000000" pitchFamily="2" charset="2"/>
              <a:buChar char="ü"/>
            </a:pPr>
            <a:r>
              <a:rPr lang="en-US" altLang="en-US" sz="2800" dirty="0" smtClean="0"/>
              <a:t>It is a golden opportunity for the media</a:t>
            </a:r>
          </a:p>
          <a:p>
            <a:pPr marL="857250" lvl="2" indent="-592138" algn="just">
              <a:buFont typeface="Wingdings" panose="05000000000000000000" pitchFamily="2" charset="2"/>
              <a:buChar char="ü"/>
            </a:pPr>
            <a:r>
              <a:rPr lang="en-US" altLang="en-US" sz="2800" dirty="0" smtClean="0"/>
              <a:t>Media can talk in approximate terms</a:t>
            </a:r>
          </a:p>
          <a:p>
            <a:pPr marL="857250" lvl="2" indent="-592138" algn="just">
              <a:buFont typeface="Wingdings" panose="05000000000000000000" pitchFamily="2" charset="2"/>
              <a:buChar char="ü"/>
            </a:pPr>
            <a:r>
              <a:rPr lang="en-US" altLang="en-US" sz="2800" dirty="0" smtClean="0"/>
              <a:t>Technical/scientific information may not have an impact on public opinion</a:t>
            </a:r>
          </a:p>
          <a:p>
            <a:pPr marL="857250" lvl="2" indent="-592138" algn="just">
              <a:buFont typeface="Wingdings" panose="05000000000000000000" pitchFamily="2" charset="2"/>
              <a:buChar char="ü"/>
            </a:pPr>
            <a:r>
              <a:rPr lang="en-US" altLang="en-US" sz="2800" dirty="0" smtClean="0"/>
              <a:t>Credibility of media can be higher than the responsibility authority</a:t>
            </a:r>
          </a:p>
        </p:txBody>
      </p:sp>
    </p:spTree>
    <p:extLst>
      <p:ext uri="{BB962C8B-B14F-4D97-AF65-F5344CB8AC3E}">
        <p14:creationId xmlns:p14="http://schemas.microsoft.com/office/powerpoint/2010/main" val="379661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545336" y="130175"/>
            <a:ext cx="928116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sv-SE" altLang="en-US" sz="4000" b="1" dirty="0" smtClean="0"/>
              <a:t>Communciation Challenges</a:t>
            </a:r>
          </a:p>
        </p:txBody>
      </p:sp>
      <p:sp>
        <p:nvSpPr>
          <p:cNvPr id="6" name="Rectangle 3"/>
          <p:cNvSpPr txBox="1">
            <a:spLocks/>
          </p:cNvSpPr>
          <p:nvPr/>
        </p:nvSpPr>
        <p:spPr>
          <a:xfrm>
            <a:off x="896201" y="1160187"/>
            <a:ext cx="10579430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sv-SE" altLang="en-US" dirty="0" smtClean="0"/>
              <a:t>Credibility</a:t>
            </a:r>
          </a:p>
          <a:p>
            <a:pPr>
              <a:lnSpc>
                <a:spcPct val="150000"/>
              </a:lnSpc>
            </a:pPr>
            <a:r>
              <a:rPr lang="sv-SE" altLang="en-US" dirty="0" smtClean="0"/>
              <a:t>Clear messages</a:t>
            </a:r>
          </a:p>
          <a:p>
            <a:pPr>
              <a:lnSpc>
                <a:spcPct val="150000"/>
              </a:lnSpc>
            </a:pPr>
            <a:r>
              <a:rPr lang="sv-SE" altLang="en-US" dirty="0" smtClean="0"/>
              <a:t>Having the correct information and releasing  it at the right time</a:t>
            </a:r>
          </a:p>
          <a:p>
            <a:pPr>
              <a:lnSpc>
                <a:spcPct val="150000"/>
              </a:lnSpc>
            </a:pPr>
            <a:r>
              <a:rPr lang="sv-SE" altLang="en-US" dirty="0" smtClean="0"/>
              <a:t>Getting the attention </a:t>
            </a:r>
          </a:p>
          <a:p>
            <a:pPr>
              <a:lnSpc>
                <a:spcPct val="150000"/>
              </a:lnSpc>
            </a:pPr>
            <a:r>
              <a:rPr lang="sv-SE" altLang="en-US" dirty="0" smtClean="0"/>
              <a:t>Seeing the crisis from the perspective of the recipient</a:t>
            </a:r>
          </a:p>
          <a:p>
            <a:pPr>
              <a:lnSpc>
                <a:spcPct val="150000"/>
              </a:lnSpc>
            </a:pPr>
            <a:endParaRPr lang="sv-SE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086116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627631" y="130175"/>
            <a:ext cx="9269597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en-US" sz="4000" b="1" dirty="0" smtClean="0"/>
              <a:t>Communication Challenges</a:t>
            </a:r>
          </a:p>
        </p:txBody>
      </p:sp>
      <p:sp>
        <p:nvSpPr>
          <p:cNvPr id="6" name="Rectangle 3"/>
          <p:cNvSpPr txBox="1">
            <a:spLocks/>
          </p:cNvSpPr>
          <p:nvPr/>
        </p:nvSpPr>
        <p:spPr>
          <a:xfrm>
            <a:off x="1436302" y="1109218"/>
            <a:ext cx="9652254" cy="55451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en-US" dirty="0" smtClean="0"/>
              <a:t>The public has a right to know</a:t>
            </a:r>
          </a:p>
          <a:p>
            <a:pPr algn="just"/>
            <a:r>
              <a:rPr lang="en-GB" altLang="en-US" dirty="0" smtClean="0"/>
              <a:t>Media is the channel to the general public</a:t>
            </a:r>
            <a:endParaRPr lang="en-US" altLang="en-US" dirty="0" smtClean="0"/>
          </a:p>
          <a:p>
            <a:pPr algn="just"/>
            <a:r>
              <a:rPr lang="en-US" altLang="en-US" dirty="0" smtClean="0"/>
              <a:t>Bad news travels fast</a:t>
            </a:r>
          </a:p>
          <a:p>
            <a:pPr algn="just"/>
            <a:r>
              <a:rPr lang="en-US" altLang="en-US" dirty="0" smtClean="0"/>
              <a:t>Under-siege mentality</a:t>
            </a:r>
          </a:p>
          <a:p>
            <a:pPr algn="just"/>
            <a:r>
              <a:rPr lang="en-US" altLang="en-US" dirty="0" smtClean="0"/>
              <a:t>Media plan not to be improvised</a:t>
            </a:r>
          </a:p>
          <a:p>
            <a:pPr algn="just"/>
            <a:r>
              <a:rPr lang="en-US" altLang="en-US" dirty="0" smtClean="0"/>
              <a:t>If the media is poorly managed, the impression given is that the operation is badly managed</a:t>
            </a:r>
          </a:p>
          <a:p>
            <a:pPr algn="just"/>
            <a:r>
              <a:rPr lang="en-US" altLang="en-US" dirty="0" smtClean="0"/>
              <a:t>Plan, exercise, learn lessons, update plan</a:t>
            </a:r>
          </a:p>
        </p:txBody>
      </p:sp>
    </p:spTree>
    <p:extLst>
      <p:ext uri="{BB962C8B-B14F-4D97-AF65-F5344CB8AC3E}">
        <p14:creationId xmlns:p14="http://schemas.microsoft.com/office/powerpoint/2010/main" val="1430559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2112264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Communication Challenges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8712" y="1206000"/>
            <a:ext cx="7099376" cy="473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981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636776" y="130175"/>
            <a:ext cx="9409176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Effective Response</a:t>
            </a:r>
          </a:p>
        </p:txBody>
      </p:sp>
      <p:sp>
        <p:nvSpPr>
          <p:cNvPr id="6" name="Content Placeholder 2">
            <a:extLst/>
          </p:cNvPr>
          <p:cNvSpPr txBox="1">
            <a:spLocks/>
          </p:cNvSpPr>
          <p:nvPr/>
        </p:nvSpPr>
        <p:spPr>
          <a:xfrm>
            <a:off x="1636776" y="1264666"/>
            <a:ext cx="9409176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defRPr/>
            </a:pPr>
            <a:r>
              <a:rPr lang="en-GB" dirty="0" smtClean="0"/>
              <a:t>The management of information is critical.</a:t>
            </a:r>
          </a:p>
          <a:p>
            <a:pPr algn="just">
              <a:lnSpc>
                <a:spcPct val="100000"/>
              </a:lnSpc>
              <a:defRPr/>
            </a:pPr>
            <a:r>
              <a:rPr lang="en-GB" dirty="0" smtClean="0"/>
              <a:t>Information movement can be considered in two dimensions:</a:t>
            </a:r>
          </a:p>
          <a:p>
            <a:pPr marL="742950" lvl="1" indent="-477838" algn="just">
              <a:lnSpc>
                <a:spcPct val="100000"/>
              </a:lnSpc>
              <a:buFont typeface="Wingdings" panose="05000000000000000000" pitchFamily="2" charset="2"/>
              <a:buChar char="ü"/>
              <a:defRPr/>
            </a:pPr>
            <a:r>
              <a:rPr lang="en-GB" dirty="0" smtClean="0"/>
              <a:t>Vertical (internal)</a:t>
            </a:r>
          </a:p>
          <a:p>
            <a:pPr lvl="2" indent="-342900" algn="just">
              <a:lnSpc>
                <a:spcPct val="100000"/>
              </a:lnSpc>
              <a:buFont typeface="Wingdings" panose="05000000000000000000" pitchFamily="2" charset="2"/>
              <a:buChar char="Ø"/>
              <a:defRPr/>
            </a:pPr>
            <a:r>
              <a:rPr lang="en-GB" sz="2200" dirty="0" smtClean="0"/>
              <a:t>the flow of information up and down the command structure of the incident</a:t>
            </a:r>
          </a:p>
          <a:p>
            <a:pPr marL="742950" lvl="1" indent="-477838" algn="just">
              <a:lnSpc>
                <a:spcPct val="100000"/>
              </a:lnSpc>
              <a:buFont typeface="Wingdings" panose="05000000000000000000" pitchFamily="2" charset="2"/>
              <a:buChar char="ü"/>
              <a:defRPr/>
            </a:pPr>
            <a:r>
              <a:rPr lang="en-GB" dirty="0" smtClean="0"/>
              <a:t>Horizontal (external)</a:t>
            </a:r>
          </a:p>
          <a:p>
            <a:pPr lvl="2" indent="-342900" algn="just">
              <a:lnSpc>
                <a:spcPct val="100000"/>
              </a:lnSpc>
              <a:buFont typeface="Wingdings" panose="05000000000000000000" pitchFamily="2" charset="2"/>
              <a:buChar char="Ø"/>
              <a:defRPr/>
            </a:pPr>
            <a:r>
              <a:rPr lang="en-GB" sz="2200" dirty="0" smtClean="0"/>
              <a:t>The flow of information out to media and public</a:t>
            </a:r>
          </a:p>
          <a:p>
            <a:pPr lvl="2" indent="-342900" algn="just">
              <a:lnSpc>
                <a:spcPct val="100000"/>
              </a:lnSpc>
              <a:buFont typeface="Wingdings" panose="05000000000000000000" pitchFamily="2" charset="2"/>
              <a:buChar char="Ø"/>
              <a:defRPr/>
            </a:pPr>
            <a:r>
              <a:rPr lang="en-GB" sz="2200" dirty="0" smtClean="0"/>
              <a:t>The reaction/feedback from the media and public</a:t>
            </a:r>
          </a:p>
          <a:p>
            <a:pPr marL="577850" lvl="1" indent="-177800" algn="just">
              <a:lnSpc>
                <a:spcPct val="100000"/>
              </a:lnSpc>
              <a:buFont typeface="Arial" panose="020B0604020202020204" pitchFamily="34" charset="0"/>
              <a:buNone/>
              <a:defRPr/>
            </a:pPr>
            <a:r>
              <a:rPr lang="en-GB" dirty="0" smtClean="0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0626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 txBox="1">
            <a:spLocks/>
          </p:cNvSpPr>
          <p:nvPr/>
        </p:nvSpPr>
        <p:spPr>
          <a:xfrm>
            <a:off x="1645920" y="1160187"/>
            <a:ext cx="9180576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2813"/>
            <a:r>
              <a:rPr lang="en-GB" altLang="en-US" dirty="0" smtClean="0"/>
              <a:t>Communications plan</a:t>
            </a:r>
          </a:p>
          <a:p>
            <a:pPr marL="685800" lvl="2" indent="-420688" defTabSz="912813"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Response team</a:t>
            </a:r>
          </a:p>
          <a:p>
            <a:pPr marL="685800" lvl="2" indent="-420688" defTabSz="912813"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Response community</a:t>
            </a:r>
          </a:p>
          <a:p>
            <a:pPr marL="685800" lvl="2" indent="-420688" defTabSz="912813"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Senior administrators/Ministers</a:t>
            </a:r>
          </a:p>
          <a:p>
            <a:pPr marL="685800" lvl="2" indent="-420688" defTabSz="912813">
              <a:buFont typeface="Wingdings" panose="05000000000000000000" pitchFamily="2" charset="2"/>
              <a:buChar char="ü"/>
            </a:pPr>
            <a:r>
              <a:rPr lang="en-GB" altLang="en-US" sz="2800" dirty="0" smtClean="0"/>
              <a:t>Regional and international contacts</a:t>
            </a:r>
          </a:p>
          <a:p>
            <a:pPr lvl="1" defTabSz="912813">
              <a:buFont typeface="Calibri" panose="020F0502020204030204" pitchFamily="34" charset="0"/>
              <a:buChar char="–"/>
            </a:pPr>
            <a:endParaRPr lang="en-GB" altLang="en-US" dirty="0" smtClean="0"/>
          </a:p>
          <a:p>
            <a:pPr defTabSz="912813"/>
            <a:r>
              <a:rPr lang="en-GB" altLang="en-US" dirty="0" smtClean="0"/>
              <a:t>Media relations plan </a:t>
            </a:r>
          </a:p>
          <a:p>
            <a:pPr lvl="1" indent="-420688" defTabSz="912813">
              <a:buFont typeface="Wingdings" panose="05000000000000000000" pitchFamily="2" charset="2"/>
              <a:buChar char="ü"/>
            </a:pPr>
            <a:r>
              <a:rPr lang="en-GB" altLang="en-US" dirty="0" smtClean="0"/>
              <a:t>Media</a:t>
            </a:r>
          </a:p>
          <a:p>
            <a:pPr lvl="1" indent="-420688" defTabSz="912813">
              <a:buFont typeface="Wingdings" panose="05000000000000000000" pitchFamily="2" charset="2"/>
              <a:buChar char="ü"/>
            </a:pPr>
            <a:r>
              <a:rPr lang="en-GB" altLang="en-US" dirty="0" smtClean="0"/>
              <a:t>Public</a:t>
            </a:r>
          </a:p>
        </p:txBody>
      </p:sp>
      <p:sp>
        <p:nvSpPr>
          <p:cNvPr id="6" name="Rectangle 2"/>
          <p:cNvSpPr txBox="1">
            <a:spLocks/>
          </p:cNvSpPr>
          <p:nvPr/>
        </p:nvSpPr>
        <p:spPr>
          <a:xfrm>
            <a:off x="1645920" y="130175"/>
            <a:ext cx="9180576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912813"/>
            <a:r>
              <a:rPr lang="en-GB" altLang="en-US" sz="4000" b="1" dirty="0" smtClean="0"/>
              <a:t>Two Plans</a:t>
            </a:r>
          </a:p>
        </p:txBody>
      </p:sp>
    </p:spTree>
    <p:extLst>
      <p:ext uri="{BB962C8B-B14F-4D97-AF65-F5344CB8AC3E}">
        <p14:creationId xmlns:p14="http://schemas.microsoft.com/office/powerpoint/2010/main" val="150009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572768" y="130175"/>
            <a:ext cx="944575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Communication Planning</a:t>
            </a:r>
          </a:p>
        </p:txBody>
      </p:sp>
      <p:sp>
        <p:nvSpPr>
          <p:cNvPr id="6" name="Content Placeholder 2">
            <a:extLst/>
          </p:cNvPr>
          <p:cNvSpPr txBox="1">
            <a:spLocks/>
          </p:cNvSpPr>
          <p:nvPr/>
        </p:nvSpPr>
        <p:spPr>
          <a:xfrm>
            <a:off x="1207008" y="1255522"/>
            <a:ext cx="9445752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6928" indent="-457200">
              <a:defRPr/>
            </a:pPr>
            <a:r>
              <a:rPr lang="en-GB" dirty="0" smtClean="0"/>
              <a:t>Five-step approach to communication planning.</a:t>
            </a:r>
          </a:p>
          <a:p>
            <a:pPr marL="1314450" lvl="2" indent="-514350">
              <a:buFont typeface="+mj-lt"/>
              <a:buAutoNum type="arabicPeriod"/>
              <a:defRPr/>
            </a:pPr>
            <a:r>
              <a:rPr lang="en-GB" sz="2800" dirty="0" smtClean="0"/>
              <a:t>Audience identification</a:t>
            </a:r>
          </a:p>
          <a:p>
            <a:pPr marL="1314450" lvl="2" indent="-514350">
              <a:buFont typeface="Arial" charset="0"/>
              <a:buAutoNum type="arabicPeriod"/>
              <a:defRPr/>
            </a:pPr>
            <a:r>
              <a:rPr lang="en-GB" sz="2800" dirty="0" smtClean="0"/>
              <a:t>Objective setting</a:t>
            </a:r>
          </a:p>
          <a:p>
            <a:pPr marL="1314450" lvl="2" indent="-514350">
              <a:buFont typeface="+mj-lt"/>
              <a:buAutoNum type="arabicPeriod"/>
              <a:defRPr/>
            </a:pPr>
            <a:r>
              <a:rPr lang="en-GB" sz="2800" dirty="0" smtClean="0"/>
              <a:t>Information/message development</a:t>
            </a:r>
          </a:p>
          <a:p>
            <a:pPr marL="1314450" lvl="2" indent="-514350">
              <a:buFont typeface="+mj-lt"/>
              <a:buAutoNum type="arabicPeriod"/>
              <a:defRPr/>
            </a:pPr>
            <a:r>
              <a:rPr lang="en-GB" sz="2800" dirty="0" smtClean="0"/>
              <a:t>Choice of appropriate communication channel(s)</a:t>
            </a:r>
          </a:p>
          <a:p>
            <a:pPr marL="1314450" lvl="2" indent="-514350">
              <a:buFont typeface="+mj-lt"/>
              <a:buAutoNum type="arabicPeriod"/>
              <a:defRPr/>
            </a:pPr>
            <a:r>
              <a:rPr lang="en-GB" sz="2800" dirty="0" smtClean="0"/>
              <a:t>Monitoring/evaluation/review</a:t>
            </a:r>
          </a:p>
          <a:p>
            <a:pPr marL="566928" indent="-457200">
              <a:defRPr/>
            </a:pPr>
            <a:r>
              <a:rPr lang="en-GB" dirty="0" smtClean="0"/>
              <a:t>Avoid an over-reliance on the mass media</a:t>
            </a:r>
          </a:p>
          <a:p>
            <a:pPr marL="566928" indent="-457200">
              <a:defRPr/>
            </a:pPr>
            <a:r>
              <a:rPr lang="en-GB" dirty="0" smtClean="0"/>
              <a:t>Consider the impact  of social media</a:t>
            </a:r>
          </a:p>
          <a:p>
            <a:pPr>
              <a:buFont typeface="Arial" charset="0"/>
              <a:buNone/>
              <a:defRPr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59183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554480" y="130175"/>
            <a:ext cx="9500616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Social Media</a:t>
            </a:r>
          </a:p>
        </p:txBody>
      </p:sp>
      <p:sp>
        <p:nvSpPr>
          <p:cNvPr id="6" name="Content Placeholder 2">
            <a:extLst/>
          </p:cNvPr>
          <p:cNvSpPr txBox="1">
            <a:spLocks/>
          </p:cNvSpPr>
          <p:nvPr/>
        </p:nvSpPr>
        <p:spPr>
          <a:xfrm>
            <a:off x="978586" y="1160187"/>
            <a:ext cx="10222992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6928" indent="-457200" algn="just">
              <a:defRPr/>
            </a:pPr>
            <a:r>
              <a:rPr lang="en-GB" dirty="0" smtClean="0"/>
              <a:t>Increasingly people are turning to social media during emergencies</a:t>
            </a:r>
          </a:p>
          <a:p>
            <a:pPr marL="566928" indent="-457200" algn="just">
              <a:defRPr/>
            </a:pPr>
            <a:r>
              <a:rPr lang="en-GB" dirty="0" smtClean="0"/>
              <a:t>This enables them to obtain up-to-date information as well as give feedback and share content with others</a:t>
            </a:r>
          </a:p>
          <a:p>
            <a:pPr marL="566928" indent="-457200" algn="just">
              <a:defRPr/>
            </a:pPr>
            <a:r>
              <a:rPr lang="en-GB" dirty="0" smtClean="0"/>
              <a:t>This has significantly altered the flow and availability of information during an incident </a:t>
            </a:r>
          </a:p>
          <a:p>
            <a:pPr marL="566928" indent="-457200" algn="just">
              <a:defRPr/>
            </a:pPr>
            <a:r>
              <a:rPr lang="en-GB" dirty="0" smtClean="0"/>
              <a:t>Developing a social media profile, in advance, can benefit for responders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48072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353312" y="130175"/>
            <a:ext cx="973836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Social Media</a:t>
            </a:r>
          </a:p>
        </p:txBody>
      </p:sp>
      <p:sp>
        <p:nvSpPr>
          <p:cNvPr id="6" name="Content Placeholder 2">
            <a:extLst/>
          </p:cNvPr>
          <p:cNvSpPr txBox="1">
            <a:spLocks/>
          </p:cNvSpPr>
          <p:nvPr/>
        </p:nvSpPr>
        <p:spPr>
          <a:xfrm>
            <a:off x="1220902" y="1342749"/>
            <a:ext cx="10355402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6928" indent="-457200" algn="just">
              <a:defRPr/>
            </a:pPr>
            <a:r>
              <a:rPr lang="en-GB" dirty="0" smtClean="0"/>
              <a:t>When used effectively, social media platforms facilitate quick and direct contact with the public</a:t>
            </a:r>
          </a:p>
          <a:p>
            <a:pPr marL="566928" indent="-457200" algn="just">
              <a:defRPr/>
            </a:pPr>
            <a:r>
              <a:rPr lang="en-GB" dirty="0" smtClean="0"/>
              <a:t>An effective social media strategy will incorporate:</a:t>
            </a:r>
          </a:p>
          <a:p>
            <a:pPr marL="966788" lvl="1" indent="-336550" algn="just">
              <a:buFont typeface="Wingdings" panose="05000000000000000000" pitchFamily="2" charset="2"/>
              <a:buChar char="ü"/>
              <a:defRPr/>
            </a:pPr>
            <a:r>
              <a:rPr lang="en-GB" dirty="0" smtClean="0"/>
              <a:t>Listening</a:t>
            </a:r>
          </a:p>
          <a:p>
            <a:pPr marL="966788" lvl="1" indent="-336550" algn="just">
              <a:buFont typeface="Wingdings" panose="05000000000000000000" pitchFamily="2" charset="2"/>
              <a:buChar char="ü"/>
              <a:defRPr/>
            </a:pPr>
            <a:r>
              <a:rPr lang="en-GB" dirty="0" smtClean="0"/>
              <a:t>Talking</a:t>
            </a:r>
          </a:p>
          <a:p>
            <a:pPr marL="966788" lvl="1" indent="-336550" algn="just">
              <a:buFont typeface="Wingdings" panose="05000000000000000000" pitchFamily="2" charset="2"/>
              <a:buChar char="ü"/>
              <a:defRPr/>
            </a:pPr>
            <a:r>
              <a:rPr lang="en-GB" dirty="0" smtClean="0"/>
              <a:t>Engaging</a:t>
            </a:r>
          </a:p>
          <a:p>
            <a:pPr marL="966788" lvl="1" indent="-336550" algn="just">
              <a:buFont typeface="Wingdings" panose="05000000000000000000" pitchFamily="2" charset="2"/>
              <a:buChar char="ü"/>
              <a:defRPr/>
            </a:pPr>
            <a:r>
              <a:rPr lang="en-GB" dirty="0" smtClean="0"/>
              <a:t>Sustaining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9255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325880" y="130175"/>
            <a:ext cx="942746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Social Media</a:t>
            </a:r>
          </a:p>
        </p:txBody>
      </p:sp>
      <p:sp>
        <p:nvSpPr>
          <p:cNvPr id="6" name="Content Placeholder 2">
            <a:extLst/>
          </p:cNvPr>
          <p:cNvSpPr txBox="1">
            <a:spLocks/>
          </p:cNvSpPr>
          <p:nvPr/>
        </p:nvSpPr>
        <p:spPr>
          <a:xfrm>
            <a:off x="1325880" y="1160187"/>
            <a:ext cx="9427464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6928" indent="-457200">
              <a:defRPr/>
            </a:pPr>
            <a:r>
              <a:rPr lang="en-GB" dirty="0" smtClean="0"/>
              <a:t>Listening</a:t>
            </a:r>
          </a:p>
          <a:p>
            <a:pPr marL="966788" lvl="1" indent="-336550">
              <a:buFont typeface="Wingdings" panose="05000000000000000000" pitchFamily="2" charset="2"/>
              <a:buChar char="ü"/>
              <a:defRPr/>
            </a:pPr>
            <a:r>
              <a:rPr lang="en-GB" dirty="0" smtClean="0"/>
              <a:t>What are people taking about?</a:t>
            </a:r>
          </a:p>
          <a:p>
            <a:pPr marL="966788" lvl="1" indent="-336550">
              <a:buFont typeface="Wingdings" panose="05000000000000000000" pitchFamily="2" charset="2"/>
              <a:buChar char="ü"/>
              <a:defRPr/>
            </a:pPr>
            <a:r>
              <a:rPr lang="en-GB" dirty="0" smtClean="0"/>
              <a:t>What is being said about your organization or incident?</a:t>
            </a:r>
          </a:p>
          <a:p>
            <a:pPr marL="966788" lvl="1" indent="-336550">
              <a:buFont typeface="Wingdings" panose="05000000000000000000" pitchFamily="2" charset="2"/>
              <a:buChar char="ü"/>
              <a:defRPr/>
            </a:pPr>
            <a:r>
              <a:rPr lang="en-GB" dirty="0" smtClean="0"/>
              <a:t>Who is your audience?</a:t>
            </a:r>
          </a:p>
          <a:p>
            <a:pPr marL="966788" lvl="1" indent="-336550">
              <a:buFont typeface="Wingdings" panose="05000000000000000000" pitchFamily="2" charset="2"/>
              <a:buChar char="ü"/>
              <a:defRPr/>
            </a:pPr>
            <a:r>
              <a:rPr lang="en-GB" dirty="0" smtClean="0"/>
              <a:t>Where is your audience?</a:t>
            </a:r>
          </a:p>
          <a:p>
            <a:pPr marL="566928" indent="-457200">
              <a:defRPr/>
            </a:pPr>
            <a:r>
              <a:rPr lang="en-GB" dirty="0" smtClean="0"/>
              <a:t>Talking</a:t>
            </a:r>
          </a:p>
          <a:p>
            <a:pPr marL="966788" lvl="1" indent="-336550">
              <a:buFont typeface="Wingdings" panose="05000000000000000000" pitchFamily="2" charset="2"/>
              <a:buChar char="ü"/>
              <a:defRPr/>
            </a:pPr>
            <a:r>
              <a:rPr lang="en-GB" dirty="0" smtClean="0"/>
              <a:t>Promote and introduce your organization </a:t>
            </a:r>
          </a:p>
          <a:p>
            <a:pPr marL="966788" lvl="1" indent="-336550">
              <a:buFont typeface="Wingdings" panose="05000000000000000000" pitchFamily="2" charset="2"/>
              <a:buChar char="ü"/>
              <a:defRPr/>
            </a:pPr>
            <a:r>
              <a:rPr lang="en-GB" dirty="0" smtClean="0"/>
              <a:t>Provide information that will be helpful</a:t>
            </a:r>
          </a:p>
          <a:p>
            <a:pPr marL="966788" lvl="1" indent="-336550">
              <a:buFont typeface="Wingdings" panose="05000000000000000000" pitchFamily="2" charset="2"/>
              <a:buChar char="ü"/>
              <a:defRPr/>
            </a:pPr>
            <a:r>
              <a:rPr lang="en-GB" dirty="0" smtClean="0"/>
              <a:t>Target influential individuals/audiences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20199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325880" y="130175"/>
            <a:ext cx="942746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Social Media</a:t>
            </a:r>
          </a:p>
        </p:txBody>
      </p:sp>
      <p:sp>
        <p:nvSpPr>
          <p:cNvPr id="6" name="Content Placeholder 2">
            <a:extLst/>
          </p:cNvPr>
          <p:cNvSpPr txBox="1">
            <a:spLocks/>
          </p:cNvSpPr>
          <p:nvPr/>
        </p:nvSpPr>
        <p:spPr>
          <a:xfrm>
            <a:off x="1225474" y="1088750"/>
            <a:ext cx="9729216" cy="54721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6928" indent="-457200">
              <a:lnSpc>
                <a:spcPct val="100000"/>
              </a:lnSpc>
              <a:defRPr/>
            </a:pPr>
            <a:r>
              <a:rPr lang="en-GB" dirty="0" smtClean="0"/>
              <a:t>Engaging</a:t>
            </a:r>
          </a:p>
          <a:p>
            <a:pPr marL="966788" lvl="1" indent="-336550">
              <a:lnSpc>
                <a:spcPct val="100000"/>
              </a:lnSpc>
              <a:buFont typeface="Wingdings" panose="05000000000000000000" pitchFamily="2" charset="2"/>
              <a:buChar char="ü"/>
              <a:defRPr/>
            </a:pPr>
            <a:r>
              <a:rPr lang="en-GB" dirty="0" smtClean="0"/>
              <a:t>Develop and encourage two-way conversations</a:t>
            </a:r>
          </a:p>
          <a:p>
            <a:pPr marL="966788" lvl="1" indent="-336550">
              <a:lnSpc>
                <a:spcPct val="100000"/>
              </a:lnSpc>
              <a:buFont typeface="Wingdings" panose="05000000000000000000" pitchFamily="2" charset="2"/>
              <a:buChar char="ü"/>
              <a:defRPr/>
            </a:pPr>
            <a:r>
              <a:rPr lang="en-GB" dirty="0" smtClean="0"/>
              <a:t>Talk with supporters and critics</a:t>
            </a:r>
          </a:p>
          <a:p>
            <a:pPr marL="966788" lvl="1" indent="-336550">
              <a:lnSpc>
                <a:spcPct val="100000"/>
              </a:lnSpc>
              <a:buFont typeface="Wingdings" panose="05000000000000000000" pitchFamily="2" charset="2"/>
              <a:buChar char="ü"/>
              <a:defRPr/>
            </a:pPr>
            <a:r>
              <a:rPr lang="en-GB" dirty="0" smtClean="0"/>
              <a:t>Create a growing network using content that can be shared</a:t>
            </a:r>
          </a:p>
          <a:p>
            <a:pPr marL="566928" indent="-457200">
              <a:lnSpc>
                <a:spcPct val="100000"/>
              </a:lnSpc>
              <a:defRPr/>
            </a:pPr>
            <a:r>
              <a:rPr lang="en-GB" dirty="0" smtClean="0"/>
              <a:t>Sustaining</a:t>
            </a:r>
          </a:p>
          <a:p>
            <a:pPr marL="966788" lvl="1" indent="-336550">
              <a:lnSpc>
                <a:spcPct val="100000"/>
              </a:lnSpc>
              <a:buFont typeface="Wingdings" panose="05000000000000000000" pitchFamily="2" charset="2"/>
              <a:buChar char="ü"/>
              <a:defRPr/>
            </a:pPr>
            <a:r>
              <a:rPr lang="en-GB" dirty="0" smtClean="0"/>
              <a:t>Keep dialogue going, to be well-positioned in an emergency</a:t>
            </a:r>
          </a:p>
          <a:p>
            <a:pPr marL="966788" lvl="1" indent="-336550">
              <a:lnSpc>
                <a:spcPct val="100000"/>
              </a:lnSpc>
              <a:buFont typeface="Wingdings" panose="05000000000000000000" pitchFamily="2" charset="2"/>
              <a:buChar char="ü"/>
              <a:defRPr/>
            </a:pPr>
            <a:r>
              <a:rPr lang="en-GB" dirty="0" smtClean="0"/>
              <a:t>Commit necessary resources to maintain momentum</a:t>
            </a:r>
          </a:p>
          <a:p>
            <a:pPr marL="966788" lvl="1" indent="-336550">
              <a:lnSpc>
                <a:spcPct val="100000"/>
              </a:lnSpc>
              <a:buFont typeface="Wingdings" panose="05000000000000000000" pitchFamily="2" charset="2"/>
              <a:buChar char="ü"/>
              <a:defRPr/>
            </a:pPr>
            <a:r>
              <a:rPr lang="en-GB" dirty="0" smtClean="0"/>
              <a:t>Turn followers into advocates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8683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325880" y="130175"/>
            <a:ext cx="942746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Social Media</a:t>
            </a:r>
          </a:p>
        </p:txBody>
      </p:sp>
      <p:sp>
        <p:nvSpPr>
          <p:cNvPr id="6" name="Content Placeholder 2">
            <a:extLst/>
          </p:cNvPr>
          <p:cNvSpPr txBox="1">
            <a:spLocks/>
          </p:cNvSpPr>
          <p:nvPr/>
        </p:nvSpPr>
        <p:spPr>
          <a:xfrm>
            <a:off x="1088136" y="1271313"/>
            <a:ext cx="9281160" cy="54721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6928" indent="-457200">
              <a:lnSpc>
                <a:spcPct val="100000"/>
              </a:lnSpc>
              <a:defRPr/>
            </a:pPr>
            <a:r>
              <a:rPr lang="en-GB" dirty="0" smtClean="0"/>
              <a:t>Social media can generally be categorized as:</a:t>
            </a:r>
          </a:p>
          <a:p>
            <a:pPr marL="966788" lvl="1" indent="-336550">
              <a:lnSpc>
                <a:spcPct val="100000"/>
              </a:lnSpc>
              <a:buFont typeface="Wingdings" panose="05000000000000000000" pitchFamily="2" charset="2"/>
              <a:buChar char="ü"/>
              <a:defRPr/>
            </a:pPr>
            <a:r>
              <a:rPr lang="en-GB" dirty="0" smtClean="0"/>
              <a:t>Social networks</a:t>
            </a:r>
          </a:p>
          <a:p>
            <a:pPr marL="1367028" lvl="2" indent="-457200">
              <a:lnSpc>
                <a:spcPct val="100000"/>
              </a:lnSpc>
              <a:buFont typeface="Wingdings" panose="05000000000000000000" pitchFamily="2" charset="2"/>
              <a:buChar char="Ø"/>
              <a:defRPr/>
            </a:pPr>
            <a:r>
              <a:rPr lang="en-GB" dirty="0" smtClean="0"/>
              <a:t>Facebook, </a:t>
            </a:r>
            <a:r>
              <a:rPr lang="en-GB" dirty="0" err="1" smtClean="0"/>
              <a:t>MySpace</a:t>
            </a:r>
            <a:r>
              <a:rPr lang="en-GB" dirty="0" smtClean="0"/>
              <a:t>, Google+, LinkedIn</a:t>
            </a:r>
          </a:p>
          <a:p>
            <a:pPr marL="966788" lvl="1" indent="-336550">
              <a:lnSpc>
                <a:spcPct val="100000"/>
              </a:lnSpc>
              <a:buFont typeface="Wingdings" panose="05000000000000000000" pitchFamily="2" charset="2"/>
              <a:buChar char="ü"/>
              <a:defRPr/>
            </a:pPr>
            <a:r>
              <a:rPr lang="en-GB" dirty="0" smtClean="0"/>
              <a:t>Blogging/micro-blogging services</a:t>
            </a:r>
          </a:p>
          <a:p>
            <a:pPr marL="1367028" lvl="2" indent="-457200">
              <a:lnSpc>
                <a:spcPct val="100000"/>
              </a:lnSpc>
              <a:buFont typeface="Wingdings" panose="05000000000000000000" pitchFamily="2" charset="2"/>
              <a:buChar char="Ø"/>
              <a:defRPr/>
            </a:pPr>
            <a:r>
              <a:rPr lang="en-GB" dirty="0" smtClean="0"/>
              <a:t>Twitter, WordPress, </a:t>
            </a:r>
            <a:r>
              <a:rPr lang="en-GB" dirty="0" err="1" smtClean="0"/>
              <a:t>Blogspot</a:t>
            </a:r>
            <a:endParaRPr lang="en-GB" dirty="0" smtClean="0"/>
          </a:p>
          <a:p>
            <a:pPr marL="966788" lvl="1" indent="-336550">
              <a:lnSpc>
                <a:spcPct val="100000"/>
              </a:lnSpc>
              <a:buFont typeface="Wingdings" panose="05000000000000000000" pitchFamily="2" charset="2"/>
              <a:buChar char="ü"/>
              <a:defRPr/>
            </a:pPr>
            <a:r>
              <a:rPr lang="en-GB" dirty="0" smtClean="0"/>
              <a:t>Video and picture sharing platforms</a:t>
            </a:r>
          </a:p>
          <a:p>
            <a:pPr marL="1367028" lvl="2" indent="-457200">
              <a:lnSpc>
                <a:spcPct val="100000"/>
              </a:lnSpc>
              <a:buFont typeface="Wingdings" panose="05000000000000000000" pitchFamily="2" charset="2"/>
              <a:buChar char="Ø"/>
              <a:defRPr/>
            </a:pPr>
            <a:r>
              <a:rPr lang="en-GB" dirty="0" smtClean="0"/>
              <a:t>YouTube, Flickr, Instagram</a:t>
            </a:r>
          </a:p>
          <a:p>
            <a:pPr marL="966788" lvl="1" indent="-336550">
              <a:lnSpc>
                <a:spcPct val="100000"/>
              </a:lnSpc>
              <a:buFont typeface="Wingdings" panose="05000000000000000000" pitchFamily="2" charset="2"/>
              <a:buChar char="ü"/>
              <a:defRPr/>
            </a:pPr>
            <a:r>
              <a:rPr lang="en-GB" dirty="0" smtClean="0"/>
              <a:t>Other crowd-based services</a:t>
            </a:r>
          </a:p>
          <a:p>
            <a:pPr marL="1367028" lvl="2" indent="-457200">
              <a:lnSpc>
                <a:spcPct val="100000"/>
              </a:lnSpc>
              <a:buFont typeface="Wingdings" panose="05000000000000000000" pitchFamily="2" charset="2"/>
              <a:buChar char="Ø"/>
              <a:defRPr/>
            </a:pPr>
            <a:r>
              <a:rPr lang="en-GB" dirty="0" err="1" smtClean="0"/>
              <a:t>Crowdmap</a:t>
            </a:r>
            <a:r>
              <a:rPr lang="en-GB" dirty="0" smtClean="0"/>
              <a:t>, </a:t>
            </a:r>
            <a:r>
              <a:rPr lang="en-GB" dirty="0" err="1" smtClean="0"/>
              <a:t>Tweetdeck</a:t>
            </a:r>
            <a:r>
              <a:rPr lang="en-GB" dirty="0" smtClean="0"/>
              <a:t>, </a:t>
            </a:r>
            <a:r>
              <a:rPr lang="en-GB" dirty="0" err="1" smtClean="0"/>
              <a:t>Addictomatic</a:t>
            </a:r>
            <a:r>
              <a:rPr lang="en-GB" dirty="0" smtClean="0"/>
              <a:t>, </a:t>
            </a:r>
            <a:r>
              <a:rPr lang="en-GB" dirty="0" err="1" smtClean="0"/>
              <a:t>StumbleUpon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4501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325880" y="130175"/>
            <a:ext cx="942746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Social Media</a:t>
            </a:r>
          </a:p>
        </p:txBody>
      </p:sp>
      <p:sp>
        <p:nvSpPr>
          <p:cNvPr id="6" name="Content Placeholder 2">
            <a:extLst/>
          </p:cNvPr>
          <p:cNvSpPr txBox="1">
            <a:spLocks/>
          </p:cNvSpPr>
          <p:nvPr/>
        </p:nvSpPr>
        <p:spPr>
          <a:xfrm>
            <a:off x="818388" y="1088750"/>
            <a:ext cx="10442448" cy="54721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6928" indent="-457200" algn="just">
              <a:defRPr/>
            </a:pPr>
            <a:r>
              <a:rPr lang="en-GB" dirty="0" smtClean="0"/>
              <a:t>Social media comprises of a range of communication tools with new ones emerging all the time</a:t>
            </a:r>
          </a:p>
          <a:p>
            <a:pPr marL="566928" indent="-457200" algn="just">
              <a:defRPr/>
            </a:pPr>
            <a:endParaRPr lang="en-GB" dirty="0" smtClean="0"/>
          </a:p>
          <a:p>
            <a:pPr marL="566928" indent="-457200" algn="just">
              <a:defRPr/>
            </a:pPr>
            <a:r>
              <a:rPr lang="en-GB" dirty="0" smtClean="0"/>
              <a:t>Be aware of which social media platform is used most by your target audience</a:t>
            </a:r>
          </a:p>
          <a:p>
            <a:pPr marL="566928" indent="-457200" algn="just">
              <a:defRPr/>
            </a:pPr>
            <a:endParaRPr lang="en-GB" dirty="0" smtClean="0"/>
          </a:p>
          <a:p>
            <a:pPr marL="566928" indent="-457200" algn="just">
              <a:defRPr/>
            </a:pPr>
            <a:r>
              <a:rPr lang="en-GB" dirty="0" smtClean="0"/>
              <a:t>Adopt an audience-based approach</a:t>
            </a:r>
          </a:p>
          <a:p>
            <a:pPr marL="109728" indent="0" algn="just">
              <a:buNone/>
              <a:defRPr/>
            </a:pPr>
            <a:r>
              <a:rPr lang="en-GB" dirty="0" smtClean="0"/>
              <a:t> </a:t>
            </a:r>
          </a:p>
          <a:p>
            <a:pPr marL="566928" indent="-457200" algn="just">
              <a:defRPr/>
            </a:pPr>
            <a:r>
              <a:rPr lang="en-GB" dirty="0" smtClean="0"/>
              <a:t>Specialist training in social media techniques is highly recommended</a:t>
            </a:r>
          </a:p>
          <a:p>
            <a:pPr marL="566928" indent="-457200" algn="just">
              <a:defRPr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84560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325880" y="130175"/>
            <a:ext cx="942746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Social Media</a:t>
            </a:r>
          </a:p>
        </p:txBody>
      </p:sp>
      <p:sp>
        <p:nvSpPr>
          <p:cNvPr id="6" name="Content Placeholder 2">
            <a:extLst/>
          </p:cNvPr>
          <p:cNvSpPr txBox="1">
            <a:spLocks/>
          </p:cNvSpPr>
          <p:nvPr/>
        </p:nvSpPr>
        <p:spPr>
          <a:xfrm>
            <a:off x="384048" y="1088750"/>
            <a:ext cx="10725912" cy="54721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66928" indent="-457200" algn="just">
              <a:lnSpc>
                <a:spcPct val="150000"/>
              </a:lnSpc>
              <a:defRPr/>
            </a:pPr>
            <a:r>
              <a:rPr lang="en-GB" dirty="0" smtClean="0"/>
              <a:t>Social media present challenges as well as opportunities:</a:t>
            </a:r>
          </a:p>
          <a:p>
            <a:pPr marL="966788" lvl="1" indent="-336550" algn="just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en-GB" dirty="0" smtClean="0"/>
              <a:t>Keeping pace with developments</a:t>
            </a:r>
          </a:p>
          <a:p>
            <a:pPr marL="966788" lvl="1" indent="-336550" algn="just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en-GB" dirty="0" smtClean="0"/>
              <a:t>The level of information to be monitored, filtered and evaluated</a:t>
            </a:r>
          </a:p>
          <a:p>
            <a:pPr marL="966788" lvl="1" indent="-336550" algn="just">
              <a:lnSpc>
                <a:spcPct val="100000"/>
              </a:lnSpc>
              <a:buFont typeface="Wingdings" panose="05000000000000000000" pitchFamily="2" charset="2"/>
              <a:buChar char="ü"/>
              <a:defRPr/>
            </a:pPr>
            <a:r>
              <a:rPr lang="en-GB" dirty="0" smtClean="0"/>
              <a:t>The public expectation to engage in a dialogue through social media platforms</a:t>
            </a:r>
          </a:p>
          <a:p>
            <a:pPr marL="966788" lvl="1" indent="-336550" algn="just">
              <a:lnSpc>
                <a:spcPct val="100000"/>
              </a:lnSpc>
              <a:buFont typeface="Wingdings" panose="05000000000000000000" pitchFamily="2" charset="2"/>
              <a:buChar char="ü"/>
              <a:defRPr/>
            </a:pPr>
            <a:r>
              <a:rPr lang="en-GB" dirty="0" smtClean="0"/>
              <a:t>The need to counteract rumours and misinformation, which can spread rapidly</a:t>
            </a:r>
          </a:p>
          <a:p>
            <a:pPr marL="966978" lvl="1" indent="-457200" algn="just">
              <a:lnSpc>
                <a:spcPct val="150000"/>
              </a:lnSpc>
              <a:defRPr/>
            </a:pPr>
            <a:endParaRPr lang="en-GB" dirty="0" smtClean="0"/>
          </a:p>
          <a:p>
            <a:pPr marL="566928" indent="-457200" algn="just">
              <a:lnSpc>
                <a:spcPct val="150000"/>
              </a:lnSpc>
              <a:defRPr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2189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3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6305" y="845757"/>
            <a:ext cx="7062787" cy="5113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正方形/長方形 1"/>
          <p:cNvSpPr>
            <a:spLocks noChangeArrowheads="1"/>
          </p:cNvSpPr>
          <p:nvPr/>
        </p:nvSpPr>
        <p:spPr bwMode="auto">
          <a:xfrm>
            <a:off x="2317813" y="5991458"/>
            <a:ext cx="6305551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ja-JP" sz="1400" dirty="0">
                <a:solidFill>
                  <a:schemeClr val="bg1"/>
                </a:solidFill>
                <a:latin typeface="Tahoma" panose="020B0604030504040204" pitchFamily="34" charset="0"/>
              </a:rPr>
              <a:t>Source: Scottish Government Publication – Communicating with the Public</a:t>
            </a:r>
            <a:endParaRPr lang="ja-JP" altLang="en-US" sz="1400" dirty="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1690751" y="34125"/>
            <a:ext cx="9036050" cy="719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GB" altLang="en-US" sz="4000" b="1" dirty="0">
                <a:latin typeface="+mj-lt"/>
              </a:rPr>
              <a:t>Communications </a:t>
            </a:r>
            <a:r>
              <a:rPr lang="en-GB" altLang="en-US" sz="4000" b="1" dirty="0" smtClean="0">
                <a:latin typeface="+mj-lt"/>
              </a:rPr>
              <a:t>Structure</a:t>
            </a:r>
            <a:endParaRPr lang="en-GB" altLang="en-US" sz="40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03940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>
            <a:extLst/>
          </p:cNvPr>
          <p:cNvSpPr txBox="1">
            <a:spLocks noChangeArrowheads="1"/>
          </p:cNvSpPr>
          <p:nvPr/>
        </p:nvSpPr>
        <p:spPr>
          <a:xfrm>
            <a:off x="1335024" y="130175"/>
            <a:ext cx="9619488" cy="561975"/>
          </a:xfrm>
          <a:prstGeom prst="rect">
            <a:avLst/>
          </a:prstGeom>
        </p:spPr>
        <p:txBody>
          <a:bodyPr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914363">
              <a:defRPr/>
            </a:pPr>
            <a:r>
              <a:rPr lang="en-GB" b="1" dirty="0" smtClean="0">
                <a:ea typeface="ＭＳ Ｐゴシック" panose="020B0600070205080204" pitchFamily="34" charset="-128"/>
                <a:cs typeface="MS PGothic" charset="0"/>
              </a:rPr>
              <a:t>Key Elements of Communications Plan</a:t>
            </a:r>
            <a:endParaRPr lang="en-GB" b="1" dirty="0">
              <a:ea typeface="ＭＳ Ｐゴシック" panose="020B0600070205080204" pitchFamily="34" charset="-128"/>
              <a:cs typeface="MS PGothic" charset="0"/>
            </a:endParaRPr>
          </a:p>
        </p:txBody>
      </p:sp>
      <p:sp>
        <p:nvSpPr>
          <p:cNvPr id="6" name="Rectangle 3"/>
          <p:cNvSpPr txBox="1">
            <a:spLocks/>
          </p:cNvSpPr>
          <p:nvPr/>
        </p:nvSpPr>
        <p:spPr>
          <a:xfrm>
            <a:off x="1444752" y="1342749"/>
            <a:ext cx="9619488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2813"/>
            <a:r>
              <a:rPr lang="en-GB" altLang="en-US" dirty="0" smtClean="0"/>
              <a:t>OBJECTIVE: </a:t>
            </a:r>
          </a:p>
          <a:p>
            <a:pPr lvl="1" indent="-420688" defTabSz="912813">
              <a:buFont typeface="Wingdings" panose="05000000000000000000" pitchFamily="2" charset="2"/>
              <a:buChar char="ü"/>
            </a:pPr>
            <a:r>
              <a:rPr lang="en-GB" altLang="en-US" dirty="0" smtClean="0"/>
              <a:t>need to communicate internally and externally</a:t>
            </a:r>
          </a:p>
          <a:p>
            <a:pPr defTabSz="912813"/>
            <a:r>
              <a:rPr lang="en-GB" altLang="en-US" dirty="0" smtClean="0"/>
              <a:t>STRATEGY:</a:t>
            </a:r>
          </a:p>
          <a:p>
            <a:pPr lvl="1" indent="-420688" defTabSz="912813">
              <a:buFont typeface="Wingdings" panose="05000000000000000000" pitchFamily="2" charset="2"/>
              <a:buChar char="ü"/>
            </a:pPr>
            <a:r>
              <a:rPr lang="en-GB" altLang="en-US" dirty="0" smtClean="0"/>
              <a:t>role and responsibilities; major issues; means of communication (including internet)</a:t>
            </a:r>
          </a:p>
          <a:p>
            <a:pPr defTabSz="912813"/>
            <a:r>
              <a:rPr lang="en-GB" altLang="en-US" dirty="0" smtClean="0"/>
              <a:t>MESSAGE:</a:t>
            </a:r>
          </a:p>
          <a:p>
            <a:pPr lvl="1" indent="-420688" defTabSz="912813">
              <a:buFont typeface="Wingdings" panose="05000000000000000000" pitchFamily="2" charset="2"/>
              <a:buChar char="ü"/>
            </a:pPr>
            <a:r>
              <a:rPr lang="en-GB" altLang="en-US" dirty="0" smtClean="0"/>
              <a:t>company/government position; incident effects; response measures</a:t>
            </a:r>
          </a:p>
        </p:txBody>
      </p:sp>
    </p:spTree>
    <p:extLst>
      <p:ext uri="{BB962C8B-B14F-4D97-AF65-F5344CB8AC3E}">
        <p14:creationId xmlns:p14="http://schemas.microsoft.com/office/powerpoint/2010/main" val="4120716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 txBox="1">
            <a:spLocks/>
          </p:cNvSpPr>
          <p:nvPr/>
        </p:nvSpPr>
        <p:spPr>
          <a:xfrm>
            <a:off x="1567561" y="1052513"/>
            <a:ext cx="8229600" cy="39354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2813"/>
            <a:r>
              <a:rPr lang="en-GB" altLang="en-US" smtClean="0"/>
              <a:t>SPOKESPERSON:</a:t>
            </a:r>
          </a:p>
          <a:p>
            <a:pPr lvl="1" defTabSz="912813"/>
            <a:r>
              <a:rPr lang="en-GB" altLang="en-US" smtClean="0"/>
              <a:t>role; limits of authority</a:t>
            </a:r>
          </a:p>
          <a:p>
            <a:pPr defTabSz="912813"/>
            <a:r>
              <a:rPr lang="en-GB" altLang="en-US" smtClean="0"/>
              <a:t>MEDIA:</a:t>
            </a:r>
          </a:p>
          <a:p>
            <a:pPr lvl="1" defTabSz="912813"/>
            <a:r>
              <a:rPr lang="en-GB" altLang="en-US" smtClean="0"/>
              <a:t>briefings; meetings; SITREPS</a:t>
            </a:r>
          </a:p>
          <a:p>
            <a:pPr defTabSz="912813"/>
            <a:r>
              <a:rPr lang="en-GB" altLang="en-US" smtClean="0"/>
              <a:t>RESOURCES:</a:t>
            </a:r>
          </a:p>
          <a:p>
            <a:pPr lvl="1" defTabSz="912813"/>
            <a:r>
              <a:rPr lang="en-GB" altLang="en-US" smtClean="0"/>
              <a:t>centre; equipment; personnel</a:t>
            </a:r>
          </a:p>
        </p:txBody>
      </p:sp>
      <p:sp>
        <p:nvSpPr>
          <p:cNvPr id="6" name="Rectangle 2"/>
          <p:cNvSpPr txBox="1">
            <a:spLocks/>
          </p:cNvSpPr>
          <p:nvPr/>
        </p:nvSpPr>
        <p:spPr>
          <a:xfrm>
            <a:off x="557784" y="0"/>
            <a:ext cx="11018520" cy="10795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912813"/>
            <a:r>
              <a:rPr lang="en-GB" altLang="en-US" sz="4000" b="1" dirty="0" smtClean="0"/>
              <a:t>Key Elements of Communications Plan</a:t>
            </a:r>
          </a:p>
        </p:txBody>
      </p:sp>
    </p:spTree>
    <p:extLst>
      <p:ext uri="{BB962C8B-B14F-4D97-AF65-F5344CB8AC3E}">
        <p14:creationId xmlns:p14="http://schemas.microsoft.com/office/powerpoint/2010/main" val="35455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2194560" y="130175"/>
            <a:ext cx="822960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Priorities</a:t>
            </a:r>
          </a:p>
        </p:txBody>
      </p:sp>
      <p:grpSp>
        <p:nvGrpSpPr>
          <p:cNvPr id="6" name="Diagram 6"/>
          <p:cNvGrpSpPr>
            <a:grpSpLocks noChangeAspect="1"/>
          </p:cNvGrpSpPr>
          <p:nvPr/>
        </p:nvGrpSpPr>
        <p:grpSpPr bwMode="auto">
          <a:xfrm>
            <a:off x="1916748" y="692150"/>
            <a:ext cx="5662612" cy="5995988"/>
            <a:chOff x="1608" y="733"/>
            <a:chExt cx="2544" cy="2854"/>
          </a:xfrm>
        </p:grpSpPr>
        <p:sp>
          <p:nvSpPr>
            <p:cNvPr id="7" name="_s1028"/>
            <p:cNvSpPr>
              <a:spLocks noChangeArrowheads="1"/>
            </p:cNvSpPr>
            <p:nvPr/>
          </p:nvSpPr>
          <p:spPr bwMode="auto">
            <a:xfrm flipV="1">
              <a:off x="2456" y="1058"/>
              <a:ext cx="848" cy="73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7208 w 21600"/>
                <a:gd name="T13" fmla="*/ 7210 h 21600"/>
                <a:gd name="T14" fmla="*/ 14392 w 21600"/>
                <a:gd name="T15" fmla="*/ 1439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108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FF00">
                <a:alpha val="67842"/>
              </a:srgbClr>
            </a:solidFill>
            <a:ln w="4699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0" tIns="0" rIns="0" bIns="0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300" b="1">
                  <a:latin typeface="Tahoma" panose="020B0604030504040204" pitchFamily="34" charset="0"/>
                </a:rPr>
                <a:t>Human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300" b="1">
                  <a:latin typeface="Tahoma" panose="020B0604030504040204" pitchFamily="34" charset="0"/>
                </a:rPr>
                <a:t>Life</a:t>
              </a:r>
              <a:endParaRPr lang="en-GB" altLang="en-US" sz="1300" b="1">
                <a:latin typeface="Tahoma" panose="020B0604030504040204" pitchFamily="34" charset="0"/>
              </a:endParaRPr>
            </a:p>
          </p:txBody>
        </p:sp>
        <p:sp>
          <p:nvSpPr>
            <p:cNvPr id="8" name="_s1029"/>
            <p:cNvSpPr>
              <a:spLocks noChangeArrowheads="1"/>
            </p:cNvSpPr>
            <p:nvPr/>
          </p:nvSpPr>
          <p:spPr bwMode="auto">
            <a:xfrm flipV="1">
              <a:off x="2032" y="1792"/>
              <a:ext cx="1696" cy="73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96 w 21600"/>
                <a:gd name="T13" fmla="*/ 4496 h 21600"/>
                <a:gd name="T14" fmla="*/ 17104 w 21600"/>
                <a:gd name="T15" fmla="*/ 17104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C00">
                <a:alpha val="83920"/>
              </a:srgbClr>
            </a:solidFill>
            <a:ln w="4699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0" tIns="0" rIns="0" bIns="0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300" b="1">
                  <a:latin typeface="Tahoma" panose="020B0604030504040204" pitchFamily="34" charset="0"/>
                </a:rPr>
                <a:t>Environment</a:t>
              </a:r>
              <a:endParaRPr lang="en-GB" altLang="en-US" sz="1300" b="1">
                <a:latin typeface="Tahoma" panose="020B0604030504040204" pitchFamily="34" charset="0"/>
              </a:endParaRPr>
            </a:p>
          </p:txBody>
        </p:sp>
        <p:sp>
          <p:nvSpPr>
            <p:cNvPr id="9" name="_s1030"/>
            <p:cNvSpPr>
              <a:spLocks noChangeArrowheads="1"/>
            </p:cNvSpPr>
            <p:nvPr/>
          </p:nvSpPr>
          <p:spPr bwMode="auto">
            <a:xfrm flipV="1">
              <a:off x="1608" y="2527"/>
              <a:ext cx="2544" cy="73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3600 w 21600"/>
                <a:gd name="T13" fmla="*/ 3590 h 21600"/>
                <a:gd name="T14" fmla="*/ 18000 w 21600"/>
                <a:gd name="T15" fmla="*/ 1801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3600" y="21600"/>
                  </a:lnTo>
                  <a:lnTo>
                    <a:pt x="180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99FF">
                <a:alpha val="81960"/>
              </a:srgbClr>
            </a:solidFill>
            <a:ln w="4699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0" tIns="0" rIns="0" bIns="0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300" b="1">
                  <a:latin typeface="Tahoma" panose="020B0604030504040204" pitchFamily="34" charset="0"/>
                </a:rPr>
                <a:t>Property</a:t>
              </a:r>
              <a:endParaRPr lang="en-GB" altLang="en-US" sz="1300" b="1">
                <a:latin typeface="Tahoma" panose="020B0604030504040204" pitchFamily="34" charset="0"/>
              </a:endParaRPr>
            </a:p>
          </p:txBody>
        </p:sp>
      </p:grpSp>
      <p:sp>
        <p:nvSpPr>
          <p:cNvPr id="10" name="TextBox 1">
            <a:extLst/>
          </p:cNvPr>
          <p:cNvSpPr txBox="1">
            <a:spLocks noChangeArrowheads="1"/>
          </p:cNvSpPr>
          <p:nvPr/>
        </p:nvSpPr>
        <p:spPr bwMode="auto">
          <a:xfrm>
            <a:off x="7461885" y="2130425"/>
            <a:ext cx="3240088" cy="2062163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>
              <a:defRPr sz="28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GB" u="sng" dirty="0">
                <a:latin typeface="+mn-lt"/>
              </a:rPr>
              <a:t>P</a:t>
            </a:r>
            <a:r>
              <a:rPr lang="en-GB" dirty="0">
                <a:latin typeface="+mn-lt"/>
              </a:rPr>
              <a:t>eople</a:t>
            </a:r>
          </a:p>
          <a:p>
            <a:pPr>
              <a:defRPr/>
            </a:pPr>
            <a:r>
              <a:rPr lang="en-GB" u="sng" dirty="0">
                <a:latin typeface="+mn-lt"/>
              </a:rPr>
              <a:t>E</a:t>
            </a:r>
            <a:r>
              <a:rPr lang="en-GB" dirty="0">
                <a:latin typeface="+mn-lt"/>
              </a:rPr>
              <a:t>nvironment</a:t>
            </a:r>
          </a:p>
          <a:p>
            <a:pPr>
              <a:defRPr/>
            </a:pPr>
            <a:r>
              <a:rPr lang="en-GB" u="sng" dirty="0">
                <a:latin typeface="+mn-lt"/>
              </a:rPr>
              <a:t>A</a:t>
            </a:r>
            <a:r>
              <a:rPr lang="en-GB" dirty="0">
                <a:latin typeface="+mn-lt"/>
              </a:rPr>
              <a:t>sset</a:t>
            </a:r>
          </a:p>
          <a:p>
            <a:pPr>
              <a:defRPr/>
            </a:pPr>
            <a:r>
              <a:rPr lang="en-GB" u="sng" dirty="0">
                <a:latin typeface="+mn-lt"/>
              </a:rPr>
              <a:t>R</a:t>
            </a:r>
            <a:r>
              <a:rPr lang="en-GB" dirty="0">
                <a:latin typeface="+mn-lt"/>
              </a:rPr>
              <a:t>eputation</a:t>
            </a:r>
          </a:p>
        </p:txBody>
      </p:sp>
    </p:spTree>
    <p:extLst>
      <p:ext uri="{BB962C8B-B14F-4D97-AF65-F5344CB8AC3E}">
        <p14:creationId xmlns:p14="http://schemas.microsoft.com/office/powerpoint/2010/main" val="131655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280160" y="130175"/>
            <a:ext cx="956462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Focus</a:t>
            </a:r>
          </a:p>
        </p:txBody>
      </p:sp>
      <p:grpSp>
        <p:nvGrpSpPr>
          <p:cNvPr id="6" name="Diagram 7"/>
          <p:cNvGrpSpPr>
            <a:grpSpLocks noChangeAspect="1"/>
          </p:cNvGrpSpPr>
          <p:nvPr/>
        </p:nvGrpSpPr>
        <p:grpSpPr bwMode="auto">
          <a:xfrm>
            <a:off x="3394709" y="1500188"/>
            <a:ext cx="6005301" cy="4595812"/>
            <a:chOff x="1632" y="936"/>
            <a:chExt cx="2994" cy="2421"/>
          </a:xfrm>
        </p:grpSpPr>
        <p:sp>
          <p:nvSpPr>
            <p:cNvPr id="7" name="_s2052"/>
            <p:cNvSpPr>
              <a:spLocks noChangeArrowheads="1" noTextEdit="1"/>
            </p:cNvSpPr>
            <p:nvPr/>
          </p:nvSpPr>
          <p:spPr bwMode="auto">
            <a:xfrm>
              <a:off x="1950" y="936"/>
              <a:ext cx="1861" cy="186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69 w 21600"/>
                <a:gd name="T19" fmla="*/ 3169 h 21600"/>
                <a:gd name="T20" fmla="*/ 18431 w 21600"/>
                <a:gd name="T21" fmla="*/ 18431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2050" y="3709"/>
                  </a:moveTo>
                  <a:cubicBezTo>
                    <a:pt x="11637" y="3636"/>
                    <a:pt x="11219" y="3600"/>
                    <a:pt x="10800" y="3600"/>
                  </a:cubicBezTo>
                  <a:cubicBezTo>
                    <a:pt x="9107" y="3599"/>
                    <a:pt x="7468" y="4196"/>
                    <a:pt x="6171" y="5284"/>
                  </a:cubicBezTo>
                  <a:lnTo>
                    <a:pt x="3857" y="2526"/>
                  </a:lnTo>
                  <a:cubicBezTo>
                    <a:pt x="5802" y="894"/>
                    <a:pt x="8260" y="-1"/>
                    <a:pt x="10800" y="0"/>
                  </a:cubicBezTo>
                  <a:cubicBezTo>
                    <a:pt x="11428" y="0"/>
                    <a:pt x="12056" y="54"/>
                    <a:pt x="12675" y="164"/>
                  </a:cubicBezTo>
                  <a:lnTo>
                    <a:pt x="13144" y="-2495"/>
                  </a:lnTo>
                  <a:lnTo>
                    <a:pt x="16794" y="2717"/>
                  </a:lnTo>
                  <a:lnTo>
                    <a:pt x="11581" y="6368"/>
                  </a:lnTo>
                  <a:lnTo>
                    <a:pt x="12050" y="3709"/>
                  </a:lnTo>
                  <a:close/>
                </a:path>
              </a:pathLst>
            </a:cu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/>
              <a:endParaRPr lang="en-IN" b="1"/>
            </a:p>
          </p:txBody>
        </p:sp>
        <p:sp>
          <p:nvSpPr>
            <p:cNvPr id="8" name="_s2053"/>
            <p:cNvSpPr>
              <a:spLocks noChangeArrowheads="1" noTextEdit="1"/>
            </p:cNvSpPr>
            <p:nvPr/>
          </p:nvSpPr>
          <p:spPr bwMode="auto">
            <a:xfrm rot="7200000">
              <a:off x="2205" y="1376"/>
              <a:ext cx="1861" cy="186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69 w 21600"/>
                <a:gd name="T19" fmla="*/ 3169 h 21600"/>
                <a:gd name="T20" fmla="*/ 18431 w 21600"/>
                <a:gd name="T21" fmla="*/ 18431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2050" y="3709"/>
                  </a:moveTo>
                  <a:cubicBezTo>
                    <a:pt x="11637" y="3636"/>
                    <a:pt x="11219" y="3600"/>
                    <a:pt x="10800" y="3600"/>
                  </a:cubicBezTo>
                  <a:cubicBezTo>
                    <a:pt x="9107" y="3599"/>
                    <a:pt x="7468" y="4196"/>
                    <a:pt x="6171" y="5284"/>
                  </a:cubicBezTo>
                  <a:lnTo>
                    <a:pt x="3857" y="2526"/>
                  </a:lnTo>
                  <a:cubicBezTo>
                    <a:pt x="5802" y="894"/>
                    <a:pt x="8260" y="-1"/>
                    <a:pt x="10800" y="0"/>
                  </a:cubicBezTo>
                  <a:cubicBezTo>
                    <a:pt x="11428" y="0"/>
                    <a:pt x="12056" y="54"/>
                    <a:pt x="12675" y="164"/>
                  </a:cubicBezTo>
                  <a:lnTo>
                    <a:pt x="13144" y="-2495"/>
                  </a:lnTo>
                  <a:lnTo>
                    <a:pt x="16794" y="2717"/>
                  </a:lnTo>
                  <a:lnTo>
                    <a:pt x="11581" y="6368"/>
                  </a:lnTo>
                  <a:lnTo>
                    <a:pt x="12050" y="3709"/>
                  </a:lnTo>
                  <a:close/>
                </a:path>
              </a:pathLst>
            </a:cu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/>
              <a:endParaRPr lang="en-IN" b="1"/>
            </a:p>
          </p:txBody>
        </p:sp>
        <p:sp>
          <p:nvSpPr>
            <p:cNvPr id="9" name="_s2054"/>
            <p:cNvSpPr>
              <a:spLocks noChangeArrowheads="1" noTextEdit="1"/>
            </p:cNvSpPr>
            <p:nvPr/>
          </p:nvSpPr>
          <p:spPr bwMode="auto">
            <a:xfrm rot="-7200000">
              <a:off x="1696" y="1378"/>
              <a:ext cx="1861" cy="186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69 w 21600"/>
                <a:gd name="T19" fmla="*/ 3169 h 21600"/>
                <a:gd name="T20" fmla="*/ 18431 w 21600"/>
                <a:gd name="T21" fmla="*/ 18431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2050" y="3709"/>
                  </a:moveTo>
                  <a:cubicBezTo>
                    <a:pt x="11637" y="3636"/>
                    <a:pt x="11219" y="3600"/>
                    <a:pt x="10800" y="3600"/>
                  </a:cubicBezTo>
                  <a:cubicBezTo>
                    <a:pt x="9107" y="3599"/>
                    <a:pt x="7468" y="4196"/>
                    <a:pt x="6171" y="5284"/>
                  </a:cubicBezTo>
                  <a:lnTo>
                    <a:pt x="3857" y="2526"/>
                  </a:lnTo>
                  <a:cubicBezTo>
                    <a:pt x="5802" y="894"/>
                    <a:pt x="8260" y="-1"/>
                    <a:pt x="10800" y="0"/>
                  </a:cubicBezTo>
                  <a:cubicBezTo>
                    <a:pt x="11428" y="0"/>
                    <a:pt x="12056" y="54"/>
                    <a:pt x="12675" y="164"/>
                  </a:cubicBezTo>
                  <a:lnTo>
                    <a:pt x="13144" y="-2495"/>
                  </a:lnTo>
                  <a:lnTo>
                    <a:pt x="16794" y="2717"/>
                  </a:lnTo>
                  <a:lnTo>
                    <a:pt x="11581" y="6368"/>
                  </a:lnTo>
                  <a:lnTo>
                    <a:pt x="12050" y="3709"/>
                  </a:lnTo>
                  <a:close/>
                </a:path>
              </a:pathLst>
            </a:custGeom>
            <a:solidFill>
              <a:srgbClr val="00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algn="ctr"/>
              <a:endParaRPr lang="en-IN" b="1"/>
            </a:p>
          </p:txBody>
        </p:sp>
        <p:sp>
          <p:nvSpPr>
            <p:cNvPr id="10" name="_s2055"/>
            <p:cNvSpPr>
              <a:spLocks noChangeArrowheads="1"/>
            </p:cNvSpPr>
            <p:nvPr/>
          </p:nvSpPr>
          <p:spPr bwMode="auto">
            <a:xfrm>
              <a:off x="3264" y="1341"/>
              <a:ext cx="1362" cy="6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b="1">
                  <a:latin typeface="Tahoma" panose="020B0604030504040204" pitchFamily="34" charset="0"/>
                </a:rPr>
                <a:t>Assert the efforts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b="1">
                  <a:latin typeface="Tahoma" panose="020B0604030504040204" pitchFamily="34" charset="0"/>
                </a:rPr>
                <a:t>being done</a:t>
              </a:r>
              <a:endParaRPr lang="en-GB" altLang="en-US" sz="2000" b="1">
                <a:latin typeface="Tahoma" panose="020B0604030504040204" pitchFamily="34" charset="0"/>
              </a:endParaRPr>
            </a:p>
          </p:txBody>
        </p:sp>
        <p:sp>
          <p:nvSpPr>
            <p:cNvPr id="11" name="_s2056"/>
            <p:cNvSpPr>
              <a:spLocks noChangeArrowheads="1"/>
            </p:cNvSpPr>
            <p:nvPr/>
          </p:nvSpPr>
          <p:spPr bwMode="auto">
            <a:xfrm>
              <a:off x="2507" y="2806"/>
              <a:ext cx="757" cy="5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b="1">
                  <a:latin typeface="Tahoma" panose="020B0604030504040204" pitchFamily="34" charset="0"/>
                </a:rPr>
                <a:t>Promise</a:t>
              </a:r>
              <a:endParaRPr lang="en-GB" altLang="en-US" sz="2000" b="1">
                <a:latin typeface="Tahoma" panose="020B0604030504040204" pitchFamily="34" charset="0"/>
              </a:endParaRPr>
            </a:p>
          </p:txBody>
        </p:sp>
        <p:sp>
          <p:nvSpPr>
            <p:cNvPr id="12" name="_s2057"/>
            <p:cNvSpPr>
              <a:spLocks noChangeArrowheads="1"/>
            </p:cNvSpPr>
            <p:nvPr/>
          </p:nvSpPr>
          <p:spPr bwMode="auto">
            <a:xfrm>
              <a:off x="1632" y="1389"/>
              <a:ext cx="747" cy="7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000" b="1">
                  <a:latin typeface="Tahoma" panose="020B0604030504040204" pitchFamily="34" charset="0"/>
                </a:rPr>
                <a:t>Expression of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GB" altLang="en-US" sz="2000" b="1">
                  <a:latin typeface="Tahoma" panose="020B0604030504040204" pitchFamily="34" charset="0"/>
                </a:rPr>
                <a:t>regret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30506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 txBox="1">
            <a:spLocks/>
          </p:cNvSpPr>
          <p:nvPr/>
        </p:nvSpPr>
        <p:spPr>
          <a:xfrm>
            <a:off x="996696" y="1072642"/>
            <a:ext cx="9656064" cy="54006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2813">
              <a:spcAft>
                <a:spcPts val="1200"/>
              </a:spcAft>
            </a:pPr>
            <a:r>
              <a:rPr lang="en-GB" altLang="en-US" dirty="0" smtClean="0"/>
              <a:t>The policy aim is:</a:t>
            </a:r>
          </a:p>
          <a:p>
            <a:pPr lvl="1" indent="-420688" defTabSz="912813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GB" altLang="en-US" dirty="0" smtClean="0"/>
              <a:t>To provide the media with honest and accurate information at regular intervals throughout the incident</a:t>
            </a:r>
          </a:p>
          <a:p>
            <a:pPr lvl="1" indent="-420688" defTabSz="912813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GB" altLang="en-US" dirty="0" smtClean="0"/>
              <a:t>To establish good relations with the media:</a:t>
            </a:r>
          </a:p>
          <a:p>
            <a:pPr lvl="2" indent="-338138" defTabSz="912813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GB" altLang="en-US" dirty="0" smtClean="0"/>
              <a:t>To control the flow of information</a:t>
            </a:r>
          </a:p>
          <a:p>
            <a:pPr lvl="2" indent="-338138" defTabSz="912813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GB" altLang="en-US" dirty="0" smtClean="0"/>
              <a:t>To avoid distortion of the facts</a:t>
            </a:r>
          </a:p>
          <a:p>
            <a:pPr lvl="2" indent="-338138" defTabSz="912813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GB" altLang="en-US" dirty="0" smtClean="0"/>
              <a:t>To encourage the media to come to us for information</a:t>
            </a:r>
          </a:p>
        </p:txBody>
      </p:sp>
      <p:sp>
        <p:nvSpPr>
          <p:cNvPr id="6" name="Rectangle 2"/>
          <p:cNvSpPr txBox="1">
            <a:spLocks/>
          </p:cNvSpPr>
          <p:nvPr/>
        </p:nvSpPr>
        <p:spPr>
          <a:xfrm>
            <a:off x="1481328" y="130175"/>
            <a:ext cx="965606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912813"/>
            <a:r>
              <a:rPr lang="en-GB" altLang="en-US" sz="4000" b="1" dirty="0" smtClean="0"/>
              <a:t>Media Relations </a:t>
            </a:r>
            <a:r>
              <a:rPr lang="en-GB" altLang="en-US" sz="4000" b="1" dirty="0"/>
              <a:t>P</a:t>
            </a:r>
            <a:r>
              <a:rPr lang="en-GB" altLang="en-US" sz="4000" b="1" dirty="0" smtClean="0"/>
              <a:t>lan</a:t>
            </a:r>
          </a:p>
        </p:txBody>
      </p:sp>
    </p:spTree>
    <p:extLst>
      <p:ext uri="{BB962C8B-B14F-4D97-AF65-F5344CB8AC3E}">
        <p14:creationId xmlns:p14="http://schemas.microsoft.com/office/powerpoint/2010/main" val="309742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 txBox="1">
            <a:spLocks/>
          </p:cNvSpPr>
          <p:nvPr/>
        </p:nvSpPr>
        <p:spPr>
          <a:xfrm>
            <a:off x="1056310" y="1160187"/>
            <a:ext cx="10067544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912813"/>
            <a:r>
              <a:rPr lang="en-GB" altLang="en-US" dirty="0" smtClean="0"/>
              <a:t>The objectives for dealing with the media:</a:t>
            </a:r>
          </a:p>
          <a:p>
            <a:pPr algn="just" defTabSz="912813"/>
            <a:endParaRPr lang="en-GB" altLang="en-US" dirty="0" smtClean="0"/>
          </a:p>
          <a:p>
            <a:pPr lvl="1" indent="-420688" algn="just" defTabSz="912813">
              <a:buFont typeface="Wingdings" panose="05000000000000000000" pitchFamily="2" charset="2"/>
              <a:buChar char="ü"/>
            </a:pPr>
            <a:r>
              <a:rPr lang="en-GB" altLang="en-US" dirty="0" smtClean="0"/>
              <a:t>To establish the competent authorities as a helpful, reliable and knowledgeable source of information</a:t>
            </a:r>
          </a:p>
          <a:p>
            <a:pPr lvl="1" indent="-420688" algn="just" defTabSz="912813">
              <a:buFont typeface="Wingdings" panose="05000000000000000000" pitchFamily="2" charset="2"/>
              <a:buChar char="ü"/>
            </a:pPr>
            <a:endParaRPr lang="en-GB" altLang="en-US" dirty="0" smtClean="0"/>
          </a:p>
          <a:p>
            <a:pPr lvl="1" indent="-420688" algn="just" defTabSz="912813">
              <a:buFont typeface="Wingdings" panose="05000000000000000000" pitchFamily="2" charset="2"/>
              <a:buChar char="ü"/>
            </a:pPr>
            <a:r>
              <a:rPr lang="en-GB" altLang="en-US" dirty="0" smtClean="0"/>
              <a:t>To present an efficient and environmentally caring face to the media</a:t>
            </a:r>
          </a:p>
          <a:p>
            <a:pPr lvl="1" indent="-420688" algn="just" defTabSz="912813">
              <a:buFont typeface="Wingdings" panose="05000000000000000000" pitchFamily="2" charset="2"/>
              <a:buChar char="ü"/>
            </a:pPr>
            <a:endParaRPr lang="en-GB" altLang="en-US" dirty="0" smtClean="0"/>
          </a:p>
          <a:p>
            <a:pPr lvl="1" indent="-420688" algn="just" defTabSz="912813">
              <a:buFont typeface="Wingdings" panose="05000000000000000000" pitchFamily="2" charset="2"/>
              <a:buChar char="ü"/>
            </a:pPr>
            <a:r>
              <a:rPr lang="en-GB" altLang="en-US" dirty="0" smtClean="0"/>
              <a:t>To show that an efficient response strategy has been set in place</a:t>
            </a:r>
          </a:p>
          <a:p>
            <a:pPr lvl="1" indent="-420688" algn="just" defTabSz="912813">
              <a:buFont typeface="Wingdings" panose="05000000000000000000" pitchFamily="2" charset="2"/>
              <a:buChar char="ü"/>
            </a:pPr>
            <a:endParaRPr lang="en-GB" altLang="en-US" dirty="0" smtClean="0"/>
          </a:p>
          <a:p>
            <a:pPr lvl="1" indent="-420688" algn="just" defTabSz="912813">
              <a:buFont typeface="Wingdings" panose="05000000000000000000" pitchFamily="2" charset="2"/>
              <a:buChar char="ü"/>
            </a:pPr>
            <a:r>
              <a:rPr lang="en-GB" altLang="en-US" dirty="0" smtClean="0"/>
              <a:t>To influence what the media write or say</a:t>
            </a:r>
          </a:p>
        </p:txBody>
      </p:sp>
      <p:sp>
        <p:nvSpPr>
          <p:cNvPr id="6" name="Rectangle 2"/>
          <p:cNvSpPr txBox="1">
            <a:spLocks/>
          </p:cNvSpPr>
          <p:nvPr/>
        </p:nvSpPr>
        <p:spPr>
          <a:xfrm>
            <a:off x="1691640" y="49724"/>
            <a:ext cx="9500616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912813"/>
            <a:r>
              <a:rPr lang="en-GB" altLang="en-US" sz="4000" b="1" dirty="0" smtClean="0"/>
              <a:t>Media Relations </a:t>
            </a:r>
            <a:r>
              <a:rPr lang="en-GB" altLang="en-US" sz="4000" b="1" dirty="0"/>
              <a:t>P</a:t>
            </a:r>
            <a:r>
              <a:rPr lang="en-GB" altLang="en-US" sz="4000" b="1" dirty="0" smtClean="0"/>
              <a:t>lan</a:t>
            </a:r>
          </a:p>
        </p:txBody>
      </p:sp>
    </p:spTree>
    <p:extLst>
      <p:ext uri="{BB962C8B-B14F-4D97-AF65-F5344CB8AC3E}">
        <p14:creationId xmlns:p14="http://schemas.microsoft.com/office/powerpoint/2010/main" val="944152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 txBox="1">
            <a:spLocks/>
          </p:cNvSpPr>
          <p:nvPr/>
        </p:nvSpPr>
        <p:spPr>
          <a:xfrm>
            <a:off x="1014984" y="1342749"/>
            <a:ext cx="10186416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912813"/>
            <a:r>
              <a:rPr lang="en-GB" altLang="en-US" dirty="0" smtClean="0"/>
              <a:t>The Media liaison officer will be the </a:t>
            </a:r>
            <a:r>
              <a:rPr lang="en-GB" altLang="fr-FR" dirty="0" smtClean="0"/>
              <a:t>“</a:t>
            </a:r>
            <a:r>
              <a:rPr lang="en-GB" altLang="en-US" dirty="0" smtClean="0"/>
              <a:t>public face</a:t>
            </a:r>
            <a:r>
              <a:rPr lang="en-GB" altLang="fr-FR" dirty="0" smtClean="0"/>
              <a:t>”</a:t>
            </a:r>
            <a:r>
              <a:rPr lang="en-GB" altLang="en-US" dirty="0" smtClean="0"/>
              <a:t> of the authorities</a:t>
            </a:r>
          </a:p>
          <a:p>
            <a:pPr algn="just" defTabSz="912813"/>
            <a:r>
              <a:rPr lang="en-GB" altLang="en-US" dirty="0" smtClean="0"/>
              <a:t>A member of the Command function: fully informed about tactical response decisions</a:t>
            </a:r>
          </a:p>
          <a:p>
            <a:pPr lvl="1" indent="-420688" algn="just" defTabSz="912813">
              <a:buFont typeface="Wingdings" panose="05000000000000000000" pitchFamily="2" charset="2"/>
              <a:buChar char="ü"/>
            </a:pPr>
            <a:r>
              <a:rPr lang="en-GB" altLang="en-US" dirty="0" smtClean="0"/>
              <a:t>Sole responsibility for handling relations with the media</a:t>
            </a:r>
          </a:p>
          <a:p>
            <a:pPr lvl="1" indent="-420688" algn="just" defTabSz="912813">
              <a:buFont typeface="Wingdings" panose="05000000000000000000" pitchFamily="2" charset="2"/>
              <a:buChar char="ü"/>
            </a:pPr>
            <a:r>
              <a:rPr lang="en-GB" altLang="en-US" dirty="0" smtClean="0"/>
              <a:t>No responsibility for tactical response operations</a:t>
            </a:r>
          </a:p>
          <a:p>
            <a:pPr lvl="1" indent="-420688" algn="just" defTabSz="912813">
              <a:buFont typeface="Wingdings" panose="05000000000000000000" pitchFamily="2" charset="2"/>
              <a:buChar char="ü"/>
            </a:pPr>
            <a:r>
              <a:rPr lang="en-GB" altLang="en-US" dirty="0" smtClean="0"/>
              <a:t>May be assisted by senior personnel or technical experts, as required</a:t>
            </a:r>
          </a:p>
        </p:txBody>
      </p:sp>
      <p:sp>
        <p:nvSpPr>
          <p:cNvPr id="6" name="Rectangle 2"/>
          <p:cNvSpPr txBox="1">
            <a:spLocks/>
          </p:cNvSpPr>
          <p:nvPr/>
        </p:nvSpPr>
        <p:spPr>
          <a:xfrm>
            <a:off x="1417320" y="130175"/>
            <a:ext cx="941832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912813"/>
            <a:r>
              <a:rPr lang="en-GB" altLang="en-US" sz="4000" b="1" dirty="0" smtClean="0"/>
              <a:t>Media Liaison </a:t>
            </a:r>
            <a:r>
              <a:rPr lang="en-GB" altLang="en-US" sz="4000" b="1" dirty="0"/>
              <a:t>O</a:t>
            </a:r>
            <a:r>
              <a:rPr lang="en-GB" altLang="en-US" sz="4000" b="1" dirty="0" smtClean="0"/>
              <a:t>fficer</a:t>
            </a:r>
          </a:p>
        </p:txBody>
      </p:sp>
    </p:spTree>
    <p:extLst>
      <p:ext uri="{BB962C8B-B14F-4D97-AF65-F5344CB8AC3E}">
        <p14:creationId xmlns:p14="http://schemas.microsoft.com/office/powerpoint/2010/main" val="1739471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>
            <a:extLst/>
          </p:cNvPr>
          <p:cNvSpPr txBox="1">
            <a:spLocks noChangeArrowheads="1"/>
          </p:cNvSpPr>
          <p:nvPr/>
        </p:nvSpPr>
        <p:spPr>
          <a:xfrm>
            <a:off x="1380744" y="130175"/>
            <a:ext cx="9646920" cy="561975"/>
          </a:xfrm>
          <a:prstGeom prst="rect">
            <a:avLst/>
          </a:prstGeom>
        </p:spPr>
        <p:txBody>
          <a:bodyPr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914363">
              <a:defRPr/>
            </a:pPr>
            <a:r>
              <a:rPr lang="en-GB" b="1" dirty="0" smtClean="0">
                <a:ea typeface="ＭＳ Ｐゴシック" panose="020B0600070205080204" pitchFamily="34" charset="-128"/>
                <a:cs typeface="MS PGothic" charset="0"/>
              </a:rPr>
              <a:t>Responsibilities for Handling the Media</a:t>
            </a:r>
            <a:endParaRPr lang="en-GB" b="1" dirty="0">
              <a:ea typeface="ＭＳ Ｐゴシック" panose="020B0600070205080204" pitchFamily="34" charset="-128"/>
              <a:cs typeface="MS PGothic" charset="0"/>
            </a:endParaRPr>
          </a:p>
        </p:txBody>
      </p:sp>
      <p:sp>
        <p:nvSpPr>
          <p:cNvPr id="6" name="Rectangle 3"/>
          <p:cNvSpPr txBox="1">
            <a:spLocks/>
          </p:cNvSpPr>
          <p:nvPr/>
        </p:nvSpPr>
        <p:spPr>
          <a:xfrm>
            <a:off x="1380744" y="1525312"/>
            <a:ext cx="9646920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2813">
              <a:spcAft>
                <a:spcPts val="1200"/>
              </a:spcAft>
            </a:pPr>
            <a:r>
              <a:rPr lang="en-GB" altLang="en-US" dirty="0" smtClean="0"/>
              <a:t>Tier 1: Press officer of port or oil industry</a:t>
            </a:r>
          </a:p>
          <a:p>
            <a:pPr defTabSz="912813">
              <a:spcAft>
                <a:spcPts val="1200"/>
              </a:spcAft>
            </a:pPr>
            <a:r>
              <a:rPr lang="en-GB" altLang="en-US" dirty="0" smtClean="0"/>
              <a:t>Tier 2 or 3: Press office of Ministry which is </a:t>
            </a:r>
            <a:r>
              <a:rPr lang="en-GB" altLang="fr-FR" dirty="0" smtClean="0"/>
              <a:t>“</a:t>
            </a:r>
            <a:r>
              <a:rPr lang="en-GB" altLang="en-US" dirty="0" smtClean="0"/>
              <a:t>competent government authority</a:t>
            </a:r>
            <a:r>
              <a:rPr lang="en-GB" altLang="fr-FR" dirty="0" smtClean="0"/>
              <a:t>”</a:t>
            </a:r>
            <a:endParaRPr lang="en-GB" altLang="en-US" dirty="0" smtClean="0"/>
          </a:p>
          <a:p>
            <a:pPr defTabSz="912813">
              <a:spcAft>
                <a:spcPts val="1200"/>
              </a:spcAft>
            </a:pPr>
            <a:r>
              <a:rPr lang="en-GB" altLang="en-US" dirty="0" smtClean="0"/>
              <a:t>Dependent on what system prevails in your country</a:t>
            </a:r>
          </a:p>
          <a:p>
            <a:pPr defTabSz="912813">
              <a:spcAft>
                <a:spcPts val="1200"/>
              </a:spcAft>
            </a:pPr>
            <a:r>
              <a:rPr lang="en-GB" altLang="en-US" dirty="0" smtClean="0">
                <a:solidFill>
                  <a:srgbClr val="FFFF00"/>
                </a:solidFill>
              </a:rPr>
              <a:t>Important to present a unified approach! </a:t>
            </a:r>
          </a:p>
        </p:txBody>
      </p:sp>
    </p:spTree>
    <p:extLst>
      <p:ext uri="{BB962C8B-B14F-4D97-AF65-F5344CB8AC3E}">
        <p14:creationId xmlns:p14="http://schemas.microsoft.com/office/powerpoint/2010/main" val="2116776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 txBox="1">
            <a:spLocks/>
          </p:cNvSpPr>
          <p:nvPr/>
        </p:nvSpPr>
        <p:spPr>
          <a:xfrm>
            <a:off x="2066544" y="1160187"/>
            <a:ext cx="9646920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2813">
              <a:spcAft>
                <a:spcPts val="1200"/>
              </a:spcAft>
            </a:pPr>
            <a:r>
              <a:rPr lang="en-GB" altLang="en-US" dirty="0" smtClean="0"/>
              <a:t>What happened?</a:t>
            </a:r>
          </a:p>
          <a:p>
            <a:pPr defTabSz="912813">
              <a:spcAft>
                <a:spcPts val="1200"/>
              </a:spcAft>
            </a:pPr>
            <a:r>
              <a:rPr lang="en-GB" altLang="en-US" dirty="0" smtClean="0"/>
              <a:t>Why did it happen?</a:t>
            </a:r>
          </a:p>
          <a:p>
            <a:pPr defTabSz="912813">
              <a:spcAft>
                <a:spcPts val="1200"/>
              </a:spcAft>
            </a:pPr>
            <a:r>
              <a:rPr lang="en-GB" altLang="en-US" dirty="0" smtClean="0"/>
              <a:t>What are the authorities doing?</a:t>
            </a:r>
          </a:p>
          <a:p>
            <a:pPr defTabSz="912813">
              <a:spcAft>
                <a:spcPts val="1200"/>
              </a:spcAft>
            </a:pPr>
            <a:r>
              <a:rPr lang="en-GB" altLang="en-US" dirty="0" smtClean="0"/>
              <a:t>Will there be further developments?</a:t>
            </a:r>
          </a:p>
          <a:p>
            <a:pPr defTabSz="912813">
              <a:spcAft>
                <a:spcPts val="1200"/>
              </a:spcAft>
            </a:pPr>
            <a:r>
              <a:rPr lang="en-GB" altLang="en-US" dirty="0" smtClean="0"/>
              <a:t>What will be done to prevent such an accident from happening again?</a:t>
            </a:r>
          </a:p>
          <a:p>
            <a:pPr defTabSz="912813">
              <a:spcAft>
                <a:spcPts val="1200"/>
              </a:spcAft>
            </a:pPr>
            <a:r>
              <a:rPr lang="en-GB" altLang="en-US" dirty="0" smtClean="0"/>
              <a:t>?  ?   ?   ?</a:t>
            </a:r>
          </a:p>
        </p:txBody>
      </p:sp>
      <p:sp>
        <p:nvSpPr>
          <p:cNvPr id="6" name="Rectangle 2"/>
          <p:cNvSpPr txBox="1">
            <a:spLocks/>
          </p:cNvSpPr>
          <p:nvPr/>
        </p:nvSpPr>
        <p:spPr>
          <a:xfrm>
            <a:off x="1325880" y="130175"/>
            <a:ext cx="964692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912813"/>
            <a:r>
              <a:rPr lang="en-GB" altLang="en-US" sz="4000" b="1" dirty="0" smtClean="0"/>
              <a:t>What the Public </a:t>
            </a:r>
            <a:r>
              <a:rPr lang="en-GB" altLang="en-US" sz="4000" b="1" dirty="0"/>
              <a:t>W</a:t>
            </a:r>
            <a:r>
              <a:rPr lang="en-GB" altLang="en-US" sz="4000" b="1" dirty="0" smtClean="0"/>
              <a:t>ants to Know!</a:t>
            </a:r>
          </a:p>
        </p:txBody>
      </p:sp>
    </p:spTree>
    <p:extLst>
      <p:ext uri="{BB962C8B-B14F-4D97-AF65-F5344CB8AC3E}">
        <p14:creationId xmlns:p14="http://schemas.microsoft.com/office/powerpoint/2010/main" val="3975860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490472" y="130175"/>
            <a:ext cx="941832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912813"/>
            <a:r>
              <a:rPr lang="en-GB" altLang="en-US" sz="4000" b="1" dirty="0" smtClean="0"/>
              <a:t>How an Issue </a:t>
            </a:r>
            <a:r>
              <a:rPr lang="en-GB" altLang="en-US" sz="4000" b="1" dirty="0"/>
              <a:t>D</a:t>
            </a:r>
            <a:r>
              <a:rPr lang="en-GB" altLang="en-US" sz="4000" b="1" dirty="0" smtClean="0"/>
              <a:t>evelops</a:t>
            </a:r>
          </a:p>
        </p:txBody>
      </p:sp>
      <p:sp>
        <p:nvSpPr>
          <p:cNvPr id="6" name="Rectangle 3"/>
          <p:cNvSpPr txBox="1">
            <a:spLocks/>
          </p:cNvSpPr>
          <p:nvPr/>
        </p:nvSpPr>
        <p:spPr>
          <a:xfrm>
            <a:off x="1490472" y="1085719"/>
            <a:ext cx="9418320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2813">
              <a:lnSpc>
                <a:spcPct val="100000"/>
              </a:lnSpc>
              <a:spcBef>
                <a:spcPct val="0"/>
              </a:spcBef>
            </a:pPr>
            <a:r>
              <a:rPr lang="en-GB" altLang="en-US" dirty="0" smtClean="0"/>
              <a:t>Incident</a:t>
            </a:r>
          </a:p>
          <a:p>
            <a:pPr lvl="1" indent="-420688" defTabSz="912813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GB" altLang="en-US" dirty="0" smtClean="0"/>
              <a:t>Is it newsworthy ?</a:t>
            </a:r>
          </a:p>
          <a:p>
            <a:pPr lvl="1" indent="-420688" defTabSz="912813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GB" altLang="en-US" dirty="0" smtClean="0"/>
              <a:t>What else is happening?</a:t>
            </a:r>
          </a:p>
          <a:p>
            <a:pPr defTabSz="912813">
              <a:lnSpc>
                <a:spcPct val="100000"/>
              </a:lnSpc>
              <a:spcBef>
                <a:spcPct val="0"/>
              </a:spcBef>
            </a:pPr>
            <a:r>
              <a:rPr lang="en-GB" altLang="en-US" dirty="0" smtClean="0"/>
              <a:t>Initial media interest</a:t>
            </a:r>
          </a:p>
          <a:p>
            <a:pPr lvl="1" indent="-420688" defTabSz="912813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GB" altLang="en-US" dirty="0" smtClean="0"/>
              <a:t>Is it being badly handled?</a:t>
            </a:r>
          </a:p>
          <a:p>
            <a:pPr lvl="1" indent="-420688" defTabSz="912813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GB" altLang="en-US" dirty="0" smtClean="0"/>
              <a:t>Is there an issue involved?</a:t>
            </a:r>
          </a:p>
          <a:p>
            <a:pPr defTabSz="912813">
              <a:lnSpc>
                <a:spcPct val="100000"/>
              </a:lnSpc>
              <a:spcBef>
                <a:spcPct val="0"/>
              </a:spcBef>
            </a:pPr>
            <a:r>
              <a:rPr lang="en-GB" altLang="en-US" dirty="0" smtClean="0"/>
              <a:t>Media investigate</a:t>
            </a:r>
          </a:p>
          <a:p>
            <a:pPr lvl="1" indent="-420688" defTabSz="912813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GB" altLang="en-US" dirty="0" smtClean="0"/>
              <a:t>Is there anything to hide?</a:t>
            </a:r>
          </a:p>
          <a:p>
            <a:pPr defTabSz="912813">
              <a:lnSpc>
                <a:spcPct val="100000"/>
              </a:lnSpc>
              <a:spcBef>
                <a:spcPct val="0"/>
              </a:spcBef>
            </a:pPr>
            <a:r>
              <a:rPr lang="en-GB" altLang="en-US" dirty="0" smtClean="0"/>
              <a:t>Analysis and blame</a:t>
            </a:r>
          </a:p>
          <a:p>
            <a:pPr lvl="1" indent="-420688" defTabSz="912813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GB" altLang="en-US" dirty="0" smtClean="0"/>
              <a:t>Specific issues requiring quick detailed answers</a:t>
            </a:r>
          </a:p>
          <a:p>
            <a:pPr lvl="1" indent="-420688" defTabSz="912813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Char char="ü"/>
            </a:pPr>
            <a:r>
              <a:rPr lang="en-GB" altLang="en-US" dirty="0" smtClean="0"/>
              <a:t>Slower stage: political</a:t>
            </a:r>
          </a:p>
        </p:txBody>
      </p:sp>
    </p:spTree>
    <p:extLst>
      <p:ext uri="{BB962C8B-B14F-4D97-AF65-F5344CB8AC3E}">
        <p14:creationId xmlns:p14="http://schemas.microsoft.com/office/powerpoint/2010/main" val="4247083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508760" y="130175"/>
            <a:ext cx="9518904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912813"/>
            <a:r>
              <a:rPr lang="en-GB" altLang="en-US" sz="4000" b="1" dirty="0" smtClean="0"/>
              <a:t>Media Facilities</a:t>
            </a:r>
          </a:p>
        </p:txBody>
      </p:sp>
      <p:sp>
        <p:nvSpPr>
          <p:cNvPr id="6" name="Rectangle 3"/>
          <p:cNvSpPr txBox="1">
            <a:spLocks/>
          </p:cNvSpPr>
          <p:nvPr/>
        </p:nvSpPr>
        <p:spPr>
          <a:xfrm>
            <a:off x="1399032" y="1160187"/>
            <a:ext cx="9518904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2813"/>
            <a:r>
              <a:rPr lang="en-GB" altLang="en-US" dirty="0" smtClean="0"/>
              <a:t>Integrated within the IMS</a:t>
            </a:r>
          </a:p>
          <a:p>
            <a:pPr defTabSz="912813"/>
            <a:r>
              <a:rPr lang="en-GB" altLang="en-US" dirty="0" smtClean="0"/>
              <a:t>Your facilities:</a:t>
            </a:r>
          </a:p>
          <a:p>
            <a:pPr lvl="1" indent="-420688" defTabSz="912813">
              <a:buFont typeface="Wingdings" panose="05000000000000000000" pitchFamily="2" charset="2"/>
              <a:buChar char="ü"/>
            </a:pPr>
            <a:r>
              <a:rPr lang="en-GB" altLang="en-US" dirty="0" smtClean="0"/>
              <a:t>Who answers the phone?</a:t>
            </a:r>
          </a:p>
          <a:p>
            <a:pPr lvl="1" indent="-420688" defTabSz="912813">
              <a:buFont typeface="Wingdings" panose="05000000000000000000" pitchFamily="2" charset="2"/>
              <a:buChar char="ü"/>
            </a:pPr>
            <a:r>
              <a:rPr lang="en-GB" altLang="en-US" dirty="0" smtClean="0"/>
              <a:t>How can you handle hundreds of calls?</a:t>
            </a:r>
          </a:p>
          <a:p>
            <a:pPr lvl="1" indent="-420688" defTabSz="912813">
              <a:buFont typeface="Wingdings" panose="05000000000000000000" pitchFamily="2" charset="2"/>
              <a:buChar char="ü"/>
            </a:pPr>
            <a:r>
              <a:rPr lang="en-GB" altLang="en-US" dirty="0" smtClean="0"/>
              <a:t>Allocate phone and fax numbers</a:t>
            </a:r>
          </a:p>
          <a:p>
            <a:pPr lvl="1" indent="-420688" defTabSz="912813">
              <a:buFont typeface="Wingdings" panose="05000000000000000000" pitchFamily="2" charset="2"/>
              <a:buChar char="ü"/>
            </a:pPr>
            <a:r>
              <a:rPr lang="en-GB" altLang="en-US" dirty="0" smtClean="0"/>
              <a:t>Managing press conferences</a:t>
            </a:r>
          </a:p>
          <a:p>
            <a:pPr lvl="1" indent="-420688" defTabSz="912813">
              <a:buFont typeface="Wingdings" panose="05000000000000000000" pitchFamily="2" charset="2"/>
              <a:buChar char="ü"/>
            </a:pPr>
            <a:r>
              <a:rPr lang="en-GB" altLang="en-US" dirty="0" smtClean="0"/>
              <a:t>Access to site or key experts</a:t>
            </a:r>
          </a:p>
          <a:p>
            <a:pPr lvl="1" indent="-420688" defTabSz="912813">
              <a:buFont typeface="Wingdings" panose="05000000000000000000" pitchFamily="2" charset="2"/>
              <a:buChar char="ü"/>
            </a:pPr>
            <a:r>
              <a:rPr lang="en-GB" altLang="en-US" dirty="0" smtClean="0"/>
              <a:t>Conducted media tours</a:t>
            </a:r>
          </a:p>
          <a:p>
            <a:pPr lvl="1" indent="-420688" defTabSz="912813">
              <a:buFont typeface="Wingdings" panose="05000000000000000000" pitchFamily="2" charset="2"/>
              <a:buChar char="ü"/>
            </a:pPr>
            <a:r>
              <a:rPr lang="en-GB" altLang="fr-FR" dirty="0" smtClean="0"/>
              <a:t>“</a:t>
            </a:r>
            <a:r>
              <a:rPr lang="en-GB" altLang="en-US" dirty="0" smtClean="0"/>
              <a:t>a Media contingency plan</a:t>
            </a:r>
            <a:r>
              <a:rPr lang="en-GB" altLang="fr-FR" dirty="0" smtClean="0"/>
              <a:t>”</a:t>
            </a:r>
            <a:r>
              <a:rPr lang="en-GB" altLang="en-US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20814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490472" y="130175"/>
            <a:ext cx="9546336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912813"/>
            <a:r>
              <a:rPr lang="en-GB" altLang="en-US" sz="4000" b="1" dirty="0" smtClean="0"/>
              <a:t>Press Facilities</a:t>
            </a:r>
          </a:p>
        </p:txBody>
      </p:sp>
      <p:sp>
        <p:nvSpPr>
          <p:cNvPr id="6" name="Rectangle 3"/>
          <p:cNvSpPr txBox="1">
            <a:spLocks/>
          </p:cNvSpPr>
          <p:nvPr/>
        </p:nvSpPr>
        <p:spPr>
          <a:xfrm>
            <a:off x="1229106" y="1160187"/>
            <a:ext cx="10091166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2813"/>
            <a:r>
              <a:rPr lang="en-GB" altLang="en-US" dirty="0" smtClean="0"/>
              <a:t>Near to </a:t>
            </a:r>
            <a:r>
              <a:rPr lang="en-GB" altLang="en-US" u="sng" dirty="0" smtClean="0"/>
              <a:t>but not within </a:t>
            </a:r>
            <a:r>
              <a:rPr lang="en-GB" altLang="en-US" dirty="0" smtClean="0"/>
              <a:t>the IMS </a:t>
            </a:r>
            <a:r>
              <a:rPr lang="en-GB" altLang="en-US" dirty="0" smtClean="0">
                <a:sym typeface="Symbol" panose="05050102010706020507" pitchFamily="18" charset="2"/>
              </a:rPr>
              <a:t></a:t>
            </a:r>
            <a:r>
              <a:rPr lang="en-GB" altLang="en-US" dirty="0" smtClean="0"/>
              <a:t> generally a neutral area</a:t>
            </a:r>
          </a:p>
          <a:p>
            <a:pPr defTabSz="912813"/>
            <a:r>
              <a:rPr lang="en-GB" altLang="en-US" dirty="0" smtClean="0"/>
              <a:t>Provide:</a:t>
            </a:r>
          </a:p>
          <a:p>
            <a:pPr lvl="1" indent="-420688" defTabSz="912813">
              <a:buFont typeface="Wingdings" panose="05000000000000000000" pitchFamily="2" charset="2"/>
              <a:buChar char="ü"/>
            </a:pPr>
            <a:r>
              <a:rPr lang="en-GB" altLang="en-US" dirty="0" smtClean="0"/>
              <a:t>Sufficient space</a:t>
            </a:r>
          </a:p>
          <a:p>
            <a:pPr lvl="1" indent="-420688" defTabSz="912813">
              <a:buFont typeface="Wingdings" panose="05000000000000000000" pitchFamily="2" charset="2"/>
              <a:buChar char="ü"/>
            </a:pPr>
            <a:r>
              <a:rPr lang="en-GB" altLang="en-US" dirty="0" smtClean="0"/>
              <a:t>Working area</a:t>
            </a:r>
          </a:p>
          <a:p>
            <a:pPr lvl="1" indent="-420688" defTabSz="912813">
              <a:buFont typeface="Wingdings" panose="05000000000000000000" pitchFamily="2" charset="2"/>
              <a:buChar char="ü"/>
            </a:pPr>
            <a:r>
              <a:rPr lang="en-GB" altLang="en-US" dirty="0" smtClean="0"/>
              <a:t>Power</a:t>
            </a:r>
          </a:p>
          <a:p>
            <a:pPr lvl="1" indent="-420688" defTabSz="912813">
              <a:buFont typeface="Wingdings" panose="05000000000000000000" pitchFamily="2" charset="2"/>
              <a:buChar char="ü"/>
            </a:pPr>
            <a:r>
              <a:rPr lang="en-GB" altLang="en-US" dirty="0" smtClean="0"/>
              <a:t>Parking</a:t>
            </a:r>
          </a:p>
          <a:p>
            <a:pPr lvl="1" indent="-420688" defTabSz="912813">
              <a:buFont typeface="Wingdings" panose="05000000000000000000" pitchFamily="2" charset="2"/>
              <a:buChar char="ü"/>
            </a:pPr>
            <a:r>
              <a:rPr lang="en-GB" altLang="en-US" dirty="0" smtClean="0"/>
              <a:t>Domestic facilities</a:t>
            </a:r>
          </a:p>
          <a:p>
            <a:pPr lvl="1" indent="-420688" defTabSz="912813">
              <a:buFont typeface="Wingdings" panose="05000000000000000000" pitchFamily="2" charset="2"/>
              <a:buChar char="ü"/>
            </a:pPr>
            <a:r>
              <a:rPr lang="en-GB" altLang="en-US" dirty="0" smtClean="0"/>
              <a:t>Conference facilities</a:t>
            </a:r>
          </a:p>
          <a:p>
            <a:pPr lvl="2" indent="-430213" defTabSz="912813">
              <a:buFont typeface="Wingdings" panose="05000000000000000000" pitchFamily="2" charset="2"/>
              <a:buChar char="Ø"/>
            </a:pPr>
            <a:r>
              <a:rPr lang="en-GB" altLang="en-US" dirty="0" smtClean="0"/>
              <a:t>Stage, podium, lighting, sound system, press releases</a:t>
            </a:r>
          </a:p>
          <a:p>
            <a:pPr lvl="1" defTabSz="912813"/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731355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380744" y="130175"/>
            <a:ext cx="9683496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912813"/>
            <a:r>
              <a:rPr lang="en-GB" altLang="en-US" sz="4000" b="1" dirty="0" smtClean="0"/>
              <a:t>The Press </a:t>
            </a:r>
            <a:r>
              <a:rPr lang="en-GB" altLang="en-US" sz="4000" b="1" dirty="0"/>
              <a:t>R</a:t>
            </a:r>
            <a:r>
              <a:rPr lang="en-GB" altLang="en-US" sz="4000" b="1" dirty="0" smtClean="0"/>
              <a:t>elease</a:t>
            </a:r>
          </a:p>
        </p:txBody>
      </p:sp>
      <p:sp>
        <p:nvSpPr>
          <p:cNvPr id="6" name="Rectangle 3"/>
          <p:cNvSpPr txBox="1">
            <a:spLocks/>
          </p:cNvSpPr>
          <p:nvPr/>
        </p:nvSpPr>
        <p:spPr>
          <a:xfrm>
            <a:off x="1380744" y="1264666"/>
            <a:ext cx="9619488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2813">
              <a:spcBef>
                <a:spcPts val="600"/>
              </a:spcBef>
              <a:spcAft>
                <a:spcPts val="600"/>
              </a:spcAft>
            </a:pPr>
            <a:r>
              <a:rPr lang="en-GB" altLang="en-US" dirty="0" smtClean="0"/>
              <a:t>The press release </a:t>
            </a:r>
            <a:r>
              <a:rPr lang="en-GB" altLang="en-US" dirty="0" smtClean="0">
                <a:solidFill>
                  <a:srgbClr val="FFFF00"/>
                </a:solidFill>
              </a:rPr>
              <a:t>should:</a:t>
            </a:r>
          </a:p>
          <a:p>
            <a:pPr marL="966788" lvl="1" indent="-609600" defTabSz="912813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dirty="0" smtClean="0"/>
              <a:t>Admit involvement</a:t>
            </a:r>
          </a:p>
          <a:p>
            <a:pPr marL="966788" lvl="1" indent="-609600" defTabSz="912813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dirty="0" smtClean="0"/>
              <a:t>Give basic facts</a:t>
            </a:r>
          </a:p>
          <a:p>
            <a:pPr marL="966788" lvl="1" indent="-609600" defTabSz="912813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dirty="0" smtClean="0"/>
              <a:t>Express regret</a:t>
            </a:r>
          </a:p>
          <a:p>
            <a:pPr marL="966788" lvl="1" indent="-609600" defTabSz="912813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dirty="0" smtClean="0"/>
              <a:t>Say what is being done to improve the situation</a:t>
            </a:r>
          </a:p>
          <a:p>
            <a:pPr marL="966788" lvl="1" indent="-609600" defTabSz="912813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dirty="0" smtClean="0"/>
              <a:t>Give a press contact</a:t>
            </a:r>
          </a:p>
        </p:txBody>
      </p:sp>
    </p:spTree>
    <p:extLst>
      <p:ext uri="{BB962C8B-B14F-4D97-AF65-F5344CB8AC3E}">
        <p14:creationId xmlns:p14="http://schemas.microsoft.com/office/powerpoint/2010/main" val="266668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417320" y="49724"/>
            <a:ext cx="9528048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912813"/>
            <a:r>
              <a:rPr lang="en-GB" altLang="en-US" sz="4000" b="1" dirty="0" smtClean="0"/>
              <a:t>The Press </a:t>
            </a:r>
            <a:r>
              <a:rPr lang="en-GB" altLang="en-US" sz="4000" b="1" dirty="0"/>
              <a:t>R</a:t>
            </a:r>
            <a:r>
              <a:rPr lang="en-GB" altLang="en-US" sz="4000" b="1" dirty="0" smtClean="0"/>
              <a:t>elease</a:t>
            </a:r>
          </a:p>
        </p:txBody>
      </p:sp>
      <p:sp>
        <p:nvSpPr>
          <p:cNvPr id="6" name="Rectangle 4"/>
          <p:cNvSpPr txBox="1">
            <a:spLocks noChangeArrowheads="1"/>
          </p:cNvSpPr>
          <p:nvPr/>
        </p:nvSpPr>
        <p:spPr>
          <a:xfrm>
            <a:off x="1417320" y="908050"/>
            <a:ext cx="9528048" cy="521811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0025" indent="-457200" defTabSz="912813">
              <a:spcBef>
                <a:spcPts val="600"/>
              </a:spcBef>
              <a:spcAft>
                <a:spcPts val="600"/>
              </a:spcAft>
            </a:pPr>
            <a:r>
              <a:rPr lang="en-GB" altLang="en-US" dirty="0" smtClean="0"/>
              <a:t>The press release </a:t>
            </a:r>
            <a:r>
              <a:rPr lang="en-GB" altLang="en-US" dirty="0" smtClean="0">
                <a:solidFill>
                  <a:srgbClr val="FFFF00"/>
                </a:solidFill>
              </a:rPr>
              <a:t>must </a:t>
            </a:r>
            <a:r>
              <a:rPr lang="en-GB" altLang="en-US" u="sng" dirty="0" smtClean="0">
                <a:solidFill>
                  <a:srgbClr val="FFFF00"/>
                </a:solidFill>
              </a:rPr>
              <a:t>not</a:t>
            </a:r>
            <a:r>
              <a:rPr lang="en-GB" altLang="en-US" dirty="0" smtClean="0">
                <a:solidFill>
                  <a:srgbClr val="FFFF00"/>
                </a:solidFill>
              </a:rPr>
              <a:t>:</a:t>
            </a:r>
          </a:p>
          <a:p>
            <a:pPr marL="966788" lvl="1" indent="-457200" defTabSz="912813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dirty="0" smtClean="0"/>
              <a:t>Speculate on causes</a:t>
            </a:r>
          </a:p>
          <a:p>
            <a:pPr marL="966788" lvl="1" indent="-457200" defTabSz="912813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dirty="0" smtClean="0"/>
              <a:t>Blame parties</a:t>
            </a:r>
          </a:p>
          <a:p>
            <a:pPr marL="966788" lvl="1" indent="-457200" defTabSz="912813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dirty="0" smtClean="0"/>
              <a:t>Admit liability</a:t>
            </a:r>
          </a:p>
          <a:p>
            <a:pPr marL="966788" lvl="1" indent="-457200" defTabSz="912813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dirty="0" smtClean="0"/>
              <a:t>Use jargon</a:t>
            </a:r>
          </a:p>
          <a:p>
            <a:pPr marL="966788" lvl="1" indent="-457200" defTabSz="912813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GB" altLang="en-US" dirty="0" smtClean="0"/>
              <a:t>Be arrogant  </a:t>
            </a:r>
            <a:r>
              <a:rPr lang="en-GB" altLang="en-US" dirty="0" smtClean="0">
                <a:solidFill>
                  <a:schemeClr val="accent1"/>
                </a:solidFill>
              </a:rPr>
              <a:t>             </a:t>
            </a:r>
          </a:p>
        </p:txBody>
      </p:sp>
    </p:spTree>
    <p:extLst>
      <p:ext uri="{BB962C8B-B14F-4D97-AF65-F5344CB8AC3E}">
        <p14:creationId xmlns:p14="http://schemas.microsoft.com/office/powerpoint/2010/main" val="2890669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527048" y="130175"/>
            <a:ext cx="9317736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912813"/>
            <a:r>
              <a:rPr lang="en-GB" altLang="en-US" sz="4000" b="1" dirty="0" smtClean="0"/>
              <a:t>Interview </a:t>
            </a:r>
            <a:r>
              <a:rPr lang="en-GB" altLang="en-US" sz="4000" b="1" dirty="0"/>
              <a:t>G</a:t>
            </a:r>
            <a:r>
              <a:rPr lang="en-GB" altLang="en-US" sz="4000" b="1" dirty="0" smtClean="0"/>
              <a:t>uidelines</a:t>
            </a:r>
          </a:p>
        </p:txBody>
      </p:sp>
      <p:sp>
        <p:nvSpPr>
          <p:cNvPr id="6" name="Rectangle 3"/>
          <p:cNvSpPr txBox="1">
            <a:spLocks/>
          </p:cNvSpPr>
          <p:nvPr/>
        </p:nvSpPr>
        <p:spPr>
          <a:xfrm>
            <a:off x="1431214" y="1160187"/>
            <a:ext cx="9317736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2813">
              <a:spcAft>
                <a:spcPts val="1200"/>
              </a:spcAft>
            </a:pPr>
            <a:r>
              <a:rPr lang="en-GB" altLang="en-US" dirty="0" smtClean="0"/>
              <a:t>Write an advance list of the points </a:t>
            </a:r>
            <a:r>
              <a:rPr lang="en-GB" altLang="en-US" dirty="0" smtClean="0">
                <a:solidFill>
                  <a:srgbClr val="FFFF00"/>
                </a:solidFill>
              </a:rPr>
              <a:t>you</a:t>
            </a:r>
            <a:r>
              <a:rPr lang="en-GB" altLang="en-US" dirty="0" smtClean="0">
                <a:solidFill>
                  <a:schemeClr val="tx2"/>
                </a:solidFill>
              </a:rPr>
              <a:t> </a:t>
            </a:r>
            <a:r>
              <a:rPr lang="en-GB" altLang="en-US" dirty="0" smtClean="0"/>
              <a:t>want to make</a:t>
            </a:r>
          </a:p>
          <a:p>
            <a:pPr defTabSz="912813">
              <a:spcAft>
                <a:spcPts val="1200"/>
              </a:spcAft>
            </a:pPr>
            <a:r>
              <a:rPr lang="en-GB" altLang="en-US" dirty="0" smtClean="0"/>
              <a:t>Keep answers short and to the point</a:t>
            </a:r>
          </a:p>
          <a:p>
            <a:pPr defTabSz="912813">
              <a:spcAft>
                <a:spcPts val="1200"/>
              </a:spcAft>
            </a:pPr>
            <a:r>
              <a:rPr lang="en-GB" altLang="en-US" dirty="0" smtClean="0"/>
              <a:t>Avoid technical jargon or acronyms</a:t>
            </a:r>
          </a:p>
          <a:p>
            <a:pPr defTabSz="912813">
              <a:spcAft>
                <a:spcPts val="1200"/>
              </a:spcAft>
            </a:pPr>
            <a:r>
              <a:rPr lang="en-GB" altLang="en-US" dirty="0" smtClean="0"/>
              <a:t>Memorize the most important points</a:t>
            </a:r>
          </a:p>
          <a:p>
            <a:pPr defTabSz="912813">
              <a:spcAft>
                <a:spcPts val="1200"/>
              </a:spcAft>
            </a:pPr>
            <a:r>
              <a:rPr lang="en-GB" altLang="en-US" dirty="0" smtClean="0"/>
              <a:t>Treat every word as </a:t>
            </a:r>
            <a:r>
              <a:rPr lang="en-GB" altLang="fr-FR" dirty="0" smtClean="0"/>
              <a:t>“</a:t>
            </a:r>
            <a:r>
              <a:rPr lang="en-GB" altLang="en-US" dirty="0" smtClean="0"/>
              <a:t>on the record</a:t>
            </a:r>
            <a:r>
              <a:rPr lang="en-GB" altLang="fr-FR" dirty="0" smtClean="0"/>
              <a:t>”</a:t>
            </a:r>
            <a:endParaRPr lang="en-GB" altLang="en-US" dirty="0" smtClean="0"/>
          </a:p>
          <a:p>
            <a:pPr defTabSz="912813">
              <a:spcAft>
                <a:spcPts val="1200"/>
              </a:spcAft>
            </a:pPr>
            <a:r>
              <a:rPr lang="en-GB" altLang="en-US" dirty="0" smtClean="0"/>
              <a:t>Be patient, calm and simple: journalists are not oil pollution experts! </a:t>
            </a:r>
          </a:p>
        </p:txBody>
      </p:sp>
    </p:spTree>
    <p:extLst>
      <p:ext uri="{BB962C8B-B14F-4D97-AF65-F5344CB8AC3E}">
        <p14:creationId xmlns:p14="http://schemas.microsoft.com/office/powerpoint/2010/main" val="3948252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4" descr="P02021603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63258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795529" y="130175"/>
            <a:ext cx="1091583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912813"/>
            <a:r>
              <a:rPr lang="en-GB" altLang="en-US" sz="4000" b="1" dirty="0" smtClean="0"/>
              <a:t>Interview </a:t>
            </a:r>
            <a:r>
              <a:rPr lang="en-GB" altLang="fr-FR" sz="4000" b="1" dirty="0" smtClean="0"/>
              <a:t>“</a:t>
            </a:r>
            <a:r>
              <a:rPr lang="en-GB" altLang="en-US" sz="4000" b="1" dirty="0" smtClean="0"/>
              <a:t>Do’s”</a:t>
            </a:r>
          </a:p>
        </p:txBody>
      </p:sp>
      <p:sp>
        <p:nvSpPr>
          <p:cNvPr id="6" name="Rectangle 3"/>
          <p:cNvSpPr txBox="1">
            <a:spLocks/>
          </p:cNvSpPr>
          <p:nvPr/>
        </p:nvSpPr>
        <p:spPr>
          <a:xfrm>
            <a:off x="795529" y="977625"/>
            <a:ext cx="10880325" cy="54006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2813">
              <a:lnSpc>
                <a:spcPct val="150000"/>
              </a:lnSpc>
              <a:spcBef>
                <a:spcPts val="600"/>
              </a:spcBef>
            </a:pPr>
            <a:r>
              <a:rPr lang="en-GB" altLang="en-US" dirty="0" smtClean="0"/>
              <a:t>Stick to your area of expertise</a:t>
            </a:r>
          </a:p>
          <a:p>
            <a:pPr defTabSz="912813">
              <a:lnSpc>
                <a:spcPct val="150000"/>
              </a:lnSpc>
              <a:spcBef>
                <a:spcPts val="600"/>
              </a:spcBef>
            </a:pPr>
            <a:r>
              <a:rPr lang="en-GB" altLang="en-US" dirty="0" smtClean="0"/>
              <a:t>Prepare your statement</a:t>
            </a:r>
          </a:p>
          <a:p>
            <a:pPr defTabSz="912813">
              <a:lnSpc>
                <a:spcPct val="150000"/>
              </a:lnSpc>
              <a:spcBef>
                <a:spcPts val="600"/>
              </a:spcBef>
            </a:pPr>
            <a:r>
              <a:rPr lang="en-GB" altLang="en-US" dirty="0" smtClean="0"/>
              <a:t>Express regret, care and concern for any victims and their families</a:t>
            </a:r>
          </a:p>
          <a:p>
            <a:pPr defTabSz="912813">
              <a:lnSpc>
                <a:spcPct val="150000"/>
              </a:lnSpc>
              <a:spcBef>
                <a:spcPts val="600"/>
              </a:spcBef>
            </a:pPr>
            <a:r>
              <a:rPr lang="en-GB" altLang="en-US" dirty="0" smtClean="0"/>
              <a:t>Get bad news out first, stick to the facts</a:t>
            </a:r>
          </a:p>
          <a:p>
            <a:pPr defTabSz="912813">
              <a:lnSpc>
                <a:spcPct val="150000"/>
              </a:lnSpc>
              <a:spcBef>
                <a:spcPts val="600"/>
              </a:spcBef>
            </a:pPr>
            <a:r>
              <a:rPr lang="en-GB" altLang="en-US" dirty="0" smtClean="0"/>
              <a:t>Answer the questions, but return to your message</a:t>
            </a:r>
          </a:p>
          <a:p>
            <a:pPr defTabSz="912813">
              <a:lnSpc>
                <a:spcPct val="150000"/>
              </a:lnSpc>
              <a:spcBef>
                <a:spcPts val="600"/>
              </a:spcBef>
            </a:pPr>
            <a:r>
              <a:rPr lang="en-GB" altLang="en-US" dirty="0" smtClean="0"/>
              <a:t>Ask the question to be repeated if you don</a:t>
            </a:r>
            <a:r>
              <a:rPr lang="en-GB" altLang="fr-FR" dirty="0" smtClean="0"/>
              <a:t>’</a:t>
            </a:r>
            <a:r>
              <a:rPr lang="en-GB" altLang="en-US" dirty="0" smtClean="0"/>
              <a:t>t understand it</a:t>
            </a:r>
          </a:p>
          <a:p>
            <a:pPr defTabSz="912813">
              <a:lnSpc>
                <a:spcPct val="150000"/>
              </a:lnSpc>
              <a:spcBef>
                <a:spcPts val="600"/>
              </a:spcBef>
            </a:pPr>
            <a:r>
              <a:rPr lang="en-GB" altLang="en-US" dirty="0" smtClean="0"/>
              <a:t>Put the story in context, define the problem</a:t>
            </a:r>
          </a:p>
        </p:txBody>
      </p:sp>
    </p:spTree>
    <p:extLst>
      <p:ext uri="{BB962C8B-B14F-4D97-AF65-F5344CB8AC3E}">
        <p14:creationId xmlns:p14="http://schemas.microsoft.com/office/powerpoint/2010/main" val="523419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399032" y="130175"/>
            <a:ext cx="9613830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912813"/>
            <a:r>
              <a:rPr lang="en-GB" altLang="en-US" sz="4000" b="1" dirty="0" smtClean="0"/>
              <a:t>Interview </a:t>
            </a:r>
            <a:r>
              <a:rPr lang="en-GB" altLang="fr-FR" sz="4000" b="1" dirty="0" smtClean="0"/>
              <a:t>“</a:t>
            </a:r>
            <a:r>
              <a:rPr lang="en-GB" altLang="en-US" sz="4000" b="1" dirty="0" smtClean="0"/>
              <a:t>Do</a:t>
            </a:r>
            <a:r>
              <a:rPr lang="en-GB" altLang="fr-FR" sz="4000" b="1" dirty="0" smtClean="0"/>
              <a:t>’</a:t>
            </a:r>
            <a:r>
              <a:rPr lang="en-GB" altLang="en-US" sz="4000" b="1" dirty="0" smtClean="0"/>
              <a:t>s</a:t>
            </a:r>
            <a:r>
              <a:rPr lang="en-GB" altLang="fr-FR" sz="4000" b="1" dirty="0" smtClean="0"/>
              <a:t>”</a:t>
            </a:r>
            <a:endParaRPr lang="en-GB" altLang="en-US" sz="4000" b="1" dirty="0" smtClean="0"/>
          </a:p>
        </p:txBody>
      </p:sp>
      <p:sp>
        <p:nvSpPr>
          <p:cNvPr id="6" name="Rectangle 3"/>
          <p:cNvSpPr txBox="1">
            <a:spLocks/>
          </p:cNvSpPr>
          <p:nvPr/>
        </p:nvSpPr>
        <p:spPr>
          <a:xfrm>
            <a:off x="1121882" y="872121"/>
            <a:ext cx="10326405" cy="54006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912813">
              <a:lnSpc>
                <a:spcPct val="150000"/>
              </a:lnSpc>
              <a:spcBef>
                <a:spcPts val="600"/>
              </a:spcBef>
            </a:pPr>
            <a:r>
              <a:rPr lang="en-GB" altLang="en-US" dirty="0" smtClean="0"/>
              <a:t>Keep track of what was said during the interview</a:t>
            </a:r>
          </a:p>
          <a:p>
            <a:pPr algn="just" defTabSz="912813">
              <a:lnSpc>
                <a:spcPct val="150000"/>
              </a:lnSpc>
              <a:spcBef>
                <a:spcPts val="600"/>
              </a:spcBef>
            </a:pPr>
            <a:r>
              <a:rPr lang="en-GB" altLang="en-US" dirty="0" smtClean="0"/>
              <a:t>Stay calm, cool and clear headed</a:t>
            </a:r>
          </a:p>
          <a:p>
            <a:pPr algn="just" defTabSz="912813">
              <a:lnSpc>
                <a:spcPct val="150000"/>
              </a:lnSpc>
              <a:spcBef>
                <a:spcPts val="600"/>
              </a:spcBef>
            </a:pPr>
            <a:r>
              <a:rPr lang="en-GB" altLang="en-US" dirty="0" smtClean="0"/>
              <a:t>Give full story, be honest, accessible, understanding</a:t>
            </a:r>
          </a:p>
          <a:p>
            <a:pPr algn="just" defTabSz="912813">
              <a:lnSpc>
                <a:spcPct val="150000"/>
              </a:lnSpc>
              <a:spcBef>
                <a:spcPts val="600"/>
              </a:spcBef>
            </a:pPr>
            <a:r>
              <a:rPr lang="en-GB" altLang="en-US" dirty="0" smtClean="0"/>
              <a:t>Communicate information at the earliest time</a:t>
            </a:r>
          </a:p>
          <a:p>
            <a:pPr algn="just" defTabSz="912813">
              <a:lnSpc>
                <a:spcPct val="150000"/>
              </a:lnSpc>
              <a:spcBef>
                <a:spcPts val="600"/>
              </a:spcBef>
            </a:pPr>
            <a:r>
              <a:rPr lang="en-GB" altLang="en-US" dirty="0" smtClean="0"/>
              <a:t>Ensure you have a recording of your statement and interview</a:t>
            </a:r>
          </a:p>
          <a:p>
            <a:pPr algn="just" defTabSz="912813">
              <a:lnSpc>
                <a:spcPct val="150000"/>
              </a:lnSpc>
              <a:spcBef>
                <a:spcPts val="600"/>
              </a:spcBef>
            </a:pPr>
            <a:r>
              <a:rPr lang="en-GB" altLang="en-US" dirty="0" smtClean="0"/>
              <a:t>If you undertake to provide further information or elaboration ensure that you provide it!</a:t>
            </a:r>
          </a:p>
          <a:p>
            <a:pPr algn="just" defTabSz="912813">
              <a:lnSpc>
                <a:spcPct val="150000"/>
              </a:lnSpc>
              <a:spcBef>
                <a:spcPts val="600"/>
              </a:spcBef>
            </a:pPr>
            <a:endParaRPr lang="en-GB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4039429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408354" y="49724"/>
            <a:ext cx="9363456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912813"/>
            <a:r>
              <a:rPr lang="en-GB" altLang="en-US" sz="4000" b="1" dirty="0" smtClean="0"/>
              <a:t>Interview </a:t>
            </a:r>
            <a:r>
              <a:rPr lang="en-GB" altLang="fr-FR" sz="4000" b="1" dirty="0" smtClean="0"/>
              <a:t>“</a:t>
            </a:r>
            <a:r>
              <a:rPr lang="en-GB" altLang="en-US" sz="4000" b="1" dirty="0" smtClean="0"/>
              <a:t>Don</a:t>
            </a:r>
            <a:r>
              <a:rPr lang="en-GB" altLang="fr-FR" sz="4000" b="1" dirty="0" smtClean="0"/>
              <a:t>’</a:t>
            </a:r>
            <a:r>
              <a:rPr lang="en-GB" altLang="en-US" sz="4000" b="1" dirty="0" smtClean="0"/>
              <a:t>ts</a:t>
            </a:r>
            <a:r>
              <a:rPr lang="en-GB" altLang="fr-FR" sz="4000" b="1" dirty="0" smtClean="0"/>
              <a:t>”</a:t>
            </a:r>
            <a:endParaRPr lang="en-GB" altLang="en-US" sz="4000" b="1" dirty="0" smtClean="0"/>
          </a:p>
        </p:txBody>
      </p:sp>
      <p:sp>
        <p:nvSpPr>
          <p:cNvPr id="6" name="Rectangle 3"/>
          <p:cNvSpPr txBox="1">
            <a:spLocks/>
          </p:cNvSpPr>
          <p:nvPr/>
        </p:nvSpPr>
        <p:spPr>
          <a:xfrm>
            <a:off x="1316736" y="1263297"/>
            <a:ext cx="9857232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2813">
              <a:lnSpc>
                <a:spcPct val="110000"/>
              </a:lnSpc>
              <a:spcAft>
                <a:spcPts val="1800"/>
              </a:spcAft>
            </a:pPr>
            <a:r>
              <a:rPr lang="en-GB" altLang="en-US" dirty="0" smtClean="0"/>
              <a:t>Never guess: stick to the facts</a:t>
            </a:r>
          </a:p>
          <a:p>
            <a:pPr defTabSz="912813">
              <a:lnSpc>
                <a:spcPct val="110000"/>
              </a:lnSpc>
              <a:spcAft>
                <a:spcPts val="1800"/>
              </a:spcAft>
            </a:pPr>
            <a:r>
              <a:rPr lang="en-GB" altLang="en-US" dirty="0" smtClean="0"/>
              <a:t>Do not bluff: keep cool before answering difficult questions</a:t>
            </a:r>
          </a:p>
          <a:p>
            <a:pPr defTabSz="912813">
              <a:lnSpc>
                <a:spcPct val="110000"/>
              </a:lnSpc>
              <a:spcAft>
                <a:spcPts val="1800"/>
              </a:spcAft>
            </a:pPr>
            <a:r>
              <a:rPr lang="en-GB" altLang="en-US" dirty="0" smtClean="0"/>
              <a:t>Do not lose your temper even if provoked</a:t>
            </a:r>
          </a:p>
          <a:p>
            <a:pPr defTabSz="912813">
              <a:lnSpc>
                <a:spcPct val="110000"/>
              </a:lnSpc>
              <a:spcAft>
                <a:spcPts val="1800"/>
              </a:spcAft>
            </a:pPr>
            <a:r>
              <a:rPr lang="en-GB" altLang="en-US" dirty="0" smtClean="0"/>
              <a:t>Never answer a question until you understand it properly</a:t>
            </a:r>
          </a:p>
        </p:txBody>
      </p:sp>
    </p:spTree>
    <p:extLst>
      <p:ext uri="{BB962C8B-B14F-4D97-AF65-F5344CB8AC3E}">
        <p14:creationId xmlns:p14="http://schemas.microsoft.com/office/powerpoint/2010/main" val="838034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230046" y="49724"/>
            <a:ext cx="972007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912813"/>
            <a:r>
              <a:rPr lang="en-GB" altLang="en-US" sz="4000" b="1" dirty="0" smtClean="0"/>
              <a:t>Prepare in Advance</a:t>
            </a:r>
          </a:p>
        </p:txBody>
      </p:sp>
      <p:sp>
        <p:nvSpPr>
          <p:cNvPr id="6" name="Rectangle 3">
            <a:extLst/>
          </p:cNvPr>
          <p:cNvSpPr txBox="1">
            <a:spLocks noChangeArrowheads="1"/>
          </p:cNvSpPr>
          <p:nvPr/>
        </p:nvSpPr>
        <p:spPr>
          <a:xfrm>
            <a:off x="1115568" y="1281267"/>
            <a:ext cx="9720072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2813">
              <a:spcAft>
                <a:spcPts val="1200"/>
              </a:spcAft>
              <a:defRPr/>
            </a:pPr>
            <a:r>
              <a:rPr lang="en-GB" altLang="en-US" dirty="0" smtClean="0">
                <a:ea typeface="ＭＳ Ｐゴシック" panose="020B0600070205080204" pitchFamily="34" charset="-128"/>
                <a:cs typeface="MS PGothic" charset="0"/>
              </a:rPr>
              <a:t>Many facilities can be prepared in advance and lie dormant until activated:</a:t>
            </a:r>
          </a:p>
          <a:p>
            <a:pPr lvl="1" indent="-420688" defTabSz="912813">
              <a:spcAft>
                <a:spcPts val="1200"/>
              </a:spcAft>
              <a:buFont typeface="Wingdings" panose="05000000000000000000" pitchFamily="2" charset="2"/>
              <a:buChar char="ü"/>
              <a:defRPr/>
            </a:pPr>
            <a:r>
              <a:rPr lang="en-GB" altLang="en-US" dirty="0" smtClean="0">
                <a:ea typeface="ＭＳ Ｐゴシック" panose="020B0600070205080204" pitchFamily="34" charset="-128"/>
              </a:rPr>
              <a:t>Incident website </a:t>
            </a:r>
          </a:p>
          <a:p>
            <a:pPr lvl="1" indent="-420688" defTabSz="912813">
              <a:spcAft>
                <a:spcPts val="1200"/>
              </a:spcAft>
              <a:buFont typeface="Wingdings" panose="05000000000000000000" pitchFamily="2" charset="2"/>
              <a:buChar char="ü"/>
              <a:defRPr/>
            </a:pPr>
            <a:r>
              <a:rPr lang="en-GB" altLang="en-US" dirty="0" smtClean="0">
                <a:ea typeface="ＭＳ Ｐゴシック" panose="020B0600070205080204" pitchFamily="34" charset="-128"/>
              </a:rPr>
              <a:t>Photographs </a:t>
            </a:r>
          </a:p>
          <a:p>
            <a:pPr lvl="1" indent="-420688" defTabSz="912813">
              <a:spcAft>
                <a:spcPts val="1200"/>
              </a:spcAft>
              <a:buFont typeface="Wingdings" panose="05000000000000000000" pitchFamily="2" charset="2"/>
              <a:buChar char="ü"/>
              <a:defRPr/>
            </a:pPr>
            <a:r>
              <a:rPr lang="en-GB" altLang="en-US" dirty="0" smtClean="0">
                <a:ea typeface="ＭＳ Ｐゴシック" panose="020B0600070205080204" pitchFamily="34" charset="-128"/>
              </a:rPr>
              <a:t>Fact sheets</a:t>
            </a:r>
          </a:p>
          <a:p>
            <a:pPr lvl="1" indent="-420688" defTabSz="912813">
              <a:spcAft>
                <a:spcPts val="1200"/>
              </a:spcAft>
              <a:buFont typeface="Wingdings" panose="05000000000000000000" pitchFamily="2" charset="2"/>
              <a:buChar char="ü"/>
              <a:defRPr/>
            </a:pPr>
            <a:r>
              <a:rPr lang="en-GB" altLang="en-US" dirty="0" smtClean="0">
                <a:ea typeface="ＭＳ Ｐゴシック" panose="020B0600070205080204" pitchFamily="34" charset="-128"/>
              </a:rPr>
              <a:t>Contact details</a:t>
            </a:r>
          </a:p>
          <a:p>
            <a:pPr marL="457200" lvl="1" indent="0" defTabSz="912813">
              <a:spcAft>
                <a:spcPts val="1200"/>
              </a:spcAft>
              <a:buFont typeface="Arial" panose="020B0604020202020204" pitchFamily="34" charset="0"/>
              <a:buNone/>
              <a:defRPr/>
            </a:pPr>
            <a:endParaRPr lang="en-GB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98759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2"/>
          <p:cNvSpPr txBox="1">
            <a:spLocks/>
          </p:cNvSpPr>
          <p:nvPr/>
        </p:nvSpPr>
        <p:spPr>
          <a:xfrm>
            <a:off x="1207008" y="130175"/>
            <a:ext cx="9848088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912813"/>
            <a:r>
              <a:rPr lang="en-GB" altLang="en-US" sz="4000" b="1" dirty="0" smtClean="0"/>
              <a:t>Key Messages</a:t>
            </a:r>
          </a:p>
        </p:txBody>
      </p:sp>
      <p:sp>
        <p:nvSpPr>
          <p:cNvPr id="6" name="Rectangle 3"/>
          <p:cNvSpPr txBox="1">
            <a:spLocks/>
          </p:cNvSpPr>
          <p:nvPr/>
        </p:nvSpPr>
        <p:spPr>
          <a:xfrm>
            <a:off x="1207008" y="908050"/>
            <a:ext cx="9848088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2813">
              <a:spcAft>
                <a:spcPts val="1200"/>
              </a:spcAft>
            </a:pPr>
            <a:r>
              <a:rPr lang="en-GB" altLang="en-US" dirty="0" smtClean="0"/>
              <a:t>Responsibility to communicate:</a:t>
            </a:r>
          </a:p>
          <a:p>
            <a:pPr lvl="1" indent="-420688" defTabSz="912813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GB" altLang="en-US" dirty="0" smtClean="0"/>
              <a:t>Internally: </a:t>
            </a:r>
            <a:r>
              <a:rPr lang="en-GB" altLang="en-US" dirty="0" smtClean="0">
                <a:sym typeface="Wingdings" panose="05000000000000000000" pitchFamily="2" charset="2"/>
              </a:rPr>
              <a:t></a:t>
            </a:r>
            <a:r>
              <a:rPr lang="en-GB" altLang="en-US" dirty="0" smtClean="0"/>
              <a:t>senior managers and </a:t>
            </a:r>
            <a:r>
              <a:rPr lang="en-GB" altLang="en-US" dirty="0" smtClean="0">
                <a:sym typeface="Wingdings" panose="05000000000000000000" pitchFamily="2" charset="2"/>
              </a:rPr>
              <a:t> responders</a:t>
            </a:r>
          </a:p>
          <a:p>
            <a:pPr lvl="1" indent="-420688" defTabSz="912813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GB" altLang="en-US" dirty="0" smtClean="0">
                <a:sym typeface="Wingdings" panose="05000000000000000000" pitchFamily="2" charset="2"/>
              </a:rPr>
              <a:t>Externally: media; general public </a:t>
            </a:r>
          </a:p>
          <a:p>
            <a:pPr defTabSz="912813">
              <a:spcAft>
                <a:spcPts val="1200"/>
              </a:spcAft>
            </a:pPr>
            <a:r>
              <a:rPr lang="en-GB" altLang="en-US" dirty="0" smtClean="0"/>
              <a:t>Importance of regular briefing:</a:t>
            </a:r>
          </a:p>
          <a:p>
            <a:pPr lvl="1" indent="-420688" defTabSz="912813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GB" altLang="en-US" dirty="0" smtClean="0"/>
              <a:t>Sharing of information</a:t>
            </a:r>
          </a:p>
          <a:p>
            <a:pPr lvl="1" indent="-420688" defTabSz="912813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GB" altLang="en-US" dirty="0" smtClean="0"/>
              <a:t>Situation reviews </a:t>
            </a:r>
            <a:r>
              <a:rPr lang="en-GB" altLang="en-US" dirty="0" smtClean="0">
                <a:sym typeface="Wingdings" panose="05000000000000000000" pitchFamily="2" charset="2"/>
              </a:rPr>
              <a:t> action plans</a:t>
            </a:r>
          </a:p>
          <a:p>
            <a:pPr defTabSz="912813">
              <a:spcAft>
                <a:spcPts val="1200"/>
              </a:spcAft>
            </a:pPr>
            <a:r>
              <a:rPr lang="en-GB" altLang="en-US" dirty="0" smtClean="0"/>
              <a:t>Importance of media role</a:t>
            </a:r>
          </a:p>
          <a:p>
            <a:pPr defTabSz="912813">
              <a:spcAft>
                <a:spcPts val="1200"/>
              </a:spcAft>
            </a:pPr>
            <a:r>
              <a:rPr lang="en-GB" altLang="en-US" dirty="0" smtClean="0"/>
              <a:t>Media is the channel to the general public</a:t>
            </a:r>
          </a:p>
        </p:txBody>
      </p:sp>
    </p:spTree>
    <p:extLst>
      <p:ext uri="{BB962C8B-B14F-4D97-AF65-F5344CB8AC3E}">
        <p14:creationId xmlns:p14="http://schemas.microsoft.com/office/powerpoint/2010/main" val="273759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142043" y="6378300"/>
            <a:ext cx="11896078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1399032" y="130175"/>
            <a:ext cx="9400032" cy="5619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altLang="en-US" sz="4000" b="1" dirty="0" smtClean="0"/>
              <a:t>Summary </a:t>
            </a:r>
          </a:p>
        </p:txBody>
      </p:sp>
      <p:sp>
        <p:nvSpPr>
          <p:cNvPr id="6" name="Content Placeholder 2">
            <a:extLst/>
          </p:cNvPr>
          <p:cNvSpPr txBox="1">
            <a:spLocks/>
          </p:cNvSpPr>
          <p:nvPr/>
        </p:nvSpPr>
        <p:spPr>
          <a:xfrm>
            <a:off x="1065276" y="1342749"/>
            <a:ext cx="10067544" cy="521811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defRPr/>
            </a:pPr>
            <a:r>
              <a:rPr lang="en-US" dirty="0" smtClean="0"/>
              <a:t>In this lesson we have considered the need for a communications plan to gather and disseminate information during an incident. </a:t>
            </a:r>
          </a:p>
          <a:p>
            <a:pPr algn="just">
              <a:defRPr/>
            </a:pPr>
            <a:endParaRPr lang="en-US" dirty="0" smtClean="0"/>
          </a:p>
          <a:p>
            <a:pPr algn="just">
              <a:defRPr/>
            </a:pPr>
            <a:r>
              <a:rPr lang="en-US" dirty="0" smtClean="0"/>
              <a:t>We have also considered how best to address communications planning.</a:t>
            </a:r>
          </a:p>
          <a:p>
            <a:pPr marL="0" indent="0" algn="just">
              <a:buFont typeface="Arial" panose="020B0604020202020204" pitchFamily="34" charset="0"/>
              <a:buNone/>
              <a:defRPr/>
            </a:pPr>
            <a:endParaRPr lang="en-US" dirty="0" smtClean="0"/>
          </a:p>
          <a:p>
            <a:pPr algn="just">
              <a:buFont typeface="Arial" panose="020B0604020202020204" pitchFamily="34" charset="0"/>
              <a:buNone/>
              <a:defRPr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11773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 txBox="1">
            <a:spLocks/>
          </p:cNvSpPr>
          <p:nvPr/>
        </p:nvSpPr>
        <p:spPr>
          <a:xfrm>
            <a:off x="0" y="6378300"/>
            <a:ext cx="12192000" cy="3651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mar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1pPr>
            <a:lvl2pPr marL="457200" indent="4572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2pPr>
            <a:lvl3pPr marL="914400" indent="9144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3pPr>
            <a:lvl4pPr marL="1371600" indent="13716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4pPr>
            <a:lvl5pPr marL="1828800" indent="182880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1800" b="0" i="0">
                <a:solidFill>
                  <a:schemeClr val="dk1"/>
                </a:solidFill>
                <a:latin typeface="Calibri"/>
              </a:defRPr>
            </a:lvl5pPr>
            <a:lvl6pPr>
              <a:defRPr lang="en-US" sz="1800"/>
            </a:lvl6pPr>
            <a:lvl7pPr>
              <a:defRPr lang="en-US" sz="1800"/>
            </a:lvl7pPr>
            <a:lvl8pPr>
              <a:defRPr lang="en-US" sz="1800"/>
            </a:lvl8pPr>
            <a:lvl9pPr>
              <a:defRPr lang="en-US" sz="1800"/>
            </a:lvl9pPr>
          </a:lstStyle>
          <a:p>
            <a:pPr algn="ctr"/>
            <a:r>
              <a:rPr lang="en-US" altLang="en-US" dirty="0">
                <a:latin typeface="inherit"/>
              </a:rPr>
              <a:t> </a:t>
            </a:r>
            <a:r>
              <a:rPr lang="en-US" altLang="en-US" i="1" dirty="0" smtClean="0">
                <a:solidFill>
                  <a:schemeClr val="tx1"/>
                </a:solidFill>
              </a:rPr>
              <a:t>CGPRT(W) </a:t>
            </a:r>
            <a:r>
              <a:rPr lang="en-US" altLang="en-US" i="1" dirty="0">
                <a:solidFill>
                  <a:schemeClr val="tx1"/>
                </a:solidFill>
              </a:rPr>
              <a:t>: </a:t>
            </a:r>
            <a:r>
              <a:rPr lang="en-US" altLang="en-US" i="1" dirty="0" smtClean="0">
                <a:solidFill>
                  <a:schemeClr val="tx1"/>
                </a:solidFill>
              </a:rPr>
              <a:t>Ensuring Clean Seas and Coasts in Western Region ……</a:t>
            </a:r>
            <a:endParaRPr lang="en-US" alt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10490" y="2385956"/>
            <a:ext cx="1057101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/>
            </a:r>
            <a:br>
              <a:rPr lang="en-US" altLang="en-US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sz="4000" b="1" dirty="0">
                <a:ln w="0"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Any questions?</a:t>
            </a:r>
          </a:p>
          <a:p>
            <a:pPr lvl="1">
              <a:spcBef>
                <a:spcPct val="0"/>
              </a:spcBef>
            </a:pPr>
            <a:endParaRPr lang="en-GB" altLang="en-US" sz="4000" b="1" dirty="0">
              <a:ln w="0"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7666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283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Tahoma"/>
        <a:ea typeface=""/>
        <a:cs typeface="Tahoma"/>
      </a:majorFont>
      <a:minorFont>
        <a:latin typeface="Tahoma"/>
        <a:ea typeface="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</TotalTime>
  <Words>2297</Words>
  <Application>Microsoft Office PowerPoint</Application>
  <PresentationFormat>Widescreen</PresentationFormat>
  <Paragraphs>373</Paragraphs>
  <Slides>49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8" baseType="lpstr">
      <vt:lpstr>ＭＳ Ｐゴシック</vt:lpstr>
      <vt:lpstr>ＭＳ Ｐゴシック</vt:lpstr>
      <vt:lpstr>Arial</vt:lpstr>
      <vt:lpstr>Calibri</vt:lpstr>
      <vt:lpstr>inherit</vt:lpstr>
      <vt:lpstr>Symbol</vt:lpstr>
      <vt:lpstr>Tahoma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Syed, Mohammad Muktadar</dc:creator>
  <cp:lastModifiedBy>Sajith, Sadanandan </cp:lastModifiedBy>
  <cp:revision>176</cp:revision>
  <dcterms:created xsi:type="dcterms:W3CDTF">2024-09-27T05:40:49Z</dcterms:created>
  <dcterms:modified xsi:type="dcterms:W3CDTF">2025-05-09T10:59:29Z</dcterms:modified>
</cp:coreProperties>
</file>
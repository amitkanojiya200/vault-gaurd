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351852" y="2670048"/>
            <a:ext cx="9648380" cy="8138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altLang="en-US" b="1" dirty="0" err="1" smtClean="0"/>
              <a:t>Response</a:t>
            </a:r>
            <a:r>
              <a:rPr lang="fr-CA" altLang="en-US" b="1" dirty="0" smtClean="0"/>
              <a:t> </a:t>
            </a:r>
            <a:r>
              <a:rPr lang="fr-CA" altLang="en-US" b="1" dirty="0" err="1" smtClean="0"/>
              <a:t>Termination</a:t>
            </a:r>
            <a:r>
              <a:rPr lang="fr-CA" altLang="en-US" b="1" dirty="0" smtClean="0"/>
              <a:t> </a:t>
            </a:r>
            <a:r>
              <a:rPr lang="fr-CA" altLang="en-US" b="1" dirty="0" err="1" smtClean="0"/>
              <a:t>Criteria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44751" y="130175"/>
            <a:ext cx="954436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317898" y="1491425"/>
            <a:ext cx="9929222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 smtClean="0">
                <a:ea typeface="ＭＳ Ｐゴシック" charset="0"/>
              </a:rPr>
              <a:t>To understand the issues related to response termination.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fr-CA" dirty="0" smtClean="0">
              <a:ea typeface="ＭＳ Ｐゴシック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 smtClean="0">
                <a:ea typeface="ＭＳ Ｐゴシック" charset="0"/>
              </a:rPr>
              <a:t>To understand the selection and definition of termination criteria.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fr-CA" dirty="0" smtClean="0">
              <a:ea typeface="ＭＳ Ｐゴシック" charset="0"/>
            </a:endParaRPr>
          </a:p>
          <a:p>
            <a:pPr>
              <a:defRPr/>
            </a:pPr>
            <a:endParaRPr lang="en-US" dirty="0" smtClean="0">
              <a:latin typeface="Arial" pitchFamily="34" charset="0"/>
              <a:ea typeface="ＭＳ Ｐゴシック" charset="0"/>
            </a:endParaRPr>
          </a:p>
          <a:p>
            <a:pPr>
              <a:defRPr/>
            </a:pPr>
            <a:endParaRPr lang="en-US" dirty="0" smtClean="0">
              <a:latin typeface="Arial" pitchFamily="34" charset="0"/>
              <a:ea typeface="ＭＳ Ｐゴシック" charset="0"/>
            </a:endParaRPr>
          </a:p>
          <a:p>
            <a:pPr>
              <a:defRPr/>
            </a:pPr>
            <a:endParaRPr lang="fr-FR" dirty="0">
              <a:latin typeface="Arial" pitchFamily="3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600200" y="130175"/>
            <a:ext cx="926992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Termination of Response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035368" y="1271313"/>
            <a:ext cx="10138600" cy="5472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</a:rPr>
              <a:t>Termination of response is one of the most delicate stages of oil spill response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Difficulty to reach agreement on completion of clean-up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At sea, shoreline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Competing interests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Environmental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Technical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Economic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Political</a:t>
            </a:r>
          </a:p>
          <a:p>
            <a:pPr marL="457200" lvl="1" indent="0">
              <a:lnSpc>
                <a:spcPct val="100000"/>
              </a:lnSpc>
              <a:buFont typeface="Arial" charset="0"/>
              <a:buNone/>
              <a:defRPr/>
            </a:pPr>
            <a:endParaRPr lang="en-GB" dirty="0" smtClean="0">
              <a:ea typeface="ＭＳ Ｐゴシック" charset="0"/>
            </a:endParaRP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endParaRPr lang="en-US" dirty="0" smtClean="0">
              <a:ea typeface="ＭＳ Ｐゴシック" charset="0"/>
            </a:endParaRP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endParaRPr lang="en-US" dirty="0" smtClean="0">
              <a:ea typeface="ＭＳ Ｐゴシック" charset="0"/>
            </a:endParaRP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endParaRPr lang="en-US" dirty="0" smtClean="0">
              <a:ea typeface="ＭＳ Ｐゴシック" charset="0"/>
            </a:endParaRP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endParaRPr lang="en-US" dirty="0" smtClean="0">
              <a:latin typeface="Arial" charset="0"/>
              <a:ea typeface="ＭＳ Ｐゴシック" charset="0"/>
            </a:endParaRP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endParaRPr lang="en-US" dirty="0" smtClean="0">
              <a:latin typeface="Arial" charset="0"/>
              <a:ea typeface="ＭＳ Ｐゴシック" charset="0"/>
            </a:endParaRP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161288" y="130175"/>
            <a:ext cx="100928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Termination of Response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951767" y="1088749"/>
            <a:ext cx="10276630" cy="5472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altLang="en-US" dirty="0" smtClean="0"/>
              <a:t>Typical questions during a response: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If dispersants are being used, when should their application be terminated?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At what point is it appropriate to demobilize recovery vessels?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Is further clean-up of sandy beaches necessary?</a:t>
            </a:r>
          </a:p>
          <a:p>
            <a:pPr algn="just">
              <a:lnSpc>
                <a:spcPct val="100000"/>
              </a:lnSpc>
            </a:pPr>
            <a:r>
              <a:rPr lang="en-GB" altLang="en-US" dirty="0" smtClean="0"/>
              <a:t>In initial stages when a significant quantity of oil is present these decisions are easy to make</a:t>
            </a:r>
          </a:p>
          <a:p>
            <a:pPr algn="just">
              <a:lnSpc>
                <a:spcPct val="100000"/>
              </a:lnSpc>
            </a:pPr>
            <a:r>
              <a:rPr lang="en-GB" altLang="en-US" dirty="0" smtClean="0"/>
              <a:t>When oil quantities on water or shoreline are diminishing the decision is not as easily determined</a:t>
            </a:r>
            <a:endParaRPr lang="en-US" altLang="en-US" dirty="0" smtClean="0"/>
          </a:p>
          <a:p>
            <a:pPr algn="just">
              <a:lnSpc>
                <a:spcPct val="100000"/>
              </a:lnSpc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fr-FR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75282" y="16013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Law of Diminishing </a:t>
            </a:r>
            <a:r>
              <a:rPr lang="en-GB" altLang="en-US" b="1" dirty="0"/>
              <a:t>R</a:t>
            </a:r>
            <a:r>
              <a:rPr lang="en-GB" altLang="en-US" b="1" dirty="0" smtClean="0"/>
              <a:t>eturns</a:t>
            </a:r>
          </a:p>
        </p:txBody>
      </p:sp>
      <p:sp>
        <p:nvSpPr>
          <p:cNvPr id="6" name="Espace réservé du contenu 1"/>
          <p:cNvSpPr txBox="1">
            <a:spLocks/>
          </p:cNvSpPr>
          <p:nvPr/>
        </p:nvSpPr>
        <p:spPr>
          <a:xfrm>
            <a:off x="6843459" y="981075"/>
            <a:ext cx="403860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6863" indent="-296863"/>
            <a:r>
              <a:rPr lang="en-GB" altLang="en-US" dirty="0" smtClean="0"/>
              <a:t>Oil plentiful in the early stages:</a:t>
            </a:r>
          </a:p>
          <a:p>
            <a:pPr marL="830263" lvl="1" indent="-473075">
              <a:buSzPct val="75000"/>
              <a:buFont typeface="Wingdings" panose="05000000000000000000" pitchFamily="2" charset="2"/>
              <a:buChar char="ü"/>
            </a:pPr>
            <a:r>
              <a:rPr lang="en-GB" altLang="en-US" dirty="0" smtClean="0"/>
              <a:t>high volume of oil treatment</a:t>
            </a:r>
          </a:p>
          <a:p>
            <a:pPr marL="296863" indent="-296863"/>
            <a:r>
              <a:rPr lang="en-GB" altLang="en-US" dirty="0" smtClean="0"/>
              <a:t>As clean-up brought to a close:</a:t>
            </a:r>
          </a:p>
          <a:p>
            <a:pPr marL="830263" lvl="1" indent="-473075">
              <a:buSzPct val="75000"/>
              <a:buFont typeface="Wingdings" panose="05000000000000000000" pitchFamily="2" charset="2"/>
              <a:buChar char="ü"/>
            </a:pPr>
            <a:r>
              <a:rPr lang="en-GB" altLang="en-US" dirty="0" smtClean="0"/>
              <a:t>very little oil remains</a:t>
            </a:r>
          </a:p>
          <a:p>
            <a:pPr marL="296863" indent="-296863"/>
            <a:r>
              <a:rPr lang="en-GB" altLang="en-US" dirty="0" smtClean="0"/>
              <a:t>At some point the costs of oil treatment are disproportionate to the benefits</a:t>
            </a:r>
            <a:endParaRPr lang="fr-FR" altLang="en-US" dirty="0" smtClean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674809" y="5732463"/>
            <a:ext cx="20955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i="1">
                <a:solidFill>
                  <a:srgbClr val="1C1C1C"/>
                </a:solidFill>
                <a:latin typeface="Arial" panose="020B0604020202020204" pitchFamily="34" charset="0"/>
              </a:rPr>
              <a:t>Clean-up Effort</a:t>
            </a:r>
          </a:p>
        </p:txBody>
      </p:sp>
      <p:grpSp>
        <p:nvGrpSpPr>
          <p:cNvPr id="8" name="Grouper 2"/>
          <p:cNvGrpSpPr>
            <a:grpSpLocks/>
          </p:cNvGrpSpPr>
          <p:nvPr/>
        </p:nvGrpSpPr>
        <p:grpSpPr bwMode="auto">
          <a:xfrm>
            <a:off x="2233359" y="1700213"/>
            <a:ext cx="4826000" cy="3887787"/>
            <a:chOff x="322233" y="2133600"/>
            <a:chExt cx="4826030" cy="3887788"/>
          </a:xfrm>
        </p:grpSpPr>
        <p:sp>
          <p:nvSpPr>
            <p:cNvPr id="9" name="Line 4"/>
            <p:cNvSpPr>
              <a:spLocks noChangeShapeType="1"/>
            </p:cNvSpPr>
            <p:nvPr/>
          </p:nvSpPr>
          <p:spPr bwMode="auto">
            <a:xfrm flipV="1">
              <a:off x="827088" y="2133600"/>
              <a:ext cx="0" cy="3887788"/>
            </a:xfrm>
            <a:prstGeom prst="line">
              <a:avLst/>
            </a:prstGeom>
            <a:noFill/>
            <a:ln w="38100">
              <a:solidFill>
                <a:srgbClr val="1C1C1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827088" y="6021388"/>
              <a:ext cx="4321175" cy="0"/>
            </a:xfrm>
            <a:prstGeom prst="line">
              <a:avLst/>
            </a:prstGeom>
            <a:noFill/>
            <a:ln w="38100">
              <a:solidFill>
                <a:srgbClr val="1C1C1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 rot="-5400000">
              <a:off x="-588168" y="4052064"/>
              <a:ext cx="222091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000" b="1" i="1">
                  <a:solidFill>
                    <a:srgbClr val="1C1C1C"/>
                  </a:solidFill>
                  <a:latin typeface="Arial" panose="020B0604020202020204" pitchFamily="34" charset="0"/>
                </a:rPr>
                <a:t>Oil Treated</a:t>
              </a:r>
            </a:p>
          </p:txBody>
        </p:sp>
        <p:sp>
          <p:nvSpPr>
            <p:cNvPr id="12" name="Arc 8"/>
            <p:cNvSpPr>
              <a:spLocks/>
            </p:cNvSpPr>
            <p:nvPr/>
          </p:nvSpPr>
          <p:spPr bwMode="auto">
            <a:xfrm rot="10800000">
              <a:off x="1331913" y="2781300"/>
              <a:ext cx="1800225" cy="2657475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36" y="0"/>
                  </a:moveTo>
                  <a:cubicBezTo>
                    <a:pt x="11951" y="20"/>
                    <a:pt x="21600" y="9685"/>
                    <a:pt x="21600" y="21600"/>
                  </a:cubicBezTo>
                </a:path>
                <a:path w="21600" h="21600" stroke="0" extrusionOk="0">
                  <a:moveTo>
                    <a:pt x="36" y="0"/>
                  </a:moveTo>
                  <a:cubicBezTo>
                    <a:pt x="11951" y="20"/>
                    <a:pt x="21600" y="9685"/>
                    <a:pt x="21600" y="21600"/>
                  </a:cubicBezTo>
                  <a:lnTo>
                    <a:pt x="0" y="21600"/>
                  </a:lnTo>
                  <a:lnTo>
                    <a:pt x="36" y="0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059113" y="5445125"/>
              <a:ext cx="208756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41505" y="29881"/>
            <a:ext cx="929715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Termination of Response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201800" y="1196975"/>
            <a:ext cx="9844151" cy="4968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dirty="0" smtClean="0"/>
              <a:t>Objectives of response must be clearly established, if at all possible, before a spill even occurs, as part of the planning process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Agreement between stakeholders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altLang="en-US" dirty="0" smtClean="0"/>
              <a:t>Government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 smtClean="0"/>
              <a:t>Potential responsible parties including ship/facility owners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 smtClean="0"/>
              <a:t>Other key stakeholders such as landowners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Set termination criteria</a:t>
            </a:r>
          </a:p>
          <a:p>
            <a:pPr>
              <a:lnSpc>
                <a:spcPct val="100000"/>
              </a:lnSpc>
            </a:pPr>
            <a:r>
              <a:rPr lang="en-GB" altLang="en-US" dirty="0" smtClean="0"/>
              <a:t>When these objectives are reached, response should end</a:t>
            </a:r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527047" y="60462"/>
            <a:ext cx="934033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Termination of Response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320672" y="1099947"/>
            <a:ext cx="9889871" cy="4679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Overall objectives: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At sea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Attempt to treat oil to minimize pollution damages</a:t>
            </a:r>
          </a:p>
          <a:p>
            <a:pPr lvl="1" indent="-420688" algn="just">
              <a:spcBef>
                <a:spcPct val="65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>
                <a:solidFill>
                  <a:srgbClr val="000000"/>
                </a:solidFill>
              </a:rPr>
              <a:t>On shore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Restore the use or value of the polluted area whilst minimizing further pollution damages</a:t>
            </a:r>
          </a:p>
          <a:p>
            <a:pPr algn="just"/>
            <a:r>
              <a:rPr lang="en-GB" altLang="en-US" dirty="0" smtClean="0"/>
              <a:t>Need for specific termination criteria</a:t>
            </a:r>
          </a:p>
          <a:p>
            <a:pPr algn="just"/>
            <a:r>
              <a:rPr lang="en-GB" altLang="en-US" dirty="0" smtClean="0"/>
              <a:t>How clean is clean?</a:t>
            </a:r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bject 4">
            <a:extLst/>
          </p:cNvPr>
          <p:cNvSpPr txBox="1"/>
          <p:nvPr/>
        </p:nvSpPr>
        <p:spPr>
          <a:xfrm>
            <a:off x="2240280" y="44755"/>
            <a:ext cx="681228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algn="ctr">
              <a:defRPr/>
            </a:pPr>
            <a:r>
              <a:rPr sz="4400" b="1" spc="-35" dirty="0">
                <a:latin typeface="+mj-lt"/>
                <a:ea typeface="MS PGothic" panose="020B0600070205080204" pitchFamily="50" charset="-128"/>
                <a:cs typeface="Calibri"/>
              </a:rPr>
              <a:t>How</a:t>
            </a:r>
            <a:r>
              <a:rPr sz="4400" b="1" spc="-5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lang="en-IN" sz="4400" b="1" spc="-20" dirty="0">
                <a:latin typeface="+mj-lt"/>
                <a:ea typeface="MS PGothic" panose="020B0600070205080204" pitchFamily="50" charset="-128"/>
                <a:cs typeface="Calibri"/>
              </a:rPr>
              <a:t>C</a:t>
            </a:r>
            <a:r>
              <a:rPr sz="4400" b="1" spc="-20" dirty="0" smtClean="0">
                <a:latin typeface="+mj-lt"/>
                <a:ea typeface="MS PGothic" panose="020B0600070205080204" pitchFamily="50" charset="-128"/>
                <a:cs typeface="Calibri"/>
              </a:rPr>
              <a:t>lean</a:t>
            </a:r>
            <a:r>
              <a:rPr sz="4400" b="1" spc="10" dirty="0" smtClean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4400" b="1" dirty="0">
                <a:latin typeface="+mj-lt"/>
                <a:ea typeface="MS PGothic" panose="020B0600070205080204" pitchFamily="50" charset="-128"/>
                <a:cs typeface="Calibri"/>
              </a:rPr>
              <a:t>is</a:t>
            </a:r>
            <a:r>
              <a:rPr sz="4400" b="1" spc="1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4400" b="1" spc="-25" dirty="0" smtClean="0">
                <a:latin typeface="+mj-lt"/>
                <a:ea typeface="MS PGothic" panose="020B0600070205080204" pitchFamily="50" charset="-128"/>
                <a:cs typeface="MS PGothic"/>
              </a:rPr>
              <a:t>“</a:t>
            </a:r>
            <a:r>
              <a:rPr lang="en-IN" sz="4400" b="1" spc="-20" dirty="0">
                <a:latin typeface="+mj-lt"/>
                <a:ea typeface="MS PGothic" panose="020B0600070205080204" pitchFamily="50" charset="-128"/>
                <a:cs typeface="Calibri"/>
              </a:rPr>
              <a:t>C</a:t>
            </a:r>
            <a:r>
              <a:rPr sz="4400" b="1" spc="-20" dirty="0" smtClean="0">
                <a:latin typeface="+mj-lt"/>
                <a:ea typeface="MS PGothic" panose="020B0600070205080204" pitchFamily="50" charset="-128"/>
                <a:cs typeface="Calibri"/>
              </a:rPr>
              <a:t>lea</a:t>
            </a:r>
            <a:r>
              <a:rPr sz="4400" b="1" spc="-30" dirty="0" smtClean="0">
                <a:latin typeface="+mj-lt"/>
                <a:ea typeface="MS PGothic" panose="020B0600070205080204" pitchFamily="50" charset="-128"/>
                <a:cs typeface="Calibri"/>
              </a:rPr>
              <a:t>n</a:t>
            </a:r>
            <a:r>
              <a:rPr sz="4400" b="1" spc="-25" dirty="0">
                <a:latin typeface="+mj-lt"/>
                <a:ea typeface="MS PGothic" panose="020B0600070205080204" pitchFamily="50" charset="-128"/>
                <a:cs typeface="MS PGothic"/>
              </a:rPr>
              <a:t>”</a:t>
            </a:r>
            <a:r>
              <a:rPr sz="4400" b="1" dirty="0">
                <a:latin typeface="+mj-lt"/>
                <a:ea typeface="MS PGothic" panose="020B0600070205080204" pitchFamily="50" charset="-128"/>
                <a:cs typeface="Calibri"/>
              </a:rPr>
              <a:t>?</a:t>
            </a:r>
          </a:p>
        </p:txBody>
      </p:sp>
      <p:sp>
        <p:nvSpPr>
          <p:cNvPr id="6" name="object 5">
            <a:extLst/>
          </p:cNvPr>
          <p:cNvSpPr txBox="1"/>
          <p:nvPr/>
        </p:nvSpPr>
        <p:spPr>
          <a:xfrm>
            <a:off x="1247520" y="1075621"/>
            <a:ext cx="9752711" cy="4993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622300" indent="-609600" algn="just">
              <a:buFont typeface="Arial"/>
              <a:buChar char="•"/>
              <a:tabLst>
                <a:tab pos="622300" algn="l"/>
              </a:tabLst>
              <a:defRPr/>
            </a:pPr>
            <a:r>
              <a:rPr sz="3000" spc="-25" dirty="0">
                <a:latin typeface="+mj-lt"/>
                <a:ea typeface="MS PGothic" panose="020B0600070205080204" pitchFamily="50" charset="-128"/>
                <a:cs typeface="Calibri"/>
              </a:rPr>
              <a:t>D</a:t>
            </a:r>
            <a:r>
              <a:rPr sz="3000" spc="-55" dirty="0">
                <a:latin typeface="+mj-lt"/>
                <a:ea typeface="MS PGothic" panose="020B0600070205080204" pitchFamily="50" charset="-128"/>
                <a:cs typeface="Calibri"/>
              </a:rPr>
              <a:t>e</a:t>
            </a:r>
            <a:r>
              <a:rPr sz="3000" spc="-5" dirty="0">
                <a:latin typeface="+mj-lt"/>
                <a:ea typeface="MS PGothic" panose="020B0600070205080204" pitchFamily="50" charset="-128"/>
                <a:cs typeface="Calibri"/>
              </a:rPr>
              <a:t>finitio</a:t>
            </a:r>
            <a:r>
              <a:rPr sz="3000" dirty="0">
                <a:latin typeface="+mj-lt"/>
                <a:ea typeface="MS PGothic" panose="020B0600070205080204" pitchFamily="50" charset="-128"/>
                <a:cs typeface="Calibri"/>
              </a:rPr>
              <a:t>n</a:t>
            </a:r>
            <a:r>
              <a:rPr sz="3000" spc="4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3000" spc="-25" dirty="0">
                <a:latin typeface="+mj-lt"/>
                <a:ea typeface="MS PGothic" panose="020B0600070205080204" pitchFamily="50" charset="-128"/>
                <a:cs typeface="Calibri"/>
              </a:rPr>
              <a:t>o</a:t>
            </a:r>
            <a:r>
              <a:rPr sz="3000" spc="-10" dirty="0">
                <a:latin typeface="+mj-lt"/>
                <a:ea typeface="MS PGothic" panose="020B0600070205080204" pitchFamily="50" charset="-128"/>
                <a:cs typeface="Calibri"/>
              </a:rPr>
              <a:t>f</a:t>
            </a:r>
            <a:r>
              <a:rPr sz="3000" spc="1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3000" spc="-20" dirty="0">
                <a:latin typeface="+mj-lt"/>
                <a:ea typeface="MS PGothic" panose="020B0600070205080204" pitchFamily="50" charset="-128"/>
                <a:cs typeface="MS PGothic"/>
              </a:rPr>
              <a:t>“</a:t>
            </a:r>
            <a:r>
              <a:rPr sz="3000" spc="-20" dirty="0">
                <a:latin typeface="+mj-lt"/>
                <a:ea typeface="MS PGothic" panose="020B0600070205080204" pitchFamily="50" charset="-128"/>
                <a:cs typeface="Calibri"/>
              </a:rPr>
              <a:t>clean</a:t>
            </a:r>
            <a:r>
              <a:rPr sz="3000" spc="-20" dirty="0">
                <a:latin typeface="+mj-lt"/>
                <a:ea typeface="MS PGothic" panose="020B0600070205080204" pitchFamily="50" charset="-128"/>
                <a:cs typeface="MS PGothic"/>
              </a:rPr>
              <a:t>”</a:t>
            </a:r>
            <a:r>
              <a:rPr lang="en-US" sz="3000" spc="-20" dirty="0">
                <a:latin typeface="+mj-lt"/>
                <a:ea typeface="MS PGothic" panose="020B0600070205080204" pitchFamily="50" charset="-128"/>
                <a:cs typeface="MS PGothic"/>
              </a:rPr>
              <a:t> – must be agreed upon by key stakeholders and should be for specific areas and/or circumstances.  </a:t>
            </a:r>
          </a:p>
          <a:p>
            <a:pPr marL="12700" algn="just">
              <a:tabLst>
                <a:tab pos="622300" algn="l"/>
              </a:tabLst>
              <a:defRPr/>
            </a:pPr>
            <a:r>
              <a:rPr lang="en-US" sz="3000" spc="-20" dirty="0">
                <a:latin typeface="+mj-lt"/>
                <a:ea typeface="MS PGothic" panose="020B0600070205080204" pitchFamily="50" charset="-128"/>
                <a:cs typeface="MS PGothic"/>
              </a:rPr>
              <a:t>	Considerations include:</a:t>
            </a:r>
            <a:endParaRPr sz="3000" dirty="0">
              <a:latin typeface="+mj-lt"/>
              <a:ea typeface="MS PGothic" panose="020B0600070205080204" pitchFamily="50" charset="-128"/>
              <a:cs typeface="MS PGothic"/>
            </a:endParaRPr>
          </a:p>
          <a:p>
            <a:pPr marL="1260000" lvl="1" indent="-609600" algn="just">
              <a:spcBef>
                <a:spcPts val="315"/>
              </a:spcBef>
              <a:buFont typeface="Wingdings" panose="05000000000000000000" pitchFamily="2" charset="2"/>
              <a:buChar char="ü"/>
              <a:tabLst>
                <a:tab pos="622300" algn="l"/>
              </a:tabLst>
              <a:defRPr/>
            </a:pPr>
            <a:r>
              <a:rPr sz="2600" spc="-25" dirty="0">
                <a:latin typeface="+mj-lt"/>
                <a:ea typeface="MS PGothic" panose="020B0600070205080204" pitchFamily="50" charset="-128"/>
                <a:cs typeface="Calibri"/>
              </a:rPr>
              <a:t>N</a:t>
            </a:r>
            <a:r>
              <a:rPr sz="2600" spc="-60" dirty="0">
                <a:latin typeface="+mj-lt"/>
                <a:ea typeface="MS PGothic" panose="020B0600070205080204" pitchFamily="50" charset="-128"/>
                <a:cs typeface="Calibri"/>
              </a:rPr>
              <a:t>a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tu</a:t>
            </a:r>
            <a:r>
              <a:rPr sz="2600" spc="-80" dirty="0">
                <a:latin typeface="+mj-lt"/>
                <a:ea typeface="MS PGothic" panose="020B0600070205080204" pitchFamily="50" charset="-128"/>
                <a:cs typeface="Calibri"/>
              </a:rPr>
              <a:t>r</a:t>
            </a:r>
            <a:r>
              <a:rPr sz="2600" dirty="0">
                <a:latin typeface="+mj-lt"/>
                <a:ea typeface="MS PGothic" panose="020B0600070205080204" pitchFamily="50" charset="-128"/>
                <a:cs typeface="Calibri"/>
              </a:rPr>
              <a:t>al</a:t>
            </a:r>
            <a:r>
              <a:rPr sz="2600" spc="2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5" dirty="0">
                <a:latin typeface="+mj-lt"/>
                <a:ea typeface="MS PGothic" panose="020B0600070205080204" pitchFamily="50" charset="-128"/>
                <a:cs typeface="Calibri"/>
              </a:rPr>
              <a:t>p</a:t>
            </a:r>
            <a:r>
              <a:rPr sz="2600" spc="-70" dirty="0">
                <a:latin typeface="+mj-lt"/>
                <a:ea typeface="MS PGothic" panose="020B0600070205080204" pitchFamily="50" charset="-128"/>
                <a:cs typeface="Calibri"/>
              </a:rPr>
              <a:t>r</a:t>
            </a:r>
            <a:r>
              <a:rPr sz="2600" spc="-20" dirty="0">
                <a:latin typeface="+mj-lt"/>
                <a:ea typeface="MS PGothic" panose="020B0600070205080204" pitchFamily="50" charset="-128"/>
                <a:cs typeface="Calibri"/>
              </a:rPr>
              <a:t>ocess</a:t>
            </a:r>
            <a:r>
              <a:rPr sz="2600" spc="-30" dirty="0">
                <a:latin typeface="+mj-lt"/>
                <a:ea typeface="MS PGothic" panose="020B0600070205080204" pitchFamily="50" charset="-128"/>
                <a:cs typeface="Calibri"/>
              </a:rPr>
              <a:t>e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s</a:t>
            </a:r>
            <a:r>
              <a:rPr sz="2600" spc="-5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0" dirty="0">
                <a:latin typeface="+mj-lt"/>
                <a:ea typeface="MS PGothic" panose="020B0600070205080204" pitchFamily="50" charset="-128"/>
                <a:cs typeface="Calibri"/>
              </a:rPr>
              <a:t>and</a:t>
            </a:r>
            <a:r>
              <a:rPr sz="2600" spc="25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tim</a:t>
            </a:r>
            <a:r>
              <a:rPr sz="2600" spc="-10" dirty="0">
                <a:latin typeface="+mj-lt"/>
                <a:ea typeface="MS PGothic" panose="020B0600070205080204" pitchFamily="50" charset="-128"/>
                <a:cs typeface="Calibri"/>
              </a:rPr>
              <a:t>e</a:t>
            </a:r>
            <a:r>
              <a:rPr sz="2600" spc="-20" dirty="0">
                <a:latin typeface="+mj-lt"/>
                <a:ea typeface="MS PGothic" panose="020B0600070205080204" pitchFamily="50" charset="-128"/>
                <a:cs typeface="Calibri"/>
              </a:rPr>
              <a:t>s</a:t>
            </a:r>
            <a:r>
              <a:rPr sz="2600" spc="-45" dirty="0">
                <a:latin typeface="+mj-lt"/>
                <a:ea typeface="MS PGothic" panose="020B0600070205080204" pitchFamily="50" charset="-128"/>
                <a:cs typeface="Calibri"/>
              </a:rPr>
              <a:t>c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ale</a:t>
            </a:r>
            <a:endParaRPr sz="2600" dirty="0">
              <a:latin typeface="+mj-lt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4"/>
              </a:spcBef>
              <a:buFont typeface="Wingdings" panose="05000000000000000000" pitchFamily="2" charset="2"/>
              <a:buChar char="ü"/>
              <a:tabLst>
                <a:tab pos="622300" algn="l"/>
              </a:tabLst>
              <a:defRPr/>
            </a:pPr>
            <a:r>
              <a:rPr sz="2600" spc="-125" dirty="0">
                <a:latin typeface="+mj-lt"/>
                <a:ea typeface="MS PGothic" panose="020B0600070205080204" pitchFamily="50" charset="-128"/>
                <a:cs typeface="Calibri"/>
              </a:rPr>
              <a:t>E</a:t>
            </a:r>
            <a:r>
              <a:rPr sz="2600" spc="-40" dirty="0">
                <a:latin typeface="+mj-lt"/>
                <a:ea typeface="MS PGothic" panose="020B0600070205080204" pitchFamily="50" charset="-128"/>
                <a:cs typeface="Calibri"/>
              </a:rPr>
              <a:t>f</a:t>
            </a:r>
            <a:r>
              <a:rPr sz="2600" spc="-90" dirty="0">
                <a:latin typeface="+mj-lt"/>
                <a:ea typeface="MS PGothic" panose="020B0600070205080204" pitchFamily="50" charset="-128"/>
                <a:cs typeface="Calibri"/>
              </a:rPr>
              <a:t>f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ecti</a:t>
            </a:r>
            <a:r>
              <a:rPr sz="2600" spc="-55" dirty="0">
                <a:latin typeface="+mj-lt"/>
                <a:ea typeface="MS PGothic" panose="020B0600070205080204" pitchFamily="50" charset="-128"/>
                <a:cs typeface="Calibri"/>
              </a:rPr>
              <a:t>v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eness </a:t>
            </a:r>
            <a:r>
              <a:rPr sz="2600" spc="-25" dirty="0">
                <a:latin typeface="+mj-lt"/>
                <a:ea typeface="MS PGothic" panose="020B0600070205080204" pitchFamily="50" charset="-128"/>
                <a:cs typeface="Calibri"/>
              </a:rPr>
              <a:t>o</a:t>
            </a:r>
            <a:r>
              <a:rPr sz="2600" spc="-10" dirty="0">
                <a:latin typeface="+mj-lt"/>
                <a:ea typeface="MS PGothic" panose="020B0600070205080204" pitchFamily="50" charset="-128"/>
                <a:cs typeface="Calibri"/>
              </a:rPr>
              <a:t>f</a:t>
            </a:r>
            <a:r>
              <a:rPr sz="260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clean-</a:t>
            </a:r>
            <a:r>
              <a:rPr sz="2600" spc="-5" dirty="0">
                <a:latin typeface="+mj-lt"/>
                <a:ea typeface="MS PGothic" panose="020B0600070205080204" pitchFamily="50" charset="-128"/>
                <a:cs typeface="Calibri"/>
              </a:rPr>
              <a:t>u</a:t>
            </a:r>
            <a:r>
              <a:rPr sz="2600" dirty="0">
                <a:latin typeface="+mj-lt"/>
                <a:ea typeface="MS PGothic" panose="020B0600070205080204" pitchFamily="50" charset="-128"/>
                <a:cs typeface="Calibri"/>
              </a:rPr>
              <a:t>p</a:t>
            </a:r>
            <a:r>
              <a:rPr sz="2600" spc="3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30" dirty="0">
                <a:latin typeface="+mj-lt"/>
                <a:ea typeface="MS PGothic" panose="020B0600070205080204" pitchFamily="50" charset="-128"/>
                <a:cs typeface="Calibri"/>
              </a:rPr>
              <a:t>m</a:t>
            </a:r>
            <a:r>
              <a:rPr sz="2600" spc="-40" dirty="0">
                <a:latin typeface="+mj-lt"/>
                <a:ea typeface="MS PGothic" panose="020B0600070205080204" pitchFamily="50" charset="-128"/>
                <a:cs typeface="Calibri"/>
              </a:rPr>
              <a:t>e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thods</a:t>
            </a:r>
            <a:endParaRPr sz="2600" dirty="0">
              <a:latin typeface="+mj-lt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0"/>
              </a:spcBef>
              <a:buFont typeface="Wingdings" panose="05000000000000000000" pitchFamily="2" charset="2"/>
              <a:buChar char="ü"/>
              <a:tabLst>
                <a:tab pos="622300" algn="l"/>
              </a:tabLst>
              <a:defRPr/>
            </a:pPr>
            <a:r>
              <a:rPr sz="2600" spc="-5" dirty="0">
                <a:latin typeface="+mj-lt"/>
                <a:ea typeface="MS PGothic" panose="020B0600070205080204" pitchFamily="50" charset="-128"/>
                <a:cs typeface="Calibri"/>
              </a:rPr>
              <a:t>Soci</a:t>
            </a:r>
            <a:r>
              <a:rPr sz="2600" dirty="0">
                <a:latin typeface="+mj-lt"/>
                <a:ea typeface="MS PGothic" panose="020B0600070205080204" pitchFamily="50" charset="-128"/>
                <a:cs typeface="Calibri"/>
              </a:rPr>
              <a:t>o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-</a:t>
            </a:r>
            <a:r>
              <a:rPr sz="2600" spc="-20" dirty="0">
                <a:latin typeface="+mj-lt"/>
                <a:ea typeface="MS PGothic" panose="020B0600070205080204" pitchFamily="50" charset="-128"/>
                <a:cs typeface="Calibri"/>
              </a:rPr>
              <a:t>e</a:t>
            </a:r>
            <a:r>
              <a:rPr sz="2600" spc="-45" dirty="0">
                <a:latin typeface="+mj-lt"/>
                <a:ea typeface="MS PGothic" panose="020B0600070205080204" pitchFamily="50" charset="-128"/>
                <a:cs typeface="Calibri"/>
              </a:rPr>
              <a:t>c</a:t>
            </a:r>
            <a:r>
              <a:rPr sz="2600" spc="-25" dirty="0">
                <a:latin typeface="+mj-lt"/>
                <a:ea typeface="MS PGothic" panose="020B0600070205080204" pitchFamily="50" charset="-128"/>
                <a:cs typeface="Calibri"/>
              </a:rPr>
              <a:t>onomi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c</a:t>
            </a:r>
            <a:r>
              <a:rPr sz="2600" spc="35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45" dirty="0">
                <a:latin typeface="+mj-lt"/>
                <a:ea typeface="MS PGothic" panose="020B0600070205080204" pitchFamily="50" charset="-128"/>
                <a:cs typeface="Calibri"/>
              </a:rPr>
              <a:t>c</a:t>
            </a:r>
            <a:r>
              <a:rPr sz="2600" spc="-20" dirty="0">
                <a:latin typeface="+mj-lt"/>
                <a:ea typeface="MS PGothic" panose="020B0600070205080204" pitchFamily="50" charset="-128"/>
                <a:cs typeface="Calibri"/>
              </a:rPr>
              <a:t>onside</a:t>
            </a:r>
            <a:r>
              <a:rPr sz="2600" spc="-80" dirty="0">
                <a:latin typeface="+mj-lt"/>
                <a:ea typeface="MS PGothic" panose="020B0600070205080204" pitchFamily="50" charset="-128"/>
                <a:cs typeface="Calibri"/>
              </a:rPr>
              <a:t>r</a:t>
            </a:r>
            <a:r>
              <a:rPr sz="2600" spc="-55" dirty="0">
                <a:latin typeface="+mj-lt"/>
                <a:ea typeface="MS PGothic" panose="020B0600070205080204" pitchFamily="50" charset="-128"/>
                <a:cs typeface="Calibri"/>
              </a:rPr>
              <a:t>a</a:t>
            </a:r>
            <a:r>
              <a:rPr sz="2600" dirty="0">
                <a:latin typeface="+mj-lt"/>
                <a:ea typeface="MS PGothic" panose="020B0600070205080204" pitchFamily="50" charset="-128"/>
                <a:cs typeface="Calibri"/>
              </a:rPr>
              <a:t>tions</a:t>
            </a:r>
            <a:endParaRPr lang="en-GB" sz="2600" dirty="0">
              <a:latin typeface="+mj-lt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0"/>
              </a:spcBef>
              <a:buFont typeface="Wingdings" panose="05000000000000000000" pitchFamily="2" charset="2"/>
              <a:buChar char="ü"/>
              <a:tabLst>
                <a:tab pos="622300" algn="l"/>
              </a:tabLst>
              <a:defRPr/>
            </a:pPr>
            <a:r>
              <a:rPr lang="en-GB" sz="2600" dirty="0">
                <a:latin typeface="+mj-lt"/>
                <a:ea typeface="MS PGothic" panose="020B0600070205080204" pitchFamily="50" charset="-128"/>
                <a:cs typeface="Calibri"/>
              </a:rPr>
              <a:t>Archaeological and cultural considerations</a:t>
            </a:r>
            <a:endParaRPr sz="2600" dirty="0">
              <a:latin typeface="+mj-lt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5"/>
              </a:spcBef>
              <a:buFont typeface="Wingdings" panose="05000000000000000000" pitchFamily="2" charset="2"/>
              <a:buChar char="ü"/>
              <a:tabLst>
                <a:tab pos="622300" algn="l"/>
              </a:tabLst>
              <a:defRPr/>
            </a:pPr>
            <a:r>
              <a:rPr sz="2600" spc="-5" dirty="0">
                <a:latin typeface="+mj-lt"/>
                <a:ea typeface="MS PGothic" panose="020B0600070205080204" pitchFamily="50" charset="-128"/>
                <a:cs typeface="Calibri"/>
              </a:rPr>
              <a:t>E</a:t>
            </a:r>
            <a:r>
              <a:rPr sz="2600" spc="-60" dirty="0">
                <a:latin typeface="+mj-lt"/>
                <a:ea typeface="MS PGothic" panose="020B0600070205080204" pitchFamily="50" charset="-128"/>
                <a:cs typeface="Calibri"/>
              </a:rPr>
              <a:t>n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vi</a:t>
            </a:r>
            <a:r>
              <a:rPr sz="2600" spc="-75" dirty="0">
                <a:latin typeface="+mj-lt"/>
                <a:ea typeface="MS PGothic" panose="020B0600070205080204" pitchFamily="50" charset="-128"/>
                <a:cs typeface="Calibri"/>
              </a:rPr>
              <a:t>r</a:t>
            </a:r>
            <a:r>
              <a:rPr sz="2600" spc="-25" dirty="0">
                <a:latin typeface="+mj-lt"/>
                <a:ea typeface="MS PGothic" panose="020B0600070205080204" pitchFamily="50" charset="-128"/>
                <a:cs typeface="Calibri"/>
              </a:rPr>
              <a:t>onm</a:t>
            </a:r>
            <a:r>
              <a:rPr sz="2600" spc="-10" dirty="0">
                <a:latin typeface="+mj-lt"/>
                <a:ea typeface="MS PGothic" panose="020B0600070205080204" pitchFamily="50" charset="-128"/>
                <a:cs typeface="Calibri"/>
              </a:rPr>
              <a:t>e</a:t>
            </a:r>
            <a:r>
              <a:rPr sz="2600" spc="-30" dirty="0">
                <a:latin typeface="+mj-lt"/>
                <a:ea typeface="MS PGothic" panose="020B0600070205080204" pitchFamily="50" charset="-128"/>
                <a:cs typeface="Calibri"/>
              </a:rPr>
              <a:t>n</a:t>
            </a:r>
            <a:r>
              <a:rPr sz="2600" spc="-50" dirty="0">
                <a:latin typeface="+mj-lt"/>
                <a:ea typeface="MS PGothic" panose="020B0600070205080204" pitchFamily="50" charset="-128"/>
                <a:cs typeface="Calibri"/>
              </a:rPr>
              <a:t>t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a</a:t>
            </a:r>
            <a:r>
              <a:rPr sz="2600" dirty="0">
                <a:latin typeface="+mj-lt"/>
                <a:ea typeface="MS PGothic" panose="020B0600070205080204" pitchFamily="50" charset="-128"/>
                <a:cs typeface="Calibri"/>
              </a:rPr>
              <a:t>l</a:t>
            </a:r>
            <a:r>
              <a:rPr sz="2600" spc="2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5" dirty="0">
                <a:latin typeface="+mj-lt"/>
                <a:ea typeface="MS PGothic" panose="020B0600070205080204" pitchFamily="50" charset="-128"/>
                <a:cs typeface="Calibri"/>
              </a:rPr>
              <a:t>ben</a:t>
            </a:r>
            <a:r>
              <a:rPr sz="2600" spc="-50" dirty="0">
                <a:latin typeface="+mj-lt"/>
                <a:ea typeface="MS PGothic" panose="020B0600070205080204" pitchFamily="50" charset="-128"/>
                <a:cs typeface="Calibri"/>
              </a:rPr>
              <a:t>e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fits</a:t>
            </a:r>
            <a:endParaRPr sz="2600" dirty="0">
              <a:latin typeface="+mj-lt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0"/>
              </a:spcBef>
              <a:buFont typeface="Wingdings" panose="05000000000000000000" pitchFamily="2" charset="2"/>
              <a:buChar char="ü"/>
              <a:tabLst>
                <a:tab pos="622300" algn="l"/>
              </a:tabLst>
              <a:defRPr/>
            </a:pPr>
            <a:r>
              <a:rPr sz="2600" spc="-90" dirty="0">
                <a:latin typeface="+mj-lt"/>
                <a:ea typeface="MS PGothic" panose="020B0600070205080204" pitchFamily="50" charset="-128"/>
                <a:cs typeface="Calibri"/>
              </a:rPr>
              <a:t>P</a:t>
            </a:r>
            <a:r>
              <a:rPr sz="2600" spc="-20" dirty="0">
                <a:latin typeface="+mj-lt"/>
                <a:ea typeface="MS PGothic" panose="020B0600070205080204" pitchFamily="50" charset="-128"/>
                <a:cs typeface="Calibri"/>
              </a:rPr>
              <a:t>e</a:t>
            </a:r>
            <a:r>
              <a:rPr sz="2600" spc="-65" dirty="0">
                <a:latin typeface="+mj-lt"/>
                <a:ea typeface="MS PGothic" panose="020B0600070205080204" pitchFamily="50" charset="-128"/>
                <a:cs typeface="Calibri"/>
              </a:rPr>
              <a:t>r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ce</a:t>
            </a:r>
            <a:r>
              <a:rPr sz="2600" spc="-40" dirty="0">
                <a:latin typeface="+mj-lt"/>
                <a:ea typeface="MS PGothic" panose="020B0600070205080204" pitchFamily="50" charset="-128"/>
                <a:cs typeface="Calibri"/>
              </a:rPr>
              <a:t>p</a:t>
            </a:r>
            <a:r>
              <a:rPr sz="2600" dirty="0">
                <a:latin typeface="+mj-lt"/>
                <a:ea typeface="MS PGothic" panose="020B0600070205080204" pitchFamily="50" charset="-128"/>
                <a:cs typeface="Calibri"/>
              </a:rPr>
              <a:t>tion</a:t>
            </a:r>
            <a:r>
              <a:rPr sz="2600" spc="1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5" dirty="0">
                <a:latin typeface="+mj-lt"/>
                <a:ea typeface="MS PGothic" panose="020B0600070205080204" pitchFamily="50" charset="-128"/>
                <a:cs typeface="Calibri"/>
              </a:rPr>
              <a:t>o</a:t>
            </a:r>
            <a:r>
              <a:rPr sz="2600" spc="-10" dirty="0">
                <a:latin typeface="+mj-lt"/>
                <a:ea typeface="MS PGothic" panose="020B0600070205080204" pitchFamily="50" charset="-128"/>
                <a:cs typeface="Calibri"/>
              </a:rPr>
              <a:t>f</a:t>
            </a:r>
            <a:r>
              <a:rPr sz="260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5" dirty="0">
                <a:latin typeface="+mj-lt"/>
                <a:ea typeface="MS PGothic" panose="020B0600070205080204" pitchFamily="50" charset="-128"/>
                <a:cs typeface="Calibri"/>
              </a:rPr>
              <a:t>pu</a:t>
            </a:r>
            <a:r>
              <a:rPr sz="2600" spc="5" dirty="0">
                <a:latin typeface="+mj-lt"/>
                <a:ea typeface="MS PGothic" panose="020B0600070205080204" pitchFamily="50" charset="-128"/>
                <a:cs typeface="Calibri"/>
              </a:rPr>
              <a:t>b</a:t>
            </a:r>
            <a:r>
              <a:rPr sz="2600" dirty="0">
                <a:latin typeface="+mj-lt"/>
                <a:ea typeface="MS PGothic" panose="020B0600070205080204" pitchFamily="50" charset="-128"/>
                <a:cs typeface="Calibri"/>
              </a:rPr>
              <a:t>lic</a:t>
            </a:r>
            <a:r>
              <a:rPr sz="2600" spc="15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0" dirty="0">
                <a:latin typeface="+mj-lt"/>
                <a:ea typeface="MS PGothic" panose="020B0600070205080204" pitchFamily="50" charset="-128"/>
                <a:cs typeface="Calibri"/>
              </a:rPr>
              <a:t>and</a:t>
            </a:r>
            <a:r>
              <a:rPr sz="2600" spc="2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the</a:t>
            </a:r>
            <a:r>
              <a:rPr sz="2600" spc="5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0" dirty="0">
                <a:latin typeface="+mj-lt"/>
                <a:ea typeface="MS PGothic" panose="020B0600070205080204" pitchFamily="50" charset="-128"/>
                <a:cs typeface="Calibri"/>
              </a:rPr>
              <a:t>media</a:t>
            </a:r>
            <a:endParaRPr sz="2600" dirty="0">
              <a:latin typeface="+mj-lt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4"/>
              </a:spcBef>
              <a:buFont typeface="Wingdings" panose="05000000000000000000" pitchFamily="2" charset="2"/>
              <a:buChar char="ü"/>
              <a:tabLst>
                <a:tab pos="622300" algn="l"/>
              </a:tabLst>
              <a:defRPr/>
            </a:pPr>
            <a:r>
              <a:rPr sz="2600" spc="-25" dirty="0">
                <a:latin typeface="+mj-lt"/>
                <a:ea typeface="MS PGothic" panose="020B0600070205080204" pitchFamily="50" charset="-128"/>
                <a:cs typeface="Calibri"/>
              </a:rPr>
              <a:t>Consensu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s</a:t>
            </a:r>
            <a:r>
              <a:rPr sz="2600" spc="3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0" dirty="0">
                <a:latin typeface="+mj-lt"/>
                <a:ea typeface="MS PGothic" panose="020B0600070205080204" pitchFamily="50" charset="-128"/>
                <a:cs typeface="Calibri"/>
              </a:rPr>
              <a:t>decis</a:t>
            </a:r>
            <a:r>
              <a:rPr sz="2600" dirty="0">
                <a:latin typeface="+mj-lt"/>
                <a:ea typeface="MS PGothic" panose="020B0600070205080204" pitchFamily="50" charset="-128"/>
                <a:cs typeface="Calibri"/>
              </a:rPr>
              <a:t>io</a:t>
            </a:r>
            <a:r>
              <a:rPr sz="2600" spc="-5" dirty="0">
                <a:latin typeface="+mj-lt"/>
                <a:ea typeface="MS PGothic" panose="020B0600070205080204" pitchFamily="50" charset="-128"/>
                <a:cs typeface="Calibri"/>
              </a:rPr>
              <a:t>n</a:t>
            </a:r>
            <a:r>
              <a:rPr sz="2600" spc="-15" dirty="0">
                <a:latin typeface="+mj-lt"/>
                <a:ea typeface="MS PGothic" panose="020B0600070205080204" pitchFamily="50" charset="-128"/>
                <a:cs typeface="Calibri"/>
              </a:rPr>
              <a:t>-</a:t>
            </a:r>
            <a:r>
              <a:rPr sz="2600" spc="-20" dirty="0">
                <a:latin typeface="+mj-lt"/>
                <a:ea typeface="MS PGothic" panose="020B0600070205080204" pitchFamily="50" charset="-128"/>
                <a:cs typeface="Calibri"/>
              </a:rPr>
              <a:t>mak</a:t>
            </a:r>
            <a:r>
              <a:rPr sz="2600" spc="-5" dirty="0">
                <a:latin typeface="+mj-lt"/>
                <a:ea typeface="MS PGothic" panose="020B0600070205080204" pitchFamily="50" charset="-128"/>
                <a:cs typeface="Calibri"/>
              </a:rPr>
              <a:t>i</a:t>
            </a:r>
            <a:r>
              <a:rPr sz="2600" spc="-25" dirty="0">
                <a:latin typeface="+mj-lt"/>
                <a:ea typeface="MS PGothic" panose="020B0600070205080204" pitchFamily="50" charset="-128"/>
                <a:cs typeface="Calibri"/>
              </a:rPr>
              <a:t>ng</a:t>
            </a:r>
            <a:endParaRPr sz="2600" dirty="0">
              <a:latin typeface="+mj-lt"/>
              <a:ea typeface="MS PGothic" panose="020B0600070205080204" pitchFamily="50" charset="-128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0868" y="1817001"/>
            <a:ext cx="5285183" cy="3510915"/>
          </a:xfrm>
          <a:prstGeom prst="rect">
            <a:avLst/>
          </a:prstGeom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4110" y="1817000"/>
            <a:ext cx="5280180" cy="351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/>
          </p:cNvSpPr>
          <p:nvPr/>
        </p:nvSpPr>
        <p:spPr>
          <a:xfrm>
            <a:off x="1984248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How Clean is </a:t>
            </a:r>
            <a:r>
              <a:rPr lang="ja-JP" altLang="en-GB" sz="4000" b="1" dirty="0" smtClean="0"/>
              <a:t>“</a:t>
            </a:r>
            <a:r>
              <a:rPr lang="en-GB" altLang="ja-JP" sz="4000" b="1" dirty="0"/>
              <a:t>C</a:t>
            </a:r>
            <a:r>
              <a:rPr lang="en-GB" altLang="ja-JP" sz="4000" b="1" dirty="0" smtClean="0"/>
              <a:t>lean</a:t>
            </a:r>
            <a:r>
              <a:rPr lang="ja-JP" altLang="en-GB" sz="4000" b="1" dirty="0" smtClean="0"/>
              <a:t>”</a:t>
            </a:r>
            <a:r>
              <a:rPr lang="en-GB" altLang="ja-JP" sz="4000" b="1" dirty="0" smtClean="0"/>
              <a:t>? </a:t>
            </a:r>
            <a:endParaRPr lang="en-GB" altLang="en-US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399032" y="130175"/>
            <a:ext cx="941832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Termination Considerations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946404" y="1085719"/>
            <a:ext cx="1050645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en-GB" altLang="en-US" dirty="0" smtClean="0"/>
              <a:t>At-sea clean-up:</a:t>
            </a:r>
          </a:p>
          <a:p>
            <a:pPr lvl="1" indent="-420688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Measures no longer effective</a:t>
            </a:r>
          </a:p>
          <a:p>
            <a:pPr lvl="1" indent="-420688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Further clean-up is likely to cause greater damage</a:t>
            </a:r>
          </a:p>
          <a:p>
            <a:pPr lvl="1" indent="-420688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Safety issues</a:t>
            </a:r>
          </a:p>
          <a:p>
            <a:pPr lvl="1" indent="-420688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Level of response is out of proportion to the amount of oil on the water</a:t>
            </a:r>
          </a:p>
          <a:p>
            <a:pPr lvl="1" indent="-420688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When the costs of the response are exceeding the likely benefits</a:t>
            </a:r>
          </a:p>
        </p:txBody>
      </p:sp>
    </p:spTree>
    <p:extLst>
      <p:ext uri="{BB962C8B-B14F-4D97-AF65-F5344CB8AC3E}">
        <p14:creationId xmlns:p14="http://schemas.microsoft.com/office/powerpoint/2010/main" val="415910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709928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Termination Considerations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6" y="1658112"/>
            <a:ext cx="5080610" cy="34625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9"/>
          <a:stretch/>
        </p:blipFill>
        <p:spPr>
          <a:xfrm>
            <a:off x="5943600" y="1658112"/>
            <a:ext cx="5523722" cy="346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8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271016" y="130175"/>
            <a:ext cx="97657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Termination Considerations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923544" y="1160187"/>
            <a:ext cx="1020470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GB" altLang="en-US" dirty="0" smtClean="0"/>
              <a:t>Shoreline clean-up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Commitments agreed with authorities (in contingency plan) have been satisfied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Further clean-up is likely to cause greater damage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Point of diminishing returns is reached</a:t>
            </a:r>
          </a:p>
          <a:p>
            <a:pPr lvl="1" indent="-420688">
              <a:spcBef>
                <a:spcPct val="25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When cost of clean-up is out of proportion to area</a:t>
            </a:r>
            <a:r>
              <a:rPr lang="en-GB" altLang="ja-JP" dirty="0" smtClean="0">
                <a:latin typeface="Arial" panose="020B0604020202020204" pitchFamily="34" charset="0"/>
              </a:rPr>
              <a:t>’</a:t>
            </a:r>
            <a:r>
              <a:rPr lang="en-GB" altLang="ja-JP" dirty="0" smtClean="0"/>
              <a:t>s importance</a:t>
            </a:r>
          </a:p>
          <a:p>
            <a:pPr lvl="1" indent="-420688">
              <a:spcBef>
                <a:spcPct val="25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When economic loss caused by non-use of areas being cleaned exceeds any benefits</a:t>
            </a:r>
          </a:p>
          <a:p>
            <a:pPr lvl="1">
              <a:lnSpc>
                <a:spcPct val="110000"/>
              </a:lnSpc>
              <a:spcBef>
                <a:spcPct val="30000"/>
              </a:spcBef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5025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9339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/>
              <a:t>Termination Considerations</a:t>
            </a:r>
            <a:r>
              <a:rPr lang="en-CA" altLang="en-US" b="1" dirty="0" smtClean="0"/>
              <a:t>	</a:t>
            </a: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749958"/>
            <a:ext cx="4751834" cy="36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535" y="1698352"/>
            <a:ext cx="4928811" cy="369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38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90472" y="58875"/>
            <a:ext cx="890625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Example of Termination </a:t>
            </a:r>
            <a:r>
              <a:rPr lang="en-GB" altLang="en-US" sz="4000" b="1" dirty="0"/>
              <a:t>C</a:t>
            </a:r>
            <a:r>
              <a:rPr lang="en-GB" altLang="en-US" sz="4000" b="1" dirty="0" smtClean="0"/>
              <a:t>riteria</a:t>
            </a:r>
          </a:p>
        </p:txBody>
      </p: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2231390" y="1196975"/>
            <a:ext cx="7924800" cy="4273550"/>
            <a:chOff x="432" y="1100"/>
            <a:chExt cx="4992" cy="2692"/>
          </a:xfrm>
        </p:grpSpPr>
        <p:sp>
          <p:nvSpPr>
            <p:cNvPr id="7" name="Rectangle 4">
              <a:extLst/>
            </p:cNvPr>
            <p:cNvSpPr>
              <a:spLocks noChangeArrowheads="1"/>
            </p:cNvSpPr>
            <p:nvPr/>
          </p:nvSpPr>
          <p:spPr bwMode="auto">
            <a:xfrm>
              <a:off x="2883" y="2928"/>
              <a:ext cx="2541" cy="864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8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No visible oil or sheen that might adhere to feathers or fur</a:t>
              </a:r>
            </a:p>
          </p:txBody>
        </p:sp>
        <p:sp>
          <p:nvSpPr>
            <p:cNvPr id="8" name="Rectangle 5">
              <a:extLst/>
            </p:cNvPr>
            <p:cNvSpPr>
              <a:spLocks noChangeArrowheads="1"/>
            </p:cNvSpPr>
            <p:nvPr/>
          </p:nvSpPr>
          <p:spPr bwMode="auto">
            <a:xfrm>
              <a:off x="447" y="2928"/>
              <a:ext cx="2436" cy="864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8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Water surface (used by birds, mammals)</a:t>
              </a:r>
            </a:p>
          </p:txBody>
        </p:sp>
        <p:sp>
          <p:nvSpPr>
            <p:cNvPr id="9" name="Rectangle 6">
              <a:extLst/>
            </p:cNvPr>
            <p:cNvSpPr>
              <a:spLocks noChangeArrowheads="1"/>
            </p:cNvSpPr>
            <p:nvPr/>
          </p:nvSpPr>
          <p:spPr bwMode="auto">
            <a:xfrm>
              <a:off x="2883" y="2066"/>
              <a:ext cx="2541" cy="814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8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No visible oil and no oil sticking to people or boats</a:t>
              </a:r>
            </a:p>
          </p:txBody>
        </p:sp>
        <p:sp>
          <p:nvSpPr>
            <p:cNvPr id="10" name="Rectangle 7">
              <a:extLst/>
            </p:cNvPr>
            <p:cNvSpPr>
              <a:spLocks noChangeArrowheads="1"/>
            </p:cNvSpPr>
            <p:nvPr/>
          </p:nvSpPr>
          <p:spPr bwMode="auto">
            <a:xfrm>
              <a:off x="447" y="2064"/>
              <a:ext cx="2436" cy="81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8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Amenity beaches and structures</a:t>
              </a:r>
            </a:p>
          </p:txBody>
        </p:sp>
        <p:sp>
          <p:nvSpPr>
            <p:cNvPr id="11" name="Rectangle 8">
              <a:extLst/>
            </p:cNvPr>
            <p:cNvSpPr>
              <a:spLocks noChangeArrowheads="1"/>
            </p:cNvSpPr>
            <p:nvPr/>
          </p:nvSpPr>
          <p:spPr bwMode="auto">
            <a:xfrm>
              <a:off x="2883" y="1440"/>
              <a:ext cx="2541" cy="624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8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Statutory specifications and taste tests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447" y="1440"/>
              <a:ext cx="2436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573" tIns="42286" rIns="84573" bIns="42286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800">
                  <a:solidFill>
                    <a:srgbClr val="000000"/>
                  </a:solidFill>
                  <a:latin typeface="+mj-lt"/>
                </a:rPr>
                <a:t>Food and water (for human consumption)</a:t>
              </a:r>
            </a:p>
          </p:txBody>
        </p:sp>
        <p:sp>
          <p:nvSpPr>
            <p:cNvPr id="13" name="Rectangle 10">
              <a:extLst/>
            </p:cNvPr>
            <p:cNvSpPr>
              <a:spLocks noChangeArrowheads="1"/>
            </p:cNvSpPr>
            <p:nvPr/>
          </p:nvSpPr>
          <p:spPr bwMode="auto">
            <a:xfrm>
              <a:off x="2883" y="1100"/>
              <a:ext cx="2436" cy="34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cy-GB" sz="2800" b="1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Criteria</a:t>
              </a:r>
            </a:p>
          </p:txBody>
        </p:sp>
        <p:sp>
          <p:nvSpPr>
            <p:cNvPr id="14" name="Rectangle 11">
              <a:extLst/>
            </p:cNvPr>
            <p:cNvSpPr>
              <a:spLocks noChangeArrowheads="1"/>
            </p:cNvSpPr>
            <p:nvPr/>
          </p:nvSpPr>
          <p:spPr bwMode="auto">
            <a:xfrm>
              <a:off x="447" y="1100"/>
              <a:ext cx="2436" cy="34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800" b="1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Resource</a:t>
              </a: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447" y="1100"/>
              <a:ext cx="4977" cy="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800">
                <a:latin typeface="+mj-lt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447" y="2064"/>
              <a:ext cx="4977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800">
                <a:latin typeface="+mj-lt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432" y="2898"/>
              <a:ext cx="499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800">
                <a:latin typeface="+mj-lt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432" y="1104"/>
              <a:ext cx="0" cy="26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800">
                <a:latin typeface="+mj-lt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>
              <a:off x="5424" y="1100"/>
              <a:ext cx="0" cy="269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800">
                <a:latin typeface="+mj-lt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H="1">
              <a:off x="2880" y="1104"/>
              <a:ext cx="0" cy="26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800">
                <a:latin typeface="+mj-lt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432" y="1436"/>
              <a:ext cx="4977" cy="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800">
                <a:latin typeface="+mj-lt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432" y="3788"/>
              <a:ext cx="4977" cy="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80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220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636776" y="130175"/>
            <a:ext cx="901598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4000" b="1" dirty="0" smtClean="0"/>
              <a:t>Example of Termination </a:t>
            </a:r>
            <a:r>
              <a:rPr lang="en-GB" altLang="en-US" sz="4000" b="1" dirty="0"/>
              <a:t>C</a:t>
            </a:r>
            <a:r>
              <a:rPr lang="en-GB" altLang="en-US" sz="4000" b="1" dirty="0" smtClean="0"/>
              <a:t>riteria</a:t>
            </a:r>
          </a:p>
        </p:txBody>
      </p: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1647889" y="1052513"/>
            <a:ext cx="8232775" cy="4800600"/>
            <a:chOff x="288" y="912"/>
            <a:chExt cx="5186" cy="3024"/>
          </a:xfrm>
        </p:grpSpPr>
        <p:sp>
          <p:nvSpPr>
            <p:cNvPr id="7" name="Rectangle 4">
              <a:extLst/>
            </p:cNvPr>
            <p:cNvSpPr>
              <a:spLocks noChangeArrowheads="1"/>
            </p:cNvSpPr>
            <p:nvPr/>
          </p:nvSpPr>
          <p:spPr bwMode="auto">
            <a:xfrm>
              <a:off x="2640" y="912"/>
              <a:ext cx="2784" cy="30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fr-CA" sz="2400" b="1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Criteria</a:t>
              </a:r>
              <a:endParaRPr lang="en-GB" sz="2400" b="1" dirty="0">
                <a:solidFill>
                  <a:srgbClr val="000000"/>
                </a:solidFill>
                <a:latin typeface="+mj-lt"/>
                <a:ea typeface="ＭＳ Ｐゴシック" charset="0"/>
                <a:cs typeface="Arial" charset="0"/>
              </a:endParaRPr>
            </a:p>
          </p:txBody>
        </p:sp>
        <p:sp>
          <p:nvSpPr>
            <p:cNvPr id="8" name="Rectangle 5">
              <a:extLst/>
            </p:cNvPr>
            <p:cNvSpPr>
              <a:spLocks noChangeArrowheads="1"/>
            </p:cNvSpPr>
            <p:nvPr/>
          </p:nvSpPr>
          <p:spPr bwMode="auto">
            <a:xfrm>
              <a:off x="288" y="912"/>
              <a:ext cx="2352" cy="30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b="1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Resource</a:t>
              </a:r>
            </a:p>
          </p:txBody>
        </p:sp>
        <p:sp>
          <p:nvSpPr>
            <p:cNvPr id="9" name="Rectangle 6">
              <a:extLst/>
            </p:cNvPr>
            <p:cNvSpPr>
              <a:spLocks noChangeArrowheads="1"/>
            </p:cNvSpPr>
            <p:nvPr/>
          </p:nvSpPr>
          <p:spPr bwMode="auto">
            <a:xfrm>
              <a:off x="2631" y="2999"/>
              <a:ext cx="2834" cy="786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Residues must not be mobile to leach to other near-shore areas</a:t>
              </a:r>
            </a:p>
          </p:txBody>
        </p:sp>
        <p:sp>
          <p:nvSpPr>
            <p:cNvPr id="10" name="Rectangle 7">
              <a:extLst/>
            </p:cNvPr>
            <p:cNvSpPr>
              <a:spLocks noChangeArrowheads="1"/>
            </p:cNvSpPr>
            <p:nvPr/>
          </p:nvSpPr>
          <p:spPr bwMode="auto">
            <a:xfrm>
              <a:off x="297" y="3008"/>
              <a:ext cx="2352" cy="76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Shoreline (ecosystem interacting with other near-shore systems)</a:t>
              </a:r>
            </a:p>
          </p:txBody>
        </p:sp>
        <p:sp>
          <p:nvSpPr>
            <p:cNvPr id="11" name="Rectangle 8">
              <a:extLst/>
            </p:cNvPr>
            <p:cNvSpPr>
              <a:spLocks noChangeArrowheads="1"/>
            </p:cNvSpPr>
            <p:nvPr/>
          </p:nvSpPr>
          <p:spPr bwMode="auto">
            <a:xfrm>
              <a:off x="2640" y="2064"/>
              <a:ext cx="2834" cy="1056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Need not be visibly clean but residues must not inhibit recovery by smothering or toxicity</a:t>
              </a:r>
            </a:p>
          </p:txBody>
        </p:sp>
        <p:sp>
          <p:nvSpPr>
            <p:cNvPr id="12" name="Rectangle 9">
              <a:extLst/>
            </p:cNvPr>
            <p:cNvSpPr>
              <a:spLocks noChangeArrowheads="1"/>
            </p:cNvSpPr>
            <p:nvPr/>
          </p:nvSpPr>
          <p:spPr bwMode="auto">
            <a:xfrm>
              <a:off x="288" y="2064"/>
              <a:ext cx="2352" cy="100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Shoreline (habitat for algae, mangroves, molluscs, etc.)</a:t>
              </a:r>
            </a:p>
          </p:txBody>
        </p:sp>
        <p:sp>
          <p:nvSpPr>
            <p:cNvPr id="13" name="Rectangle 10">
              <a:extLst/>
            </p:cNvPr>
            <p:cNvSpPr>
              <a:spLocks noChangeArrowheads="1"/>
            </p:cNvSpPr>
            <p:nvPr/>
          </p:nvSpPr>
          <p:spPr bwMode="auto">
            <a:xfrm>
              <a:off x="2634" y="1220"/>
              <a:ext cx="2838" cy="844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Concentration at background levels. Must not be toxic to key species</a:t>
              </a:r>
            </a:p>
          </p:txBody>
        </p:sp>
        <p:sp>
          <p:nvSpPr>
            <p:cNvPr id="14" name="Rectangle 11">
              <a:extLst/>
            </p:cNvPr>
            <p:cNvSpPr>
              <a:spLocks noChangeArrowheads="1"/>
            </p:cNvSpPr>
            <p:nvPr/>
          </p:nvSpPr>
          <p:spPr bwMode="auto">
            <a:xfrm>
              <a:off x="288" y="1220"/>
              <a:ext cx="2352" cy="74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latin typeface="+mj-lt"/>
                  <a:ea typeface="ＭＳ Ｐゴシック" charset="0"/>
                  <a:cs typeface="Arial" charset="0"/>
                </a:rPr>
                <a:t>Subsurface water (habitat for fish, corals, sea grass, etc.)</a:t>
              </a: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288" y="912"/>
              <a:ext cx="518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288" y="912"/>
              <a:ext cx="0" cy="30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2640" y="912"/>
              <a:ext cx="0" cy="30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5472" y="912"/>
              <a:ext cx="0" cy="30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 flipV="1">
              <a:off x="288" y="1248"/>
              <a:ext cx="518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288" y="2064"/>
              <a:ext cx="518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288" y="3168"/>
              <a:ext cx="518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288" y="3936"/>
              <a:ext cx="518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28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234440" y="130175"/>
            <a:ext cx="986637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Conclusion</a:t>
            </a:r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882396" y="1085719"/>
            <a:ext cx="1057046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550"/>
              </a:spcBef>
              <a:buFont typeface="Arial" charset="0"/>
              <a:buChar char="•"/>
              <a:defRPr/>
            </a:pPr>
            <a:r>
              <a:rPr lang="en-GB" dirty="0" smtClean="0">
                <a:ea typeface="MS PGothic" charset="0"/>
                <a:cs typeface="MS PGothic" charset="0"/>
              </a:rPr>
              <a:t>Termination of response is often a contentious issue.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  <a:buFont typeface="Arial" charset="0"/>
              <a:buChar char="•"/>
              <a:defRPr/>
            </a:pPr>
            <a:endParaRPr lang="en-GB" dirty="0" smtClean="0">
              <a:ea typeface="MS PGothic" charset="0"/>
              <a:cs typeface="MS PGothic" charset="0"/>
            </a:endParaRPr>
          </a:p>
          <a:p>
            <a:pPr algn="just">
              <a:lnSpc>
                <a:spcPct val="110000"/>
              </a:lnSpc>
              <a:spcBef>
                <a:spcPts val="550"/>
              </a:spcBef>
              <a:buFont typeface="Arial" charset="0"/>
              <a:buChar char="•"/>
              <a:defRPr/>
            </a:pPr>
            <a:r>
              <a:rPr lang="en-GB" dirty="0" smtClean="0">
                <a:ea typeface="MS PGothic" charset="0"/>
                <a:cs typeface="MS PGothic" charset="0"/>
              </a:rPr>
              <a:t>Clear response objectives and end-points criteria must be established at the beginning of a spill in a collaborative manner.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  <a:buFont typeface="Arial" charset="0"/>
              <a:buChar char="•"/>
              <a:defRPr/>
            </a:pPr>
            <a:endParaRPr lang="en-GB" dirty="0" smtClean="0">
              <a:ea typeface="MS PGothic" charset="0"/>
              <a:cs typeface="MS PGothic" charset="0"/>
            </a:endParaRPr>
          </a:p>
          <a:p>
            <a:pPr algn="just"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</a:rPr>
              <a:t>Decision-makers must be aware of response termination criteria at the beginning of an incident and adjust operations accordingly. 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GB" dirty="0" smtClean="0">
                <a:ea typeface="ＭＳ Ｐゴシック" charset="0"/>
              </a:rPr>
              <a:t> </a:t>
            </a: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05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852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MS PGothic</vt:lpstr>
      <vt:lpstr>MS PGothic</vt:lpstr>
      <vt:lpstr>Arial</vt:lpstr>
      <vt:lpstr>Calibri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152</cp:revision>
  <dcterms:created xsi:type="dcterms:W3CDTF">2024-09-27T05:40:49Z</dcterms:created>
  <dcterms:modified xsi:type="dcterms:W3CDTF">2025-05-09T05:26:20Z</dcterms:modified>
</cp:coreProperties>
</file>
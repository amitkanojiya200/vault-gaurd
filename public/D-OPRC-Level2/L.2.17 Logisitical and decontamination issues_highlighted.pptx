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7" r:id="rId5"/>
    <p:sldId id="268" r:id="rId6"/>
    <p:sldId id="269" r:id="rId7"/>
    <p:sldId id="270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71" r:id="rId22"/>
    <p:sldId id="285" r:id="rId23"/>
    <p:sldId id="286" r:id="rId24"/>
    <p:sldId id="287" r:id="rId25"/>
    <p:sldId id="288" r:id="rId26"/>
    <p:sldId id="289" r:id="rId27"/>
    <p:sldId id="290" r:id="rId28"/>
    <p:sldId id="26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1975015" y="2240280"/>
            <a:ext cx="8247888" cy="14081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Logistical and decontamination issues</a:t>
            </a:r>
            <a:r>
              <a:rPr lang="en-US" alt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endParaRPr lang="en-GB" altLang="en-US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2048256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>
                <a:latin typeface="Arial" panose="020B0604020202020204" pitchFamily="34" charset="0"/>
              </a:rPr>
              <a:t>Objective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135824" y="1586465"/>
            <a:ext cx="9992424" cy="43926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dirty="0" smtClean="0"/>
              <a:t>To understand the importance of the logistics supply chain, equipment staging and decontamination.</a:t>
            </a:r>
            <a:endParaRPr lang="en-US" altLang="en-US" dirty="0" smtClean="0">
              <a:latin typeface="Arial" panose="020B0604020202020204" pitchFamily="34" charset="0"/>
            </a:endParaRPr>
          </a:p>
          <a:p>
            <a:pPr algn="just"/>
            <a:endParaRPr lang="en-US" altLang="en-US" dirty="0" smtClean="0">
              <a:latin typeface="Arial" panose="020B0604020202020204" pitchFamily="34" charset="0"/>
            </a:endParaRPr>
          </a:p>
          <a:p>
            <a:pPr algn="just"/>
            <a:endParaRPr lang="en-US" altLang="en-US" dirty="0" smtClean="0">
              <a:latin typeface="Arial" panose="020B0604020202020204" pitchFamily="34" charset="0"/>
            </a:endParaRPr>
          </a:p>
          <a:p>
            <a:pPr algn="just"/>
            <a:endParaRPr lang="fr-FR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45336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Logistics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38022" y="1225977"/>
            <a:ext cx="1010412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CA" altLang="en-US" dirty="0" smtClean="0"/>
          </a:p>
          <a:p>
            <a:pPr algn="just"/>
            <a:r>
              <a:rPr lang="en-CA" altLang="en-US" dirty="0" smtClean="0"/>
              <a:t>Provides the equipment and services allowing  the response effort to function on a daily basis</a:t>
            </a:r>
          </a:p>
          <a:p>
            <a:pPr marL="0" indent="0" algn="just">
              <a:buNone/>
            </a:pPr>
            <a:r>
              <a:rPr lang="en-CA" altLang="en-US" dirty="0" smtClean="0"/>
              <a:t> </a:t>
            </a:r>
          </a:p>
          <a:p>
            <a:pPr algn="just"/>
            <a:r>
              <a:rPr lang="en-CA" altLang="en-US" dirty="0" smtClean="0"/>
              <a:t>The supply chain that logistics maintains keeps the spill response operations functioning</a:t>
            </a:r>
          </a:p>
        </p:txBody>
      </p:sp>
    </p:spTree>
    <p:extLst>
      <p:ext uri="{BB962C8B-B14F-4D97-AF65-F5344CB8AC3E}">
        <p14:creationId xmlns:p14="http://schemas.microsoft.com/office/powerpoint/2010/main" val="37763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389888" y="130175"/>
            <a:ext cx="972921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Logistics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627632" y="1264666"/>
            <a:ext cx="972921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dirty="0" smtClean="0"/>
              <a:t>Responsible for:</a:t>
            </a:r>
          </a:p>
          <a:p>
            <a:pPr lvl="1" indent="-4206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dirty="0" smtClean="0"/>
              <a:t>Communications</a:t>
            </a:r>
          </a:p>
          <a:p>
            <a:pPr lvl="1" indent="-4206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dirty="0" smtClean="0"/>
              <a:t>Medical support to incident personnel</a:t>
            </a:r>
          </a:p>
          <a:p>
            <a:pPr lvl="1" indent="-4206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dirty="0" smtClean="0"/>
              <a:t>Food for incident personnel</a:t>
            </a:r>
          </a:p>
          <a:p>
            <a:pPr lvl="1" indent="-4206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dirty="0" smtClean="0"/>
              <a:t>Supplies</a:t>
            </a:r>
          </a:p>
          <a:p>
            <a:pPr lvl="1" indent="-4206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dirty="0" smtClean="0"/>
              <a:t>Facilities</a:t>
            </a:r>
          </a:p>
          <a:p>
            <a:pPr lvl="1" indent="-4206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dirty="0" smtClean="0"/>
              <a:t>Ground support</a:t>
            </a: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3394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426464" y="49724"/>
            <a:ext cx="951890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Supply Chain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51560" y="1021548"/>
            <a:ext cx="1040587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None/>
            </a:pPr>
            <a:r>
              <a:rPr lang="en-US" altLang="en-US" sz="3200" dirty="0" smtClean="0"/>
              <a:t>Medical</a:t>
            </a:r>
          </a:p>
          <a:p>
            <a:pPr lvl="1">
              <a:buFont typeface="Arial" panose="020B0604020202020204" pitchFamily="34" charset="0"/>
              <a:buNone/>
            </a:pPr>
            <a:endParaRPr lang="en-US" altLang="en-US" sz="3200" dirty="0" smtClean="0"/>
          </a:p>
          <a:p>
            <a:pPr lvl="1"/>
            <a:r>
              <a:rPr lang="en-US" altLang="en-US" sz="2800" dirty="0" smtClean="0"/>
              <a:t>Provides first aid and light medical treatment  services and equipment</a:t>
            </a:r>
          </a:p>
          <a:p>
            <a:pPr lvl="1">
              <a:buFont typeface="Arial" panose="020B0604020202020204" pitchFamily="34" charset="0"/>
              <a:buNone/>
            </a:pPr>
            <a:endParaRPr lang="en-US" altLang="en-US" sz="3200" dirty="0" smtClean="0"/>
          </a:p>
          <a:p>
            <a:pPr lvl="1">
              <a:buFont typeface="Arial" panose="020B0604020202020204" pitchFamily="34" charset="0"/>
              <a:buNone/>
            </a:pPr>
            <a:endParaRPr lang="en-US" altLang="en-US" sz="3200" dirty="0" smtClean="0"/>
          </a:p>
          <a:p>
            <a:pPr lvl="1">
              <a:buFont typeface="Arial" panose="020B0604020202020204" pitchFamily="34" charset="0"/>
              <a:buNone/>
            </a:pPr>
            <a:endParaRPr lang="en-US" altLang="en-US" sz="3200" dirty="0" smtClean="0"/>
          </a:p>
          <a:p>
            <a:pPr lvl="1">
              <a:buFont typeface="Arial" panose="020B0604020202020204" pitchFamily="34" charset="0"/>
              <a:buNone/>
            </a:pPr>
            <a:endParaRPr lang="en-US" altLang="en-US" sz="3200" dirty="0" smtClean="0"/>
          </a:p>
          <a:p>
            <a:pPr lvl="1">
              <a:buFont typeface="Arial" panose="020B0604020202020204" pitchFamily="34" charset="0"/>
              <a:buNone/>
            </a:pPr>
            <a:endParaRPr lang="en-US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78475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609344" y="71650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Supply Chain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88136" y="908050"/>
            <a:ext cx="990295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buFont typeface="Arial" panose="020B0604020202020204" pitchFamily="34" charset="0"/>
              <a:buNone/>
            </a:pPr>
            <a:r>
              <a:rPr lang="en-US" altLang="en-US" sz="3200" dirty="0" smtClean="0"/>
              <a:t>Food </a:t>
            </a:r>
          </a:p>
          <a:p>
            <a:pPr lvl="1" algn="just"/>
            <a:r>
              <a:rPr lang="en-US" altLang="en-US" dirty="0" smtClean="0"/>
              <a:t>Supplies the food and potable water</a:t>
            </a:r>
          </a:p>
          <a:p>
            <a:pPr lvl="1" algn="just"/>
            <a:r>
              <a:rPr lang="en-US" altLang="en-US" dirty="0" smtClean="0"/>
              <a:t>Obtains equipment and supplies to operate food service facilities</a:t>
            </a:r>
          </a:p>
          <a:p>
            <a:pPr lvl="1" algn="just">
              <a:buFont typeface="Arial" panose="020B0604020202020204" pitchFamily="34" charset="0"/>
              <a:buNone/>
            </a:pPr>
            <a:endParaRPr lang="en-US" altLang="en-US" sz="3200" dirty="0" smtClean="0"/>
          </a:p>
          <a:p>
            <a:pPr lvl="1" algn="just">
              <a:buFont typeface="Arial" panose="020B0604020202020204" pitchFamily="34" charset="0"/>
              <a:buNone/>
            </a:pPr>
            <a:endParaRPr lang="en-US" altLang="en-US" sz="3200" dirty="0" smtClean="0"/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594" y="2318193"/>
            <a:ext cx="5680646" cy="3807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361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426464" y="49724"/>
            <a:ext cx="9303877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Supply Chain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23544" y="1160187"/>
            <a:ext cx="1026871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None/>
            </a:pPr>
            <a:r>
              <a:rPr lang="en-US" altLang="en-US" sz="3200" dirty="0" smtClean="0"/>
              <a:t>Supply </a:t>
            </a:r>
          </a:p>
          <a:p>
            <a:pPr lvl="1"/>
            <a:r>
              <a:rPr lang="en-US" altLang="en-US" dirty="0" smtClean="0"/>
              <a:t>Assists in determining the type and amount of supplies needed to support the incident</a:t>
            </a:r>
          </a:p>
          <a:p>
            <a:pPr lvl="1"/>
            <a:r>
              <a:rPr lang="en-US" altLang="en-US" dirty="0" smtClean="0"/>
              <a:t>Orders, receives, stores, and distributes supplies</a:t>
            </a:r>
          </a:p>
          <a:p>
            <a:pPr lvl="1"/>
            <a:r>
              <a:rPr lang="en-US" altLang="en-US" dirty="0" smtClean="0"/>
              <a:t>Services equipment</a:t>
            </a:r>
          </a:p>
          <a:p>
            <a:pPr lvl="1"/>
            <a:r>
              <a:rPr lang="en-US" altLang="en-US" dirty="0" smtClean="0"/>
              <a:t>Places all resource orders</a:t>
            </a:r>
          </a:p>
          <a:p>
            <a:pPr lvl="1"/>
            <a:r>
              <a:rPr lang="en-US" altLang="en-US" dirty="0" smtClean="0"/>
              <a:t>Maintains inventory of supplies and equipment</a:t>
            </a:r>
          </a:p>
          <a:p>
            <a:endParaRPr lang="en-C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6076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45336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en-US" sz="4000" b="1" dirty="0" smtClean="0"/>
              <a:t>Supply Chain </a:t>
            </a:r>
            <a:r>
              <a:rPr lang="en-CA" altLang="en-US" sz="4000" b="1" dirty="0" smtClean="0">
                <a:sym typeface="Symbol" panose="05050102010706020507" pitchFamily="18" charset="2"/>
              </a:rPr>
              <a:t></a:t>
            </a:r>
            <a:r>
              <a:rPr lang="en-CA" altLang="en-US" sz="4000" b="1" dirty="0" smtClean="0"/>
              <a:t> Support Branch 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97280" y="1342749"/>
            <a:ext cx="950061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3200" dirty="0" smtClean="0"/>
              <a:t>Facilities unit</a:t>
            </a:r>
          </a:p>
          <a:p>
            <a:pPr lvl="1">
              <a:lnSpc>
                <a:spcPct val="150000"/>
              </a:lnSpc>
            </a:pPr>
            <a:r>
              <a:rPr lang="en-US" altLang="en-US" dirty="0" smtClean="0"/>
              <a:t>Sets up and maintains facilities </a:t>
            </a:r>
          </a:p>
          <a:p>
            <a:pPr lvl="1">
              <a:lnSpc>
                <a:spcPct val="150000"/>
              </a:lnSpc>
            </a:pPr>
            <a:r>
              <a:rPr lang="en-US" altLang="en-US" dirty="0" smtClean="0"/>
              <a:t>Provides managers for base and camps</a:t>
            </a:r>
          </a:p>
          <a:p>
            <a:pPr lvl="1">
              <a:lnSpc>
                <a:spcPct val="150000"/>
              </a:lnSpc>
            </a:pPr>
            <a:r>
              <a:rPr lang="en-US" altLang="en-US" dirty="0" smtClean="0"/>
              <a:t>Provides facility security and maintenance services (sanitation, lighting, clean-up, decontamination supplies)</a:t>
            </a:r>
          </a:p>
          <a:p>
            <a:pPr>
              <a:lnSpc>
                <a:spcPct val="150000"/>
              </a:lnSpc>
            </a:pPr>
            <a:endParaRPr lang="en-C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263923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618488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Supply Chain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45376" y="963402"/>
            <a:ext cx="1027372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buFont typeface="Arial" panose="020B0604020202020204" pitchFamily="34" charset="0"/>
              <a:buNone/>
            </a:pPr>
            <a:r>
              <a:rPr lang="en-US" altLang="en-US" sz="3200" dirty="0" smtClean="0"/>
              <a:t>Ground Support </a:t>
            </a:r>
          </a:p>
          <a:p>
            <a:pPr lvl="1" algn="just"/>
            <a:r>
              <a:rPr lang="en-US" altLang="en-US" dirty="0" smtClean="0"/>
              <a:t>Arranges for and documents the fueling and maintenance of ground resources</a:t>
            </a:r>
          </a:p>
          <a:p>
            <a:pPr lvl="1" algn="just"/>
            <a:r>
              <a:rPr lang="en-US" altLang="en-US" dirty="0" smtClean="0"/>
              <a:t>Arranges for transportation of personnel, supplies, food and equipment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736" y="2771777"/>
            <a:ext cx="4456176" cy="334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310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63624" y="102321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Supply Chain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15568" y="1342749"/>
            <a:ext cx="997610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CA" altLang="en-US" dirty="0" smtClean="0"/>
              <a:t>Logistics ensures that the proper supplies and equipment are available</a:t>
            </a:r>
          </a:p>
          <a:p>
            <a:pPr algn="just"/>
            <a:endParaRPr lang="en-CA" altLang="en-US" dirty="0" smtClean="0"/>
          </a:p>
          <a:p>
            <a:pPr algn="just"/>
            <a:r>
              <a:rPr lang="en-CA" altLang="en-US" dirty="0" smtClean="0"/>
              <a:t>This is a major task and must be done in order for operations to begin 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Example: Personnel need PPE before work can begin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Example: Vessels need to refuel regularly to continue operations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Example: Operations needs boom and all related boom accessories</a:t>
            </a:r>
          </a:p>
        </p:txBody>
      </p:sp>
    </p:spTree>
    <p:extLst>
      <p:ext uri="{BB962C8B-B14F-4D97-AF65-F5344CB8AC3E}">
        <p14:creationId xmlns:p14="http://schemas.microsoft.com/office/powerpoint/2010/main" val="2330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72768" y="130175"/>
            <a:ext cx="929944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Staging Area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65276" y="1525312"/>
            <a:ext cx="1031443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CA" altLang="en-US" dirty="0" smtClean="0"/>
              <a:t>Temporary location where equipment, personnel and other resources are staged while waiting for tactical assignments</a:t>
            </a:r>
          </a:p>
          <a:p>
            <a:pPr algn="just"/>
            <a:endParaRPr lang="en-CA" altLang="en-US" dirty="0" smtClean="0"/>
          </a:p>
          <a:p>
            <a:pPr algn="just"/>
            <a:r>
              <a:rPr lang="en-CA" altLang="en-US" dirty="0" smtClean="0"/>
              <a:t>Strategically located to supply the response operations</a:t>
            </a:r>
          </a:p>
          <a:p>
            <a:pPr algn="just"/>
            <a:endParaRPr lang="en-CA" altLang="en-US" dirty="0" smtClean="0"/>
          </a:p>
          <a:p>
            <a:pPr algn="just"/>
            <a:r>
              <a:rPr lang="en-CA" altLang="en-US" dirty="0" smtClean="0"/>
              <a:t>Typically close to response operations (may be limited by access to property, physical geography, etc.)</a:t>
            </a:r>
          </a:p>
        </p:txBody>
      </p:sp>
    </p:spTree>
    <p:extLst>
      <p:ext uri="{BB962C8B-B14F-4D97-AF65-F5344CB8AC3E}">
        <p14:creationId xmlns:p14="http://schemas.microsoft.com/office/powerpoint/2010/main" val="2756262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618488" y="130175"/>
            <a:ext cx="929030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Staging Area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87552" y="1342749"/>
            <a:ext cx="1007668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CA" altLang="en-US" dirty="0" smtClean="0"/>
              <a:t>Requires a large, flat area with access for equipment such as boats, heavy machinery, spill equipment, rest facilities, parking area, etc.</a:t>
            </a:r>
          </a:p>
        </p:txBody>
      </p:sp>
    </p:spTree>
    <p:extLst>
      <p:ext uri="{BB962C8B-B14F-4D97-AF65-F5344CB8AC3E}">
        <p14:creationId xmlns:p14="http://schemas.microsoft.com/office/powerpoint/2010/main" val="315339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28216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Staging</a:t>
            </a:r>
          </a:p>
        </p:txBody>
      </p:sp>
      <p:pic>
        <p:nvPicPr>
          <p:cNvPr id="8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385" y="886983"/>
            <a:ext cx="3913632" cy="2524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666" y="896793"/>
            <a:ext cx="3910940" cy="254400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921" y="3570977"/>
            <a:ext cx="4031280" cy="277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548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09928" y="130175"/>
            <a:ext cx="910742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Decontamination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15746" y="1160187"/>
            <a:ext cx="1025939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CA" altLang="en-US" dirty="0" smtClean="0"/>
              <a:t>Part of the health and safety plan</a:t>
            </a:r>
          </a:p>
          <a:p>
            <a:pPr algn="just">
              <a:lnSpc>
                <a:spcPct val="150000"/>
              </a:lnSpc>
            </a:pPr>
            <a:r>
              <a:rPr lang="en-CA" altLang="en-US" dirty="0" smtClean="0"/>
              <a:t>Critical for the health and safety of response personnel </a:t>
            </a:r>
          </a:p>
          <a:p>
            <a:pPr algn="just">
              <a:lnSpc>
                <a:spcPct val="100000"/>
              </a:lnSpc>
            </a:pPr>
            <a:r>
              <a:rPr lang="en-CA" altLang="en-US" dirty="0" smtClean="0"/>
              <a:t>Critical to avoid secondary contamination by response personnel or other spill vehicles and vessels </a:t>
            </a:r>
          </a:p>
          <a:p>
            <a:pPr algn="just">
              <a:lnSpc>
                <a:spcPct val="150000"/>
              </a:lnSpc>
            </a:pPr>
            <a:r>
              <a:rPr lang="en-CA" altLang="en-US" dirty="0" smtClean="0"/>
              <a:t>Logistics procures the </a:t>
            </a:r>
            <a:r>
              <a:rPr lang="en-CA" altLang="en-US" dirty="0" err="1" smtClean="0"/>
              <a:t>decon</a:t>
            </a:r>
            <a:r>
              <a:rPr lang="en-CA" altLang="en-US" dirty="0" smtClean="0"/>
              <a:t> supplies and equipment</a:t>
            </a:r>
          </a:p>
        </p:txBody>
      </p:sp>
    </p:spTree>
    <p:extLst>
      <p:ext uri="{BB962C8B-B14F-4D97-AF65-F5344CB8AC3E}">
        <p14:creationId xmlns:p14="http://schemas.microsoft.com/office/powerpoint/2010/main" val="154374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453896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Decontamination</a:t>
            </a:r>
          </a:p>
        </p:txBody>
      </p:sp>
      <p:sp>
        <p:nvSpPr>
          <p:cNvPr id="6" name="Rectangle 4"/>
          <p:cNvSpPr txBox="1">
            <a:spLocks/>
          </p:cNvSpPr>
          <p:nvPr/>
        </p:nvSpPr>
        <p:spPr>
          <a:xfrm>
            <a:off x="1823784" y="1125538"/>
            <a:ext cx="7200900" cy="4537075"/>
          </a:xfrm>
          <a:prstGeom prst="rect">
            <a:avLst/>
          </a:prstGeom>
        </p:spPr>
        <p:txBody>
          <a:bodyPr vert="horz" lIns="9144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altLang="en-US" sz="3200" dirty="0" smtClean="0"/>
              <a:t>Personnel</a:t>
            </a:r>
          </a:p>
          <a:p>
            <a:pPr lvl="1"/>
            <a:r>
              <a:rPr lang="en-GB" altLang="en-US" sz="3200" dirty="0" smtClean="0"/>
              <a:t>Vessels</a:t>
            </a:r>
          </a:p>
          <a:p>
            <a:pPr lvl="1"/>
            <a:r>
              <a:rPr lang="en-GB" altLang="en-US" sz="3200" dirty="0" smtClean="0"/>
              <a:t>Vehicles i.e. trucks, ATVs</a:t>
            </a:r>
          </a:p>
          <a:p>
            <a:pPr lvl="1"/>
            <a:r>
              <a:rPr lang="en-GB" altLang="en-US" sz="3200" dirty="0" smtClean="0"/>
              <a:t>Heavy equipment</a:t>
            </a:r>
          </a:p>
          <a:p>
            <a:pPr lvl="1"/>
            <a:r>
              <a:rPr lang="en-GB" altLang="en-US" sz="3200" dirty="0" smtClean="0"/>
              <a:t>Spill equipment</a:t>
            </a:r>
          </a:p>
          <a:p>
            <a:pPr lvl="2" indent="-430213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Skimmers</a:t>
            </a:r>
          </a:p>
          <a:p>
            <a:pPr lvl="2" indent="-430213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Boom</a:t>
            </a:r>
          </a:p>
          <a:p>
            <a:pPr lvl="2" indent="-430213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Pumps/hoses</a:t>
            </a:r>
          </a:p>
          <a:p>
            <a:pPr lvl="2" indent="-430213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Storage tanks</a:t>
            </a:r>
          </a:p>
          <a:p>
            <a:pPr lvl="1"/>
            <a:endParaRPr lang="en-GB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3167895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417320" y="130175"/>
            <a:ext cx="958291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err="1" smtClean="0"/>
              <a:t>Decon</a:t>
            </a:r>
            <a:r>
              <a:rPr lang="en-CA" altLang="en-US" sz="4000" b="1" dirty="0" smtClean="0"/>
              <a:t> Plan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417320" y="1160187"/>
            <a:ext cx="958291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CA" altLang="en-US" dirty="0" smtClean="0"/>
              <a:t>Description and location of </a:t>
            </a:r>
            <a:r>
              <a:rPr lang="en-CA" altLang="en-US" dirty="0" err="1" smtClean="0"/>
              <a:t>decon</a:t>
            </a:r>
            <a:r>
              <a:rPr lang="en-CA" altLang="en-US" dirty="0" smtClean="0"/>
              <a:t> facilities</a:t>
            </a:r>
          </a:p>
          <a:p>
            <a:pPr algn="just"/>
            <a:r>
              <a:rPr lang="en-CA" altLang="en-US" dirty="0" smtClean="0"/>
              <a:t>List of </a:t>
            </a:r>
            <a:r>
              <a:rPr lang="en-CA" altLang="en-US" dirty="0" err="1" smtClean="0"/>
              <a:t>decon</a:t>
            </a:r>
            <a:r>
              <a:rPr lang="en-CA" altLang="en-US" dirty="0" smtClean="0"/>
              <a:t> equipment required</a:t>
            </a:r>
          </a:p>
          <a:p>
            <a:pPr algn="just"/>
            <a:r>
              <a:rPr lang="en-CA" altLang="en-US" dirty="0" smtClean="0"/>
              <a:t>PPE for the personnel doing the </a:t>
            </a:r>
            <a:r>
              <a:rPr lang="en-CA" altLang="en-US" dirty="0" err="1" smtClean="0"/>
              <a:t>decon</a:t>
            </a:r>
            <a:endParaRPr lang="en-CA" altLang="en-US" dirty="0" smtClean="0"/>
          </a:p>
          <a:p>
            <a:pPr algn="just"/>
            <a:r>
              <a:rPr lang="en-CA" altLang="en-US" dirty="0" err="1" smtClean="0"/>
              <a:t>Decon</a:t>
            </a:r>
            <a:r>
              <a:rPr lang="en-CA" altLang="en-US" dirty="0" smtClean="0"/>
              <a:t> procedures for specific materials</a:t>
            </a:r>
          </a:p>
          <a:p>
            <a:pPr algn="just"/>
            <a:r>
              <a:rPr lang="en-CA" altLang="en-US" dirty="0" smtClean="0"/>
              <a:t>Procedures to prevent secondary contamination</a:t>
            </a:r>
          </a:p>
          <a:p>
            <a:pPr algn="just"/>
            <a:r>
              <a:rPr lang="en-CA" altLang="en-US" dirty="0" smtClean="0"/>
              <a:t>Procedures </a:t>
            </a:r>
            <a:r>
              <a:rPr lang="en-CA" altLang="en-US" dirty="0" err="1" smtClean="0"/>
              <a:t>fo</a:t>
            </a:r>
            <a:r>
              <a:rPr lang="en-CA" altLang="en-US" dirty="0" smtClean="0"/>
              <a:t> prevent secondary contamination for personnel removing oiled PPE</a:t>
            </a:r>
          </a:p>
          <a:p>
            <a:pPr algn="just"/>
            <a:endParaRPr lang="en-CA" altLang="en-US" dirty="0" smtClean="0"/>
          </a:p>
          <a:p>
            <a:pPr algn="just"/>
            <a:endParaRPr lang="en-C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183284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80744" y="130175"/>
            <a:ext cx="944575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err="1" smtClean="0"/>
              <a:t>Decon</a:t>
            </a:r>
            <a:r>
              <a:rPr lang="en-CA" altLang="en-US" sz="4000" b="1" dirty="0" smtClean="0"/>
              <a:t> Plan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380744" y="908050"/>
            <a:ext cx="944575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altLang="en-US" dirty="0" smtClean="0"/>
          </a:p>
          <a:p>
            <a:r>
              <a:rPr lang="en-CA" altLang="en-US" dirty="0" smtClean="0"/>
              <a:t>Safe disposal methods for various materials that cannot be decontaminated, i.e. disposable coveralls, gloves, sorbents</a:t>
            </a:r>
          </a:p>
          <a:p>
            <a:pPr>
              <a:buFont typeface="Arial" panose="020B0604020202020204" pitchFamily="34" charset="0"/>
              <a:buNone/>
            </a:pPr>
            <a:endParaRPr lang="en-CA" altLang="en-US" dirty="0" smtClean="0"/>
          </a:p>
          <a:p>
            <a:r>
              <a:rPr lang="en-CA" altLang="en-US" dirty="0" smtClean="0"/>
              <a:t>Revisions for changes in site conditions</a:t>
            </a:r>
          </a:p>
          <a:p>
            <a:endParaRPr lang="en-CA" altLang="en-US" dirty="0" smtClean="0"/>
          </a:p>
          <a:p>
            <a:endParaRPr lang="en-C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489715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45336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err="1" smtClean="0"/>
              <a:t>Decon</a:t>
            </a:r>
            <a:r>
              <a:rPr lang="en-CA" altLang="en-US" sz="4000" b="1" dirty="0" smtClean="0"/>
              <a:t> facilities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98448" y="963402"/>
            <a:ext cx="932688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CA" altLang="en-US" dirty="0" err="1" smtClean="0"/>
              <a:t>Decon</a:t>
            </a:r>
            <a:r>
              <a:rPr lang="en-CA" altLang="en-US" dirty="0" smtClean="0"/>
              <a:t> should be done in stages, moving either from a cold zone (clean, support), through a warm zone (contamination) to a hot zone (exclusion) or vice versa</a:t>
            </a:r>
          </a:p>
        </p:txBody>
      </p:sp>
      <p:sp>
        <p:nvSpPr>
          <p:cNvPr id="7" name="Right Arrow 6">
            <a:extLst/>
          </p:cNvPr>
          <p:cNvSpPr/>
          <p:nvPr/>
        </p:nvSpPr>
        <p:spPr>
          <a:xfrm>
            <a:off x="3067749" y="2997200"/>
            <a:ext cx="5040312" cy="792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8" name="Right Arrow 7">
            <a:extLst/>
          </p:cNvPr>
          <p:cNvSpPr/>
          <p:nvPr/>
        </p:nvSpPr>
        <p:spPr>
          <a:xfrm rot="10800000">
            <a:off x="3067749" y="4437063"/>
            <a:ext cx="5040312" cy="7921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9" name="TextBox 8">
            <a:extLst/>
          </p:cNvPr>
          <p:cNvSpPr txBox="1"/>
          <p:nvPr/>
        </p:nvSpPr>
        <p:spPr>
          <a:xfrm>
            <a:off x="3139186" y="3860800"/>
            <a:ext cx="4824413" cy="46196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CA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Hot</a:t>
            </a:r>
            <a:r>
              <a:rPr lang="en-CA" altLang="en-US"/>
              <a:t>		</a:t>
            </a:r>
            <a:r>
              <a:rPr lang="en-CA" altLang="en-US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Warm</a:t>
            </a:r>
            <a:r>
              <a:rPr lang="en-CA" altLang="en-US">
                <a:solidFill>
                  <a:srgbClr val="FFC000"/>
                </a:solidFill>
              </a:rPr>
              <a:t>	</a:t>
            </a:r>
            <a:r>
              <a:rPr lang="en-CA" altLang="en-US"/>
              <a:t> 	</a:t>
            </a:r>
            <a:r>
              <a:rPr lang="en-CA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   </a:t>
            </a:r>
            <a:r>
              <a:rPr lang="en-CA" altLang="en-US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Cold</a:t>
            </a:r>
          </a:p>
        </p:txBody>
      </p:sp>
    </p:spTree>
    <p:extLst>
      <p:ext uri="{BB962C8B-B14F-4D97-AF65-F5344CB8AC3E}">
        <p14:creationId xmlns:p14="http://schemas.microsoft.com/office/powerpoint/2010/main" val="14723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53311" y="130175"/>
            <a:ext cx="9331129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err="1" smtClean="0"/>
              <a:t>Decon</a:t>
            </a:r>
            <a:r>
              <a:rPr lang="en-CA" altLang="en-US" sz="4000" b="1" dirty="0" smtClean="0"/>
              <a:t> </a:t>
            </a:r>
            <a:r>
              <a:rPr lang="en-CA" altLang="en-US" sz="4000" b="1" dirty="0" smtClean="0">
                <a:sym typeface="Symbol" panose="05050102010706020507" pitchFamily="18" charset="2"/>
              </a:rPr>
              <a:t></a:t>
            </a:r>
            <a:r>
              <a:rPr lang="en-CA" altLang="en-US" sz="4000" b="1" dirty="0" smtClean="0"/>
              <a:t> Personnel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02112" y="1160187"/>
            <a:ext cx="948232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CA" altLang="en-US" dirty="0" err="1" smtClean="0"/>
              <a:t>Decon</a:t>
            </a:r>
            <a:r>
              <a:rPr lang="en-CA" altLang="en-US" dirty="0" smtClean="0"/>
              <a:t> facilities set up for responders 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Remove oiled PPE in a controlled environment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Washing facilities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Storage facilities for cleaned PPE and clean clothing 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Waste facilities for disposable PPE</a:t>
            </a:r>
          </a:p>
          <a:p>
            <a:pPr algn="just"/>
            <a:endParaRPr lang="en-CA" altLang="en-US" dirty="0" smtClean="0"/>
          </a:p>
          <a:p>
            <a:pPr algn="just"/>
            <a:r>
              <a:rPr lang="en-CA" altLang="en-US" dirty="0" smtClean="0"/>
              <a:t>Proper </a:t>
            </a:r>
            <a:r>
              <a:rPr lang="en-CA" altLang="en-US" dirty="0" err="1" smtClean="0"/>
              <a:t>decon</a:t>
            </a:r>
            <a:r>
              <a:rPr lang="en-CA" altLang="en-US" dirty="0" smtClean="0"/>
              <a:t> facilities for PPE means it stays in good condition longer, is more cost-effective and reduces strain on the supply chain</a:t>
            </a:r>
          </a:p>
        </p:txBody>
      </p:sp>
    </p:spTree>
    <p:extLst>
      <p:ext uri="{BB962C8B-B14F-4D97-AF65-F5344CB8AC3E}">
        <p14:creationId xmlns:p14="http://schemas.microsoft.com/office/powerpoint/2010/main" val="3897480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048256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err="1" smtClean="0"/>
              <a:t>Decon</a:t>
            </a:r>
            <a:r>
              <a:rPr lang="en-CA" altLang="en-US" sz="4000" b="1" dirty="0" smtClean="0"/>
              <a:t> Facilities</a:t>
            </a: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056" y="1762125"/>
            <a:ext cx="4483100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106" y="1762125"/>
            <a:ext cx="4483100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8326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36192" y="130175"/>
            <a:ext cx="931773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err="1" smtClean="0"/>
              <a:t>Decon</a:t>
            </a:r>
            <a:r>
              <a:rPr lang="en-CA" altLang="en-US" sz="4000" b="1" dirty="0" smtClean="0"/>
              <a:t> </a:t>
            </a:r>
            <a:r>
              <a:rPr lang="en-CA" altLang="en-US" sz="4000" b="1" dirty="0" smtClean="0">
                <a:sym typeface="Symbol" panose="05050102010706020507" pitchFamily="18" charset="2"/>
              </a:rPr>
              <a:t></a:t>
            </a:r>
            <a:r>
              <a:rPr lang="en-CA" altLang="en-US" sz="4000" b="1" dirty="0" smtClean="0"/>
              <a:t> Personnel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07008" y="896793"/>
            <a:ext cx="931773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en-US" altLang="en-US" dirty="0" smtClean="0"/>
          </a:p>
          <a:p>
            <a:r>
              <a:rPr lang="en-US" altLang="en-US" dirty="0" smtClean="0"/>
              <a:t>Avoid contamination contact</a:t>
            </a:r>
          </a:p>
          <a:p>
            <a:r>
              <a:rPr lang="en-US" altLang="en-US" dirty="0" smtClean="0"/>
              <a:t>Practice good hygiene and decontamination procedures</a:t>
            </a:r>
          </a:p>
          <a:p>
            <a:r>
              <a:rPr lang="en-US" altLang="en-US" dirty="0" smtClean="0"/>
              <a:t>Understand the product (Safety data sheet) and use PPE appropriately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dirty="0" smtClean="0"/>
          </a:p>
          <a:p>
            <a:pPr>
              <a:buFont typeface="Arial" panose="020B0604020202020204" pitchFamily="34" charset="0"/>
              <a:buNone/>
            </a:pPr>
            <a:endParaRPr lang="en-C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165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27048" y="130175"/>
            <a:ext cx="939088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err="1" smtClean="0"/>
              <a:t>Decon</a:t>
            </a:r>
            <a:r>
              <a:rPr lang="en-CA" altLang="en-US" sz="4000" b="1" dirty="0" smtClean="0"/>
              <a:t> </a:t>
            </a:r>
            <a:r>
              <a:rPr lang="en-CA" altLang="en-US" sz="4000" b="1" dirty="0" smtClean="0">
                <a:sym typeface="Symbol" panose="05050102010706020507" pitchFamily="18" charset="2"/>
              </a:rPr>
              <a:t></a:t>
            </a:r>
            <a:r>
              <a:rPr lang="en-CA" altLang="en-US" sz="4000" b="1" dirty="0" smtClean="0"/>
              <a:t> Personnel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24306" y="1160187"/>
            <a:ext cx="1013155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buFont typeface="Arial" panose="020B0604020202020204" pitchFamily="34" charset="0"/>
              <a:buNone/>
            </a:pPr>
            <a:r>
              <a:rPr lang="en-CA" altLang="en-US" dirty="0" smtClean="0"/>
              <a:t>Important for personnel to use proper PPE and </a:t>
            </a:r>
            <a:r>
              <a:rPr lang="en-CA" altLang="en-US" dirty="0" err="1" smtClean="0"/>
              <a:t>decon</a:t>
            </a:r>
            <a:r>
              <a:rPr lang="en-CA" altLang="en-US" dirty="0" smtClean="0"/>
              <a:t> procedures to avoid:</a:t>
            </a:r>
          </a:p>
          <a:p>
            <a:pPr lvl="1" algn="just"/>
            <a:r>
              <a:rPr lang="en-US" altLang="en-US" dirty="0" smtClean="0">
                <a:cs typeface="Arial" panose="020B0604020202020204" pitchFamily="34" charset="0"/>
              </a:rPr>
              <a:t>Inhalation </a:t>
            </a:r>
            <a:r>
              <a:rPr lang="en-US" altLang="en-US" dirty="0" smtClean="0">
                <a:cs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n-US" altLang="en-US" dirty="0" smtClean="0">
                <a:cs typeface="Arial" panose="020B0604020202020204" pitchFamily="34" charset="0"/>
              </a:rPr>
              <a:t> Respiratory protection during initial response (</a:t>
            </a:r>
            <a:r>
              <a:rPr lang="en-US" altLang="en-US" dirty="0" err="1" smtClean="0">
                <a:cs typeface="Arial" panose="020B0604020202020204" pitchFamily="34" charset="0"/>
              </a:rPr>
              <a:t>vapours</a:t>
            </a:r>
            <a:r>
              <a:rPr lang="en-US" altLang="en-US" dirty="0" smtClean="0">
                <a:cs typeface="Arial" panose="020B0604020202020204" pitchFamily="34" charset="0"/>
              </a:rPr>
              <a:t>) and while pressure washing (mists)</a:t>
            </a:r>
          </a:p>
          <a:p>
            <a:pPr lvl="1" algn="just"/>
            <a:r>
              <a:rPr lang="en-US" altLang="en-US" dirty="0" smtClean="0">
                <a:cs typeface="Arial" panose="020B0604020202020204" pitchFamily="34" charset="0"/>
              </a:rPr>
              <a:t>Ingestion </a:t>
            </a:r>
            <a:r>
              <a:rPr lang="en-US" altLang="en-US" dirty="0" smtClean="0">
                <a:cs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n-US" altLang="en-US" dirty="0" smtClean="0">
                <a:cs typeface="Arial" panose="020B0604020202020204" pitchFamily="34" charset="0"/>
              </a:rPr>
              <a:t> Wash up prior to eating and drinking (smoking)</a:t>
            </a:r>
          </a:p>
          <a:p>
            <a:pPr lvl="1" algn="just"/>
            <a:r>
              <a:rPr lang="en-US" altLang="en-US" dirty="0" smtClean="0">
                <a:cs typeface="Arial" panose="020B0604020202020204" pitchFamily="34" charset="0"/>
              </a:rPr>
              <a:t>Aspiration </a:t>
            </a:r>
            <a:r>
              <a:rPr lang="en-US" altLang="en-US" dirty="0" smtClean="0">
                <a:cs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n-US" altLang="en-US" dirty="0" smtClean="0">
                <a:cs typeface="Arial" panose="020B0604020202020204" pitchFamily="34" charset="0"/>
              </a:rPr>
              <a:t> Fall into product and or during mist generation</a:t>
            </a:r>
          </a:p>
          <a:p>
            <a:pPr lvl="1" algn="just"/>
            <a:r>
              <a:rPr lang="en-US" altLang="en-US" dirty="0" smtClean="0">
                <a:cs typeface="Arial" panose="020B0604020202020204" pitchFamily="34" charset="0"/>
              </a:rPr>
              <a:t>Absorption </a:t>
            </a:r>
            <a:r>
              <a:rPr lang="en-US" altLang="en-US" dirty="0" smtClean="0">
                <a:cs typeface="Arial" panose="020B0604020202020204" pitchFamily="34" charset="0"/>
                <a:sym typeface="Symbol" panose="05050102010706020507" pitchFamily="18" charset="2"/>
              </a:rPr>
              <a:t> </a:t>
            </a:r>
            <a:r>
              <a:rPr lang="en-US" altLang="en-US" dirty="0" smtClean="0">
                <a:cs typeface="Arial" panose="020B0604020202020204" pitchFamily="34" charset="0"/>
              </a:rPr>
              <a:t>Direct skin contact usually through improper glove sleeve interface</a:t>
            </a:r>
          </a:p>
          <a:p>
            <a:pPr lvl="1" algn="just"/>
            <a:endParaRPr lang="en-C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738193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453896" y="130175"/>
            <a:ext cx="951890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Vehicles and Heavy </a:t>
            </a:r>
            <a:r>
              <a:rPr lang="en-CA" altLang="en-US" sz="4000" b="1" dirty="0"/>
              <a:t>E</a:t>
            </a:r>
            <a:r>
              <a:rPr lang="en-CA" altLang="en-US" sz="4000" b="1" dirty="0" smtClean="0"/>
              <a:t>quipment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517904" y="1228090"/>
            <a:ext cx="951890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altLang="en-US" dirty="0" smtClean="0"/>
              <a:t>Important to avoid secondary contamination by vehicles</a:t>
            </a:r>
          </a:p>
          <a:p>
            <a:pPr>
              <a:buFont typeface="Arial" panose="020B0604020202020204" pitchFamily="34" charset="0"/>
              <a:buNone/>
            </a:pPr>
            <a:endParaRPr lang="en-CA" altLang="en-US" dirty="0" smtClean="0"/>
          </a:p>
          <a:p>
            <a:r>
              <a:rPr lang="en-CA" altLang="en-US" dirty="0" smtClean="0"/>
              <a:t>Transport cleaning stations need to be set up to prevent oil from being transferred to roads or other public places</a:t>
            </a:r>
          </a:p>
          <a:p>
            <a:endParaRPr lang="en-CA" altLang="en-US" dirty="0" smtClean="0"/>
          </a:p>
          <a:p>
            <a:r>
              <a:rPr lang="en-CA" altLang="en-US" dirty="0" smtClean="0"/>
              <a:t>A lined containment area where vehicles can drive onto and be cleaned, including tyres</a:t>
            </a:r>
          </a:p>
        </p:txBody>
      </p:sp>
    </p:spTree>
    <p:extLst>
      <p:ext uri="{BB962C8B-B14F-4D97-AF65-F5344CB8AC3E}">
        <p14:creationId xmlns:p14="http://schemas.microsoft.com/office/powerpoint/2010/main" val="4038937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463040" y="49724"/>
            <a:ext cx="921715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Vessels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463040" y="1021548"/>
            <a:ext cx="921715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CA" altLang="en-US" dirty="0" smtClean="0"/>
              <a:t>Oiled vessels must be kept in a </a:t>
            </a:r>
            <a:r>
              <a:rPr lang="en-CA" altLang="fr-FR" dirty="0" smtClean="0"/>
              <a:t>“</a:t>
            </a:r>
            <a:r>
              <a:rPr lang="en-CA" altLang="en-US" dirty="0" smtClean="0"/>
              <a:t>hot</a:t>
            </a:r>
            <a:r>
              <a:rPr lang="en-CA" altLang="fr-FR" dirty="0" smtClean="0"/>
              <a:t>”</a:t>
            </a:r>
            <a:r>
              <a:rPr lang="en-CA" altLang="en-US" dirty="0" smtClean="0"/>
              <a:t> area during spill operations that should be boomed to prevent contamination of clean areas</a:t>
            </a:r>
          </a:p>
          <a:p>
            <a:pPr algn="just">
              <a:buFont typeface="Arial" panose="020B0604020202020204" pitchFamily="34" charset="0"/>
              <a:buNone/>
            </a:pPr>
            <a:endParaRPr lang="en-CA" altLang="en-US" dirty="0" smtClean="0"/>
          </a:p>
          <a:p>
            <a:pPr algn="just"/>
            <a:r>
              <a:rPr lang="en-CA" altLang="en-US" dirty="0" smtClean="0"/>
              <a:t>Boom gates can be used to allow vessels to move between boomed areas</a:t>
            </a:r>
          </a:p>
          <a:p>
            <a:pPr algn="just">
              <a:buFont typeface="Arial" panose="020B0604020202020204" pitchFamily="34" charset="0"/>
              <a:buNone/>
            </a:pPr>
            <a:endParaRPr lang="en-CA" altLang="en-US" dirty="0" smtClean="0"/>
          </a:p>
          <a:p>
            <a:pPr algn="just"/>
            <a:r>
              <a:rPr lang="en-CA" altLang="en-US" dirty="0" smtClean="0"/>
              <a:t>Vessels must be decontaminated when ready to demobilize or moved vessel to another location</a:t>
            </a:r>
          </a:p>
        </p:txBody>
      </p:sp>
    </p:spTree>
    <p:extLst>
      <p:ext uri="{BB962C8B-B14F-4D97-AF65-F5344CB8AC3E}">
        <p14:creationId xmlns:p14="http://schemas.microsoft.com/office/powerpoint/2010/main" val="1288062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80744" y="130175"/>
            <a:ext cx="940003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Vessels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51560" y="1342749"/>
            <a:ext cx="1047902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altLang="en-US" dirty="0" smtClean="0"/>
              <a:t>Vessel washing stations can be set up with lined containment areas to clean hull and decks</a:t>
            </a:r>
          </a:p>
          <a:p>
            <a:pPr>
              <a:buFont typeface="Arial" panose="020B0604020202020204" pitchFamily="34" charset="0"/>
              <a:buNone/>
            </a:pPr>
            <a:endParaRPr lang="en-CA" altLang="en-US" dirty="0" smtClean="0"/>
          </a:p>
          <a:p>
            <a:r>
              <a:rPr lang="en-CA" altLang="en-US" dirty="0" smtClean="0"/>
              <a:t>Oily wash water must be contained and collected</a:t>
            </a:r>
          </a:p>
        </p:txBody>
      </p:sp>
    </p:spTree>
    <p:extLst>
      <p:ext uri="{BB962C8B-B14F-4D97-AF65-F5344CB8AC3E}">
        <p14:creationId xmlns:p14="http://schemas.microsoft.com/office/powerpoint/2010/main" val="165472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148840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Equipment </a:t>
            </a:r>
            <a:r>
              <a:rPr lang="en-CA" altLang="en-US" sz="4000" b="1" dirty="0" err="1"/>
              <a:t>D</a:t>
            </a:r>
            <a:r>
              <a:rPr lang="en-CA" altLang="en-US" sz="4000" b="1" dirty="0" err="1" smtClean="0"/>
              <a:t>econ</a:t>
            </a:r>
            <a:r>
              <a:rPr lang="en-CA" altLang="en-US" sz="4000" b="1" dirty="0" smtClean="0"/>
              <a:t>	</a:t>
            </a: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515" y="1119188"/>
            <a:ext cx="3327400" cy="502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5"/>
          <p:cNvSpPr txBox="1">
            <a:spLocks/>
          </p:cNvSpPr>
          <p:nvPr/>
        </p:nvSpPr>
        <p:spPr>
          <a:xfrm>
            <a:off x="6768465" y="5927725"/>
            <a:ext cx="1023938" cy="203133"/>
          </a:xfrm>
          <a:prstGeom prst="rect">
            <a:avLst/>
          </a:prstGeom>
        </p:spPr>
        <p:txBody>
          <a:bodyPr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CA" altLang="en-US" sz="800" b="1" smtClean="0">
                <a:solidFill>
                  <a:schemeClr val="bg1"/>
                </a:solidFill>
              </a:rPr>
              <a:t>Source: CEDRE</a:t>
            </a:r>
          </a:p>
        </p:txBody>
      </p:sp>
    </p:spTree>
    <p:extLst>
      <p:ext uri="{BB962C8B-B14F-4D97-AF65-F5344CB8AC3E}">
        <p14:creationId xmlns:p14="http://schemas.microsoft.com/office/powerpoint/2010/main" val="109455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80743" y="130175"/>
            <a:ext cx="9544367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Conclusions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99248" y="1231519"/>
            <a:ext cx="982586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CA" altLang="en-US" dirty="0" smtClean="0"/>
              <a:t>Logistics is critical to the response effort</a:t>
            </a:r>
          </a:p>
          <a:p>
            <a:pPr algn="just"/>
            <a:endParaRPr lang="en-CA" altLang="en-US" dirty="0" smtClean="0"/>
          </a:p>
          <a:p>
            <a:pPr algn="just"/>
            <a:r>
              <a:rPr lang="en-CA" altLang="en-US" dirty="0" smtClean="0"/>
              <a:t>The supply chain must be maintained to avoid </a:t>
            </a:r>
            <a:r>
              <a:rPr lang="en-CA" altLang="fr-FR" dirty="0" smtClean="0"/>
              <a:t>“</a:t>
            </a:r>
            <a:r>
              <a:rPr lang="en-CA" altLang="en-US" dirty="0" smtClean="0"/>
              <a:t>bottlenecks</a:t>
            </a:r>
            <a:r>
              <a:rPr lang="en-CA" altLang="fr-FR" dirty="0" smtClean="0"/>
              <a:t>”</a:t>
            </a:r>
            <a:r>
              <a:rPr lang="en-CA" altLang="en-US" dirty="0" smtClean="0"/>
              <a:t> </a:t>
            </a:r>
            <a:r>
              <a:rPr lang="en-CA" altLang="en-US" dirty="0" smtClean="0">
                <a:sym typeface="Symbol" panose="05050102010706020507" pitchFamily="18" charset="2"/>
              </a:rPr>
              <a:t></a:t>
            </a:r>
            <a:r>
              <a:rPr lang="en-CA" altLang="en-US" dirty="0" smtClean="0"/>
              <a:t> even small breaks in this chain can suspend operations, e.g. fuel or drinking water</a:t>
            </a:r>
          </a:p>
          <a:p>
            <a:pPr algn="just"/>
            <a:endParaRPr lang="en-CA" altLang="en-US" dirty="0" smtClean="0"/>
          </a:p>
          <a:p>
            <a:pPr algn="just"/>
            <a:r>
              <a:rPr lang="en-CA" altLang="en-US" dirty="0" smtClean="0"/>
              <a:t>Staging and decontamination facilities are required immediately to allow personnel to safely leave the spill site and to maintain equipment</a:t>
            </a:r>
          </a:p>
        </p:txBody>
      </p:sp>
    </p:spTree>
    <p:extLst>
      <p:ext uri="{BB962C8B-B14F-4D97-AF65-F5344CB8AC3E}">
        <p14:creationId xmlns:p14="http://schemas.microsoft.com/office/powerpoint/2010/main" val="1801579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1195</Words>
  <Application>Microsoft Office PowerPoint</Application>
  <PresentationFormat>Widescreen</PresentationFormat>
  <Paragraphs>163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MS PGothic</vt:lpstr>
      <vt:lpstr>Arial</vt:lpstr>
      <vt:lpstr>Calibri</vt:lpstr>
      <vt:lpstr>inherit</vt:lpstr>
      <vt:lpstr>Symbol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157</cp:revision>
  <dcterms:created xsi:type="dcterms:W3CDTF">2024-09-27T05:40:49Z</dcterms:created>
  <dcterms:modified xsi:type="dcterms:W3CDTF">2025-05-09T05:04:22Z</dcterms:modified>
</cp:coreProperties>
</file>
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6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435608" y="1956816"/>
            <a:ext cx="9034271" cy="25877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Fate and Behaviour of oil in the marine and shoreline environment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85623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98626" y="1376153"/>
            <a:ext cx="9582912" cy="43926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know the main processes affecting oil spilled in the marine and shoreline environment.</a:t>
            </a:r>
          </a:p>
          <a:p>
            <a:pPr algn="just"/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recognize the importance of these processes on response techniques.   </a:t>
            </a:r>
          </a:p>
          <a:p>
            <a:pPr algn="just"/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fr-FR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52144" y="130175"/>
            <a:ext cx="101132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Oil Behaviour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033450" y="1085719"/>
            <a:ext cx="101132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Physical and chemical processes will change oil properties and behaviour once spilled into the environment.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These processes are referred to as </a:t>
            </a:r>
            <a:r>
              <a:rPr lang="en-GB" altLang="fr-FR" dirty="0" smtClean="0"/>
              <a:t>“</a:t>
            </a:r>
            <a:r>
              <a:rPr lang="en-GB" altLang="en-US" dirty="0" smtClean="0"/>
              <a:t>oil weathering</a:t>
            </a:r>
            <a:r>
              <a:rPr lang="en-GB" altLang="fr-FR" dirty="0" smtClean="0"/>
              <a:t>”.</a:t>
            </a:r>
          </a:p>
          <a:p>
            <a:pPr algn="just"/>
            <a:endParaRPr lang="en-GB" altLang="ja-JP" dirty="0" smtClean="0"/>
          </a:p>
          <a:p>
            <a:pPr algn="just"/>
            <a:r>
              <a:rPr lang="en-GB" altLang="en-US" dirty="0" smtClean="0"/>
              <a:t> Oil weathering will influence the selection of appropriate response strategies, affect operations and oil toxicity.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Oil weathering is influenced by important oil properties.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07008" y="130175"/>
            <a:ext cx="100218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Important Oil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roperties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467657" y="1271312"/>
            <a:ext cx="10021824" cy="5472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Specific gravity/</a:t>
            </a:r>
            <a:r>
              <a:rPr lang="en-GB" baseline="30000" dirty="0" err="1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o</a:t>
            </a:r>
            <a:r>
              <a:rPr lang="en-GB" dirty="0" err="1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API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density</a:t>
            </a:r>
          </a:p>
          <a:p>
            <a:pPr>
              <a:buFont typeface="Arial" charset="0"/>
              <a:buChar char="•"/>
              <a:defRPr/>
            </a:pPr>
            <a:r>
              <a:rPr lang="en-GB" i="1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Viscosity: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resistance to flow</a:t>
            </a:r>
          </a:p>
          <a:p>
            <a:pPr>
              <a:buFont typeface="Arial" charset="0"/>
              <a:buChar char="•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 Pour point: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 temperature below which oil does not flow</a:t>
            </a:r>
          </a:p>
          <a:p>
            <a:pPr marL="685800" indent="-420688">
              <a:buFont typeface="Wingdings" panose="05000000000000000000" pitchFamily="2" charset="2"/>
              <a:buChar char="ü"/>
              <a:defRPr/>
            </a:pPr>
            <a:endParaRPr lang="en-GB" baseline="30000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/>
          </p:cNvPr>
          <p:cNvSpPr txBox="1">
            <a:spLocks noChangeArrowheads="1"/>
          </p:cNvSpPr>
          <p:nvPr/>
        </p:nvSpPr>
        <p:spPr>
          <a:xfrm>
            <a:off x="1755648" y="1271312"/>
            <a:ext cx="8229600" cy="5472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Volatility:</a:t>
            </a:r>
          </a:p>
          <a:p>
            <a:pPr marL="712788" lvl="1" indent="-530225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propensity to evaporate</a:t>
            </a:r>
          </a:p>
          <a:p>
            <a:pPr marL="712788" lvl="1" indent="-530225">
              <a:buFont typeface="Wingdings" panose="05000000000000000000" pitchFamily="2" charset="2"/>
              <a:buChar char="ü"/>
              <a:defRPr/>
            </a:pPr>
            <a:endParaRPr lang="en-GB" dirty="0" smtClean="0">
              <a:solidFill>
                <a:srgbClr val="000000"/>
              </a:solidFill>
              <a:ea typeface="ＭＳ Ｐゴシック" charset="0"/>
            </a:endParaRPr>
          </a:p>
          <a:p>
            <a:pPr marL="0" indent="0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 Flash point:</a:t>
            </a:r>
          </a:p>
          <a:p>
            <a:pPr marL="712788" lvl="1" indent="-530225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temperature at which vapour will ignite</a:t>
            </a:r>
          </a:p>
          <a:p>
            <a:pPr marL="712788" lvl="1" indent="-530225">
              <a:buFont typeface="Wingdings" panose="05000000000000000000" pitchFamily="2" charset="2"/>
              <a:buChar char="ü"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en-GB" dirty="0" err="1" smtClean="0">
                <a:ea typeface="ＭＳ Ｐゴシック" charset="0"/>
                <a:cs typeface="ＭＳ Ｐゴシック" charset="0"/>
              </a:rPr>
              <a:t>Asphaltene</a:t>
            </a:r>
            <a:r>
              <a:rPr lang="en-GB" dirty="0" smtClean="0">
                <a:ea typeface="ＭＳ Ｐゴシック" charset="0"/>
                <a:cs typeface="ＭＳ Ｐゴシック" charset="0"/>
              </a:rPr>
              <a:t> content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marL="712788" lvl="1" indent="-530225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 propensity to emulsify</a:t>
            </a:r>
          </a:p>
          <a:p>
            <a:pPr>
              <a:buFontTx/>
              <a:buNone/>
              <a:defRPr/>
            </a:pPr>
            <a:endParaRPr lang="en-GB" baseline="300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207008" y="130175"/>
            <a:ext cx="100218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Important Oil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roperties</a:t>
            </a: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051560" y="130175"/>
            <a:ext cx="101864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Fate and Behaviour of Spilled </a:t>
            </a:r>
            <a:r>
              <a:rPr lang="en-GB" altLang="en-US" b="1" dirty="0"/>
              <a:t>O</a:t>
            </a:r>
            <a:r>
              <a:rPr lang="en-GB" altLang="en-US" b="1" dirty="0" smtClean="0"/>
              <a:t>il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645920" y="1269915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dirty="0" smtClean="0"/>
              <a:t> </a:t>
            </a:r>
            <a:r>
              <a:rPr lang="en-GB" altLang="en-US" u="sng" dirty="0" smtClean="0"/>
              <a:t>Major processes:</a:t>
            </a:r>
            <a:endParaRPr lang="en-GB" altLang="en-US" dirty="0" smtClean="0"/>
          </a:p>
          <a:p>
            <a:r>
              <a:rPr lang="en-GB" altLang="en-US" dirty="0" smtClean="0"/>
              <a:t>Drifting</a:t>
            </a:r>
          </a:p>
          <a:p>
            <a:r>
              <a:rPr lang="en-GB" altLang="en-US" dirty="0" smtClean="0"/>
              <a:t>Spreading</a:t>
            </a:r>
          </a:p>
          <a:p>
            <a:r>
              <a:rPr lang="en-GB" altLang="en-US" dirty="0" smtClean="0"/>
              <a:t>Evaporation</a:t>
            </a:r>
          </a:p>
          <a:p>
            <a:r>
              <a:rPr lang="en-GB" altLang="en-US" dirty="0" smtClean="0"/>
              <a:t>Emulsification</a:t>
            </a:r>
          </a:p>
          <a:p>
            <a:r>
              <a:rPr lang="en-GB" altLang="en-US" dirty="0" smtClean="0"/>
              <a:t>Dispersion</a:t>
            </a:r>
          </a:p>
        </p:txBody>
      </p:sp>
      <p:sp>
        <p:nvSpPr>
          <p:cNvPr id="9" name="Rectangle 4"/>
          <p:cNvSpPr txBox="1">
            <a:spLocks/>
          </p:cNvSpPr>
          <p:nvPr/>
        </p:nvSpPr>
        <p:spPr>
          <a:xfrm>
            <a:off x="5618099" y="1788097"/>
            <a:ext cx="4191000" cy="4114800"/>
          </a:xfrm>
          <a:prstGeom prst="rect">
            <a:avLst/>
          </a:prstGeom>
        </p:spPr>
        <p:txBody>
          <a:bodyPr vert="horz" lIns="9144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mtClean="0"/>
              <a:t>Biodegradation</a:t>
            </a:r>
          </a:p>
          <a:p>
            <a:r>
              <a:rPr lang="en-GB" altLang="en-US" smtClean="0"/>
              <a:t>Dissolution</a:t>
            </a:r>
          </a:p>
          <a:p>
            <a:r>
              <a:rPr lang="en-GB" altLang="en-US" smtClean="0"/>
              <a:t>Photo-oxidation</a:t>
            </a:r>
          </a:p>
          <a:p>
            <a:r>
              <a:rPr lang="en-GB" altLang="en-US" smtClean="0"/>
              <a:t>Sedimentation</a:t>
            </a:r>
          </a:p>
          <a:p>
            <a:r>
              <a:rPr lang="en-GB" altLang="en-US" smtClean="0"/>
              <a:t>Shoreline interaction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603"/>
          <p:cNvSpPr txBox="1">
            <a:spLocks/>
          </p:cNvSpPr>
          <p:nvPr/>
        </p:nvSpPr>
        <p:spPr bwMode="gray">
          <a:xfrm>
            <a:off x="2084832" y="130175"/>
            <a:ext cx="8229600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Weathering Processes</a:t>
            </a: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30" y="976375"/>
            <a:ext cx="10535602" cy="526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17" r="-21617"/>
          <a:stretch>
            <a:fillRect/>
          </a:stretch>
        </p:blipFill>
        <p:spPr bwMode="auto">
          <a:xfrm>
            <a:off x="2280984" y="981075"/>
            <a:ext cx="7558087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1945227" y="30884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1" dirty="0"/>
              <a:t>Weathering </a:t>
            </a:r>
            <a:r>
              <a:rPr lang="en-US" altLang="en-US" sz="4000" b="1" dirty="0" smtClean="0"/>
              <a:t>Processes Over Time</a:t>
            </a:r>
            <a:endParaRPr lang="en-US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88366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Spreading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33856" y="1127506"/>
            <a:ext cx="956462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Oil will spread</a:t>
            </a:r>
            <a:r>
              <a:rPr lang="ja-JP" altLang="en-US" dirty="0" smtClean="0"/>
              <a:t> </a:t>
            </a:r>
            <a:r>
              <a:rPr lang="en-US" altLang="ja-JP" dirty="0" smtClean="0"/>
              <a:t>and </a:t>
            </a:r>
            <a:r>
              <a:rPr lang="en-GB" altLang="en-US" dirty="0" smtClean="0"/>
              <a:t>fragment on the sea surface occupying a larger area.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Thickness of the oil layer on the sea surface will decrease over time, except in cases where the oil emulsifies.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This process affects oil recovery rates as:</a:t>
            </a:r>
          </a:p>
          <a:p>
            <a:pPr lvl="1" algn="just"/>
            <a:r>
              <a:rPr lang="en-GB" altLang="en-US" dirty="0" smtClean="0"/>
              <a:t>Thin oil layer is difficult to recover</a:t>
            </a:r>
          </a:p>
          <a:p>
            <a:pPr lvl="1" algn="just"/>
            <a:r>
              <a:rPr lang="en-GB" altLang="en-US" dirty="0" smtClean="0"/>
              <a:t>Lower encounter rate as oiled area is increasing.</a:t>
            </a:r>
          </a:p>
          <a:p>
            <a:pPr algn="just"/>
            <a:endParaRPr lang="en-GB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41228" y="3888363"/>
            <a:ext cx="3551047" cy="2370650"/>
          </a:xfrm>
          <a:prstGeom prst="rect">
            <a:avLst/>
          </a:prstGeom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190195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err="1" smtClean="0"/>
              <a:t>Spreading</a:t>
            </a:r>
            <a:endParaRPr lang="fr-FR" altLang="en-US" sz="4000" b="1" dirty="0" smtClean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465" y="906813"/>
            <a:ext cx="4105656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79" y="896794"/>
            <a:ext cx="3906478" cy="292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2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2"/>
          <p:cNvSpPr txBox="1">
            <a:spLocks/>
          </p:cNvSpPr>
          <p:nvPr/>
        </p:nvSpPr>
        <p:spPr>
          <a:xfrm>
            <a:off x="2254949" y="95250"/>
            <a:ext cx="8229600" cy="589580"/>
          </a:xfrm>
          <a:prstGeom prst="rect">
            <a:avLst/>
          </a:prstGeom>
          <a:noFill/>
        </p:spPr>
        <p:txBody>
          <a:bodyPr lIns="44048" tIns="17619" rIns="44048" bIns="17619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Drifting at </a:t>
            </a:r>
            <a:r>
              <a:rPr lang="en-GB" altLang="en-US" sz="4000" b="1" dirty="0"/>
              <a:t>S</a:t>
            </a:r>
            <a:r>
              <a:rPr lang="en-GB" altLang="en-US" sz="4000" b="1" dirty="0" smtClean="0"/>
              <a:t>ea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14984" y="927100"/>
            <a:ext cx="10067544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Tahoma" panose="020B0604030504040204" pitchFamily="34" charset="0"/>
              </a:rPr>
              <a:t>Oil will drift at sea under the influence of currents and winds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en-US" sz="2400" dirty="0">
              <a:latin typeface="Tahoma" panose="020B0604030504040204" pitchFamily="34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Tahoma" panose="020B0604030504040204" pitchFamily="34" charset="0"/>
              </a:rPr>
              <a:t>100% current direction and speed, approximately 3% wind direction and speed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111" y="2497138"/>
            <a:ext cx="59039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29"/>
          <p:cNvSpPr txBox="1">
            <a:spLocks noChangeArrowheads="1"/>
          </p:cNvSpPr>
          <p:nvPr/>
        </p:nvSpPr>
        <p:spPr bwMode="auto">
          <a:xfrm>
            <a:off x="8649399" y="5661025"/>
            <a:ext cx="8096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>
                <a:latin typeface="Tahoma" panose="020B0604030504040204" pitchFamily="34" charset="0"/>
              </a:rPr>
              <a:t>Source: OSRL</a:t>
            </a:r>
            <a:endParaRPr lang="en-CA" altLang="en-US" sz="8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95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5" descr="Strong Wind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9" t="10043" r="9335" b="7715"/>
          <a:stretch>
            <a:fillRect/>
          </a:stretch>
        </p:blipFill>
        <p:spPr bwMode="auto">
          <a:xfrm>
            <a:off x="6031611" y="4030663"/>
            <a:ext cx="4383088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238249" y="61256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Wind Effects</a:t>
            </a:r>
          </a:p>
        </p:txBody>
      </p:sp>
      <p:pic>
        <p:nvPicPr>
          <p:cNvPr id="7" name="Content Placeholder 3" descr="Light Wind.pd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1" t="9982" r="16582" b="10736"/>
          <a:stretch>
            <a:fillRect/>
          </a:stretch>
        </p:blipFill>
        <p:spPr>
          <a:xfrm>
            <a:off x="6561836" y="1052513"/>
            <a:ext cx="2619375" cy="1423987"/>
          </a:xfrm>
          <a:prstGeom prst="rect">
            <a:avLst/>
          </a:prstGeom>
        </p:spPr>
      </p:pic>
      <p:pic>
        <p:nvPicPr>
          <p:cNvPr id="8" name="Picture 4" descr="Medium Wind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2" b="10510"/>
          <a:stretch>
            <a:fillRect/>
          </a:stretch>
        </p:blipFill>
        <p:spPr bwMode="auto">
          <a:xfrm>
            <a:off x="5960174" y="2603500"/>
            <a:ext cx="41783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>
            <a:grpSpLocks/>
          </p:cNvGrpSpPr>
          <p:nvPr/>
        </p:nvGrpSpPr>
        <p:grpSpPr bwMode="auto">
          <a:xfrm flipH="1">
            <a:off x="2251774" y="2746375"/>
            <a:ext cx="2409825" cy="823913"/>
            <a:chOff x="6012160" y="2708920"/>
            <a:chExt cx="2948299" cy="822960"/>
          </a:xfrm>
        </p:grpSpPr>
        <p:sp>
          <p:nvSpPr>
            <p:cNvPr id="10" name="Left Arrow 9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7232267" y="2889567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Wind</a:t>
              </a:r>
            </a:p>
          </p:txBody>
        </p:sp>
      </p:grpSp>
      <p:grpSp>
        <p:nvGrpSpPr>
          <p:cNvPr id="12" name="Group 9"/>
          <p:cNvGrpSpPr>
            <a:grpSpLocks/>
          </p:cNvGrpSpPr>
          <p:nvPr/>
        </p:nvGrpSpPr>
        <p:grpSpPr bwMode="auto">
          <a:xfrm flipH="1">
            <a:off x="2251774" y="1309688"/>
            <a:ext cx="1657350" cy="822325"/>
            <a:chOff x="6012160" y="2708920"/>
            <a:chExt cx="2944415" cy="822960"/>
          </a:xfrm>
        </p:grpSpPr>
        <p:sp>
          <p:nvSpPr>
            <p:cNvPr id="13" name="Left Arrow 12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TextBox 11"/>
            <p:cNvSpPr txBox="1">
              <a:spLocks noChangeArrowheads="1"/>
            </p:cNvSpPr>
            <p:nvPr/>
          </p:nvSpPr>
          <p:spPr bwMode="auto">
            <a:xfrm>
              <a:off x="7228384" y="2894773"/>
              <a:ext cx="17281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Wind</a:t>
              </a:r>
            </a:p>
          </p:txBody>
        </p:sp>
      </p:grpSp>
      <p:grpSp>
        <p:nvGrpSpPr>
          <p:cNvPr id="15" name="Group 12"/>
          <p:cNvGrpSpPr>
            <a:grpSpLocks/>
          </p:cNvGrpSpPr>
          <p:nvPr/>
        </p:nvGrpSpPr>
        <p:grpSpPr bwMode="auto">
          <a:xfrm flipH="1">
            <a:off x="2251774" y="4318000"/>
            <a:ext cx="3589337" cy="823913"/>
            <a:chOff x="6012160" y="2708920"/>
            <a:chExt cx="2944415" cy="822960"/>
          </a:xfrm>
        </p:grpSpPr>
        <p:sp>
          <p:nvSpPr>
            <p:cNvPr id="16" name="Left Arrow 15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TextBox 14"/>
            <p:cNvSpPr txBox="1">
              <a:spLocks noChangeArrowheads="1"/>
            </p:cNvSpPr>
            <p:nvPr/>
          </p:nvSpPr>
          <p:spPr bwMode="auto">
            <a:xfrm>
              <a:off x="7228383" y="2895901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Wind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641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783080" y="130175"/>
            <a:ext cx="91257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Evaporation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841248" y="1085719"/>
            <a:ext cx="1038758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Oil will release </a:t>
            </a:r>
            <a:r>
              <a:rPr lang="en-GB" altLang="en-US" dirty="0" smtClean="0"/>
              <a:t>vapours in the atmosphere.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Rate of emission will depend on ambient temperature, vapour pressure and concentration of volatile components.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Vapours are generally flammable and toxic (health and safety issue).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Evaporation will contribute to reducing the volume of oil but will increase oil viscosity.</a:t>
            </a:r>
          </a:p>
        </p:txBody>
      </p:sp>
    </p:spTree>
    <p:extLst>
      <p:ext uri="{BB962C8B-B14F-4D97-AF65-F5344CB8AC3E}">
        <p14:creationId xmlns:p14="http://schemas.microsoft.com/office/powerpoint/2010/main" val="393942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07591" y="130175"/>
            <a:ext cx="956481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Natural Dispersion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014983" y="1200976"/>
            <a:ext cx="10030970" cy="590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Oil droplets will be naturally entrained in the water column by wave action breaking the oil slick in small droplets.</a:t>
            </a:r>
          </a:p>
          <a:p>
            <a:pPr algn="just"/>
            <a:endParaRPr lang="en-GB" altLang="en-US" dirty="0" smtClean="0"/>
          </a:p>
          <a:p>
            <a:pPr algn="just">
              <a:spcBef>
                <a:spcPts val="163"/>
              </a:spcBef>
            </a:pPr>
            <a:r>
              <a:rPr lang="en-GB" altLang="en-US" dirty="0" smtClean="0"/>
              <a:t>Small droplets have the propensity to remain in suspension in the water column, facilitating dilution and biodegradation.</a:t>
            </a:r>
          </a:p>
          <a:p>
            <a:pPr lvl="1" algn="just"/>
            <a:r>
              <a:rPr lang="en-GB" altLang="en-US" dirty="0" smtClean="0"/>
              <a:t>Larger droplets will resurface to reform an oil slick.</a:t>
            </a:r>
          </a:p>
          <a:p>
            <a:pPr lvl="1" algn="just"/>
            <a:endParaRPr lang="en-GB" altLang="en-US" dirty="0" smtClean="0"/>
          </a:p>
          <a:p>
            <a:pPr algn="just">
              <a:spcBef>
                <a:spcPts val="163"/>
              </a:spcBef>
            </a:pPr>
            <a:r>
              <a:rPr lang="en-GB" altLang="en-US" dirty="0" smtClean="0"/>
              <a:t>Chemical dispersion using dispersants will enhance natural dispersion by promoting the formation of small droplets.</a:t>
            </a:r>
          </a:p>
          <a:p>
            <a:pPr algn="just"/>
            <a:endParaRPr lang="fr-F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7337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24942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Natural Dispersion</a:t>
            </a:r>
          </a:p>
        </p:txBody>
      </p:sp>
      <p:pic>
        <p:nvPicPr>
          <p:cNvPr id="6" name="Picture 3" descr="untitled12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4984" y="1657731"/>
            <a:ext cx="4525582" cy="34544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untitled13"/>
          <p:cNvPicPr>
            <a:picLocks noChangeAspect="1" noChangeArrowheads="1"/>
          </p:cNvPicPr>
          <p:nvPr/>
        </p:nvPicPr>
        <p:blipFill>
          <a:blip r:embed="rId3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24" y="1657731"/>
            <a:ext cx="4575175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3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53312" y="130175"/>
            <a:ext cx="96286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Emulsification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877824" y="1160187"/>
            <a:ext cx="101041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Water droplets can be incorporated into the oil layer by wave action forming an emulsion.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/>
              <a:t>Can be stable or unstable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dirty="0"/>
          </a:p>
          <a:p>
            <a:pPr algn="just"/>
            <a:r>
              <a:rPr lang="en-GB" altLang="en-US" dirty="0" err="1" smtClean="0"/>
              <a:t>Asphaltene</a:t>
            </a:r>
            <a:r>
              <a:rPr lang="en-GB" altLang="en-US" dirty="0" smtClean="0"/>
              <a:t> content is a good indication of an oil propensity to form stable emulsion (above 0.5%)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A major disadvantage for response: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Increase oil viscosity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Increase volume</a:t>
            </a:r>
          </a:p>
        </p:txBody>
      </p:sp>
    </p:spTree>
    <p:extLst>
      <p:ext uri="{BB962C8B-B14F-4D97-AF65-F5344CB8AC3E}">
        <p14:creationId xmlns:p14="http://schemas.microsoft.com/office/powerpoint/2010/main" val="262995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44144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Emulsion</a:t>
            </a:r>
          </a:p>
        </p:txBody>
      </p:sp>
      <p:pic>
        <p:nvPicPr>
          <p:cNvPr id="6" name="Content Placeholder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38354" y="1919352"/>
            <a:ext cx="4654485" cy="3040443"/>
          </a:xfrm>
          <a:prstGeom prst="rect">
            <a:avLst/>
          </a:prstGeom>
        </p:spPr>
      </p:pic>
      <p:pic>
        <p:nvPicPr>
          <p:cNvPr id="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6818"/>
          <a:stretch>
            <a:fillRect/>
          </a:stretch>
        </p:blipFill>
        <p:spPr bwMode="auto">
          <a:xfrm>
            <a:off x="502920" y="2007045"/>
            <a:ext cx="468153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844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5"/>
          <p:cNvSpPr txBox="1">
            <a:spLocks/>
          </p:cNvSpPr>
          <p:nvPr/>
        </p:nvSpPr>
        <p:spPr>
          <a:xfrm>
            <a:off x="932688" y="130175"/>
            <a:ext cx="104973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Effects of Oil Weathering on Response </a:t>
            </a:r>
            <a:endParaRPr lang="en-GB" altLang="en-US" sz="4000" b="1" dirty="0" smtClean="0"/>
          </a:p>
        </p:txBody>
      </p:sp>
      <p:sp>
        <p:nvSpPr>
          <p:cNvPr id="6" name="Espace réservé du contenu 6"/>
          <p:cNvSpPr txBox="1">
            <a:spLocks/>
          </p:cNvSpPr>
          <p:nvPr/>
        </p:nvSpPr>
        <p:spPr>
          <a:xfrm>
            <a:off x="1508760" y="908050"/>
            <a:ext cx="908913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Safety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Evaporation </a:t>
            </a:r>
          </a:p>
          <a:p>
            <a:pPr lvl="1"/>
            <a:endParaRPr lang="en-US" altLang="en-US" dirty="0" smtClean="0"/>
          </a:p>
          <a:p>
            <a:r>
              <a:rPr lang="en-US" altLang="en-US" dirty="0" smtClean="0"/>
              <a:t>Efficacy of response strategies 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Containment (e.g. spreading)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In Situ Burning (e.g. losing ignitability by emulsification)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Dispersants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Skimmers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Pumps </a:t>
            </a:r>
          </a:p>
        </p:txBody>
      </p: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935" y="4064000"/>
            <a:ext cx="3304922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28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5"/>
          <p:cNvSpPr txBox="1">
            <a:spLocks/>
          </p:cNvSpPr>
          <p:nvPr/>
        </p:nvSpPr>
        <p:spPr>
          <a:xfrm>
            <a:off x="1399032" y="130175"/>
            <a:ext cx="969264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Shoreline Interactions</a:t>
            </a:r>
          </a:p>
        </p:txBody>
      </p:sp>
      <p:sp>
        <p:nvSpPr>
          <p:cNvPr id="6" name="Espace réservé du contenu 6"/>
          <p:cNvSpPr txBox="1">
            <a:spLocks/>
          </p:cNvSpPr>
          <p:nvPr/>
        </p:nvSpPr>
        <p:spPr>
          <a:xfrm>
            <a:off x="1399032" y="1237234"/>
            <a:ext cx="969264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en-US" dirty="0" smtClean="0"/>
              <a:t>In </a:t>
            </a:r>
            <a:r>
              <a:rPr lang="fr-FR" altLang="en-US" dirty="0" err="1" smtClean="0"/>
              <a:t>most</a:t>
            </a:r>
            <a:r>
              <a:rPr lang="fr-FR" altLang="en-US" dirty="0" smtClean="0"/>
              <a:t> cases, </a:t>
            </a:r>
            <a:r>
              <a:rPr lang="fr-FR" altLang="en-US" dirty="0" err="1" smtClean="0"/>
              <a:t>oil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slicks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will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reach</a:t>
            </a:r>
            <a:r>
              <a:rPr lang="fr-FR" altLang="en-US" dirty="0" smtClean="0"/>
              <a:t> the </a:t>
            </a:r>
            <a:r>
              <a:rPr lang="fr-FR" altLang="en-US" dirty="0" err="1" smtClean="0"/>
              <a:t>coast</a:t>
            </a:r>
            <a:r>
              <a:rPr lang="fr-FR" altLang="en-US" dirty="0" smtClean="0"/>
              <a:t>.</a:t>
            </a:r>
          </a:p>
          <a:p>
            <a:endParaRPr lang="fr-FR" altLang="en-US" dirty="0" smtClean="0"/>
          </a:p>
          <a:p>
            <a:r>
              <a:rPr lang="fr-FR" altLang="en-US" dirty="0" err="1" smtClean="0"/>
              <a:t>Oil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can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become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stranded</a:t>
            </a:r>
            <a:r>
              <a:rPr lang="fr-FR" altLang="en-US" dirty="0" smtClean="0"/>
              <a:t> on the </a:t>
            </a:r>
            <a:r>
              <a:rPr lang="fr-FR" altLang="en-US" dirty="0" err="1" smtClean="0"/>
              <a:t>shoreline</a:t>
            </a:r>
            <a:r>
              <a:rPr lang="fr-FR" altLang="en-US" dirty="0" smtClean="0"/>
              <a:t>.</a:t>
            </a:r>
          </a:p>
          <a:p>
            <a:endParaRPr lang="fr-FR" altLang="en-US" dirty="0" smtClean="0"/>
          </a:p>
          <a:p>
            <a:r>
              <a:rPr lang="fr-FR" altLang="en-US" dirty="0" smtClean="0"/>
              <a:t>This </a:t>
            </a:r>
            <a:r>
              <a:rPr lang="fr-FR" altLang="en-US" dirty="0" err="1" smtClean="0"/>
              <a:t>process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will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be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affected</a:t>
            </a:r>
            <a:r>
              <a:rPr lang="fr-FR" altLang="en-US" dirty="0" smtClean="0"/>
              <a:t> by </a:t>
            </a:r>
            <a:r>
              <a:rPr lang="fr-FR" altLang="en-US" dirty="0" err="1" smtClean="0"/>
              <a:t>shoreline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wave</a:t>
            </a:r>
            <a:r>
              <a:rPr lang="fr-FR" altLang="en-US" dirty="0" smtClean="0"/>
              <a:t> </a:t>
            </a:r>
            <a:r>
              <a:rPr lang="fr-FR" altLang="en-US" dirty="0" err="1" smtClean="0"/>
              <a:t>exposure</a:t>
            </a:r>
            <a:r>
              <a:rPr lang="fr-FR" altLang="en-US" dirty="0" smtClean="0"/>
              <a:t> and by the type of </a:t>
            </a:r>
            <a:r>
              <a:rPr lang="fr-FR" altLang="en-US" dirty="0" err="1" smtClean="0"/>
              <a:t>substrate</a:t>
            </a:r>
            <a:r>
              <a:rPr lang="fr-FR" alt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604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16735" y="130175"/>
            <a:ext cx="935775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Shoreline Interactions</a:t>
            </a:r>
            <a:endParaRPr lang="fr-FR" altLang="en-US" sz="4000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136828" y="1386967"/>
            <a:ext cx="9906508" cy="5834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In general, we observe the following oil behaviour on shorelines:</a:t>
            </a:r>
          </a:p>
          <a:p>
            <a:pPr algn="just">
              <a:defRPr/>
            </a:pPr>
            <a:r>
              <a:rPr lang="en-GB" altLang="en-US" dirty="0" smtClean="0"/>
              <a:t>Sand beaches</a:t>
            </a:r>
          </a:p>
          <a:p>
            <a:pPr lvl="1" indent="-420688" algn="just">
              <a:spcBef>
                <a:spcPts val="75"/>
              </a:spcBef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Oil will generally remain on the surface with minimal penetration</a:t>
            </a:r>
          </a:p>
          <a:p>
            <a:pPr lvl="1" indent="-420688" algn="just">
              <a:spcBef>
                <a:spcPts val="75"/>
              </a:spcBef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Oil can be buried in layers by erosion and sand movements due to wind, waves or tides.</a:t>
            </a:r>
          </a:p>
          <a:p>
            <a:pPr lvl="1" indent="-420688" algn="just">
              <a:spcBef>
                <a:spcPts val="75"/>
              </a:spcBef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Oil can mix with sand particles and sink in the near shore environment or in the intertidal zone.</a:t>
            </a:r>
          </a:p>
          <a:p>
            <a:pPr lvl="1" indent="-420688" algn="just">
              <a:spcBef>
                <a:spcPts val="75"/>
              </a:spcBef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Oil can mix with fine mineral particles in the intertidal zone forming small aggregates which will eventually be dispersed.</a:t>
            </a:r>
          </a:p>
          <a:p>
            <a:pPr lvl="1" algn="just">
              <a:defRPr/>
            </a:pPr>
            <a:endParaRPr lang="en-GB" altLang="en-US" dirty="0" smtClean="0"/>
          </a:p>
          <a:p>
            <a:pPr algn="just">
              <a:defRPr/>
            </a:pP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415855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06654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Shoreline Interactions</a:t>
            </a:r>
            <a:endParaRPr lang="fr-FR" altLang="en-US" sz="4000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477918" y="1158367"/>
            <a:ext cx="9224327" cy="5834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/>
              <a:t>Pebbles and cobbles beaches</a:t>
            </a:r>
          </a:p>
          <a:p>
            <a:pPr algn="just"/>
            <a:endParaRPr lang="en-GB" altLang="en-US" sz="18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Oil will generally stick to surface of sediments.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Oil can penetrate into interstices between sediment material.</a:t>
            </a:r>
          </a:p>
          <a:p>
            <a:pPr lvl="2" indent="-430213" algn="just"/>
            <a:r>
              <a:rPr lang="en-GB" altLang="en-US" sz="2400" dirty="0" smtClean="0"/>
              <a:t>Generally, low viscosity oils can penetrate deeper into sediments than heavy oils.</a:t>
            </a:r>
          </a:p>
          <a:p>
            <a:pPr lvl="2" indent="-430213" algn="just"/>
            <a:endParaRPr lang="en-GB" altLang="en-US" sz="24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Clean-up can be difficult due to penetration.</a:t>
            </a:r>
          </a:p>
        </p:txBody>
      </p:sp>
    </p:spTree>
    <p:extLst>
      <p:ext uri="{BB962C8B-B14F-4D97-AF65-F5344CB8AC3E}">
        <p14:creationId xmlns:p14="http://schemas.microsoft.com/office/powerpoint/2010/main" val="308750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71907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Shoreline Interactions</a:t>
            </a:r>
            <a:endParaRPr lang="fr-FR" altLang="en-US" sz="4000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877824" y="1023937"/>
            <a:ext cx="9848088" cy="5834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3200" dirty="0" smtClean="0"/>
              <a:t>Mud flats and marshes</a:t>
            </a:r>
          </a:p>
          <a:p>
            <a:endParaRPr lang="en-GB" altLang="en-US" sz="1200" dirty="0" smtClean="0"/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Generally, oil penetration is not observed as these sediments are very compact and often flooded.</a:t>
            </a:r>
          </a:p>
          <a:p>
            <a:pPr lvl="2" indent="-430213"/>
            <a:r>
              <a:rPr lang="en-GB" altLang="en-US" sz="2400" dirty="0" smtClean="0"/>
              <a:t>Walking or heavy equipment can push oil into the sediments.</a:t>
            </a:r>
          </a:p>
          <a:p>
            <a:pPr lvl="2" indent="-430213"/>
            <a:r>
              <a:rPr lang="en-GB" altLang="en-US" sz="2400" dirty="0" smtClean="0"/>
              <a:t>Oil can penetrate into muddy shorelines via animals burrows.</a:t>
            </a:r>
          </a:p>
          <a:p>
            <a:pPr lvl="2" indent="-430213"/>
            <a:endParaRPr lang="en-GB" altLang="en-US" sz="1200" dirty="0" smtClean="0"/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Oil can stick to vegetation. </a:t>
            </a:r>
          </a:p>
          <a:p>
            <a:endParaRPr lang="fr-F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7792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32" y="1566863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906" y="1566863"/>
            <a:ext cx="44862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re 1"/>
          <p:cNvSpPr txBox="1">
            <a:spLocks/>
          </p:cNvSpPr>
          <p:nvPr/>
        </p:nvSpPr>
        <p:spPr>
          <a:xfrm>
            <a:off x="1801368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Shoreline Interactions</a:t>
            </a:r>
            <a:endParaRPr lang="fr-FR" alt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390897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56362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Subsea Releases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430274" y="836613"/>
            <a:ext cx="9615678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Subsea releases can occur from sunken vessels or from a well blowout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Oil will rise to the surface forming a surface oil slick that will be exposed to normal oil weathering processes</a:t>
            </a:r>
          </a:p>
          <a:p>
            <a:pPr lvl="1" algn="just"/>
            <a:r>
              <a:rPr lang="en-GB" altLang="en-US" dirty="0" smtClean="0"/>
              <a:t>Oil can resurface far from the spill source due to horizontal currents, density stratification and vertical turbulence mixing  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Smaller oil droplets can remain in the water column, be dispersed under the influence of subsea currents, and be subject to biodegradation</a:t>
            </a:r>
          </a:p>
        </p:txBody>
      </p:sp>
    </p:spTree>
    <p:extLst>
      <p:ext uri="{BB962C8B-B14F-4D97-AF65-F5344CB8AC3E}">
        <p14:creationId xmlns:p14="http://schemas.microsoft.com/office/powerpoint/2010/main" val="60771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07592" y="130175"/>
            <a:ext cx="98663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Conclusion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307592" y="1255522"/>
            <a:ext cx="98663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Weathering processes will change oil properties over time.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This will have a direct impact on safety and operations.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Response decisions must consider the effect of oil weathering of efficiency of response.</a:t>
            </a:r>
          </a:p>
        </p:txBody>
      </p:sp>
    </p:spTree>
    <p:extLst>
      <p:ext uri="{BB962C8B-B14F-4D97-AF65-F5344CB8AC3E}">
        <p14:creationId xmlns:p14="http://schemas.microsoft.com/office/powerpoint/2010/main" val="115252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1151</Words>
  <Application>Microsoft Office PowerPoint</Application>
  <PresentationFormat>Widescreen</PresentationFormat>
  <Paragraphs>172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MS PGothic</vt:lpstr>
      <vt:lpstr>MS PGothic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151</cp:revision>
  <dcterms:created xsi:type="dcterms:W3CDTF">2024-09-27T05:40:49Z</dcterms:created>
  <dcterms:modified xsi:type="dcterms:W3CDTF">2025-05-05T10:06:58Z</dcterms:modified>
</cp:coreProperties>
</file>
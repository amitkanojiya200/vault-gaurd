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67" r:id="rId6"/>
    <p:sldId id="268" r:id="rId7"/>
    <p:sldId id="269" r:id="rId8"/>
    <p:sldId id="270"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6184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10589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DD1F7B-0C96-49B7-BB03-29AB0B73B640}"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23628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DD1F7B-0C96-49B7-BB03-29AB0B73B640}"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98675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DD1F7B-0C96-49B7-BB03-29AB0B73B640}" type="datetimeFigureOut">
              <a:rPr lang="en-IN" smtClean="0"/>
              <a:t>09-05-2025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71758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DD1F7B-0C96-49B7-BB03-29AB0B73B640}" type="datetimeFigureOut">
              <a:rPr lang="en-IN" smtClean="0"/>
              <a:t>09-05-2025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046559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D1F7B-0C96-49B7-BB03-29AB0B73B640}" type="datetimeFigureOut">
              <a:rPr lang="en-IN" smtClean="0"/>
              <a:t>09-05-2025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428747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10069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80677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635961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69700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gs>
            <a:gs pos="50000">
              <a:schemeClr val="accent2"/>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D1F7B-0C96-49B7-BB03-29AB0B73B640}" type="datetimeFigureOut">
              <a:rPr lang="en-IN" smtClean="0"/>
              <a:t>09-05-2025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83F58-AF5F-4FE2-9C7E-DA9D3F7CC1A5}" type="slidenum">
              <a:rPr lang="en-IN" smtClean="0"/>
              <a:t>‹#›</a:t>
            </a:fld>
            <a:endParaRPr lang="en-IN"/>
          </a:p>
        </p:txBody>
      </p:sp>
    </p:spTree>
    <p:extLst>
      <p:ext uri="{BB962C8B-B14F-4D97-AF65-F5344CB8AC3E}">
        <p14:creationId xmlns:p14="http://schemas.microsoft.com/office/powerpoint/2010/main" val="34455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33165" y="6378300"/>
            <a:ext cx="1193158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6" name="Rectangle 2"/>
          <p:cNvSpPr txBox="1">
            <a:spLocks/>
          </p:cNvSpPr>
          <p:nvPr/>
        </p:nvSpPr>
        <p:spPr>
          <a:xfrm>
            <a:off x="1066489" y="2044192"/>
            <a:ext cx="10064940" cy="20325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latin typeface="Tahoma" panose="020B0604030504040204" pitchFamily="34" charset="0"/>
                <a:ea typeface="Tahoma" panose="020B0604030504040204" pitchFamily="34" charset="0"/>
                <a:cs typeface="Tahoma" panose="020B0604030504040204" pitchFamily="34" charset="0"/>
              </a:rPr>
              <a:t/>
            </a:r>
            <a:br>
              <a:rPr lang="en-GB" altLang="en-US" b="1" dirty="0" smtClean="0">
                <a:latin typeface="Tahoma" panose="020B0604030504040204" pitchFamily="34" charset="0"/>
                <a:ea typeface="Tahoma" panose="020B0604030504040204" pitchFamily="34" charset="0"/>
                <a:cs typeface="Tahoma" panose="020B0604030504040204" pitchFamily="34" charset="0"/>
              </a:rPr>
            </a:br>
            <a:r>
              <a:rPr lang="en-GB" altLang="en-US" b="1" dirty="0" smtClean="0">
                <a:latin typeface="Tahoma" panose="020B0604030504040204" pitchFamily="34" charset="0"/>
                <a:ea typeface="Tahoma" panose="020B0604030504040204" pitchFamily="34" charset="0"/>
                <a:cs typeface="Tahoma" panose="020B0604030504040204" pitchFamily="34" charset="0"/>
              </a:rPr>
              <a:t>Archaeological and Cultural Resources</a:t>
            </a:r>
          </a:p>
        </p:txBody>
      </p:sp>
    </p:spTree>
    <p:extLst>
      <p:ext uri="{BB962C8B-B14F-4D97-AF65-F5344CB8AC3E}">
        <p14:creationId xmlns:p14="http://schemas.microsoft.com/office/powerpoint/2010/main" val="367483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143000" y="130175"/>
            <a:ext cx="965676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000" b="1" dirty="0" smtClean="0">
                <a:latin typeface="Arial" panose="020B0604020202020204" pitchFamily="34" charset="0"/>
              </a:rPr>
              <a:t>Objective</a:t>
            </a:r>
          </a:p>
        </p:txBody>
      </p:sp>
      <p:sp>
        <p:nvSpPr>
          <p:cNvPr id="6" name="Rectangle 3">
            <a:extLst/>
          </p:cNvPr>
          <p:cNvSpPr txBox="1">
            <a:spLocks noChangeArrowheads="1"/>
          </p:cNvSpPr>
          <p:nvPr/>
        </p:nvSpPr>
        <p:spPr>
          <a:xfrm>
            <a:off x="1143000" y="1673225"/>
            <a:ext cx="9656762"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defRPr/>
            </a:pPr>
            <a:r>
              <a:rPr lang="en-US" dirty="0" smtClean="0">
                <a:ea typeface="MS PGothic" pitchFamily="34" charset="-128"/>
                <a:cs typeface="ＭＳ Ｐゴシック" charset="0"/>
              </a:rPr>
              <a:t>To understand the importance of adapting oil spill response techniques when in the presence of archeological and cultural resources.</a:t>
            </a:r>
            <a:endParaRPr lang="en-US" dirty="0" smtClean="0">
              <a:latin typeface="Arial" pitchFamily="34" charset="0"/>
              <a:ea typeface="ＭＳ Ｐゴシック" charset="0"/>
              <a:cs typeface="ＭＳ Ｐゴシック" charset="0"/>
            </a:endParaRPr>
          </a:p>
          <a:p>
            <a:pPr algn="just">
              <a:defRPr/>
            </a:pPr>
            <a:endParaRPr lang="en-US" dirty="0" smtClean="0">
              <a:latin typeface="Arial" pitchFamily="34" charset="0"/>
              <a:ea typeface="ＭＳ Ｐゴシック" charset="0"/>
              <a:cs typeface="ＭＳ Ｐゴシック" charset="0"/>
            </a:endParaRPr>
          </a:p>
          <a:p>
            <a:pPr algn="just">
              <a:defRPr/>
            </a:pPr>
            <a:endParaRPr lang="fr-FR" dirty="0">
              <a:latin typeface="Arial" pitchFamily="34" charset="0"/>
              <a:ea typeface="ＭＳ Ｐゴシック" charset="0"/>
              <a:cs typeface="ＭＳ Ｐゴシック" charset="0"/>
            </a:endParaRPr>
          </a:p>
        </p:txBody>
      </p:sp>
    </p:spTree>
    <p:extLst>
      <p:ext uri="{BB962C8B-B14F-4D97-AF65-F5344CB8AC3E}">
        <p14:creationId xmlns:p14="http://schemas.microsoft.com/office/powerpoint/2010/main" val="996444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304924" y="93938"/>
            <a:ext cx="961072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altLang="en-US" b="1" dirty="0" err="1" smtClean="0"/>
              <a:t>Resources</a:t>
            </a:r>
            <a:endParaRPr lang="fr-FR" altLang="en-US" b="1" dirty="0" smtClean="0"/>
          </a:p>
        </p:txBody>
      </p:sp>
      <p:sp>
        <p:nvSpPr>
          <p:cNvPr id="6" name="Espace réservé du contenu 2">
            <a:extLst/>
          </p:cNvPr>
          <p:cNvSpPr txBox="1">
            <a:spLocks/>
          </p:cNvSpPr>
          <p:nvPr/>
        </p:nvSpPr>
        <p:spPr>
          <a:xfrm>
            <a:off x="1514474" y="1153968"/>
            <a:ext cx="9610725"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buFont typeface="Arial" panose="020B0604020202020204" pitchFamily="34" charset="0"/>
              <a:buNone/>
              <a:defRPr/>
            </a:pPr>
            <a:r>
              <a:rPr lang="en-GB" altLang="en-US" dirty="0" smtClean="0">
                <a:ea typeface="MS PGothic" pitchFamily="34" charset="-128"/>
              </a:rPr>
              <a:t>Archaeological resources and cultural resources may include:</a:t>
            </a:r>
          </a:p>
          <a:p>
            <a:pPr>
              <a:buFont typeface="Arial" panose="020B0604020202020204" pitchFamily="34" charset="0"/>
              <a:buNone/>
              <a:defRPr/>
            </a:pPr>
            <a:endParaRPr lang="en-GB" altLang="en-US" dirty="0" smtClean="0">
              <a:ea typeface="MS PGothic" pitchFamily="34" charset="-128"/>
            </a:endParaRPr>
          </a:p>
          <a:p>
            <a:pPr>
              <a:defRPr/>
            </a:pPr>
            <a:r>
              <a:rPr lang="en-GB" altLang="en-US" dirty="0" smtClean="0">
                <a:ea typeface="MS PGothic" pitchFamily="34" charset="-128"/>
              </a:rPr>
              <a:t>Historic properties</a:t>
            </a:r>
          </a:p>
          <a:p>
            <a:pPr>
              <a:defRPr/>
            </a:pPr>
            <a:r>
              <a:rPr lang="en-GB" altLang="en-US" dirty="0" smtClean="0">
                <a:ea typeface="MS PGothic" pitchFamily="34" charset="-128"/>
              </a:rPr>
              <a:t>Artefacts </a:t>
            </a:r>
          </a:p>
          <a:p>
            <a:pPr>
              <a:defRPr/>
            </a:pPr>
            <a:r>
              <a:rPr lang="en-GB" altLang="en-US" dirty="0" smtClean="0">
                <a:ea typeface="MS PGothic" pitchFamily="34" charset="-128"/>
              </a:rPr>
              <a:t>Burial sites</a:t>
            </a:r>
          </a:p>
          <a:p>
            <a:pPr>
              <a:defRPr/>
            </a:pPr>
            <a:r>
              <a:rPr lang="en-GB" altLang="en-US" dirty="0" smtClean="0">
                <a:ea typeface="MS PGothic" pitchFamily="34" charset="-128"/>
              </a:rPr>
              <a:t>Village sites</a:t>
            </a:r>
          </a:p>
          <a:p>
            <a:pPr>
              <a:defRPr/>
            </a:pPr>
            <a:r>
              <a:rPr lang="en-GB" altLang="en-US" dirty="0" smtClean="0">
                <a:ea typeface="MS PGothic" pitchFamily="34" charset="-128"/>
              </a:rPr>
              <a:t>Shipwrecks</a:t>
            </a:r>
          </a:p>
          <a:p>
            <a:pPr>
              <a:defRPr/>
            </a:pPr>
            <a:r>
              <a:rPr lang="en-GB" altLang="en-US" dirty="0" smtClean="0">
                <a:ea typeface="MS PGothic" pitchFamily="34" charset="-128"/>
              </a:rPr>
              <a:t>Shell </a:t>
            </a:r>
            <a:r>
              <a:rPr lang="en-GB" altLang="en-US" dirty="0" err="1" smtClean="0">
                <a:ea typeface="MS PGothic" pitchFamily="34" charset="-128"/>
              </a:rPr>
              <a:t>middens</a:t>
            </a:r>
            <a:endParaRPr lang="en-GB" altLang="en-US" dirty="0" smtClean="0">
              <a:ea typeface="MS PGothic" pitchFamily="34" charset="-128"/>
            </a:endParaRPr>
          </a:p>
          <a:p>
            <a:pPr>
              <a:defRPr/>
            </a:pPr>
            <a:endParaRPr lang="fr-FR" altLang="en-US" dirty="0">
              <a:ea typeface="MS PGothic" pitchFamily="34" charset="-128"/>
            </a:endParaRPr>
          </a:p>
        </p:txBody>
      </p:sp>
    </p:spTree>
    <p:extLst>
      <p:ext uri="{BB962C8B-B14F-4D97-AF65-F5344CB8AC3E}">
        <p14:creationId xmlns:p14="http://schemas.microsoft.com/office/powerpoint/2010/main" val="377636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400174" y="130175"/>
            <a:ext cx="957262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altLang="en-US" sz="4000" b="1" dirty="0" err="1" smtClean="0"/>
              <a:t>Resources</a:t>
            </a:r>
            <a:endParaRPr lang="fr-FR" altLang="en-US" sz="4000" b="1" dirty="0" smtClean="0"/>
          </a:p>
        </p:txBody>
      </p:sp>
      <p:sp>
        <p:nvSpPr>
          <p:cNvPr id="6" name="Espace réservé du contenu 2"/>
          <p:cNvSpPr txBox="1">
            <a:spLocks/>
          </p:cNvSpPr>
          <p:nvPr/>
        </p:nvSpPr>
        <p:spPr>
          <a:xfrm>
            <a:off x="1400174" y="1342749"/>
            <a:ext cx="9572625"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GB" altLang="en-US" dirty="0" smtClean="0"/>
              <a:t>Continued:</a:t>
            </a:r>
          </a:p>
          <a:p>
            <a:r>
              <a:rPr lang="en-GB" altLang="en-US" dirty="0" smtClean="0"/>
              <a:t>Religious sites</a:t>
            </a:r>
          </a:p>
          <a:p>
            <a:r>
              <a:rPr lang="en-GB" altLang="en-US" dirty="0" smtClean="0"/>
              <a:t>Historical documents</a:t>
            </a:r>
          </a:p>
          <a:p>
            <a:r>
              <a:rPr lang="en-GB" altLang="en-US" dirty="0" smtClean="0"/>
              <a:t>Cultural use of natural resources</a:t>
            </a:r>
          </a:p>
          <a:p>
            <a:r>
              <a:rPr lang="en-GB" altLang="en-US" dirty="0" smtClean="0"/>
              <a:t>Petroglyphs</a:t>
            </a:r>
          </a:p>
          <a:p>
            <a:r>
              <a:rPr lang="en-GB" altLang="en-US" dirty="0" err="1" smtClean="0"/>
              <a:t>Unsurveyed</a:t>
            </a:r>
            <a:r>
              <a:rPr lang="en-GB" altLang="en-US" dirty="0" smtClean="0"/>
              <a:t> sites with high potential for the presence of archaeological or cultural resources  </a:t>
            </a:r>
          </a:p>
          <a:p>
            <a:endParaRPr lang="en-GB" altLang="en-US" dirty="0" smtClean="0"/>
          </a:p>
          <a:p>
            <a:pPr>
              <a:buFont typeface="Arial" panose="020B0604020202020204" pitchFamily="34" charset="0"/>
              <a:buNone/>
            </a:pPr>
            <a:endParaRPr lang="fr-FR" altLang="en-US" dirty="0" smtClean="0"/>
          </a:p>
          <a:p>
            <a:endParaRPr lang="fr-FR" altLang="en-US" dirty="0" smtClean="0"/>
          </a:p>
        </p:txBody>
      </p:sp>
    </p:spTree>
    <p:extLst>
      <p:ext uri="{BB962C8B-B14F-4D97-AF65-F5344CB8AC3E}">
        <p14:creationId xmlns:p14="http://schemas.microsoft.com/office/powerpoint/2010/main" val="2332505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733550" y="130175"/>
            <a:ext cx="836473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Resources</a:t>
            </a:r>
          </a:p>
        </p:txBody>
      </p:sp>
      <p:sp>
        <p:nvSpPr>
          <p:cNvPr id="6" name="Content Placeholder 2">
            <a:extLst/>
          </p:cNvPr>
          <p:cNvSpPr txBox="1">
            <a:spLocks/>
          </p:cNvSpPr>
          <p:nvPr/>
        </p:nvSpPr>
        <p:spPr>
          <a:xfrm>
            <a:off x="1458912" y="944143"/>
            <a:ext cx="9494837"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just">
              <a:buFont typeface="Arial" charset="0"/>
              <a:buNone/>
              <a:defRPr/>
            </a:pPr>
            <a:r>
              <a:rPr lang="en-CA" dirty="0" smtClean="0">
                <a:ea typeface="MS PGothic" charset="0"/>
              </a:rPr>
              <a:t>Indigenous peoples tended to live near water (which provided means of transport, water and food), areas which are often rich in archaeological and cultural resources include:</a:t>
            </a:r>
          </a:p>
          <a:p>
            <a:pPr algn="just">
              <a:buFont typeface="Arial" charset="0"/>
              <a:buNone/>
              <a:defRPr/>
            </a:pPr>
            <a:endParaRPr lang="en-CA" dirty="0" smtClean="0">
              <a:ea typeface="MS PGothic" charset="0"/>
            </a:endParaRPr>
          </a:p>
          <a:p>
            <a:pPr algn="just">
              <a:buFont typeface="Arial" charset="0"/>
              <a:buChar char="•"/>
              <a:defRPr/>
            </a:pPr>
            <a:r>
              <a:rPr lang="en-CA" dirty="0" smtClean="0">
                <a:ea typeface="MS PGothic" charset="0"/>
              </a:rPr>
              <a:t>Coastal areas</a:t>
            </a:r>
          </a:p>
          <a:p>
            <a:pPr algn="just">
              <a:buFont typeface="Arial" charset="0"/>
              <a:buChar char="•"/>
              <a:defRPr/>
            </a:pPr>
            <a:r>
              <a:rPr lang="en-CA" dirty="0" smtClean="0">
                <a:ea typeface="MS PGothic" charset="0"/>
              </a:rPr>
              <a:t>River beds </a:t>
            </a:r>
          </a:p>
          <a:p>
            <a:pPr algn="just">
              <a:buFont typeface="Arial" charset="0"/>
              <a:buChar char="•"/>
              <a:defRPr/>
            </a:pPr>
            <a:r>
              <a:rPr lang="en-CA" dirty="0" smtClean="0">
                <a:ea typeface="MS PGothic" charset="0"/>
              </a:rPr>
              <a:t>Lakeshores </a:t>
            </a:r>
            <a:endParaRPr lang="en-CA" dirty="0">
              <a:ea typeface="MS PGothic" charset="0"/>
            </a:endParaRPr>
          </a:p>
        </p:txBody>
      </p:sp>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35463" y="2781300"/>
            <a:ext cx="4611578"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94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095375" y="130175"/>
            <a:ext cx="984726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000" b="1" dirty="0" smtClean="0">
                <a:latin typeface="Arial" panose="020B0604020202020204" pitchFamily="34" charset="0"/>
              </a:rPr>
              <a:t>Resource Identification</a:t>
            </a:r>
          </a:p>
        </p:txBody>
      </p:sp>
      <p:sp>
        <p:nvSpPr>
          <p:cNvPr id="6" name="Rectangle 3"/>
          <p:cNvSpPr txBox="1">
            <a:spLocks/>
          </p:cNvSpPr>
          <p:nvPr/>
        </p:nvSpPr>
        <p:spPr>
          <a:xfrm>
            <a:off x="1095375" y="1193525"/>
            <a:ext cx="9847262" cy="5184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ltLang="en-US" dirty="0" smtClean="0"/>
              <a:t>Pre-spill planning phase</a:t>
            </a:r>
          </a:p>
          <a:p>
            <a:pPr lvl="1" indent="-420688">
              <a:buFont typeface="Wingdings" panose="05000000000000000000" pitchFamily="2" charset="2"/>
              <a:buChar char="ü"/>
            </a:pPr>
            <a:r>
              <a:rPr lang="en-CA" altLang="en-US" dirty="0" smtClean="0"/>
              <a:t>Contingency plans</a:t>
            </a:r>
          </a:p>
          <a:p>
            <a:pPr lvl="1" indent="-420688">
              <a:buFont typeface="Wingdings" panose="05000000000000000000" pitchFamily="2" charset="2"/>
              <a:buChar char="ü"/>
            </a:pPr>
            <a:r>
              <a:rPr lang="en-CA" altLang="en-US" dirty="0" smtClean="0"/>
              <a:t>Resource maps</a:t>
            </a:r>
          </a:p>
          <a:p>
            <a:pPr lvl="1" indent="-420688">
              <a:buFont typeface="Wingdings" panose="05000000000000000000" pitchFamily="2" charset="2"/>
              <a:buChar char="ü"/>
            </a:pPr>
            <a:endParaRPr lang="en-CA" altLang="en-US" dirty="0" smtClean="0"/>
          </a:p>
          <a:p>
            <a:r>
              <a:rPr lang="en-CA" altLang="en-US" dirty="0" smtClean="0"/>
              <a:t>Response phase</a:t>
            </a:r>
          </a:p>
          <a:p>
            <a:pPr lvl="1" indent="-420688">
              <a:buFont typeface="Wingdings" panose="05000000000000000000" pitchFamily="2" charset="2"/>
              <a:buChar char="ü"/>
            </a:pPr>
            <a:r>
              <a:rPr lang="en-CA" altLang="en-US" dirty="0" smtClean="0"/>
              <a:t>Implement contingency plans and review data</a:t>
            </a:r>
          </a:p>
          <a:p>
            <a:pPr lvl="1" indent="-420688">
              <a:buFont typeface="Wingdings" panose="05000000000000000000" pitchFamily="2" charset="2"/>
              <a:buChar char="ü"/>
            </a:pPr>
            <a:r>
              <a:rPr lang="en-CA" altLang="en-US" dirty="0" smtClean="0"/>
              <a:t>Consult with experts</a:t>
            </a:r>
          </a:p>
          <a:p>
            <a:pPr lvl="1" indent="-420688">
              <a:buFont typeface="Wingdings" panose="05000000000000000000" pitchFamily="2" charset="2"/>
              <a:buChar char="ü"/>
            </a:pPr>
            <a:r>
              <a:rPr lang="en-CA" altLang="en-US" dirty="0" smtClean="0"/>
              <a:t>Surveys to identify additional resources </a:t>
            </a:r>
          </a:p>
          <a:p>
            <a:pPr lvl="1" indent="-420688">
              <a:buFont typeface="Wingdings" panose="05000000000000000000" pitchFamily="2" charset="2"/>
              <a:buChar char="ü"/>
            </a:pPr>
            <a:r>
              <a:rPr lang="en-CA" altLang="en-US" dirty="0" smtClean="0"/>
              <a:t>Consider best management practices to protect resources from shoreline treatment methods</a:t>
            </a:r>
            <a:endParaRPr lang="en-GB" altLang="en-US" dirty="0" smtClean="0"/>
          </a:p>
          <a:p>
            <a:pPr lvl="1"/>
            <a:endParaRPr lang="en-GB" altLang="en-US" dirty="0" smtClean="0"/>
          </a:p>
          <a:p>
            <a:pPr lvl="1"/>
            <a:endParaRPr lang="en-GB" altLang="en-US" dirty="0" smtClean="0"/>
          </a:p>
          <a:p>
            <a:endParaRPr lang="en-US" altLang="en-US" dirty="0" smtClean="0"/>
          </a:p>
          <a:p>
            <a:endParaRPr lang="en-US" altLang="en-US" dirty="0" smtClean="0"/>
          </a:p>
          <a:p>
            <a:endParaRPr lang="en-US" altLang="en-US" dirty="0" smtClean="0"/>
          </a:p>
          <a:p>
            <a:endParaRPr lang="en-US" altLang="en-US" dirty="0" smtClean="0">
              <a:latin typeface="Arial" panose="020B0604020202020204" pitchFamily="34" charset="0"/>
            </a:endParaRPr>
          </a:p>
          <a:p>
            <a:endParaRPr lang="en-US" altLang="en-US" dirty="0" smtClean="0">
              <a:latin typeface="Arial" panose="020B0604020202020204" pitchFamily="34" charset="0"/>
            </a:endParaRPr>
          </a:p>
          <a:p>
            <a:endParaRPr lang="fr-FR" altLang="en-US" dirty="0" smtClean="0">
              <a:latin typeface="Arial" panose="020B0604020202020204" pitchFamily="34" charset="0"/>
            </a:endParaRPr>
          </a:p>
        </p:txBody>
      </p:sp>
    </p:spTree>
    <p:extLst>
      <p:ext uri="{BB962C8B-B14F-4D97-AF65-F5344CB8AC3E}">
        <p14:creationId xmlns:p14="http://schemas.microsoft.com/office/powerpoint/2010/main" val="17847500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266825" y="130175"/>
            <a:ext cx="973455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sz="4000" b="1" dirty="0" smtClean="0"/>
              <a:t>Pre-spill Planning </a:t>
            </a:r>
            <a:r>
              <a:rPr lang="en-GB" altLang="en-US" sz="4000" b="1" dirty="0"/>
              <a:t>P</a:t>
            </a:r>
            <a:r>
              <a:rPr lang="en-GB" altLang="en-US" sz="4000" b="1" dirty="0" smtClean="0"/>
              <a:t>hase</a:t>
            </a:r>
          </a:p>
        </p:txBody>
      </p:sp>
      <p:sp>
        <p:nvSpPr>
          <p:cNvPr id="6" name="Espace réservé du contenu 2"/>
          <p:cNvSpPr txBox="1">
            <a:spLocks/>
          </p:cNvSpPr>
          <p:nvPr/>
        </p:nvSpPr>
        <p:spPr>
          <a:xfrm>
            <a:off x="1085850" y="1525312"/>
            <a:ext cx="973455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dirty="0" smtClean="0"/>
              <a:t>Ideally these resources are identified in the  contingency plan however it is important to understand that information on these resources may not be available for the planning phase due to confidentiality or for the protection of the resource from the public</a:t>
            </a:r>
          </a:p>
          <a:p>
            <a:pPr algn="just">
              <a:buFont typeface="Arial" panose="020B0604020202020204" pitchFamily="34" charset="0"/>
              <a:buNone/>
            </a:pPr>
            <a:endParaRPr lang="en-GB" altLang="en-US" dirty="0" smtClean="0"/>
          </a:p>
          <a:p>
            <a:pPr algn="just">
              <a:buFont typeface="Arial" panose="020B0604020202020204" pitchFamily="34" charset="0"/>
              <a:buNone/>
            </a:pPr>
            <a:endParaRPr lang="fr-FR" altLang="en-US" dirty="0" smtClean="0"/>
          </a:p>
        </p:txBody>
      </p:sp>
    </p:spTree>
    <p:extLst>
      <p:ext uri="{BB962C8B-B14F-4D97-AF65-F5344CB8AC3E}">
        <p14:creationId xmlns:p14="http://schemas.microsoft.com/office/powerpoint/2010/main" val="1653611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 name="Titre 1"/>
          <p:cNvSpPr txBox="1">
            <a:spLocks/>
          </p:cNvSpPr>
          <p:nvPr/>
        </p:nvSpPr>
        <p:spPr>
          <a:xfrm>
            <a:off x="2105025" y="13017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sz="4000" b="1" dirty="0" smtClean="0"/>
              <a:t>Pre-spill Planning </a:t>
            </a:r>
            <a:r>
              <a:rPr lang="en-GB" altLang="en-US" sz="4000" b="1" dirty="0"/>
              <a:t>P</a:t>
            </a:r>
            <a:r>
              <a:rPr lang="en-GB" altLang="en-US" sz="4000" b="1" dirty="0" smtClean="0"/>
              <a:t>hase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1208" y="1973961"/>
            <a:ext cx="5486400" cy="30861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3208" y="2020824"/>
            <a:ext cx="5445760" cy="3063240"/>
          </a:xfrm>
          <a:prstGeom prst="rect">
            <a:avLst/>
          </a:prstGeom>
        </p:spPr>
      </p:pic>
    </p:spTree>
    <p:extLst>
      <p:ext uri="{BB962C8B-B14F-4D97-AF65-F5344CB8AC3E}">
        <p14:creationId xmlns:p14="http://schemas.microsoft.com/office/powerpoint/2010/main" val="16076191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295400" y="130175"/>
            <a:ext cx="911537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sz="4000" b="1" dirty="0" smtClean="0"/>
              <a:t>Response phase</a:t>
            </a:r>
          </a:p>
        </p:txBody>
      </p:sp>
      <p:sp>
        <p:nvSpPr>
          <p:cNvPr id="6" name="Espace réservé du contenu 2"/>
          <p:cNvSpPr txBox="1">
            <a:spLocks/>
          </p:cNvSpPr>
          <p:nvPr/>
        </p:nvSpPr>
        <p:spPr>
          <a:xfrm>
            <a:off x="915551" y="1085719"/>
            <a:ext cx="987507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dirty="0" smtClean="0"/>
              <a:t>Incident management needs reliable and timely data on these resources so response operations in the reactive phase do not mistakenly impact resources</a:t>
            </a:r>
          </a:p>
          <a:p>
            <a:pPr algn="just"/>
            <a:endParaRPr lang="en-GB" altLang="en-US" dirty="0" smtClean="0"/>
          </a:p>
          <a:p>
            <a:pPr algn="just"/>
            <a:r>
              <a:rPr lang="en-GB" altLang="en-US" dirty="0" smtClean="0"/>
              <a:t>Damaging these resources can be an extremely sensitive issue</a:t>
            </a:r>
          </a:p>
          <a:p>
            <a:pPr algn="just"/>
            <a:endParaRPr lang="en-GB" altLang="en-US" dirty="0" smtClean="0"/>
          </a:p>
          <a:p>
            <a:pPr algn="just"/>
            <a:r>
              <a:rPr lang="en-GB" altLang="en-US" dirty="0" smtClean="0"/>
              <a:t>NEBA must be considered when making decisions with respect to clean-up operations</a:t>
            </a:r>
          </a:p>
          <a:p>
            <a:pPr algn="just">
              <a:buFont typeface="Arial" panose="020B0604020202020204" pitchFamily="34" charset="0"/>
              <a:buNone/>
            </a:pPr>
            <a:endParaRPr lang="fr-FR" altLang="en-US" dirty="0" smtClean="0"/>
          </a:p>
        </p:txBody>
      </p:sp>
    </p:spTree>
    <p:extLst>
      <p:ext uri="{BB962C8B-B14F-4D97-AF65-F5344CB8AC3E}">
        <p14:creationId xmlns:p14="http://schemas.microsoft.com/office/powerpoint/2010/main" val="28531693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re 1"/>
          <p:cNvSpPr txBox="1">
            <a:spLocks/>
          </p:cNvSpPr>
          <p:nvPr/>
        </p:nvSpPr>
        <p:spPr>
          <a:xfrm>
            <a:off x="1143818" y="130175"/>
            <a:ext cx="9581331"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sz="4000" b="1" dirty="0" smtClean="0"/>
              <a:t>Response Phase</a:t>
            </a:r>
          </a:p>
        </p:txBody>
      </p:sp>
      <p:sp>
        <p:nvSpPr>
          <p:cNvPr id="6" name="Espace réservé du contenu 2"/>
          <p:cNvSpPr txBox="1">
            <a:spLocks/>
          </p:cNvSpPr>
          <p:nvPr/>
        </p:nvSpPr>
        <p:spPr>
          <a:xfrm>
            <a:off x="994616" y="1342749"/>
            <a:ext cx="1019093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altLang="en-US" dirty="0" smtClean="0"/>
              <a:t>It is critical to ensure that the appropriate cultural resource specialists/appropriate regulatory agencies/aboriginal groups/ landowners are consulted</a:t>
            </a:r>
          </a:p>
          <a:p>
            <a:pPr algn="just">
              <a:buFont typeface="Arial" panose="020B0604020202020204" pitchFamily="34" charset="0"/>
              <a:buNone/>
            </a:pPr>
            <a:endParaRPr lang="en-GB" altLang="en-US" dirty="0" smtClean="0"/>
          </a:p>
          <a:p>
            <a:pPr algn="just"/>
            <a:r>
              <a:rPr lang="en-GB" altLang="en-US" dirty="0" smtClean="0"/>
              <a:t>Local knowledge is an asset</a:t>
            </a:r>
          </a:p>
          <a:p>
            <a:pPr algn="just"/>
            <a:endParaRPr lang="en-GB" altLang="en-US" dirty="0" smtClean="0"/>
          </a:p>
          <a:p>
            <a:pPr algn="just"/>
            <a:r>
              <a:rPr lang="en-GB" altLang="en-US" dirty="0" smtClean="0"/>
              <a:t>Comply with appropriate regulations and permitting processes</a:t>
            </a:r>
          </a:p>
          <a:p>
            <a:pPr algn="just">
              <a:buFont typeface="Arial" panose="020B0604020202020204" pitchFamily="34" charset="0"/>
              <a:buNone/>
            </a:pPr>
            <a:endParaRPr lang="en-GB" altLang="en-US" dirty="0" smtClean="0"/>
          </a:p>
          <a:p>
            <a:pPr algn="just">
              <a:buFont typeface="Arial" panose="020B0604020202020204" pitchFamily="34" charset="0"/>
              <a:buNone/>
            </a:pPr>
            <a:endParaRPr lang="fr-FR" altLang="en-US" dirty="0" smtClean="0"/>
          </a:p>
        </p:txBody>
      </p:sp>
    </p:spTree>
    <p:extLst>
      <p:ext uri="{BB962C8B-B14F-4D97-AF65-F5344CB8AC3E}">
        <p14:creationId xmlns:p14="http://schemas.microsoft.com/office/powerpoint/2010/main" val="4280346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942974" y="130175"/>
            <a:ext cx="1002982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Response Phase</a:t>
            </a:r>
          </a:p>
        </p:txBody>
      </p:sp>
      <p:sp>
        <p:nvSpPr>
          <p:cNvPr id="6" name="Content Placeholder 2"/>
          <p:cNvSpPr txBox="1">
            <a:spLocks/>
          </p:cNvSpPr>
          <p:nvPr/>
        </p:nvSpPr>
        <p:spPr>
          <a:xfrm>
            <a:off x="942974" y="1342749"/>
            <a:ext cx="10029825"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CA" altLang="en-US" dirty="0" smtClean="0"/>
              <a:t>A clean-up-wide cultural resource policy should be implemented</a:t>
            </a:r>
          </a:p>
          <a:p>
            <a:pPr algn="just">
              <a:buFont typeface="Arial" panose="020B0604020202020204" pitchFamily="34" charset="0"/>
              <a:buNone/>
            </a:pPr>
            <a:endParaRPr lang="en-CA" altLang="en-US" dirty="0" smtClean="0"/>
          </a:p>
          <a:p>
            <a:pPr algn="just"/>
            <a:r>
              <a:rPr lang="en-CA" altLang="en-US" dirty="0" smtClean="0"/>
              <a:t>Develop procedures for response personnel if evidence of a resource is detected</a:t>
            </a:r>
          </a:p>
          <a:p>
            <a:pPr algn="just"/>
            <a:endParaRPr lang="en-CA" altLang="en-US" dirty="0" smtClean="0"/>
          </a:p>
          <a:p>
            <a:pPr algn="just"/>
            <a:r>
              <a:rPr lang="en-CA" altLang="en-US" dirty="0" smtClean="0"/>
              <a:t>Archaeologists/cultural resource specialists are integrated on the SCAT teams as required</a:t>
            </a:r>
          </a:p>
        </p:txBody>
      </p:sp>
    </p:spTree>
    <p:extLst>
      <p:ext uri="{BB962C8B-B14F-4D97-AF65-F5344CB8AC3E}">
        <p14:creationId xmlns:p14="http://schemas.microsoft.com/office/powerpoint/2010/main" val="33991246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28724" y="130175"/>
            <a:ext cx="972502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Response Phase</a:t>
            </a:r>
          </a:p>
        </p:txBody>
      </p:sp>
      <p:sp>
        <p:nvSpPr>
          <p:cNvPr id="6" name="Content Placeholder 2"/>
          <p:cNvSpPr txBox="1">
            <a:spLocks/>
          </p:cNvSpPr>
          <p:nvPr/>
        </p:nvSpPr>
        <p:spPr>
          <a:xfrm>
            <a:off x="1228724" y="1342749"/>
            <a:ext cx="9725025"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CA" altLang="en-US" dirty="0" smtClean="0"/>
              <a:t>Resource specialists can be used to</a:t>
            </a:r>
          </a:p>
          <a:p>
            <a:r>
              <a:rPr lang="en-CA" altLang="en-US" dirty="0" smtClean="0"/>
              <a:t>Report any resources identified during SCAT surveys</a:t>
            </a:r>
          </a:p>
          <a:p>
            <a:r>
              <a:rPr lang="en-CA" altLang="en-US" dirty="0" smtClean="0"/>
              <a:t>Inspect site prior to clean-up operations</a:t>
            </a:r>
          </a:p>
          <a:p>
            <a:r>
              <a:rPr lang="en-CA" altLang="en-US" dirty="0" smtClean="0"/>
              <a:t>Monitor during operational activities that could impact sites</a:t>
            </a:r>
          </a:p>
          <a:p>
            <a:r>
              <a:rPr lang="en-CA" altLang="en-US" dirty="0" smtClean="0"/>
              <a:t>Develop procedures for response personnel if evidence of a resource is detected</a:t>
            </a:r>
          </a:p>
          <a:p>
            <a:r>
              <a:rPr lang="en-CA" altLang="en-US" dirty="0" smtClean="0"/>
              <a:t>Communications with Operations is key to ensure resources are protected/reported</a:t>
            </a:r>
          </a:p>
        </p:txBody>
      </p:sp>
    </p:spTree>
    <p:extLst>
      <p:ext uri="{BB962C8B-B14F-4D97-AF65-F5344CB8AC3E}">
        <p14:creationId xmlns:p14="http://schemas.microsoft.com/office/powerpoint/2010/main" val="2516625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85875" y="130175"/>
            <a:ext cx="96393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Response Phase</a:t>
            </a:r>
          </a:p>
        </p:txBody>
      </p:sp>
      <p:sp>
        <p:nvSpPr>
          <p:cNvPr id="6" name="Content Placeholder 2"/>
          <p:cNvSpPr txBox="1">
            <a:spLocks/>
          </p:cNvSpPr>
          <p:nvPr/>
        </p:nvSpPr>
        <p:spPr>
          <a:xfrm>
            <a:off x="1285875" y="1342749"/>
            <a:ext cx="963930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CA" altLang="en-US" dirty="0" smtClean="0"/>
              <a:t>Keeping site confidentiality is a challenge</a:t>
            </a:r>
          </a:p>
          <a:p>
            <a:pPr algn="just">
              <a:buFont typeface="Arial" panose="020B0604020202020204" pitchFamily="34" charset="0"/>
              <a:buNone/>
            </a:pPr>
            <a:endParaRPr lang="en-CA" altLang="en-US" dirty="0" smtClean="0"/>
          </a:p>
          <a:p>
            <a:pPr algn="just"/>
            <a:r>
              <a:rPr lang="en-CA" altLang="en-US" dirty="0" smtClean="0"/>
              <a:t>Use shoreline segment numbers  not site names or locations when dealing with the documentation  to help protect locations</a:t>
            </a:r>
          </a:p>
          <a:p>
            <a:pPr algn="just">
              <a:buFont typeface="Arial" panose="020B0604020202020204" pitchFamily="34" charset="0"/>
              <a:buNone/>
            </a:pPr>
            <a:endParaRPr lang="en-CA" altLang="en-US" dirty="0" smtClean="0"/>
          </a:p>
        </p:txBody>
      </p:sp>
    </p:spTree>
    <p:extLst>
      <p:ext uri="{BB962C8B-B14F-4D97-AF65-F5344CB8AC3E}">
        <p14:creationId xmlns:p14="http://schemas.microsoft.com/office/powerpoint/2010/main" val="1396138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57300" y="102321"/>
            <a:ext cx="981075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Impact of Oil</a:t>
            </a:r>
          </a:p>
        </p:txBody>
      </p:sp>
      <p:sp>
        <p:nvSpPr>
          <p:cNvPr id="6" name="Content Placeholder 2"/>
          <p:cNvSpPr txBox="1">
            <a:spLocks/>
          </p:cNvSpPr>
          <p:nvPr/>
        </p:nvSpPr>
        <p:spPr>
          <a:xfrm>
            <a:off x="1371600" y="1160187"/>
            <a:ext cx="981075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CA" altLang="en-US" dirty="0" smtClean="0"/>
              <a:t>Direct physical contact of oil with resources</a:t>
            </a:r>
          </a:p>
          <a:p>
            <a:pPr algn="just">
              <a:buFont typeface="Arial" panose="020B0604020202020204" pitchFamily="34" charset="0"/>
              <a:buNone/>
            </a:pPr>
            <a:r>
              <a:rPr lang="en-CA" altLang="en-US" dirty="0" smtClean="0"/>
              <a:t> </a:t>
            </a:r>
          </a:p>
          <a:p>
            <a:pPr algn="just"/>
            <a:r>
              <a:rPr lang="en-CA" altLang="en-US" dirty="0" smtClean="0"/>
              <a:t>may impact the ability to preserve a resource</a:t>
            </a:r>
          </a:p>
          <a:p>
            <a:pPr algn="just"/>
            <a:endParaRPr lang="en-CA" altLang="en-US" dirty="0" smtClean="0"/>
          </a:p>
          <a:p>
            <a:pPr algn="just"/>
            <a:r>
              <a:rPr lang="en-CA" altLang="en-US" dirty="0" smtClean="0"/>
              <a:t>contribute to its deterioration</a:t>
            </a:r>
          </a:p>
          <a:p>
            <a:pPr algn="just"/>
            <a:endParaRPr lang="en-CA" altLang="en-US" dirty="0" smtClean="0"/>
          </a:p>
          <a:p>
            <a:pPr algn="just"/>
            <a:r>
              <a:rPr lang="en-CA" altLang="en-US" dirty="0" smtClean="0"/>
              <a:t>result in the inability to radiocarbon date a resource causing loss of valuable scientific, historic and or cultural data</a:t>
            </a:r>
          </a:p>
          <a:p>
            <a:pPr algn="just">
              <a:buFont typeface="Arial" panose="020B0604020202020204" pitchFamily="34" charset="0"/>
              <a:buNone/>
            </a:pPr>
            <a:endParaRPr lang="en-CA" altLang="en-US" dirty="0" smtClean="0"/>
          </a:p>
        </p:txBody>
      </p:sp>
    </p:spTree>
    <p:extLst>
      <p:ext uri="{BB962C8B-B14F-4D97-AF65-F5344CB8AC3E}">
        <p14:creationId xmlns:p14="http://schemas.microsoft.com/office/powerpoint/2010/main" val="27700929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23949" y="44962"/>
            <a:ext cx="9686925"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Impact of Response </a:t>
            </a:r>
            <a:r>
              <a:rPr lang="en-CA" altLang="en-US" sz="4000" b="1" dirty="0"/>
              <a:t>A</a:t>
            </a:r>
            <a:r>
              <a:rPr lang="en-CA" altLang="en-US" sz="4000" b="1" dirty="0" smtClean="0"/>
              <a:t>ctivities</a:t>
            </a:r>
          </a:p>
        </p:txBody>
      </p:sp>
      <p:sp>
        <p:nvSpPr>
          <p:cNvPr id="6" name="Content Placeholder 2">
            <a:extLst/>
          </p:cNvPr>
          <p:cNvSpPr txBox="1">
            <a:spLocks/>
          </p:cNvSpPr>
          <p:nvPr/>
        </p:nvSpPr>
        <p:spPr>
          <a:xfrm>
            <a:off x="1123949" y="1382226"/>
            <a:ext cx="9686925"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just">
              <a:buFont typeface="Arial" charset="0"/>
              <a:buNone/>
              <a:defRPr/>
            </a:pPr>
            <a:r>
              <a:rPr lang="en-CA" dirty="0" smtClean="0">
                <a:ea typeface="MS PGothic" charset="0"/>
              </a:rPr>
              <a:t>Response activities may adversely impact resources so NEBA must be conducted</a:t>
            </a:r>
          </a:p>
          <a:p>
            <a:pPr lvl="1" indent="-420688" algn="just">
              <a:buFont typeface="Wingdings" panose="05000000000000000000" pitchFamily="2" charset="2"/>
              <a:buChar char="ü"/>
              <a:defRPr/>
            </a:pPr>
            <a:r>
              <a:rPr lang="en-CA" dirty="0" smtClean="0">
                <a:ea typeface="MS PGothic" charset="0"/>
              </a:rPr>
              <a:t>Physical destruction, damage or alteration of a site</a:t>
            </a:r>
          </a:p>
          <a:p>
            <a:pPr lvl="1" indent="-420688" algn="just">
              <a:buFont typeface="Wingdings" panose="05000000000000000000" pitchFamily="2" charset="2"/>
              <a:buChar char="ü"/>
              <a:defRPr/>
            </a:pPr>
            <a:r>
              <a:rPr lang="en-CA" dirty="0" smtClean="0">
                <a:ea typeface="MS PGothic" charset="0"/>
              </a:rPr>
              <a:t>Ground disturbing activities such as sediment removal, tilling, digging</a:t>
            </a:r>
          </a:p>
          <a:p>
            <a:pPr lvl="1" indent="-420688" algn="just">
              <a:buFont typeface="Wingdings" panose="05000000000000000000" pitchFamily="2" charset="2"/>
              <a:buChar char="ü"/>
              <a:defRPr/>
            </a:pPr>
            <a:r>
              <a:rPr lang="en-CA" dirty="0" smtClean="0">
                <a:ea typeface="MS PGothic" charset="0"/>
              </a:rPr>
              <a:t>Shoreline cleaning agents, in situ burning</a:t>
            </a:r>
          </a:p>
          <a:p>
            <a:pPr lvl="1" indent="-420688" algn="just">
              <a:buFont typeface="Wingdings" panose="05000000000000000000" pitchFamily="2" charset="2"/>
              <a:buChar char="ü"/>
              <a:defRPr/>
            </a:pPr>
            <a:r>
              <a:rPr lang="en-CA" dirty="0" smtClean="0">
                <a:ea typeface="MS PGothic" charset="0"/>
              </a:rPr>
              <a:t>Construction of access roads or paths for response crews/staging areas</a:t>
            </a:r>
          </a:p>
          <a:p>
            <a:pPr algn="just">
              <a:buFont typeface="Arial" charset="0"/>
              <a:buNone/>
              <a:defRPr/>
            </a:pPr>
            <a:endParaRPr lang="en-CA" dirty="0">
              <a:ea typeface="MS PGothic" charset="0"/>
            </a:endParaRPr>
          </a:p>
        </p:txBody>
      </p:sp>
    </p:spTree>
    <p:extLst>
      <p:ext uri="{BB962C8B-B14F-4D97-AF65-F5344CB8AC3E}">
        <p14:creationId xmlns:p14="http://schemas.microsoft.com/office/powerpoint/2010/main" val="864759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2076450" y="13017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Impact of Response </a:t>
            </a:r>
            <a:r>
              <a:rPr lang="en-CA" altLang="en-US" sz="4000" b="1" dirty="0"/>
              <a:t>A</a:t>
            </a:r>
            <a:r>
              <a:rPr lang="en-CA" altLang="en-US" sz="4000" b="1" dirty="0" smtClean="0"/>
              <a:t>ctivities</a:t>
            </a:r>
            <a:r>
              <a:rPr lang="en-CA" altLang="en-US" b="1" dirty="0" smtClean="0"/>
              <a:t>	</a:t>
            </a:r>
          </a:p>
        </p:txBody>
      </p:sp>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98374" y="1648459"/>
            <a:ext cx="4881512" cy="3744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4504" y="1625605"/>
            <a:ext cx="5023104" cy="3767328"/>
          </a:xfrm>
          <a:prstGeom prst="rect">
            <a:avLst/>
          </a:prstGeom>
        </p:spPr>
      </p:pic>
    </p:spTree>
    <p:extLst>
      <p:ext uri="{BB962C8B-B14F-4D97-AF65-F5344CB8AC3E}">
        <p14:creationId xmlns:p14="http://schemas.microsoft.com/office/powerpoint/2010/main" val="40666209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94232" y="14937"/>
            <a:ext cx="97917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A" altLang="en-US" sz="4000" b="1" dirty="0" smtClean="0"/>
              <a:t>Mitigating Impact</a:t>
            </a:r>
          </a:p>
        </p:txBody>
      </p:sp>
      <p:sp>
        <p:nvSpPr>
          <p:cNvPr id="6" name="Content Placeholder 2"/>
          <p:cNvSpPr txBox="1">
            <a:spLocks/>
          </p:cNvSpPr>
          <p:nvPr/>
        </p:nvSpPr>
        <p:spPr>
          <a:xfrm>
            <a:off x="1095375" y="1266549"/>
            <a:ext cx="979170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CA" altLang="en-US" dirty="0" smtClean="0"/>
              <a:t>Shoreline clean-up may have to be modified/restricted to protect resources</a:t>
            </a:r>
          </a:p>
          <a:p>
            <a:pPr algn="just"/>
            <a:r>
              <a:rPr lang="en-CA" altLang="en-US" dirty="0" smtClean="0"/>
              <a:t>Examples:</a:t>
            </a:r>
          </a:p>
          <a:p>
            <a:pPr lvl="1" indent="-420688" algn="just">
              <a:buFont typeface="Wingdings" panose="05000000000000000000" pitchFamily="2" charset="2"/>
              <a:buChar char="ü"/>
            </a:pPr>
            <a:r>
              <a:rPr lang="en-CA" altLang="en-US" dirty="0" smtClean="0"/>
              <a:t>Sensitive areas delineated </a:t>
            </a:r>
          </a:p>
          <a:p>
            <a:pPr lvl="1" indent="-420688" algn="just">
              <a:buFont typeface="Wingdings" panose="05000000000000000000" pitchFamily="2" charset="2"/>
              <a:buChar char="ü"/>
            </a:pPr>
            <a:r>
              <a:rPr lang="en-CA" altLang="en-US" dirty="0" smtClean="0"/>
              <a:t>Areas may have to be excluded from response activities entirely</a:t>
            </a:r>
          </a:p>
          <a:p>
            <a:pPr lvl="1" indent="-420688" algn="just">
              <a:buFont typeface="Wingdings" panose="05000000000000000000" pitchFamily="2" charset="2"/>
              <a:buChar char="ü"/>
            </a:pPr>
            <a:r>
              <a:rPr lang="en-CA" altLang="en-US" dirty="0" smtClean="0"/>
              <a:t>Ground disturbance may be limited to certain depths or areas</a:t>
            </a:r>
          </a:p>
          <a:p>
            <a:pPr lvl="1" indent="-420688" algn="just">
              <a:buFont typeface="Wingdings" panose="05000000000000000000" pitchFamily="2" charset="2"/>
              <a:buChar char="ü"/>
            </a:pPr>
            <a:r>
              <a:rPr lang="en-CA" altLang="en-US" dirty="0" smtClean="0"/>
              <a:t>Monitors checking each interval of ground disturbance </a:t>
            </a:r>
          </a:p>
        </p:txBody>
      </p:sp>
    </p:spTree>
    <p:extLst>
      <p:ext uri="{BB962C8B-B14F-4D97-AF65-F5344CB8AC3E}">
        <p14:creationId xmlns:p14="http://schemas.microsoft.com/office/powerpoint/2010/main" val="19902510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352550" y="130175"/>
            <a:ext cx="925671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000" b="1" dirty="0" smtClean="0"/>
              <a:t>Post-incident Operations</a:t>
            </a:r>
          </a:p>
        </p:txBody>
      </p:sp>
      <p:sp>
        <p:nvSpPr>
          <p:cNvPr id="6" name="Rectangle 3"/>
          <p:cNvSpPr txBox="1">
            <a:spLocks/>
          </p:cNvSpPr>
          <p:nvPr/>
        </p:nvSpPr>
        <p:spPr>
          <a:xfrm>
            <a:off x="1352550" y="1270000"/>
            <a:ext cx="925671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just">
              <a:lnSpc>
                <a:spcPct val="110000"/>
              </a:lnSpc>
              <a:spcBef>
                <a:spcPct val="30000"/>
              </a:spcBef>
              <a:buFont typeface="Arial" panose="020B0604020202020204" pitchFamily="34" charset="0"/>
              <a:buNone/>
            </a:pPr>
            <a:r>
              <a:rPr lang="en-US" altLang="en-US" dirty="0" smtClean="0"/>
              <a:t>Post-spill studies that affect a resource may be necessary to:</a:t>
            </a:r>
          </a:p>
          <a:p>
            <a:pPr marL="1200150" lvl="1" indent="-457200" algn="just">
              <a:lnSpc>
                <a:spcPct val="110000"/>
              </a:lnSpc>
              <a:spcBef>
                <a:spcPct val="30000"/>
              </a:spcBef>
            </a:pPr>
            <a:r>
              <a:rPr lang="en-US" altLang="en-US" dirty="0" smtClean="0"/>
              <a:t>determine the nature and extent of damage</a:t>
            </a:r>
          </a:p>
          <a:p>
            <a:pPr marL="1200150" lvl="1" indent="-457200" algn="just">
              <a:lnSpc>
                <a:spcPct val="110000"/>
              </a:lnSpc>
              <a:spcBef>
                <a:spcPct val="30000"/>
              </a:spcBef>
            </a:pPr>
            <a:r>
              <a:rPr lang="en-US" altLang="en-US" dirty="0" smtClean="0"/>
              <a:t>assess and monitor the recovery processes</a:t>
            </a:r>
          </a:p>
        </p:txBody>
      </p:sp>
    </p:spTree>
    <p:extLst>
      <p:ext uri="{BB962C8B-B14F-4D97-AF65-F5344CB8AC3E}">
        <p14:creationId xmlns:p14="http://schemas.microsoft.com/office/powerpoint/2010/main" val="21020982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2133600" y="13017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000" b="1" dirty="0" smtClean="0"/>
              <a:t>Post-incident Operation</a:t>
            </a:r>
          </a:p>
        </p:txBody>
      </p:sp>
      <p:sp>
        <p:nvSpPr>
          <p:cNvPr id="6" name="Rectangle 3"/>
          <p:cNvSpPr txBox="1">
            <a:spLocks/>
          </p:cNvSpPr>
          <p:nvPr/>
        </p:nvSpPr>
        <p:spPr>
          <a:xfrm>
            <a:off x="1676400" y="765175"/>
            <a:ext cx="914400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ct val="30000"/>
              </a:spcBef>
            </a:pPr>
            <a:r>
              <a:rPr lang="en-US" altLang="en-US" dirty="0" smtClean="0"/>
              <a:t>Restoration</a:t>
            </a:r>
          </a:p>
          <a:p>
            <a:pPr lvl="1" indent="-420688">
              <a:lnSpc>
                <a:spcPct val="110000"/>
              </a:lnSpc>
              <a:spcBef>
                <a:spcPct val="30000"/>
              </a:spcBef>
              <a:buFont typeface="Wingdings" panose="05000000000000000000" pitchFamily="2" charset="2"/>
              <a:buChar char="ü"/>
            </a:pPr>
            <a:r>
              <a:rPr lang="en-US" altLang="en-US" dirty="0" smtClean="0"/>
              <a:t>Measures to speed up recovery from environmental damages</a:t>
            </a:r>
          </a:p>
          <a:p>
            <a:pPr lvl="1" indent="-420688" algn="just">
              <a:lnSpc>
                <a:spcPct val="110000"/>
              </a:lnSpc>
              <a:spcBef>
                <a:spcPct val="30000"/>
              </a:spcBef>
              <a:buFont typeface="Wingdings" panose="05000000000000000000" pitchFamily="2" charset="2"/>
              <a:buChar char="ü"/>
            </a:pPr>
            <a:r>
              <a:rPr lang="en-US" altLang="en-US" dirty="0" smtClean="0"/>
              <a:t>Aim to bring back condition of a site or property to what it was prior to a spill</a:t>
            </a:r>
          </a:p>
          <a:p>
            <a:pPr lvl="1" indent="-420688">
              <a:lnSpc>
                <a:spcPct val="110000"/>
              </a:lnSpc>
              <a:spcBef>
                <a:spcPts val="600"/>
              </a:spcBef>
              <a:buFont typeface="Wingdings" panose="05000000000000000000" pitchFamily="2" charset="2"/>
              <a:buChar char="ü"/>
            </a:pPr>
            <a:r>
              <a:rPr lang="en-US" altLang="en-US" dirty="0" smtClean="0"/>
              <a:t>May result in claims for compensation</a:t>
            </a:r>
          </a:p>
          <a:p>
            <a:pPr lvl="1">
              <a:lnSpc>
                <a:spcPct val="110000"/>
              </a:lnSpc>
              <a:spcBef>
                <a:spcPct val="30000"/>
              </a:spcBef>
            </a:pPr>
            <a:endParaRPr lang="en-US" altLang="en-US" dirty="0" smtClean="0"/>
          </a:p>
          <a:p>
            <a:pPr>
              <a:lnSpc>
                <a:spcPct val="110000"/>
              </a:lnSpc>
              <a:spcBef>
                <a:spcPct val="30000"/>
              </a:spcBef>
            </a:pPr>
            <a:endParaRPr lang="en-US" altLang="en-US" dirty="0" smtClean="0"/>
          </a:p>
        </p:txBody>
      </p:sp>
      <p:pic>
        <p:nvPicPr>
          <p:cNvPr id="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03713" y="3933825"/>
            <a:ext cx="3122612"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2"/>
          <p:cNvSpPr txBox="1">
            <a:spLocks noChangeArrowheads="1"/>
          </p:cNvSpPr>
          <p:nvPr/>
        </p:nvSpPr>
        <p:spPr bwMode="auto">
          <a:xfrm>
            <a:off x="6392863" y="6042025"/>
            <a:ext cx="23034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r>
              <a:rPr lang="en-CA" altLang="en-US" sz="800">
                <a:solidFill>
                  <a:schemeClr val="bg1"/>
                </a:solidFill>
                <a:latin typeface="Tahoma" panose="020B0604030504040204" pitchFamily="34" charset="0"/>
              </a:rPr>
              <a:t>Source: CEDRE</a:t>
            </a:r>
          </a:p>
        </p:txBody>
      </p:sp>
    </p:spTree>
    <p:extLst>
      <p:ext uri="{BB962C8B-B14F-4D97-AF65-F5344CB8AC3E}">
        <p14:creationId xmlns:p14="http://schemas.microsoft.com/office/powerpoint/2010/main" val="27653149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2"/>
          <p:cNvSpPr txBox="1">
            <a:spLocks/>
          </p:cNvSpPr>
          <p:nvPr/>
        </p:nvSpPr>
        <p:spPr>
          <a:xfrm>
            <a:off x="1362075" y="13017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sz="4000" b="1" dirty="0" smtClean="0"/>
              <a:t>Conclusion</a:t>
            </a:r>
          </a:p>
        </p:txBody>
      </p:sp>
      <p:sp>
        <p:nvSpPr>
          <p:cNvPr id="6" name="Rectangle 3"/>
          <p:cNvSpPr txBox="1">
            <a:spLocks/>
          </p:cNvSpPr>
          <p:nvPr/>
        </p:nvSpPr>
        <p:spPr>
          <a:xfrm>
            <a:off x="895350" y="963402"/>
            <a:ext cx="1035177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550"/>
              </a:spcBef>
            </a:pPr>
            <a:r>
              <a:rPr lang="en-GB" altLang="en-US" dirty="0" smtClean="0"/>
              <a:t>Archaeological and cultural resources can be of major historical and cultural significance</a:t>
            </a:r>
          </a:p>
          <a:p>
            <a:pPr algn="just">
              <a:lnSpc>
                <a:spcPct val="110000"/>
              </a:lnSpc>
              <a:spcBef>
                <a:spcPts val="550"/>
              </a:spcBef>
            </a:pPr>
            <a:r>
              <a:rPr lang="en-GB" altLang="en-US" dirty="0" smtClean="0"/>
              <a:t>It is important that incident management receive accurate and timely information regarding such resources in order to protect them where practicable</a:t>
            </a:r>
          </a:p>
          <a:p>
            <a:pPr algn="just">
              <a:lnSpc>
                <a:spcPct val="110000"/>
              </a:lnSpc>
              <a:spcBef>
                <a:spcPts val="550"/>
              </a:spcBef>
            </a:pPr>
            <a:r>
              <a:rPr lang="en-GB" altLang="en-US" dirty="0" smtClean="0"/>
              <a:t>Clean-up activities may have to be modified or restricted to ensure resources are not adversely affected and NEBA must be conducted </a:t>
            </a:r>
          </a:p>
          <a:p>
            <a:pPr algn="just">
              <a:lnSpc>
                <a:spcPct val="110000"/>
              </a:lnSpc>
              <a:spcBef>
                <a:spcPts val="550"/>
              </a:spcBef>
            </a:pPr>
            <a:r>
              <a:rPr lang="en-GB" altLang="en-US" dirty="0" smtClean="0"/>
              <a:t>Operations must be engaged in any policies and procedures</a:t>
            </a:r>
          </a:p>
          <a:p>
            <a:pPr algn="just">
              <a:lnSpc>
                <a:spcPct val="110000"/>
              </a:lnSpc>
              <a:spcBef>
                <a:spcPts val="550"/>
              </a:spcBef>
            </a:pPr>
            <a:endParaRPr lang="en-GB" altLang="en-US" dirty="0" smtClean="0"/>
          </a:p>
          <a:p>
            <a:pPr algn="just">
              <a:lnSpc>
                <a:spcPct val="110000"/>
              </a:lnSpc>
              <a:spcBef>
                <a:spcPts val="550"/>
              </a:spcBef>
            </a:pPr>
            <a:endParaRPr lang="en-GB" altLang="en-US" dirty="0" smtClean="0"/>
          </a:p>
        </p:txBody>
      </p:sp>
    </p:spTree>
    <p:extLst>
      <p:ext uri="{BB962C8B-B14F-4D97-AF65-F5344CB8AC3E}">
        <p14:creationId xmlns:p14="http://schemas.microsoft.com/office/powerpoint/2010/main" val="36892221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0" y="6378300"/>
            <a:ext cx="12192000"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7" name="Rectangle 6"/>
          <p:cNvSpPr/>
          <p:nvPr/>
        </p:nvSpPr>
        <p:spPr>
          <a:xfrm>
            <a:off x="810490" y="2385956"/>
            <a:ext cx="10571019" cy="1938992"/>
          </a:xfrm>
          <a:prstGeom prst="rect">
            <a:avLst/>
          </a:prstGeom>
        </p:spPr>
        <p:txBody>
          <a:bodyPr wrap="square">
            <a:spAutoFit/>
          </a:bodyPr>
          <a:lstStyle/>
          <a:p>
            <a:pPr algn="ctr">
              <a:spcBef>
                <a:spcPct val="50000"/>
              </a:spcBef>
              <a:defRPr/>
            </a:pPr>
            <a:r>
              <a:rPr lang="en-US" altLang="en-US" sz="4000" b="1" dirty="0">
                <a:ln w="0"/>
                <a:latin typeface="Tahoma" panose="020B0604030504040204" pitchFamily="34" charset="0"/>
                <a:ea typeface="Tahoma" panose="020B0604030504040204" pitchFamily="34" charset="0"/>
                <a:cs typeface="Tahoma" panose="020B0604030504040204" pitchFamily="34" charset="0"/>
              </a:rPr>
              <a:t/>
            </a:r>
            <a:br>
              <a:rPr lang="en-US" altLang="en-US" sz="4000" b="1" dirty="0">
                <a:ln w="0"/>
                <a:latin typeface="Tahoma" panose="020B0604030504040204" pitchFamily="34" charset="0"/>
                <a:ea typeface="Tahoma" panose="020B0604030504040204" pitchFamily="34" charset="0"/>
                <a:cs typeface="Tahoma" panose="020B0604030504040204" pitchFamily="34" charset="0"/>
              </a:rPr>
            </a:br>
            <a:r>
              <a:rPr lang="en-GB" sz="4000" b="1" dirty="0">
                <a:ln w="0"/>
                <a:latin typeface="Tahoma" panose="020B0604030504040204" pitchFamily="34" charset="0"/>
                <a:ea typeface="Tahoma" panose="020B0604030504040204" pitchFamily="34" charset="0"/>
                <a:cs typeface="Tahoma" panose="020B0604030504040204" pitchFamily="34" charset="0"/>
              </a:rPr>
              <a:t>Any questions?</a:t>
            </a:r>
          </a:p>
          <a:p>
            <a:pPr lvl="1">
              <a:spcBef>
                <a:spcPct val="0"/>
              </a:spcBef>
            </a:pPr>
            <a:endParaRPr lang="en-GB" altLang="en-US" sz="4000" b="1" dirty="0">
              <a:ln w="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0283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926</Words>
  <Application>Microsoft Office PowerPoint</Application>
  <PresentationFormat>Widescreen</PresentationFormat>
  <Paragraphs>133</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MS PGothic</vt:lpstr>
      <vt:lpstr>MS PGothic</vt:lpstr>
      <vt:lpstr>Arial</vt:lpstr>
      <vt:lpstr>Calibri</vt:lpstr>
      <vt:lpstr>inherit</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Mohammad Muktadar</dc:creator>
  <cp:lastModifiedBy>Sajith, Sadanandan </cp:lastModifiedBy>
  <cp:revision>155</cp:revision>
  <dcterms:created xsi:type="dcterms:W3CDTF">2024-09-27T05:40:49Z</dcterms:created>
  <dcterms:modified xsi:type="dcterms:W3CDTF">2025-05-09T04:49:24Z</dcterms:modified>
</cp:coreProperties>
</file>
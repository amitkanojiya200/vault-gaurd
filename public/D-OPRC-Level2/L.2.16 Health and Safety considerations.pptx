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1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71" r:id="rId33"/>
    <p:sldId id="264" r:id="rId34"/>
    <p:sldId id="29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037652" y="2395728"/>
            <a:ext cx="7772400" cy="63579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Aspects of Oil Spill Response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07008" y="139319"/>
            <a:ext cx="99943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Objective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092886" y="1639888"/>
            <a:ext cx="9994392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To understand the health and safety aspects of oil spill response including risk assessments, site safety, PPE and emergency response.</a:t>
            </a:r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61872" y="130175"/>
            <a:ext cx="95006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Health and Safety </a:t>
            </a:r>
            <a:r>
              <a:rPr lang="en-CA" altLang="en-US" sz="4000" b="1" dirty="0"/>
              <a:t>A</a:t>
            </a:r>
            <a:r>
              <a:rPr lang="en-CA" altLang="en-US" sz="4000" b="1" dirty="0" smtClean="0"/>
              <a:t>spects	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43041" y="1342749"/>
            <a:ext cx="929408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CA" altLang="en-US" dirty="0" smtClean="0"/>
              <a:t>Know the health and safety considerations and precautions with respect to:</a:t>
            </a:r>
          </a:p>
          <a:p>
            <a:pPr marL="447675" lvl="1" indent="-355600" algn="just"/>
            <a:r>
              <a:rPr lang="en-CA" altLang="en-US" dirty="0" smtClean="0"/>
              <a:t>Spilled product</a:t>
            </a:r>
          </a:p>
          <a:p>
            <a:pPr marL="447675" lvl="1" indent="-355600" algn="just"/>
            <a:r>
              <a:rPr lang="en-CA" altLang="en-US" dirty="0" smtClean="0"/>
              <a:t>Working environment</a:t>
            </a:r>
          </a:p>
          <a:p>
            <a:pPr marL="447675" lvl="1" indent="-355600" algn="just"/>
            <a:r>
              <a:rPr lang="en-CA" altLang="en-US" dirty="0" smtClean="0"/>
              <a:t>Equipment</a:t>
            </a:r>
          </a:p>
          <a:p>
            <a:pPr marL="447675" lvl="1" indent="-355600" algn="just"/>
            <a:r>
              <a:rPr lang="en-CA" altLang="en-US" dirty="0" smtClean="0"/>
              <a:t>Transportation</a:t>
            </a:r>
          </a:p>
          <a:p>
            <a:pPr marL="447675" lvl="1" indent="-355600" algn="just"/>
            <a:r>
              <a:rPr lang="en-CA" altLang="en-US" dirty="0" smtClean="0"/>
              <a:t>Decontamination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44168" y="130175"/>
            <a:ext cx="92811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Health and Safety </a:t>
            </a:r>
            <a:r>
              <a:rPr lang="en-CA" altLang="en-US" sz="4000" b="1" dirty="0"/>
              <a:t>A</a:t>
            </a:r>
            <a:r>
              <a:rPr lang="en-CA" altLang="en-US" sz="4000" b="1" dirty="0" smtClean="0"/>
              <a:t>spects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746504" y="1246378"/>
            <a:ext cx="92811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Font typeface="Arial" panose="020B0604020202020204" pitchFamily="34" charset="0"/>
              <a:buNone/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There are multiple hazards when responding to an oil spill:</a:t>
            </a:r>
          </a:p>
          <a:p>
            <a:pPr marL="593725" lvl="1" indent="-501650"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Chemical</a:t>
            </a:r>
          </a:p>
          <a:p>
            <a:pPr marL="593725" lvl="1" indent="-501650"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Physical</a:t>
            </a:r>
          </a:p>
          <a:p>
            <a:pPr marL="593725" lvl="1" indent="-501650"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Environmental</a:t>
            </a:r>
          </a:p>
          <a:p>
            <a:pPr marL="593725" lvl="1" indent="-501650"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Wildlife</a:t>
            </a:r>
          </a:p>
          <a:p>
            <a:pPr marL="593725" lvl="1" indent="-501650"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Other</a:t>
            </a:r>
          </a:p>
          <a:p>
            <a:pPr>
              <a:defRPr/>
            </a:pPr>
            <a:endParaRPr lang="en-CA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91639" y="130175"/>
            <a:ext cx="887768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Safety of the General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ublic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485264" y="1019175"/>
            <a:ext cx="9322943" cy="4930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Protection of the general public is an important consideration: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altLang="en-US" sz="2400" dirty="0" smtClean="0"/>
          </a:p>
          <a:p>
            <a:pPr algn="just">
              <a:defRPr/>
            </a:pPr>
            <a:r>
              <a:rPr lang="en-GB" altLang="en-US" sz="2400" dirty="0" smtClean="0"/>
              <a:t>may require provision of advice on the presence or absence of risks posed to the general public following an oil spill incident</a:t>
            </a:r>
          </a:p>
          <a:p>
            <a:pPr marL="0" indent="0" algn="just">
              <a:defRPr/>
            </a:pPr>
            <a:endParaRPr lang="en-GB" altLang="en-US" sz="2400" dirty="0" smtClean="0"/>
          </a:p>
          <a:p>
            <a:pPr algn="just">
              <a:defRPr/>
            </a:pPr>
            <a:r>
              <a:rPr lang="en-GB" altLang="en-US" sz="2400" dirty="0" smtClean="0"/>
              <a:t>may require evacuation from areas likely to have hydrocarbon vapours present</a:t>
            </a:r>
          </a:p>
          <a:p>
            <a:pPr marL="0" indent="0" algn="just">
              <a:defRPr/>
            </a:pPr>
            <a:endParaRPr lang="en-GB" altLang="en-US" sz="2400" dirty="0" smtClean="0"/>
          </a:p>
          <a:p>
            <a:pPr algn="just">
              <a:defRPr/>
            </a:pPr>
            <a:r>
              <a:rPr lang="en-GB" altLang="en-US" sz="2400" dirty="0" smtClean="0"/>
              <a:t>may require enforcing strict controls on access to contaminated areas to minimize direct contact with oil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sz="2400" dirty="0" smtClean="0"/>
              <a:t>	</a:t>
            </a: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13816" y="115888"/>
            <a:ext cx="102961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Chemical Hazards from Spilled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roduct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124712" y="1273810"/>
            <a:ext cx="9299448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Some compounds found in oil can be toxic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Responders must avoid exposure to these compounds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Typical exposure routes: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Inhalation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Ingestion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Contact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Absorption</a:t>
            </a:r>
          </a:p>
          <a:p>
            <a:pPr lvl="1">
              <a:defRPr/>
            </a:pPr>
            <a:endParaRPr lang="en-CA" dirty="0" smtClean="0">
              <a:ea typeface="ＭＳ Ｐゴシック" charset="0"/>
            </a:endParaRPr>
          </a:p>
          <a:p>
            <a:pPr lvl="1">
              <a:defRPr/>
            </a:pPr>
            <a:endParaRPr lang="en-CA" dirty="0" smtClean="0">
              <a:ea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CA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CA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84632" y="130175"/>
            <a:ext cx="111191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Chemical Hazards from Spilled </a:t>
            </a:r>
            <a:r>
              <a:rPr lang="en-GB" altLang="en-US" b="1" dirty="0"/>
              <a:t>P</a:t>
            </a:r>
            <a:r>
              <a:rPr lang="en-GB" altLang="en-US" b="1" dirty="0" smtClean="0"/>
              <a:t>roduct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030" y="1755648"/>
            <a:ext cx="5154041" cy="34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72" y="1755648"/>
            <a:ext cx="4596384" cy="344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23544" y="115888"/>
            <a:ext cx="101498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Chemical Hazards from Spilled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roduct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923544" y="1160187"/>
            <a:ext cx="9701784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Inhalation is a very important exposure route initially as light ends will evaporate: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Hydrogen Sulphide	</a:t>
            </a:r>
          </a:p>
          <a:p>
            <a:pPr lvl="2" indent="-430213" algn="just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Rotten egg smell</a:t>
            </a:r>
          </a:p>
          <a:p>
            <a:pPr lvl="2" indent="-430213" algn="just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Mild symptoms: dizziness, headache, eye irritation</a:t>
            </a:r>
          </a:p>
          <a:p>
            <a:pPr lvl="2" indent="-430213" algn="just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Severe symptoms: Dulled sense of smell to no sense of smell, loss of consciousness, death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Benzene</a:t>
            </a:r>
          </a:p>
          <a:p>
            <a:pPr lvl="2" indent="-430213" algn="just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</a:rPr>
              <a:t>Known carcinogen</a:t>
            </a:r>
          </a:p>
          <a:p>
            <a:pPr lvl="2" indent="-430213" algn="just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</a:rPr>
              <a:t>Irritation, headache, dizziness.</a:t>
            </a:r>
          </a:p>
          <a:p>
            <a:pPr lvl="1" algn="just">
              <a:defRPr/>
            </a:pPr>
            <a:endParaRPr lang="en-CA" dirty="0" smtClean="0">
              <a:ea typeface="ＭＳ Ｐゴシック" charset="0"/>
            </a:endParaRPr>
          </a:p>
          <a:p>
            <a:pPr lvl="1" algn="just">
              <a:defRPr/>
            </a:pPr>
            <a:endParaRPr lang="en-CA" dirty="0" smtClean="0">
              <a:ea typeface="ＭＳ Ｐゴシック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CA" dirty="0" smtClean="0">
              <a:ea typeface="ＭＳ Ｐゴシック" charset="0"/>
              <a:cs typeface="ＭＳ Ｐゴシック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CA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18488" y="130175"/>
            <a:ext cx="948232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Precautions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48918" y="1085719"/>
            <a:ext cx="948232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altLang="en-US" dirty="0" smtClean="0"/>
              <a:t>To avoid inhalation:</a:t>
            </a:r>
          </a:p>
          <a:p>
            <a:pPr marL="742950" lvl="2" indent="-342900"/>
            <a:r>
              <a:rPr lang="en-CA" altLang="en-US" sz="2800" dirty="0" smtClean="0"/>
              <a:t>Conduct air monitoring</a:t>
            </a:r>
          </a:p>
          <a:p>
            <a:pPr marL="742950" lvl="2" indent="-342900"/>
            <a:r>
              <a:rPr lang="en-CA" altLang="en-US" sz="2800" dirty="0" smtClean="0"/>
              <a:t>Avoid confined spaces (caves, low-lying areas, tanks, etc.) until deemed safe </a:t>
            </a:r>
          </a:p>
          <a:p>
            <a:pPr marL="742950" lvl="2" indent="-342900"/>
            <a:r>
              <a:rPr lang="en-CA" altLang="en-US" sz="2800" dirty="0" smtClean="0"/>
              <a:t>Work upwind from spill source</a:t>
            </a:r>
          </a:p>
          <a:p>
            <a:pPr marL="742950" lvl="2" indent="-342900"/>
            <a:r>
              <a:rPr lang="en-CA" altLang="en-US" sz="2800" dirty="0" smtClean="0"/>
              <a:t>Wear respiratory protection</a:t>
            </a:r>
          </a:p>
          <a:p>
            <a:pPr marL="742950" lvl="2" indent="-342900"/>
            <a:endParaRPr lang="en-CA" altLang="en-US" sz="2800" dirty="0" smtClean="0"/>
          </a:p>
          <a:p>
            <a:pPr marL="1314450" lvl="4" indent="0">
              <a:buFont typeface="Arial" panose="020B0604020202020204" pitchFamily="34" charset="0"/>
              <a:buNone/>
            </a:pPr>
            <a:r>
              <a:rPr lang="en-CA" altLang="en-US" dirty="0" smtClean="0"/>
              <a:t>	</a:t>
            </a:r>
            <a:r>
              <a:rPr lang="en-CA" altLang="en-US" sz="2800" i="1" dirty="0" smtClean="0">
                <a:solidFill>
                  <a:srgbClr val="FF0000"/>
                </a:solidFill>
              </a:rPr>
              <a:t>Never rely on sense of smell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5140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22960" y="115888"/>
            <a:ext cx="104150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Chemical Hazards from Spilled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roduct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62672" y="977625"/>
            <a:ext cx="9736391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Ingestion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While eating, drinking (always wash first!)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Breathing liquid into lungs from mist during pressure washing or while using cleaning agents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Falling into product (swimming)</a:t>
            </a:r>
          </a:p>
          <a:p>
            <a:pPr lvl="1">
              <a:buFontTx/>
              <a:buChar char="-"/>
              <a:defRPr/>
            </a:pPr>
            <a:endParaRPr lang="en-CA" dirty="0" smtClean="0">
              <a:ea typeface="ＭＳ Ｐゴシック" charset="0"/>
            </a:endParaRP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Absorption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</a:rPr>
              <a:t>Direct skin contact resulting in compounds entering the blood stream (may be a long term effect)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endParaRPr lang="en-CA" dirty="0" smtClean="0">
              <a:ea typeface="ＭＳ Ｐゴシック" charset="0"/>
            </a:endParaRPr>
          </a:p>
          <a:p>
            <a:pPr lvl="1">
              <a:defRPr/>
            </a:pPr>
            <a:endParaRPr lang="en-CA" dirty="0" smtClean="0">
              <a:ea typeface="ＭＳ Ｐゴシック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CA" dirty="0" smtClean="0">
              <a:ea typeface="ＭＳ Ｐゴシック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CA" dirty="0" smtClean="0">
              <a:ea typeface="ＭＳ Ｐゴシック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CA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2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01001" y="115888"/>
            <a:ext cx="968883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Precautions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70763" y="1160187"/>
            <a:ext cx="968883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Use proper decontamination procedures before eating/drinking/smoking/taking breaks.</a:t>
            </a:r>
          </a:p>
          <a:p>
            <a:pPr algn="just"/>
            <a:r>
              <a:rPr lang="en-CA" altLang="en-US" dirty="0" smtClean="0"/>
              <a:t>Wear PPE properly as directed.</a:t>
            </a:r>
          </a:p>
          <a:p>
            <a:pPr algn="just"/>
            <a:r>
              <a:rPr lang="en-CA" altLang="en-US" dirty="0" smtClean="0"/>
              <a:t>Use face shields, masks and filters as directed when pressure washing.</a:t>
            </a:r>
          </a:p>
          <a:p>
            <a:pPr algn="just"/>
            <a:r>
              <a:rPr lang="en-CA" altLang="en-US" dirty="0" smtClean="0"/>
              <a:t>Remove oil from skin immediately if contact does occur. </a:t>
            </a:r>
          </a:p>
          <a:p>
            <a:pPr algn="just"/>
            <a:r>
              <a:rPr lang="en-CA" altLang="en-US" dirty="0" smtClean="0"/>
              <a:t>Seek medical attention if ingested or product gets into the eyes.</a:t>
            </a:r>
          </a:p>
        </p:txBody>
      </p:sp>
    </p:spTree>
    <p:extLst>
      <p:ext uri="{BB962C8B-B14F-4D97-AF65-F5344CB8AC3E}">
        <p14:creationId xmlns:p14="http://schemas.microsoft.com/office/powerpoint/2010/main" val="351966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43584" y="1502283"/>
            <a:ext cx="10241280" cy="3887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CA" altLang="en-US" dirty="0" smtClean="0"/>
              <a:t>Know the properties and characteristics of the spilled product.</a:t>
            </a:r>
          </a:p>
          <a:p>
            <a:pPr algn="just">
              <a:lnSpc>
                <a:spcPct val="150000"/>
              </a:lnSpc>
            </a:pPr>
            <a:r>
              <a:rPr lang="en-CA" altLang="en-US" dirty="0" smtClean="0"/>
              <a:t>Know the general hazards of the spilled product.</a:t>
            </a:r>
          </a:p>
          <a:p>
            <a:pPr algn="just">
              <a:lnSpc>
                <a:spcPct val="150000"/>
              </a:lnSpc>
            </a:pPr>
            <a:r>
              <a:rPr lang="en-CA" altLang="en-US" dirty="0" smtClean="0"/>
              <a:t>Safety data sheet.</a:t>
            </a:r>
          </a:p>
          <a:p>
            <a:pPr algn="just">
              <a:lnSpc>
                <a:spcPct val="150000"/>
              </a:lnSpc>
            </a:pPr>
            <a:endParaRPr lang="en-CA" altLang="en-US" dirty="0" smtClean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01001" y="115888"/>
            <a:ext cx="968883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Precautions</a:t>
            </a:r>
          </a:p>
        </p:txBody>
      </p:sp>
    </p:spTree>
    <p:extLst>
      <p:ext uri="{BB962C8B-B14F-4D97-AF65-F5344CB8AC3E}">
        <p14:creationId xmlns:p14="http://schemas.microsoft.com/office/powerpoint/2010/main" val="285211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4086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Spilled Product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46200" y="1976438"/>
            <a:ext cx="4389438" cy="3600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Product and company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Hazards identification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Composition/Information on ingredients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First aid measures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Fire fighting measures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Accidental release measures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Handling and storage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 smtClean="0"/>
              <a:t>Exposure controls/Personal protection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735638" y="1976438"/>
            <a:ext cx="389890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Physical and chemical properties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Stability and reactivity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Toxicological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Ecological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Disposal considerations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Transport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Regulatory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CA" altLang="en-US" sz="2000" dirty="0">
                <a:latin typeface="+mj-lt"/>
              </a:rPr>
              <a:t>Other information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371600" y="1257300"/>
            <a:ext cx="60483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CA" altLang="en-US" dirty="0"/>
              <a:t>Safety data sheet information</a:t>
            </a:r>
          </a:p>
        </p:txBody>
      </p:sp>
    </p:spTree>
    <p:extLst>
      <p:ext uri="{BB962C8B-B14F-4D97-AF65-F5344CB8AC3E}">
        <p14:creationId xmlns:p14="http://schemas.microsoft.com/office/powerpoint/2010/main" val="220396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4767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Symptoms of Toxic </a:t>
            </a:r>
            <a:r>
              <a:rPr lang="en-CA" altLang="en-US" sz="4000" b="1" dirty="0"/>
              <a:t>E</a:t>
            </a:r>
            <a:r>
              <a:rPr lang="en-CA" altLang="en-US" sz="4000" b="1" dirty="0" smtClean="0"/>
              <a:t>xposure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55496" y="1313180"/>
            <a:ext cx="472351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altLang="en-US" dirty="0" smtClean="0"/>
              <a:t>Skin rashes/allergies/sores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Changes in sense of smell</a:t>
            </a:r>
          </a:p>
          <a:p>
            <a:pPr>
              <a:lnSpc>
                <a:spcPct val="120000"/>
              </a:lnSpc>
            </a:pPr>
            <a:r>
              <a:rPr lang="en-GB" altLang="en-US" dirty="0" smtClean="0"/>
              <a:t>Shortness of breath/ asthma/cough 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altLang="en-US" dirty="0" smtClean="0"/>
              <a:t>Headaches</a:t>
            </a:r>
          </a:p>
          <a:p>
            <a:endParaRPr lang="en-CA" altLang="en-US" dirty="0" smtClean="0"/>
          </a:p>
        </p:txBody>
      </p:sp>
      <p:sp>
        <p:nvSpPr>
          <p:cNvPr id="7" name="Rectangle 1">
            <a:extLst/>
          </p:cNvPr>
          <p:cNvSpPr>
            <a:spLocks noChangeArrowheads="1"/>
          </p:cNvSpPr>
          <p:nvPr/>
        </p:nvSpPr>
        <p:spPr bwMode="auto">
          <a:xfrm>
            <a:off x="6362256" y="1313180"/>
            <a:ext cx="4103687" cy="36972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2800" dirty="0">
                <a:latin typeface="Calibri" charset="0"/>
                <a:ea typeface="MS PGothic" charset="0"/>
                <a:cs typeface="MS PGothic" charset="0"/>
              </a:rPr>
              <a:t>Chest pains</a:t>
            </a: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2800" dirty="0">
                <a:latin typeface="+mj-lt"/>
                <a:ea typeface="MS PGothic" charset="0"/>
              </a:rPr>
              <a:t>Nausea/vomiting</a:t>
            </a: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2800" dirty="0">
                <a:latin typeface="Calibri" charset="0"/>
                <a:ea typeface="MS PGothic" charset="0"/>
              </a:rPr>
              <a:t>Weakness/tremors</a:t>
            </a: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2800" dirty="0">
                <a:latin typeface="Calibri" charset="0"/>
                <a:ea typeface="MS PGothic" charset="0"/>
              </a:rPr>
              <a:t>Unusual fatigue or new sleeping difficulties</a:t>
            </a:r>
          </a:p>
          <a:p>
            <a:pPr marL="342900" indent="-3429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2800" dirty="0">
                <a:latin typeface="Calibri" charset="0"/>
                <a:ea typeface="MS PGothic" charset="0"/>
              </a:rPr>
              <a:t>Unusual irritability</a:t>
            </a:r>
          </a:p>
          <a:p>
            <a:pPr>
              <a:lnSpc>
                <a:spcPct val="120000"/>
              </a:lnSpc>
              <a:defRPr/>
            </a:pPr>
            <a:endParaRPr lang="en-GB" sz="2800" dirty="0">
              <a:latin typeface="Calibri" charset="0"/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10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42416" y="130175"/>
            <a:ext cx="1003096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Physical Hazards from Spilled </a:t>
            </a:r>
            <a:r>
              <a:rPr lang="en-CA" altLang="en-US" sz="4000" b="1" dirty="0"/>
              <a:t>P</a:t>
            </a:r>
            <a:r>
              <a:rPr lang="en-CA" altLang="en-US" sz="4000" b="1" dirty="0" smtClean="0"/>
              <a:t>roduct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572768" y="1160187"/>
            <a:ext cx="968349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Fire/Explosion</a:t>
            </a:r>
          </a:p>
          <a:p>
            <a:pPr>
              <a:buFont typeface="Arial" charset="0"/>
              <a:buChar char="•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Oil is a flammable product!</a:t>
            </a:r>
          </a:p>
          <a:p>
            <a:pPr>
              <a:buFont typeface="Arial" charset="0"/>
              <a:buChar char="•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Precautions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Avoid ignition sources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Smoking/lighters and matches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Electrical equipment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Phone usage during response (including camera)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Conduct air monitoring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Establish site control</a:t>
            </a:r>
          </a:p>
          <a:p>
            <a:pPr>
              <a:defRPr/>
            </a:pPr>
            <a:endParaRPr lang="en-CA" altLang="en-US" dirty="0">
              <a:ea typeface="ＭＳ Ｐゴシック" panose="020B0600070205080204" pitchFamily="34" charset="-128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26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32688" y="130175"/>
            <a:ext cx="101772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Physical Hazards in Work </a:t>
            </a:r>
            <a:r>
              <a:rPr lang="en-GB" altLang="en-US" sz="4000" b="1" dirty="0"/>
              <a:t>E</a:t>
            </a:r>
            <a:r>
              <a:rPr lang="en-GB" altLang="en-US" sz="4000" b="1" dirty="0" smtClean="0"/>
              <a:t>nvironment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34440" y="1160187"/>
            <a:ext cx="957376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  <a:defRPr/>
            </a:pPr>
            <a:r>
              <a:rPr lang="en-CA" dirty="0" smtClean="0">
                <a:ea typeface="MS PGothic" charset="0"/>
              </a:rPr>
              <a:t>Field work</a:t>
            </a:r>
          </a:p>
          <a:p>
            <a:pPr>
              <a:buFont typeface="Arial" charset="0"/>
              <a:buChar char="•"/>
              <a:defRPr/>
            </a:pPr>
            <a:r>
              <a:rPr lang="en-CA" dirty="0" smtClean="0">
                <a:ea typeface="MS PGothic" charset="0"/>
              </a:rPr>
              <a:t>Main hazards: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Water hazards/drowning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Slip, trips and falls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Ergonomic stresses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Fatigue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Poor weather conditions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Hypothermia/frostbite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MS PGothic" charset="0"/>
              </a:rPr>
              <a:t>Heat stress and heat exhaustion </a:t>
            </a:r>
          </a:p>
          <a:p>
            <a:pPr marL="457200" lvl="1" indent="0">
              <a:buFont typeface="Arial" charset="0"/>
              <a:buNone/>
              <a:defRPr/>
            </a:pPr>
            <a:endParaRPr lang="en-CA" dirty="0" smtClean="0">
              <a:ea typeface="MS PGothic" charset="0"/>
            </a:endParaRPr>
          </a:p>
          <a:p>
            <a:pPr>
              <a:buFont typeface="Arial" charset="0"/>
              <a:buChar char="•"/>
              <a:defRPr/>
            </a:pPr>
            <a:endParaRPr lang="en-CA" dirty="0" smtClean="0">
              <a:ea typeface="MS PGothic" charset="0"/>
            </a:endParaRPr>
          </a:p>
          <a:p>
            <a:pPr>
              <a:buFont typeface="Arial" charset="0"/>
              <a:buChar char="•"/>
              <a:defRPr/>
            </a:pPr>
            <a:endParaRPr lang="en-CA" dirty="0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2660" y="933595"/>
            <a:ext cx="4703762" cy="3527425"/>
          </a:xfrm>
          <a:prstGeom prst="rect">
            <a:avLst/>
          </a:prstGeom>
        </p:spPr>
      </p:pic>
      <p:sp>
        <p:nvSpPr>
          <p:cNvPr id="6" name="Rectangle 2">
            <a:extLst/>
          </p:cNvPr>
          <p:cNvSpPr txBox="1">
            <a:spLocks noChangeArrowheads="1"/>
          </p:cNvSpPr>
          <p:nvPr/>
        </p:nvSpPr>
        <p:spPr>
          <a:xfrm>
            <a:off x="201168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 smtClean="0">
                <a:latin typeface="+mn-lt"/>
                <a:ea typeface="ＭＳ Ｐゴシック" charset="0"/>
                <a:cs typeface="Arial" charset="0"/>
              </a:rPr>
              <a:t>Physical Hazards </a:t>
            </a:r>
            <a:endParaRPr lang="en-US" b="1" dirty="0">
              <a:latin typeface="+mn-lt"/>
              <a:ea typeface="ＭＳ Ｐゴシック" charset="0"/>
              <a:cs typeface="Arial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881505" y="4152900"/>
            <a:ext cx="21605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CEDRE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371" y="2697307"/>
            <a:ext cx="4547616" cy="34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8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62456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b="1" dirty="0" smtClean="0"/>
              <a:t>Physical Hazards – Cold Related</a:t>
            </a:r>
          </a:p>
        </p:txBody>
      </p:sp>
      <p:pic>
        <p:nvPicPr>
          <p:cNvPr id="6" name="Picture 4" descr="http://i.cbc.ca/1.2487205.1389113488!/fileImage/httpImage/image.png_gen/derivatives/original_620/environment-canada-wind-chill-char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802" y="836613"/>
            <a:ext cx="4410075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93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74826" y="57425"/>
            <a:ext cx="938707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Precautions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96543" y="1160187"/>
            <a:ext cx="9387078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Take sufficient breaks</a:t>
            </a:r>
          </a:p>
          <a:p>
            <a:r>
              <a:rPr lang="en-CA" altLang="en-US" dirty="0" smtClean="0"/>
              <a:t>Obey all health and safety instructions</a:t>
            </a:r>
          </a:p>
          <a:p>
            <a:r>
              <a:rPr lang="en-CA" altLang="en-US" dirty="0" smtClean="0"/>
              <a:t>Wear appropriate PPE at all times</a:t>
            </a:r>
          </a:p>
          <a:p>
            <a:r>
              <a:rPr lang="en-CA" altLang="en-US" dirty="0" smtClean="0"/>
              <a:t>Use proper lifting and carrying procedures</a:t>
            </a:r>
          </a:p>
          <a:p>
            <a:r>
              <a:rPr lang="en-CA" altLang="en-US" dirty="0" smtClean="0"/>
              <a:t>Never work alone</a:t>
            </a:r>
          </a:p>
          <a:p>
            <a:r>
              <a:rPr lang="en-CA" altLang="en-US" dirty="0" smtClean="0"/>
              <a:t>Keep situational awareness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Concentrate on what you are doing now, not what you are going to do!</a:t>
            </a:r>
          </a:p>
          <a:p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693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2104" y="112850"/>
            <a:ext cx="104150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Wildlife Hazards in Work </a:t>
            </a:r>
            <a:r>
              <a:rPr lang="en-GB" altLang="en-US" sz="4000" b="1" dirty="0"/>
              <a:t>E</a:t>
            </a:r>
            <a:r>
              <a:rPr lang="en-GB" altLang="en-US" sz="4000" b="1" dirty="0" smtClean="0"/>
              <a:t>nvironment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55668" y="1160188"/>
            <a:ext cx="9668827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Wildlife – especially in remote locations, e.g.</a:t>
            </a:r>
          </a:p>
          <a:p>
            <a:pPr lvl="1"/>
            <a:r>
              <a:rPr lang="en-CA" altLang="en-US" dirty="0" smtClean="0"/>
              <a:t>Birds</a:t>
            </a:r>
          </a:p>
          <a:p>
            <a:pPr lvl="1"/>
            <a:r>
              <a:rPr lang="en-CA" altLang="en-US" dirty="0" smtClean="0"/>
              <a:t>Bears</a:t>
            </a:r>
          </a:p>
          <a:p>
            <a:pPr lvl="1"/>
            <a:r>
              <a:rPr lang="en-CA" altLang="en-US" dirty="0" smtClean="0"/>
              <a:t>Coyotes</a:t>
            </a:r>
          </a:p>
          <a:p>
            <a:pPr lvl="1"/>
            <a:r>
              <a:rPr lang="en-CA" altLang="en-US" dirty="0" smtClean="0"/>
              <a:t>Snakes</a:t>
            </a:r>
          </a:p>
          <a:p>
            <a:pPr lvl="1"/>
            <a:r>
              <a:rPr lang="en-CA" altLang="en-US" dirty="0" smtClean="0"/>
              <a:t>Crocodiles/alligators</a:t>
            </a:r>
          </a:p>
          <a:p>
            <a:r>
              <a:rPr lang="en-CA" altLang="en-US" dirty="0" smtClean="0"/>
              <a:t>Insects - stings</a:t>
            </a:r>
          </a:p>
          <a:p>
            <a:r>
              <a:rPr lang="en-CA" altLang="en-US" dirty="0" smtClean="0"/>
              <a:t>Domestic dogs</a:t>
            </a:r>
          </a:p>
          <a:p>
            <a:r>
              <a:rPr lang="en-CA" altLang="en-US" dirty="0" smtClean="0"/>
              <a:t>Poisonous plants</a:t>
            </a:r>
          </a:p>
          <a:p>
            <a:endParaRPr lang="en-CA" altLang="en-US" dirty="0" smtClean="0"/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726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42416" y="130175"/>
            <a:ext cx="102778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b="1" dirty="0" smtClean="0"/>
              <a:t>Wildlife Response </a:t>
            </a:r>
            <a:r>
              <a:rPr lang="en-CA" altLang="en-US" b="1" dirty="0"/>
              <a:t>H</a:t>
            </a:r>
            <a:r>
              <a:rPr lang="en-CA" altLang="en-US" b="1" dirty="0" smtClean="0"/>
              <a:t>azards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25296" y="1237234"/>
            <a:ext cx="94820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During search and collection of oiled wildlife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Slips, trips and falls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Lacerations/broken bones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Bites/cuts/scratches/stab wounds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Strains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Heat/cold related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Zoonotic diseases/parasites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Working near water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Working in proximity to heavy machinery (clean-up)</a:t>
            </a:r>
          </a:p>
        </p:txBody>
      </p:sp>
    </p:spTree>
    <p:extLst>
      <p:ext uri="{BB962C8B-B14F-4D97-AF65-F5344CB8AC3E}">
        <p14:creationId xmlns:p14="http://schemas.microsoft.com/office/powerpoint/2010/main" val="8650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9576" y="130175"/>
            <a:ext cx="9144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b="1" dirty="0" smtClean="0"/>
              <a:t>Wildlife Response </a:t>
            </a:r>
            <a:r>
              <a:rPr lang="en-CA" altLang="en-US" b="1" dirty="0"/>
              <a:t>H</a:t>
            </a:r>
            <a:r>
              <a:rPr lang="en-CA" altLang="en-US" b="1" dirty="0" smtClean="0"/>
              <a:t>azards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55648" y="1342749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During wildlife rehabilitation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Slips, trips and falls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Lacerations/broken bones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Bites/cuts/scratches/stab wounds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Strains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Zoonotic diseases/parasites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Skin irritations due to allergies (latex gloves, etc.)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Skin puncture from syringes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Burns/shock from heaters/electrical equipment</a:t>
            </a:r>
          </a:p>
          <a:p>
            <a:pPr lvl="1" algn="just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344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38250" y="57425"/>
            <a:ext cx="957910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Wildlife Handling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recautions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38250" y="981075"/>
            <a:ext cx="9579102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Use proper decontamination procedures before eating/drinking/taking breaks.</a:t>
            </a:r>
          </a:p>
          <a:p>
            <a:r>
              <a:rPr lang="en-CA" altLang="en-US" dirty="0" smtClean="0"/>
              <a:t>Wear PPE properly as directed.</a:t>
            </a:r>
          </a:p>
          <a:p>
            <a:r>
              <a:rPr lang="en-CA" altLang="en-US" dirty="0" smtClean="0"/>
              <a:t>Take sufficient breaks.</a:t>
            </a:r>
          </a:p>
          <a:p>
            <a:r>
              <a:rPr lang="en-CA" altLang="en-US" dirty="0" smtClean="0"/>
              <a:t>Use proper lifting procedures.</a:t>
            </a:r>
          </a:p>
          <a:p>
            <a:r>
              <a:rPr lang="en-CA" altLang="en-US" dirty="0" smtClean="0"/>
              <a:t>Proper ventilation.</a:t>
            </a:r>
          </a:p>
          <a:p>
            <a:r>
              <a:rPr lang="en-CA" altLang="en-US" dirty="0" smtClean="0"/>
              <a:t>Follow directions for disease control.</a:t>
            </a:r>
          </a:p>
          <a:p>
            <a:r>
              <a:rPr lang="en-CA" altLang="en-US" dirty="0" smtClean="0"/>
              <a:t>Only trained personnel should attempt to capture or treat wildlife.</a:t>
            </a:r>
          </a:p>
        </p:txBody>
      </p:sp>
    </p:spTree>
    <p:extLst>
      <p:ext uri="{BB962C8B-B14F-4D97-AF65-F5344CB8AC3E}">
        <p14:creationId xmlns:p14="http://schemas.microsoft.com/office/powerpoint/2010/main" val="421963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18703" y="102321"/>
            <a:ext cx="970895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Other Hazards in Work </a:t>
            </a:r>
            <a:r>
              <a:rPr lang="en-GB" altLang="en-US" sz="4000" b="1" dirty="0"/>
              <a:t>E</a:t>
            </a:r>
            <a:r>
              <a:rPr lang="en-GB" altLang="en-US" sz="4000" b="1" dirty="0" smtClean="0"/>
              <a:t>nvironment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382712" y="1104638"/>
            <a:ext cx="9708959" cy="561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dirty="0" smtClean="0">
                <a:ea typeface="MS PGothic" charset="0"/>
              </a:rPr>
              <a:t>Transportation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Road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Helicopters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Fixed wing aircraft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Boat and water operations</a:t>
            </a:r>
          </a:p>
          <a:p>
            <a:pPr>
              <a:defRPr/>
            </a:pPr>
            <a:r>
              <a:rPr lang="en-CA" dirty="0" smtClean="0">
                <a:ea typeface="MS PGothic" charset="0"/>
              </a:rPr>
              <a:t>Noise exposure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Drugs and alcohol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Allergies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Firearms, munitions, weapons </a:t>
            </a:r>
          </a:p>
          <a:p>
            <a:pPr>
              <a:defRPr/>
            </a:pPr>
            <a:r>
              <a:rPr lang="en-CA" dirty="0" smtClean="0">
                <a:ea typeface="ＭＳ Ｐゴシック" charset="0"/>
                <a:cs typeface="ＭＳ Ｐゴシック" charset="0"/>
              </a:rPr>
              <a:t>Biohazards on shorelines (sharps)</a:t>
            </a:r>
          </a:p>
          <a:p>
            <a:pPr>
              <a:defRPr/>
            </a:pPr>
            <a:endParaRPr lang="en-CA" dirty="0" smtClean="0">
              <a:ea typeface="MS PGothic" charset="0"/>
            </a:endParaRPr>
          </a:p>
          <a:p>
            <a:pPr lvl="1">
              <a:defRPr/>
            </a:pPr>
            <a:endParaRPr lang="en-CA" dirty="0" smtClean="0">
              <a:ea typeface="MS PGothic" charset="0"/>
            </a:endParaRPr>
          </a:p>
          <a:p>
            <a:pPr>
              <a:defRPr/>
            </a:pPr>
            <a:endParaRPr lang="en-CA" dirty="0" smtClean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CA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dirty="0">
              <a:ea typeface="ＭＳ Ｐゴシック" panose="020B0600070205080204" pitchFamily="34" charset="-128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5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89304" y="130175"/>
            <a:ext cx="98572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Safety Plan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289304" y="1525312"/>
            <a:ext cx="98572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A safety plan must be developed for the response.</a:t>
            </a:r>
          </a:p>
          <a:p>
            <a:pPr algn="just"/>
            <a:r>
              <a:rPr lang="en-GB" altLang="en-US" dirty="0" smtClean="0"/>
              <a:t>Applicable to all response activities:</a:t>
            </a:r>
          </a:p>
          <a:p>
            <a:pPr lvl="1" indent="-420688" algn="just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On water</a:t>
            </a:r>
          </a:p>
          <a:p>
            <a:pPr lvl="1" indent="-420688" algn="just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Aerial</a:t>
            </a:r>
          </a:p>
          <a:p>
            <a:pPr lvl="1" indent="-420688" algn="just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Shoreline</a:t>
            </a:r>
          </a:p>
          <a:p>
            <a:pPr lvl="1" indent="-420688" algn="just">
              <a:spcBef>
                <a:spcPts val="163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Command post</a:t>
            </a:r>
          </a:p>
          <a:p>
            <a:pPr algn="just"/>
            <a:r>
              <a:rPr lang="en-GB" altLang="en-US" dirty="0" smtClean="0"/>
              <a:t>Implementation of safety plan is the responsibility of the incident commander/supervisor.</a:t>
            </a:r>
          </a:p>
        </p:txBody>
      </p:sp>
    </p:spTree>
    <p:extLst>
      <p:ext uri="{BB962C8B-B14F-4D97-AF65-F5344CB8AC3E}">
        <p14:creationId xmlns:p14="http://schemas.microsoft.com/office/powerpoint/2010/main" val="142673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36192" y="130175"/>
            <a:ext cx="93635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Key Elements of a Safety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lan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2143506" y="1342749"/>
            <a:ext cx="967968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GB" altLang="en-US" dirty="0" smtClean="0"/>
              <a:t>Evaluate potential hazards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Safe task analysis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GB" altLang="en-US" dirty="0" smtClean="0"/>
              <a:t>Implement essential safety requirements: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Establish site control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Safety training/briefings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Equipment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GB" altLang="en-US" dirty="0" smtClean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183629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11060" y="102321"/>
            <a:ext cx="911994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Evaluate Potential </a:t>
            </a:r>
            <a:r>
              <a:rPr lang="en-GB" altLang="en-US" sz="4000" b="1" dirty="0"/>
              <a:t>H</a:t>
            </a:r>
            <a:r>
              <a:rPr lang="en-GB" altLang="en-US" sz="4000" b="1" dirty="0" smtClean="0"/>
              <a:t>azards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517904" y="1081659"/>
            <a:ext cx="8650224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GB" altLang="en-US" dirty="0" smtClean="0"/>
              <a:t>Conduct on-site safe tasks analysis:</a:t>
            </a:r>
          </a:p>
          <a:p>
            <a:pPr lvl="1" indent="-420688" algn="just">
              <a:lnSpc>
                <a:spcPct val="110000"/>
              </a:lnSpc>
              <a:spcBef>
                <a:spcPts val="475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Identify hazards</a:t>
            </a:r>
          </a:p>
          <a:p>
            <a:pPr lvl="1" indent="-420688" algn="just">
              <a:lnSpc>
                <a:spcPct val="110000"/>
              </a:lnSpc>
              <a:spcBef>
                <a:spcPts val="475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Identify operations</a:t>
            </a:r>
          </a:p>
          <a:p>
            <a:pPr lvl="1" algn="just">
              <a:lnSpc>
                <a:spcPct val="110000"/>
              </a:lnSpc>
              <a:spcBef>
                <a:spcPts val="475"/>
              </a:spcBef>
            </a:pPr>
            <a:endParaRPr lang="en-GB" altLang="en-US" dirty="0" smtClean="0"/>
          </a:p>
          <a:p>
            <a:pPr algn="just">
              <a:lnSpc>
                <a:spcPct val="110000"/>
              </a:lnSpc>
              <a:spcBef>
                <a:spcPts val="475"/>
              </a:spcBef>
            </a:pPr>
            <a:r>
              <a:rPr lang="en-GB" altLang="en-US" dirty="0" smtClean="0"/>
              <a:t>Must be done on every site and every time clean-up crew arrive on site 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GB" altLang="en-US" dirty="0" smtClean="0"/>
              <a:t>Evaluate risks and mitigation measures</a:t>
            </a:r>
          </a:p>
        </p:txBody>
      </p:sp>
    </p:spTree>
    <p:extLst>
      <p:ext uri="{BB962C8B-B14F-4D97-AF65-F5344CB8AC3E}">
        <p14:creationId xmlns:p14="http://schemas.microsoft.com/office/powerpoint/2010/main" val="51504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501142" y="32050"/>
            <a:ext cx="11355228" cy="76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Implement Essential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afety </a:t>
            </a:r>
            <a:r>
              <a:rPr lang="en-GB" altLang="en-US" sz="4000" b="1" dirty="0"/>
              <a:t>R</a:t>
            </a:r>
            <a:r>
              <a:rPr lang="en-GB" altLang="en-US" sz="4000" b="1" dirty="0" smtClean="0"/>
              <a:t>equirements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370140" y="1098233"/>
            <a:ext cx="9767252" cy="411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Site control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Limit access to essential personnel</a:t>
            </a:r>
          </a:p>
          <a:p>
            <a:pPr lvl="1" indent="-420688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Command post</a:t>
            </a:r>
          </a:p>
          <a:p>
            <a:pPr lvl="1" indent="-420688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Clean-up sites</a:t>
            </a:r>
          </a:p>
          <a:p>
            <a:pPr lvl="1" indent="-420688">
              <a:lnSpc>
                <a:spcPct val="110000"/>
              </a:lnSpc>
              <a:spcBef>
                <a:spcPts val="12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Identification for workers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All workers must be briefed on site safety plan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GB" dirty="0" smtClean="0">
                <a:ea typeface="MS PGothic" charset="0"/>
              </a:rPr>
              <a:t>Identify first-aid workers on site</a:t>
            </a:r>
          </a:p>
          <a:p>
            <a:pPr>
              <a:lnSpc>
                <a:spcPct val="110000"/>
              </a:lnSpc>
              <a:spcBef>
                <a:spcPct val="50000"/>
              </a:spcBef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0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530352" y="17463"/>
            <a:ext cx="11109960" cy="7778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Implement Essential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afety </a:t>
            </a:r>
            <a:r>
              <a:rPr lang="en-GB" altLang="en-US" sz="4000" b="1" dirty="0"/>
              <a:t>R</a:t>
            </a:r>
            <a:r>
              <a:rPr lang="en-GB" altLang="en-US" sz="4000" b="1" dirty="0" smtClean="0"/>
              <a:t>equirements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792036" y="977762"/>
            <a:ext cx="106562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5000"/>
              </a:lnSpc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Safety training/briefings:</a:t>
            </a:r>
          </a:p>
          <a:p>
            <a:pPr marL="0" indent="0" algn="just">
              <a:lnSpc>
                <a:spcPct val="95000"/>
              </a:lnSpc>
              <a:buFont typeface="Arial" charset="0"/>
              <a:buNone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algn="just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All personnel must be trained for the task they need to accomplish</a:t>
            </a:r>
          </a:p>
          <a:p>
            <a:pPr algn="just"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algn="just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Basic on-site training</a:t>
            </a:r>
          </a:p>
          <a:p>
            <a:pPr algn="just"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algn="just"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Daily site safety briefings (weather, objectives, etc.)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52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3192" y="130175"/>
            <a:ext cx="110550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Implement Essential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afety </a:t>
            </a:r>
            <a:r>
              <a:rPr lang="en-GB" altLang="en-US" sz="4000" b="1" dirty="0"/>
              <a:t>R</a:t>
            </a:r>
            <a:r>
              <a:rPr lang="en-GB" altLang="en-US" sz="4000" b="1" dirty="0" smtClean="0"/>
              <a:t>equirements</a:t>
            </a:r>
            <a:endParaRPr lang="en-CA" altLang="en-US" sz="4000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584" y="1316101"/>
            <a:ext cx="4523232" cy="452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0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521208" y="17463"/>
            <a:ext cx="10963655" cy="7778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Implement essential safety requirements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801180" y="1160187"/>
            <a:ext cx="97418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Equipment:</a:t>
            </a: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Safety equipment must be provided</a:t>
            </a:r>
          </a:p>
          <a:p>
            <a:pPr lvl="1" indent="-420688">
              <a:lnSpc>
                <a:spcPct val="95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Protective clothing</a:t>
            </a: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>
              <a:lnSpc>
                <a:spcPct val="95000"/>
              </a:lnSpc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Basic facilities must be in place:</a:t>
            </a:r>
          </a:p>
          <a:p>
            <a:pPr lvl="1" indent="-420688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First aid</a:t>
            </a:r>
          </a:p>
          <a:p>
            <a:pPr lvl="1" indent="-420688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Sanitation</a:t>
            </a:r>
          </a:p>
          <a:p>
            <a:pPr lvl="1" indent="-420688">
              <a:lnSpc>
                <a:spcPct val="95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Rest areas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25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612648" y="130175"/>
            <a:ext cx="1099108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Implement Essential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afety Requirements</a:t>
            </a:r>
            <a:endParaRPr lang="fr-FR" altLang="en-US" sz="4000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76656" y="1342749"/>
            <a:ext cx="933602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en-GB" altLang="en-US" dirty="0" smtClean="0"/>
              <a:t>Communications in place</a:t>
            </a:r>
          </a:p>
          <a:p>
            <a:pPr>
              <a:lnSpc>
                <a:spcPct val="95000"/>
              </a:lnSpc>
            </a:pPr>
            <a:endParaRPr lang="en-GB" altLang="en-US" dirty="0" smtClean="0"/>
          </a:p>
          <a:p>
            <a:pPr>
              <a:lnSpc>
                <a:spcPct val="95000"/>
              </a:lnSpc>
            </a:pPr>
            <a:r>
              <a:rPr lang="en-GB" altLang="en-US" dirty="0" smtClean="0"/>
              <a:t>Don’t forget specific hazards:</a:t>
            </a:r>
          </a:p>
          <a:p>
            <a:pPr lvl="1" indent="-420688">
              <a:lnSpc>
                <a:spcPct val="95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On-water operations, crane usage; entry to confined spaces; helicopter operations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GB" altLang="en-US" dirty="0" smtClean="0"/>
          </a:p>
          <a:p>
            <a:endParaRPr lang="fr-F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344168" y="130175"/>
            <a:ext cx="970124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Safety Training/Briefings</a:t>
            </a:r>
          </a:p>
        </p:txBody>
      </p:sp>
      <p:sp>
        <p:nvSpPr>
          <p:cNvPr id="8" name="Rectangle 3"/>
          <p:cNvSpPr txBox="1">
            <a:spLocks/>
          </p:cNvSpPr>
          <p:nvPr/>
        </p:nvSpPr>
        <p:spPr>
          <a:xfrm>
            <a:off x="1514856" y="1383411"/>
            <a:ext cx="9162288" cy="411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GB" altLang="en-US" dirty="0" smtClean="0"/>
              <a:t>Site safety policy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Chain-of-command on site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Safety procedures:</a:t>
            </a:r>
          </a:p>
          <a:p>
            <a:pPr lvl="1" indent="-420688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General safety</a:t>
            </a:r>
          </a:p>
          <a:p>
            <a:pPr lvl="1" indent="-420688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Procedures for specific operations/equipment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Emergency procedures:</a:t>
            </a:r>
          </a:p>
          <a:p>
            <a:pPr lvl="1" indent="-420688"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Personal injury; evacuation; fire-fighting</a:t>
            </a:r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4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1457</Words>
  <Application>Microsoft Office PowerPoint</Application>
  <PresentationFormat>Widescreen</PresentationFormat>
  <Paragraphs>288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MS PGothic</vt:lpstr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166</cp:revision>
  <dcterms:created xsi:type="dcterms:W3CDTF">2024-09-27T05:40:49Z</dcterms:created>
  <dcterms:modified xsi:type="dcterms:W3CDTF">2025-05-09T04:54:57Z</dcterms:modified>
</cp:coreProperties>
</file>
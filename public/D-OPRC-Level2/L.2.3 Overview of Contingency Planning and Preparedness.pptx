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5" r:id="rId4"/>
    <p:sldId id="266" r:id="rId5"/>
    <p:sldId id="267" r:id="rId6"/>
    <p:sldId id="269" r:id="rId7"/>
    <p:sldId id="268" r:id="rId8"/>
    <p:sldId id="270" r:id="rId9"/>
    <p:sldId id="271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6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04083-82AD-4F0D-A82A-A787ED05A498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504F3-9B3D-4106-B09D-53A19897F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966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imo.org/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1188783" y="2551684"/>
            <a:ext cx="10177717" cy="20838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Overview of Contingency Planning and Preparedness</a:t>
            </a:r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015206" y="998393"/>
            <a:ext cx="9957594" cy="597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spcBef>
                <a:spcPts val="600"/>
              </a:spcBef>
            </a:pPr>
            <a:r>
              <a:rPr lang="en-GB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introduce you to the OPRC Convention and the main elements of the Convention</a:t>
            </a:r>
          </a:p>
          <a:p>
            <a:pPr algn="just" eaLnBrk="1" hangingPunct="1">
              <a:spcBef>
                <a:spcPts val="600"/>
              </a:spcBef>
            </a:pPr>
            <a:r>
              <a:rPr lang="en-GB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consider the differing levels of contingency plans required for oil spill preparedness</a:t>
            </a:r>
          </a:p>
          <a:p>
            <a:pPr algn="just" eaLnBrk="1" hangingPunct="1">
              <a:spcBef>
                <a:spcPts val="600"/>
              </a:spcBef>
            </a:pPr>
            <a:r>
              <a:rPr lang="en-GB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consider a tiered approach to oil spill planning, preparedness and response</a:t>
            </a:r>
          </a:p>
          <a:p>
            <a:pPr algn="just" eaLnBrk="1" hangingPunct="1">
              <a:spcBef>
                <a:spcPts val="600"/>
              </a:spcBef>
            </a:pPr>
            <a:r>
              <a:rPr lang="en-GB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consider the general planning requirements at the Strategic Level</a:t>
            </a:r>
          </a:p>
          <a:p>
            <a:pPr algn="just" eaLnBrk="1" hangingPunct="1">
              <a:spcBef>
                <a:spcPts val="600"/>
              </a:spcBef>
            </a:pPr>
            <a:r>
              <a:rPr lang="en-GB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consider how to use plans effectively </a:t>
            </a:r>
          </a:p>
          <a:p>
            <a:pPr algn="just" eaLnBrk="1" hangingPunct="1">
              <a:spcBef>
                <a:spcPts val="600"/>
              </a:spcBef>
              <a:buFontTx/>
              <a:buNone/>
            </a:pPr>
            <a:endParaRPr lang="en-GB" alt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 eaLnBrk="1" hangingPunct="1">
              <a:spcBef>
                <a:spcPts val="600"/>
              </a:spcBef>
              <a:buFontTx/>
              <a:buNone/>
            </a:pPr>
            <a:r>
              <a:rPr lang="en-GB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</a:p>
        </p:txBody>
      </p:sp>
      <p:sp>
        <p:nvSpPr>
          <p:cNvPr id="6" name="Title 10">
            <a:extLst/>
          </p:cNvPr>
          <p:cNvSpPr txBox="1">
            <a:spLocks/>
          </p:cNvSpPr>
          <p:nvPr/>
        </p:nvSpPr>
        <p:spPr>
          <a:xfrm>
            <a:off x="457200" y="130175"/>
            <a:ext cx="10909300" cy="561975"/>
          </a:xfrm>
          <a:prstGeom prst="rect">
            <a:avLst/>
          </a:prstGeom>
        </p:spPr>
        <p:txBody>
          <a:bodyPr rtlCol="0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GB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Objective</a:t>
            </a:r>
            <a:endParaRPr lang="en-GB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44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0175"/>
            <a:ext cx="1115568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OPRC Convention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08976" y="1160187"/>
            <a:ext cx="9652127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-457200" algn="just">
              <a:buClr>
                <a:schemeClr val="tx1"/>
              </a:buClr>
            </a:pPr>
            <a:r>
              <a:rPr lang="en-GB" altLang="en-US" sz="3200" dirty="0" smtClean="0"/>
              <a:t>Global framework for international cooperation in combating major oil pollution incidents or the threat of major oil pollution</a:t>
            </a:r>
          </a:p>
          <a:p>
            <a:pPr marL="457200" lvl="1" indent="-457200" algn="just">
              <a:buClr>
                <a:schemeClr val="tx1"/>
              </a:buClr>
            </a:pPr>
            <a:endParaRPr lang="en-GB" altLang="en-US" sz="3200" dirty="0" smtClean="0"/>
          </a:p>
          <a:p>
            <a:pPr marL="457200" lvl="1" indent="-457200" algn="just">
              <a:buClr>
                <a:schemeClr val="tx1"/>
              </a:buClr>
            </a:pPr>
            <a:r>
              <a:rPr lang="en-GB" altLang="en-US" sz="3200" dirty="0" smtClean="0"/>
              <a:t>Parties to establish measures to deal with pollution incidents either nationally or in cooperation with other countries</a:t>
            </a:r>
          </a:p>
        </p:txBody>
      </p:sp>
    </p:spTree>
    <p:extLst>
      <p:ext uri="{BB962C8B-B14F-4D97-AF65-F5344CB8AC3E}">
        <p14:creationId xmlns:p14="http://schemas.microsoft.com/office/powerpoint/2010/main" val="37763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30936" y="130175"/>
            <a:ext cx="109728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+mn-lt"/>
              </a:rPr>
              <a:t>OPRC Convention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45768" y="1085719"/>
            <a:ext cx="1005446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-457200" algn="just">
              <a:buClr>
                <a:schemeClr val="tx1"/>
              </a:buClr>
            </a:pPr>
            <a:r>
              <a:rPr lang="en-GB" altLang="en-US" sz="3200" dirty="0" smtClean="0"/>
              <a:t>Entered into force on 13 May 1995</a:t>
            </a:r>
          </a:p>
          <a:p>
            <a:pPr marL="457200" lvl="1" indent="-457200" algn="just">
              <a:buClr>
                <a:schemeClr val="tx1"/>
              </a:buClr>
            </a:pPr>
            <a:r>
              <a:rPr lang="en-GB" altLang="en-US" sz="3200" dirty="0" smtClean="0"/>
              <a:t>109 Contracting States, as of January 2016 (</a:t>
            </a:r>
            <a:r>
              <a:rPr lang="en-GB" altLang="en-US" sz="3200" dirty="0" smtClean="0">
                <a:hlinkClick r:id="rId2"/>
              </a:rPr>
              <a:t>www.imo.org</a:t>
            </a:r>
            <a:r>
              <a:rPr lang="en-GB" altLang="en-US" sz="3200" dirty="0" smtClean="0"/>
              <a:t>).</a:t>
            </a:r>
          </a:p>
          <a:p>
            <a:pPr marL="457200" lvl="1" indent="-457200" algn="just">
              <a:buClr>
                <a:schemeClr val="tx1"/>
              </a:buClr>
            </a:pPr>
            <a:endParaRPr lang="en-GB" altLang="en-US" sz="900" dirty="0" smtClean="0"/>
          </a:p>
          <a:p>
            <a:pPr marL="457200" lvl="1" indent="-457200" algn="just">
              <a:buClr>
                <a:schemeClr val="tx1"/>
              </a:buClr>
            </a:pPr>
            <a:r>
              <a:rPr lang="en-GB" altLang="en-US" sz="3200" dirty="0" smtClean="0"/>
              <a:t>Oil is defined as petroleum in any form including crude oil, fuel oil, sludge, oil refuse and refined products</a:t>
            </a:r>
          </a:p>
          <a:p>
            <a:pPr marL="457200" lvl="1" indent="-457200" algn="just">
              <a:buClr>
                <a:schemeClr val="tx1"/>
              </a:buClr>
            </a:pPr>
            <a:r>
              <a:rPr lang="en-GB" altLang="en-US" sz="3200" dirty="0" smtClean="0"/>
              <a:t>A Protocol to the OPRC relating to hazardous and noxious substances (OPRC-HNS Protocol) was adopted in 2000</a:t>
            </a:r>
          </a:p>
          <a:p>
            <a:pPr marL="457200" lvl="1" indent="-457200" algn="just">
              <a:buClr>
                <a:schemeClr val="tx1"/>
              </a:buClr>
              <a:buFont typeface="Arial" panose="020B0604020202020204" pitchFamily="34" charset="0"/>
              <a:buNone/>
            </a:pPr>
            <a:endParaRPr lang="en-GB" altLang="en-US" sz="3200" dirty="0" smtClean="0"/>
          </a:p>
          <a:p>
            <a:pPr marL="457200" lvl="1" indent="-457200" algn="just">
              <a:buClr>
                <a:schemeClr val="tx1"/>
              </a:buClr>
              <a:buFont typeface="Arial" panose="020B0604020202020204" pitchFamily="34" charset="0"/>
              <a:buNone/>
            </a:pPr>
            <a:endParaRPr lang="en-GB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233250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30936" y="130175"/>
            <a:ext cx="109728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+mn-lt"/>
              </a:rPr>
              <a:t>OPRC Convention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49808" y="896793"/>
            <a:ext cx="1042416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sz="3200" dirty="0" smtClean="0"/>
              <a:t>The OPRC Convention applies to:</a:t>
            </a:r>
          </a:p>
          <a:p>
            <a:pPr algn="just"/>
            <a:endParaRPr lang="en-GB" altLang="en-US" sz="3200" dirty="0" smtClean="0"/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Member States that have ratified, accepted or acceded to the Convention (Contracting States)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endParaRPr lang="en-GB" altLang="en-US" sz="2800" dirty="0" smtClean="0"/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Ships flying the flag of a Contracting State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endParaRPr lang="en-GB" altLang="en-US" sz="2800" dirty="0" smtClean="0"/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Operators of offshore units of a Contracting State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endParaRPr lang="en-GB" altLang="en-US" sz="2800" dirty="0" smtClean="0"/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Sea ports and oil handling facilities (including oil terminals and pipelines) of a Contracting State </a:t>
            </a:r>
          </a:p>
        </p:txBody>
      </p:sp>
    </p:spTree>
    <p:extLst>
      <p:ext uri="{BB962C8B-B14F-4D97-AF65-F5344CB8AC3E}">
        <p14:creationId xmlns:p14="http://schemas.microsoft.com/office/powerpoint/2010/main" val="23394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30936" y="130175"/>
            <a:ext cx="109728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+mn-lt"/>
              </a:rPr>
              <a:t>OPRC Convention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42416" y="1160187"/>
            <a:ext cx="924458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2" indent="-457200">
              <a:buClr>
                <a:schemeClr val="tx1"/>
              </a:buClr>
            </a:pPr>
            <a:r>
              <a:rPr lang="en-GB" altLang="en-US" sz="3200" dirty="0" smtClean="0"/>
              <a:t>Key measures are to include:</a:t>
            </a:r>
          </a:p>
          <a:p>
            <a:pPr marL="914400" lvl="3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Oil pollution emergency plans (Article 3)</a:t>
            </a:r>
          </a:p>
          <a:p>
            <a:pPr marL="914400" lvl="3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Reporting procedures and actions (Articles 4 and 5)</a:t>
            </a:r>
          </a:p>
          <a:p>
            <a:pPr marL="914400" lvl="3" indent="-4572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National and Regional systems for preparedness and response (Article 6)</a:t>
            </a:r>
          </a:p>
          <a:p>
            <a:pPr marL="914400" lvl="3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International cooperation (Article 7)</a:t>
            </a:r>
          </a:p>
          <a:p>
            <a:pPr marL="914400" lvl="3" indent="-4572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Promotion of bilateral and multilateral cooperation in preparedness and response (Article 10)</a:t>
            </a:r>
          </a:p>
          <a:p>
            <a:pPr marL="457200" lvl="2" indent="-457200">
              <a:buClr>
                <a:schemeClr val="tx1"/>
              </a:buClr>
            </a:pPr>
            <a:endParaRPr lang="en-GB" altLang="en-US" sz="3200" dirty="0" smtClean="0"/>
          </a:p>
          <a:p>
            <a:pPr marL="457200" lvl="2" indent="-457200">
              <a:buClr>
                <a:schemeClr val="tx1"/>
              </a:buClr>
              <a:buFont typeface="Arial" panose="020B0604020202020204" pitchFamily="34" charset="0"/>
              <a:buNone/>
            </a:pPr>
            <a:endParaRPr lang="en-GB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65361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30936" y="130175"/>
            <a:ext cx="109728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+mn-lt"/>
              </a:rPr>
              <a:t>OPRC Convention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30936" y="1049062"/>
            <a:ext cx="10588752" cy="53292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In particular Article 6 (National and Regional systems for preparedness and response) calls for:</a:t>
            </a:r>
          </a:p>
          <a:p>
            <a:pPr lvl="1" indent="-420688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dirty="0" smtClean="0"/>
              <a:t>A designated competent national authority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dirty="0" smtClean="0"/>
              <a:t>A national contingency plan within the national capabilities, either individually or through bilateral/multilateral cooperation and, as appropriate, in cooperation with the oil and shipping industries, port authorities and other relevant entities:</a:t>
            </a:r>
          </a:p>
          <a:p>
            <a:pPr lvl="1" indent="-420688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dirty="0" smtClean="0"/>
              <a:t>Minimum level of pre-positioned equipment, commensurate with risk</a:t>
            </a:r>
          </a:p>
          <a:p>
            <a:pPr lvl="1" indent="-420688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dirty="0" smtClean="0"/>
              <a:t>Programme of exercises and training</a:t>
            </a:r>
          </a:p>
          <a:p>
            <a:pPr lvl="1" indent="-420688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dirty="0" smtClean="0"/>
              <a:t>Detailed plans and communication capabilities</a:t>
            </a:r>
          </a:p>
          <a:p>
            <a:pPr lvl="1" indent="-420688" algn="just">
              <a:buFont typeface="Wingdings" panose="05000000000000000000" pitchFamily="2" charset="2"/>
              <a:buChar char="ü"/>
            </a:pPr>
            <a:r>
              <a:rPr lang="en-GB" altLang="en-US" dirty="0" smtClean="0"/>
              <a:t>Arrangements to coordinate the response</a:t>
            </a:r>
          </a:p>
          <a:p>
            <a:pPr lvl="1" algn="just"/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78475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40842" y="93938"/>
            <a:ext cx="1069848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>
                <a:latin typeface="+mn-lt"/>
              </a:rPr>
              <a:t>Exercises</a:t>
            </a:r>
            <a:endParaRPr lang="en-US" altLang="en-US" b="1" dirty="0" smtClean="0">
              <a:latin typeface="+mn-lt"/>
            </a:endParaRP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728216" y="1420114"/>
            <a:ext cx="985723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GB" dirty="0" smtClean="0"/>
              <a:t>OPRC Article 6(2) also requires each party to establish:</a:t>
            </a:r>
          </a:p>
          <a:p>
            <a:pPr marL="711200" indent="-355600">
              <a:defRPr/>
            </a:pPr>
            <a:r>
              <a:rPr lang="en-GB" i="1" dirty="0" smtClean="0"/>
              <a:t>a programme of exercises for oil pollution response organizations and training of relevant personnel</a:t>
            </a:r>
          </a:p>
          <a:p>
            <a:pPr marL="355600" indent="0">
              <a:buFont typeface="Arial" panose="020B0604020202020204" pitchFamily="34" charset="0"/>
              <a:buNone/>
              <a:defRPr/>
            </a:pPr>
            <a:endParaRPr lang="en-GB" i="1" u="sng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GB" dirty="0" smtClean="0"/>
              <a:t>This should include the exercising of all components of your contingency plans.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61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40842" y="93938"/>
            <a:ext cx="1069848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>
                <a:latin typeface="+mn-lt"/>
              </a:rPr>
              <a:t>Exercises</a:t>
            </a:r>
            <a:endParaRPr lang="en-US" altLang="en-US" b="1" dirty="0" smtClean="0">
              <a:latin typeface="+mn-lt"/>
            </a:endParaRP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207008" y="908050"/>
            <a:ext cx="9539160" cy="26654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/>
            </a:pPr>
            <a:r>
              <a:rPr lang="en-GB" dirty="0" smtClean="0">
                <a:ea typeface="MS PGothic" panose="020B0600070205080204" pitchFamily="34" charset="-128"/>
              </a:rPr>
              <a:t>Purpose to test</a:t>
            </a:r>
          </a:p>
          <a:p>
            <a:pPr lvl="1" indent="-420688" algn="just">
              <a:buFont typeface="Wingdings" panose="05000000000000000000" pitchFamily="2" charset="2"/>
              <a:buChar char="ü"/>
              <a:defRPr/>
            </a:pPr>
            <a:r>
              <a:rPr lang="en-GB" sz="2600" dirty="0" smtClean="0">
                <a:ea typeface="MS PGothic" panose="020B0600070205080204" pitchFamily="34" charset="-128"/>
              </a:rPr>
              <a:t>The plan</a:t>
            </a:r>
          </a:p>
          <a:p>
            <a:pPr lvl="1" indent="-420688" algn="just">
              <a:buFont typeface="Wingdings" panose="05000000000000000000" pitchFamily="2" charset="2"/>
              <a:buChar char="ü"/>
              <a:defRPr/>
            </a:pPr>
            <a:r>
              <a:rPr lang="en-GB" sz="2600" dirty="0" smtClean="0">
                <a:ea typeface="MS PGothic" panose="020B0600070205080204" pitchFamily="34" charset="-128"/>
              </a:rPr>
              <a:t>The equipment</a:t>
            </a:r>
          </a:p>
          <a:p>
            <a:pPr lvl="1" indent="-420688" algn="just">
              <a:buFont typeface="Wingdings" panose="05000000000000000000" pitchFamily="2" charset="2"/>
              <a:buChar char="ü"/>
              <a:defRPr/>
            </a:pPr>
            <a:r>
              <a:rPr lang="en-GB" sz="2600" dirty="0" smtClean="0">
                <a:ea typeface="MS PGothic" panose="020B0600070205080204" pitchFamily="34" charset="-128"/>
              </a:rPr>
              <a:t>The capabilities of the response team and the resources available to them</a:t>
            </a:r>
          </a:p>
          <a:p>
            <a:pPr marL="457200" lvl="1" indent="0" algn="just">
              <a:buFont typeface="Arial" panose="020B0604020202020204" pitchFamily="34" charset="0"/>
              <a:buNone/>
              <a:defRPr/>
            </a:pPr>
            <a:r>
              <a:rPr lang="en-GB" dirty="0" smtClean="0">
                <a:ea typeface="MS PGothic" panose="020B0600070205080204" pitchFamily="34" charset="-128"/>
              </a:rPr>
              <a:t>	</a:t>
            </a:r>
          </a:p>
          <a:p>
            <a:pPr marL="457200" lvl="1" indent="0" algn="just">
              <a:buFont typeface="Arial" panose="020B0604020202020204" pitchFamily="34" charset="0"/>
              <a:buNone/>
              <a:defRPr/>
            </a:pPr>
            <a:endParaRPr lang="en-GB" dirty="0">
              <a:ea typeface="MS PGothic" panose="020B0600070205080204" pitchFamily="34" charset="-128"/>
            </a:endParaRPr>
          </a:p>
        </p:txBody>
      </p:sp>
      <p:sp>
        <p:nvSpPr>
          <p:cNvPr id="7" name="Content Placeholder 2">
            <a:extLst/>
          </p:cNvPr>
          <p:cNvSpPr txBox="1">
            <a:spLocks/>
          </p:cNvSpPr>
          <p:nvPr/>
        </p:nvSpPr>
        <p:spPr bwMode="auto">
          <a:xfrm>
            <a:off x="1195896" y="3429000"/>
            <a:ext cx="9539160" cy="266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/>
            </a:pPr>
            <a:r>
              <a:rPr lang="en-GB" dirty="0"/>
              <a:t>Guiding Principles</a:t>
            </a:r>
          </a:p>
          <a:p>
            <a:pPr lvl="1" indent="-385763" algn="just">
              <a:buFont typeface="Wingdings" panose="05000000000000000000" pitchFamily="2" charset="2"/>
              <a:buChar char="ü"/>
              <a:defRPr/>
            </a:pPr>
            <a:r>
              <a:rPr lang="en-GB" sz="2600" dirty="0"/>
              <a:t>Ensure support for the activity at all levels of management</a:t>
            </a:r>
          </a:p>
          <a:p>
            <a:pPr lvl="1" indent="-385763" algn="just">
              <a:buFont typeface="Wingdings" panose="05000000000000000000" pitchFamily="2" charset="2"/>
              <a:buChar char="ü"/>
              <a:defRPr/>
            </a:pPr>
            <a:r>
              <a:rPr lang="en-GB" sz="2600" dirty="0"/>
              <a:t>Set clear, realistic and measurable objectives</a:t>
            </a:r>
          </a:p>
          <a:p>
            <a:pPr lvl="1" indent="-385763" algn="just">
              <a:buFont typeface="Wingdings" panose="05000000000000000000" pitchFamily="2" charset="2"/>
              <a:buChar char="ü"/>
              <a:defRPr/>
            </a:pPr>
            <a:r>
              <a:rPr lang="en-GB" sz="2600" dirty="0"/>
              <a:t>Evaluating the exercise effectively is as important as conducting it effectively</a:t>
            </a:r>
          </a:p>
          <a:p>
            <a:pPr marL="457200" lvl="1" indent="0" algn="just">
              <a:buFont typeface="Arial" panose="020B0604020202020204" pitchFamily="34" charset="0"/>
              <a:buNone/>
              <a:defRPr/>
            </a:pPr>
            <a:r>
              <a:rPr lang="en-GB" dirty="0"/>
              <a:t>	</a:t>
            </a:r>
          </a:p>
          <a:p>
            <a:pPr marL="457200" lvl="1" indent="0" algn="just">
              <a:buFont typeface="Arial" panose="020B0604020202020204" pitchFamily="34" charset="0"/>
              <a:buNone/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65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ontent Placeholder 2">
            <a:extLst/>
          </p:cNvPr>
          <p:cNvSpPr txBox="1">
            <a:spLocks/>
          </p:cNvSpPr>
          <p:nvPr/>
        </p:nvSpPr>
        <p:spPr>
          <a:xfrm>
            <a:off x="402514" y="860556"/>
            <a:ext cx="1122865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n-GB" dirty="0" smtClean="0"/>
              <a:t>These exercises can include:</a:t>
            </a:r>
          </a:p>
          <a:p>
            <a:pPr marL="722313" indent="-361950" algn="just">
              <a:tabLst>
                <a:tab pos="722313" algn="l"/>
              </a:tabLst>
              <a:defRPr/>
            </a:pPr>
            <a:r>
              <a:rPr lang="en-GB" sz="2400" dirty="0" smtClean="0"/>
              <a:t>Notification exercise</a:t>
            </a:r>
          </a:p>
          <a:p>
            <a:pPr marL="1122363" lvl="1" indent="-409575" algn="just">
              <a:buFont typeface="Wingdings" panose="05000000000000000000" pitchFamily="2" charset="2"/>
              <a:buChar char="ü"/>
              <a:tabLst>
                <a:tab pos="722313" algn="l"/>
              </a:tabLst>
              <a:defRPr/>
            </a:pPr>
            <a:r>
              <a:rPr lang="en-GB" sz="2200" dirty="0" smtClean="0"/>
              <a:t>test the procedures to alert and call out the response teams via telephone or other means</a:t>
            </a:r>
          </a:p>
          <a:p>
            <a:pPr marL="722313" indent="-361950" algn="just">
              <a:tabLst>
                <a:tab pos="722313" algn="l"/>
              </a:tabLst>
              <a:defRPr/>
            </a:pPr>
            <a:r>
              <a:rPr lang="en-GB" sz="2400" dirty="0" smtClean="0"/>
              <a:t>Table-top exercise</a:t>
            </a:r>
          </a:p>
          <a:p>
            <a:pPr marL="1122363" lvl="1" indent="-409575" algn="just">
              <a:buFont typeface="Wingdings" panose="05000000000000000000" pitchFamily="2" charset="2"/>
              <a:buChar char="ü"/>
              <a:tabLst>
                <a:tab pos="722313" algn="l"/>
              </a:tabLst>
              <a:defRPr/>
            </a:pPr>
            <a:r>
              <a:rPr lang="en-GB" sz="2200" dirty="0" smtClean="0"/>
              <a:t>interactively discuss a simulated scenario among members of a response team without involving the mobilization of personnel and equipment</a:t>
            </a:r>
          </a:p>
          <a:p>
            <a:pPr marL="722313" indent="-361950" algn="just">
              <a:tabLst>
                <a:tab pos="722313" algn="l"/>
              </a:tabLst>
              <a:defRPr/>
            </a:pPr>
            <a:r>
              <a:rPr lang="en-GB" sz="2400" dirty="0" smtClean="0"/>
              <a:t>Equipment deployment exercise</a:t>
            </a:r>
          </a:p>
          <a:p>
            <a:pPr marL="1122363" lvl="1" indent="-409575" algn="just">
              <a:buFont typeface="Wingdings" panose="05000000000000000000" pitchFamily="2" charset="2"/>
              <a:buChar char="ü"/>
              <a:tabLst>
                <a:tab pos="722313" algn="l"/>
              </a:tabLst>
              <a:defRPr/>
            </a:pPr>
            <a:r>
              <a:rPr lang="en-GB" sz="2200" dirty="0" smtClean="0"/>
              <a:t>exercise deployment of oil spill response equipment at particular locations in response to an oil spill scenario</a:t>
            </a:r>
          </a:p>
          <a:p>
            <a:pPr marL="722313" indent="-361950" algn="just">
              <a:tabLst>
                <a:tab pos="722313" algn="l"/>
              </a:tabLst>
              <a:defRPr/>
            </a:pPr>
            <a:r>
              <a:rPr lang="en-GB" sz="2400" dirty="0" smtClean="0"/>
              <a:t>Incident management exercise</a:t>
            </a:r>
          </a:p>
          <a:p>
            <a:pPr marL="1122363" lvl="1" indent="-409575" algn="just">
              <a:buFont typeface="Wingdings" panose="05000000000000000000" pitchFamily="2" charset="2"/>
              <a:buChar char="ü"/>
              <a:tabLst>
                <a:tab pos="722313" algn="l"/>
              </a:tabLst>
              <a:defRPr/>
            </a:pPr>
            <a:r>
              <a:rPr lang="en-GB" sz="2200" dirty="0" smtClean="0"/>
              <a:t>simulate several different aspects of an oil spill incident with third parties who would actually be involved in a real emergency to test and train a whole response team</a:t>
            </a:r>
          </a:p>
          <a:p>
            <a:pPr marL="1122363" lvl="1" indent="-361950" algn="just">
              <a:tabLst>
                <a:tab pos="722313" algn="l"/>
              </a:tabLst>
              <a:defRPr/>
            </a:pPr>
            <a:endParaRPr lang="en-GB" sz="2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740842" y="93938"/>
            <a:ext cx="1069848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>
                <a:latin typeface="+mn-lt"/>
              </a:rPr>
              <a:t>Exercises</a:t>
            </a:r>
            <a:endParaRPr lang="en-US" altLang="en-US" b="1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37419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170432" y="130175"/>
            <a:ext cx="102870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>
                <a:latin typeface="+mn-lt"/>
              </a:rPr>
              <a:t>Training</a:t>
            </a:r>
            <a:endParaRPr lang="en-US" altLang="en-US" b="1" dirty="0" smtClean="0">
              <a:latin typeface="+mn-lt"/>
            </a:endParaRP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170432" y="1160187"/>
            <a:ext cx="993038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n-GB" dirty="0" smtClean="0"/>
              <a:t>OPRC Article 6(2) also requires each party to establish:</a:t>
            </a:r>
          </a:p>
          <a:p>
            <a:pPr marL="711200" indent="-355600" algn="just">
              <a:defRPr/>
            </a:pPr>
            <a:r>
              <a:rPr lang="en-GB" i="1" dirty="0" smtClean="0"/>
              <a:t>a programme of exercises for oil pollution response organizations and training of relevant personnel</a:t>
            </a:r>
            <a:endParaRPr lang="en-GB" i="1" u="sng" dirty="0" smtClean="0"/>
          </a:p>
          <a:p>
            <a:pPr marL="0" indent="0" algn="just">
              <a:buFont typeface="Arial" panose="020B0604020202020204" pitchFamily="34" charset="0"/>
              <a:buNone/>
              <a:defRPr/>
            </a:pPr>
            <a:endParaRPr lang="en-GB" dirty="0" smtClean="0"/>
          </a:p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n-GB" sz="2400" dirty="0" smtClean="0"/>
              <a:t>This should include theoretical training at the appropriate level and include practical equipment deployment, as required.</a:t>
            </a:r>
          </a:p>
          <a:p>
            <a:pPr marL="0" indent="0" algn="just">
              <a:buFont typeface="Arial" panose="020B0604020202020204" pitchFamily="34" charset="0"/>
              <a:buNone/>
              <a:defRPr/>
            </a:pPr>
            <a:r>
              <a:rPr lang="en-GB" sz="2400" dirty="0" smtClean="0"/>
              <a:t>IMO OPRC Model Training Courses could be used as a guidance to plan and conduct a training.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982953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 txBox="1">
            <a:spLocks/>
          </p:cNvSpPr>
          <p:nvPr/>
        </p:nvSpPr>
        <p:spPr>
          <a:xfrm>
            <a:off x="1042416" y="963402"/>
            <a:ext cx="1042416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>
                <a:cs typeface="Arial" panose="020B0604020202020204" pitchFamily="34" charset="0"/>
              </a:rPr>
              <a:t>To provide the policy and response framework for the organization(s)</a:t>
            </a:r>
          </a:p>
          <a:p>
            <a:pPr algn="just"/>
            <a:endParaRPr lang="en-GB" altLang="en-US" dirty="0" smtClean="0">
              <a:cs typeface="Arial" panose="020B0604020202020204" pitchFamily="34" charset="0"/>
            </a:endParaRPr>
          </a:p>
          <a:p>
            <a:pPr algn="just"/>
            <a:r>
              <a:rPr lang="en-GB" altLang="en-US" dirty="0" smtClean="0">
                <a:cs typeface="Arial" panose="020B0604020202020204" pitchFamily="34" charset="0"/>
              </a:rPr>
              <a:t>To develop preparedness and planning for a complex response in a calm, non-emergency environment free from pressures</a:t>
            </a:r>
          </a:p>
          <a:p>
            <a:pPr algn="just"/>
            <a:endParaRPr lang="en-GB" altLang="en-US" dirty="0" smtClean="0">
              <a:cs typeface="Arial" panose="020B0604020202020204" pitchFamily="34" charset="0"/>
            </a:endParaRPr>
          </a:p>
          <a:p>
            <a:pPr algn="just"/>
            <a:r>
              <a:rPr lang="en-GB" altLang="en-US" dirty="0" smtClean="0">
                <a:cs typeface="Arial" panose="020B0604020202020204" pitchFamily="34" charset="0"/>
              </a:rPr>
              <a:t>To fulfil the requirements of:</a:t>
            </a:r>
          </a:p>
          <a:p>
            <a:pPr marL="857250" lvl="2" indent="-592138" algn="just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cs typeface="Arial" panose="020B0604020202020204" pitchFamily="34" charset="0"/>
              </a:rPr>
              <a:t>international agreements, e.g. OPRC</a:t>
            </a:r>
          </a:p>
          <a:p>
            <a:pPr marL="857250" lvl="2" indent="-592138" algn="just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cs typeface="Arial" panose="020B0604020202020204" pitchFamily="34" charset="0"/>
              </a:rPr>
              <a:t>national laws</a:t>
            </a:r>
          </a:p>
          <a:p>
            <a:pPr marL="857250" lvl="2" indent="-592138" algn="just">
              <a:buFont typeface="Wingdings" panose="05000000000000000000" pitchFamily="2" charset="2"/>
              <a:buChar char="ü"/>
            </a:pPr>
            <a:r>
              <a:rPr lang="en-GB" altLang="en-US" sz="2800" dirty="0" smtClean="0">
                <a:cs typeface="Arial" panose="020B0604020202020204" pitchFamily="34" charset="0"/>
              </a:rPr>
              <a:t>company policy</a:t>
            </a: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612648" y="130175"/>
            <a:ext cx="1100023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+mn-lt"/>
                <a:cs typeface="Times New Roman" panose="02020603050405020304" pitchFamily="18" charset="0"/>
              </a:rPr>
              <a:t>Why have a Contingency Plan?</a:t>
            </a:r>
          </a:p>
        </p:txBody>
      </p:sp>
    </p:spTree>
    <p:extLst>
      <p:ext uri="{BB962C8B-B14F-4D97-AF65-F5344CB8AC3E}">
        <p14:creationId xmlns:p14="http://schemas.microsoft.com/office/powerpoint/2010/main" val="278468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176272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+mn-lt"/>
              </a:rPr>
              <a:t>Plan Hierarchy - Example</a:t>
            </a:r>
          </a:p>
        </p:txBody>
      </p:sp>
      <p:pic>
        <p:nvPicPr>
          <p:cNvPr id="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8847" y="911225"/>
            <a:ext cx="7361238" cy="539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2690622" y="1773238"/>
            <a:ext cx="8905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400">
                <a:latin typeface="Tahoma" panose="020B0604030504040204" pitchFamily="34" charset="0"/>
              </a:rPr>
              <a:t>Region A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8594535" y="1830388"/>
            <a:ext cx="889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400">
                <a:latin typeface="Tahoma" panose="020B0604030504040204" pitchFamily="34" charset="0"/>
              </a:rPr>
              <a:t>Region B</a:t>
            </a:r>
          </a:p>
        </p:txBody>
      </p:sp>
    </p:spTree>
    <p:extLst>
      <p:ext uri="{BB962C8B-B14F-4D97-AF65-F5344CB8AC3E}">
        <p14:creationId xmlns:p14="http://schemas.microsoft.com/office/powerpoint/2010/main" val="2143433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25296" y="130175"/>
            <a:ext cx="1012240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+mn-lt"/>
              </a:rPr>
              <a:t>Tiered Approach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97280" y="1085719"/>
            <a:ext cx="1012240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sz="3200" dirty="0" smtClean="0"/>
              <a:t>Tier One</a:t>
            </a:r>
          </a:p>
          <a:p>
            <a:pPr marL="804863" lvl="1" indent="-539750" algn="just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Resources necessary to handle a local spill and/or provide an initial response</a:t>
            </a:r>
          </a:p>
          <a:p>
            <a:pPr marL="804863" lvl="1" indent="-539750" algn="just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Generally a minor </a:t>
            </a:r>
            <a:r>
              <a:rPr lang="ja-JP" altLang="en-GB" sz="2800" dirty="0" smtClean="0"/>
              <a:t>“</a:t>
            </a:r>
            <a:r>
              <a:rPr lang="en-GB" altLang="ja-JP" sz="2800" dirty="0" smtClean="0"/>
              <a:t>operational</a:t>
            </a:r>
            <a:r>
              <a:rPr lang="ja-JP" altLang="en-GB" sz="2800" dirty="0" smtClean="0"/>
              <a:t>”</a:t>
            </a:r>
            <a:r>
              <a:rPr lang="en-GB" altLang="ja-JP" sz="2800" dirty="0" smtClean="0"/>
              <a:t> spill </a:t>
            </a:r>
          </a:p>
          <a:p>
            <a:pPr marL="804863" lvl="2" indent="-539750" algn="just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Hose burst, tank overflow, leaking flange</a:t>
            </a:r>
          </a:p>
          <a:p>
            <a:pPr marL="804863" lvl="1" indent="-539750" algn="just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Contained locally </a:t>
            </a:r>
          </a:p>
          <a:p>
            <a:pPr marL="804863" lvl="1" indent="-539750" algn="just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Local response with resources immediately available on site</a:t>
            </a:r>
          </a:p>
          <a:p>
            <a:pPr marL="804863" lvl="1" indent="-539750" algn="just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Local facility or SOPEP activated</a:t>
            </a:r>
          </a:p>
          <a:p>
            <a:pPr marL="804863" lvl="1" indent="-539750" algn="just">
              <a:buFont typeface="Wingdings" panose="05000000000000000000" pitchFamily="2" charset="2"/>
              <a:buChar char="ü"/>
            </a:pPr>
            <a:endParaRPr lang="en-GB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929629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024128" y="130175"/>
            <a:ext cx="1036929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+mn-lt"/>
              </a:rPr>
              <a:t>Tiered Approach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24128" y="1085719"/>
            <a:ext cx="999439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GB" altLang="en-US" sz="3200" dirty="0" smtClean="0"/>
              <a:t>Tier Two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National or regional resources necessary to supplement a Tier One response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Generally a medium-sized spill or a spill that is not contained locally </a:t>
            </a:r>
          </a:p>
          <a:p>
            <a:pPr marL="685800" lvl="2" indent="-420688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Collision, grounding, sub-sea leak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Requiring additional resources from outside those immediately available on site</a:t>
            </a:r>
          </a:p>
          <a:p>
            <a:pPr lvl="1" indent="-420688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Company and Area Contingency Plans activated</a:t>
            </a:r>
          </a:p>
          <a:p>
            <a:pPr lvl="1" algn="just">
              <a:lnSpc>
                <a:spcPct val="100000"/>
              </a:lnSpc>
              <a:buFont typeface="Arial" panose="020B0604020202020204" pitchFamily="34" charset="0"/>
              <a:buNone/>
            </a:pPr>
            <a:endParaRPr lang="en-GB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3244723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024128" y="130175"/>
            <a:ext cx="1036929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+mn-lt"/>
              </a:rPr>
              <a:t>Tiered Approach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80278" y="1063494"/>
            <a:ext cx="1091314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GB" altLang="en-US" sz="3200" dirty="0" smtClean="0"/>
              <a:t>Tier Three</a:t>
            </a:r>
          </a:p>
          <a:p>
            <a:pPr lvl="1" indent="-4191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Global resources necessary for spills that require a substantial additional response</a:t>
            </a:r>
          </a:p>
          <a:p>
            <a:pPr lvl="1" indent="-4191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Generally a significant spill with national consequences or regional consequences </a:t>
            </a:r>
          </a:p>
          <a:p>
            <a:pPr lvl="2" algn="just">
              <a:lnSpc>
                <a:spcPct val="100000"/>
              </a:lnSpc>
            </a:pPr>
            <a:r>
              <a:rPr lang="en-GB" altLang="en-US" sz="2800" dirty="0" smtClean="0"/>
              <a:t>Grounding or Loss of vessel, blow-out, major sub-sea leak</a:t>
            </a:r>
          </a:p>
          <a:p>
            <a:pPr lvl="1" indent="-4191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Not contained locally, possible cross-boundary movement </a:t>
            </a:r>
          </a:p>
          <a:p>
            <a:pPr lvl="1" indent="-419100" algn="just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National, Bilateral or Regional Plans activated</a:t>
            </a:r>
          </a:p>
        </p:txBody>
      </p:sp>
    </p:spTree>
    <p:extLst>
      <p:ext uri="{BB962C8B-B14F-4D97-AF65-F5344CB8AC3E}">
        <p14:creationId xmlns:p14="http://schemas.microsoft.com/office/powerpoint/2010/main" val="1709075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2">
            <a:extLst/>
          </p:cNvPr>
          <p:cNvSpPr txBox="1">
            <a:spLocks noChangeArrowheads="1"/>
          </p:cNvSpPr>
          <p:nvPr/>
        </p:nvSpPr>
        <p:spPr>
          <a:xfrm>
            <a:off x="723901" y="105283"/>
            <a:ext cx="11468099" cy="56197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altLang="en-US" sz="4000" b="1" dirty="0" smtClean="0">
                <a:latin typeface="+mn-lt"/>
                <a:ea typeface="MS PGothic" panose="020B0600070205080204" pitchFamily="34" charset="-128"/>
              </a:rPr>
              <a:t>Recommended Steps in Plan Development</a:t>
            </a:r>
            <a:endParaRPr lang="en-US" altLang="en-US" sz="4000" b="1" dirty="0">
              <a:latin typeface="+mn-lt"/>
              <a:ea typeface="MS PGothic" panose="020B0600070205080204" pitchFamily="34" charset="-128"/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233" y="791083"/>
            <a:ext cx="9251951" cy="557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549527" y="5544058"/>
            <a:ext cx="5991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Tahoma" panose="020B0604030504040204" pitchFamily="34" charset="0"/>
              </a:rPr>
              <a:t>1. Define scope of the plan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grpSp>
        <p:nvGrpSpPr>
          <p:cNvPr id="10" name="Group 8"/>
          <p:cNvGrpSpPr>
            <a:grpSpLocks/>
          </p:cNvGrpSpPr>
          <p:nvPr/>
        </p:nvGrpSpPr>
        <p:grpSpPr bwMode="auto">
          <a:xfrm>
            <a:off x="2344865" y="4751896"/>
            <a:ext cx="7939087" cy="569912"/>
            <a:chOff x="-23" y="3385"/>
            <a:chExt cx="3039" cy="363"/>
          </a:xfrm>
        </p:grpSpPr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204" y="3385"/>
              <a:ext cx="2585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-23" y="3414"/>
              <a:ext cx="303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2400">
                  <a:latin typeface="Tahoma" panose="020B0604030504040204" pitchFamily="34" charset="0"/>
                </a:rPr>
                <a:t>2. Conduct the risk assessments</a:t>
              </a:r>
              <a:endParaRPr lang="en-US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3064002" y="4077208"/>
            <a:ext cx="4087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Tahoma" panose="020B0604030504040204" pitchFamily="34" charset="0"/>
              </a:rPr>
              <a:t>3. Develop a strategy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grpSp>
        <p:nvGrpSpPr>
          <p:cNvPr id="14" name="Group 14"/>
          <p:cNvGrpSpPr>
            <a:grpSpLocks/>
          </p:cNvGrpSpPr>
          <p:nvPr/>
        </p:nvGrpSpPr>
        <p:grpSpPr bwMode="auto">
          <a:xfrm>
            <a:off x="3735646" y="3310446"/>
            <a:ext cx="6804025" cy="715962"/>
            <a:chOff x="884" y="2614"/>
            <a:chExt cx="2812" cy="363"/>
          </a:xfrm>
        </p:grpSpPr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1066" y="2614"/>
              <a:ext cx="2449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884" y="2659"/>
              <a:ext cx="28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2400">
                  <a:latin typeface="Tahoma" panose="020B0604030504040204" pitchFamily="34" charset="0"/>
                </a:rPr>
                <a:t>4. Decide structure and layout</a:t>
              </a:r>
              <a:endParaRPr lang="en-US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17" name="Text Box 19"/>
          <p:cNvSpPr txBox="1">
            <a:spLocks noChangeArrowheads="1"/>
          </p:cNvSpPr>
          <p:nvPr/>
        </p:nvSpPr>
        <p:spPr bwMode="auto">
          <a:xfrm>
            <a:off x="4526221" y="2662746"/>
            <a:ext cx="60134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Tahoma" panose="020B0604030504040204" pitchFamily="34" charset="0"/>
              </a:rPr>
              <a:t>5. Procure appropriate equipment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8" name="Text Box 22"/>
          <p:cNvSpPr txBox="1">
            <a:spLocks noChangeArrowheads="1"/>
          </p:cNvSpPr>
          <p:nvPr/>
        </p:nvSpPr>
        <p:spPr bwMode="auto">
          <a:xfrm>
            <a:off x="5248534" y="1942021"/>
            <a:ext cx="5291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Tahoma" panose="020B0604030504040204" pitchFamily="34" charset="0"/>
              </a:rPr>
              <a:t>6. Conduct training and exercise 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grpSp>
        <p:nvGrpSpPr>
          <p:cNvPr id="19" name="Group 23"/>
          <p:cNvGrpSpPr>
            <a:grpSpLocks/>
          </p:cNvGrpSpPr>
          <p:nvPr/>
        </p:nvGrpSpPr>
        <p:grpSpPr bwMode="auto">
          <a:xfrm>
            <a:off x="5608896" y="1151446"/>
            <a:ext cx="3887788" cy="576262"/>
            <a:chOff x="2155" y="1525"/>
            <a:chExt cx="2449" cy="363"/>
          </a:xfrm>
        </p:grpSpPr>
        <p:sp>
          <p:nvSpPr>
            <p:cNvPr id="20" name="Rectangle 24"/>
            <p:cNvSpPr>
              <a:spLocks noChangeArrowheads="1"/>
            </p:cNvSpPr>
            <p:nvPr/>
          </p:nvSpPr>
          <p:spPr bwMode="auto">
            <a:xfrm>
              <a:off x="2155" y="1525"/>
              <a:ext cx="2449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1" name="Text Box 25"/>
            <p:cNvSpPr txBox="1">
              <a:spLocks noChangeArrowheads="1"/>
            </p:cNvSpPr>
            <p:nvPr/>
          </p:nvSpPr>
          <p:spPr bwMode="auto">
            <a:xfrm>
              <a:off x="2426" y="1570"/>
              <a:ext cx="16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GB" altLang="en-US" sz="2400" dirty="0">
                  <a:latin typeface="Tahoma" panose="020B0604030504040204" pitchFamily="34" charset="0"/>
                </a:rPr>
                <a:t>7. Update plan</a:t>
              </a:r>
              <a:endParaRPr lang="en-US" altLang="en-US" sz="2400" dirty="0"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7368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53999" y="102321"/>
            <a:ext cx="1053388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+mn-lt"/>
              </a:rPr>
              <a:t>Planning Considerations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92123" y="896793"/>
            <a:ext cx="9894951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altLang="en-US" sz="3200" dirty="0" smtClean="0"/>
              <a:t>General response planning considerations:</a:t>
            </a:r>
          </a:p>
          <a:p>
            <a:pPr lvl="1" indent="-4191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Designation of authority responsible for development and operation of plan</a:t>
            </a:r>
          </a:p>
          <a:p>
            <a:pPr lvl="1" indent="-4191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Response Hierarchy</a:t>
            </a:r>
          </a:p>
          <a:p>
            <a:pPr lvl="2">
              <a:lnSpc>
                <a:spcPct val="100000"/>
              </a:lnSpc>
            </a:pPr>
            <a:r>
              <a:rPr lang="en-GB" altLang="en-US" sz="2400" dirty="0" smtClean="0"/>
              <a:t>Tiered response</a:t>
            </a:r>
          </a:p>
          <a:p>
            <a:pPr lvl="2">
              <a:lnSpc>
                <a:spcPct val="100000"/>
              </a:lnSpc>
            </a:pPr>
            <a:r>
              <a:rPr lang="en-GB" altLang="en-US" sz="2400" dirty="0" smtClean="0"/>
              <a:t>Cooperation with industry</a:t>
            </a:r>
          </a:p>
          <a:p>
            <a:pPr lvl="2">
              <a:lnSpc>
                <a:spcPct val="100000"/>
              </a:lnSpc>
            </a:pPr>
            <a:r>
              <a:rPr lang="en-GB" altLang="en-US" sz="2400" dirty="0" smtClean="0"/>
              <a:t>Governmental arrangements</a:t>
            </a:r>
          </a:p>
          <a:p>
            <a:pPr lvl="1" indent="-4191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Identification of areas of high spill risk</a:t>
            </a:r>
          </a:p>
          <a:p>
            <a:pPr lvl="1" indent="-4191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Fate of oil</a:t>
            </a:r>
          </a:p>
          <a:p>
            <a:pPr lvl="1" indent="-4191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Probable oil movement based on local wind and current</a:t>
            </a:r>
          </a:p>
        </p:txBody>
      </p:sp>
    </p:spTree>
    <p:extLst>
      <p:ext uri="{BB962C8B-B14F-4D97-AF65-F5344CB8AC3E}">
        <p14:creationId xmlns:p14="http://schemas.microsoft.com/office/powerpoint/2010/main" val="1527550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161288" y="130175"/>
            <a:ext cx="996696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+mn-lt"/>
              </a:rPr>
              <a:t>Planning Considerations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046213" y="1085719"/>
            <a:ext cx="1027901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en-GB" altLang="en-US" dirty="0" smtClean="0"/>
              <a:t>General response planning considerations (continued):</a:t>
            </a:r>
          </a:p>
          <a:p>
            <a:pPr lvl="1" indent="-419100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altLang="en-US" dirty="0" smtClean="0"/>
              <a:t>Coastal sensitivity mapping</a:t>
            </a:r>
          </a:p>
          <a:p>
            <a:pPr lvl="1" indent="-419100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altLang="en-US" dirty="0" smtClean="0"/>
              <a:t>Priorities for protection</a:t>
            </a:r>
          </a:p>
          <a:p>
            <a:pPr lvl="1" indent="-419100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altLang="en-US" dirty="0" smtClean="0"/>
              <a:t>Different response options</a:t>
            </a:r>
          </a:p>
          <a:p>
            <a:pPr lvl="1" indent="-419100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altLang="en-US" dirty="0" smtClean="0"/>
              <a:t>Oil spill response policy</a:t>
            </a:r>
          </a:p>
          <a:p>
            <a:pPr lvl="1" indent="-419100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altLang="en-US" dirty="0" smtClean="0"/>
              <a:t>Organization for response (IMS)</a:t>
            </a:r>
          </a:p>
          <a:p>
            <a:pPr lvl="1" indent="-419100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endParaRPr lang="en-GB" altLang="en-US" dirty="0" smtClean="0"/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GB" altLang="en-US" dirty="0" smtClean="0"/>
              <a:t>Note that different levels of plans can focus on the strategic, tactical or operational aspects of the response.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44388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865376" y="102321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>
                <a:latin typeface="+mn-lt"/>
              </a:rPr>
              <a:t>Development Process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8484" y="868939"/>
            <a:ext cx="7263384" cy="544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052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38595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">
      <a:majorFont>
        <a:latin typeface="Calibri Light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1232</Words>
  <Application>Microsoft Office PowerPoint</Application>
  <PresentationFormat>Widescreen</PresentationFormat>
  <Paragraphs>160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MS PGothic</vt:lpstr>
      <vt:lpstr>MS PGothic</vt:lpstr>
      <vt:lpstr>Arial</vt:lpstr>
      <vt:lpstr>Calibri</vt:lpstr>
      <vt:lpstr>Calibri Light</vt:lpstr>
      <vt:lpstr>inherit</vt:lpstr>
      <vt:lpstr>Tahoma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152</cp:revision>
  <dcterms:created xsi:type="dcterms:W3CDTF">2024-09-27T05:40:49Z</dcterms:created>
  <dcterms:modified xsi:type="dcterms:W3CDTF">2025-05-05T10:30:20Z</dcterms:modified>
</cp:coreProperties>
</file>
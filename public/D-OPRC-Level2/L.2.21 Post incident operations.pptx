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2" r:id="rId10"/>
    <p:sldId id="273" r:id="rId11"/>
    <p:sldId id="274" r:id="rId12"/>
    <p:sldId id="275" r:id="rId13"/>
    <p:sldId id="276" r:id="rId14"/>
    <p:sldId id="277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2568004" y="2514600"/>
            <a:ext cx="7772400" cy="7863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A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 Incident Operations</a:t>
            </a:r>
            <a:endParaRPr lang="en-GB" altLang="en-US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298447" y="130175"/>
            <a:ext cx="9571799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Arial" panose="020B0604020202020204" pitchFamily="34" charset="0"/>
              </a:rPr>
              <a:t>Objectives</a:t>
            </a:r>
          </a:p>
        </p:txBody>
      </p:sp>
      <p:sp>
        <p:nvSpPr>
          <p:cNvPr id="6" name="Rectangle 3">
            <a:extLst/>
          </p:cNvPr>
          <p:cNvSpPr txBox="1">
            <a:spLocks noChangeArrowheads="1"/>
          </p:cNvSpPr>
          <p:nvPr/>
        </p:nvSpPr>
        <p:spPr>
          <a:xfrm>
            <a:off x="1090104" y="1376087"/>
            <a:ext cx="10266744" cy="5184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 smtClean="0">
                <a:ea typeface="ＭＳ Ｐゴシック" charset="0"/>
              </a:rPr>
              <a:t>To understand the required post-incident operations after an oil spill.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fr-CA" dirty="0" smtClean="0">
              <a:ea typeface="ＭＳ Ｐゴシック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fr-CA" dirty="0" smtClean="0">
              <a:ea typeface="ＭＳ Ｐゴシック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 smtClean="0">
                <a:ea typeface="ＭＳ Ｐゴシック" charset="0"/>
              </a:rPr>
              <a:t>To understand the consideration of any post-spill monitoring or studies.</a:t>
            </a:r>
            <a:r>
              <a:rPr lang="fr-CA" dirty="0" smtClean="0">
                <a:ea typeface="ＭＳ Ｐゴシック" charset="0"/>
              </a:rPr>
              <a:t> </a:t>
            </a:r>
          </a:p>
          <a:p>
            <a:pPr>
              <a:defRPr/>
            </a:pPr>
            <a:endParaRPr lang="en-US" dirty="0" smtClean="0">
              <a:latin typeface="Arial" pitchFamily="34" charset="0"/>
              <a:ea typeface="ＭＳ Ｐゴシック" charset="0"/>
            </a:endParaRPr>
          </a:p>
          <a:p>
            <a:pPr>
              <a:defRPr/>
            </a:pPr>
            <a:endParaRPr lang="en-US" dirty="0" smtClean="0">
              <a:latin typeface="Arial" pitchFamily="34" charset="0"/>
              <a:ea typeface="ＭＳ Ｐゴシック" charset="0"/>
            </a:endParaRPr>
          </a:p>
          <a:p>
            <a:pPr>
              <a:defRPr/>
            </a:pPr>
            <a:endParaRPr lang="fr-FR" dirty="0">
              <a:latin typeface="Arial" pitchFamily="34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380743" y="130175"/>
            <a:ext cx="9498647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/>
              <a:t>Post-incident Operations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056130" y="1119057"/>
            <a:ext cx="10147872" cy="5184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Once active clean-up is terminated, many tasks must be accomplished to complete the response.</a:t>
            </a:r>
          </a:p>
          <a:p>
            <a:pPr algn="just"/>
            <a:r>
              <a:rPr lang="en-GB" altLang="en-US" dirty="0" smtClean="0"/>
              <a:t>Generally, four types of tasks are carried out: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Operational tasks;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Administrative tasks;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Post-spill studies (they will generally commence as necessary and be integrated with the response operations);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Restoration.</a:t>
            </a:r>
          </a:p>
          <a:p>
            <a:pPr algn="just"/>
            <a:r>
              <a:rPr lang="en-GB" altLang="en-US" dirty="0" smtClean="0"/>
              <a:t>This project phase can last for a long period of time depending on the scale of the incident.</a:t>
            </a:r>
          </a:p>
          <a:p>
            <a:pPr algn="just"/>
            <a:endParaRPr lang="en-GB" altLang="en-US" dirty="0" smtClean="0"/>
          </a:p>
          <a:p>
            <a:pPr lvl="1" algn="just"/>
            <a:endParaRPr lang="en-GB" altLang="en-US" dirty="0" smtClean="0"/>
          </a:p>
          <a:p>
            <a:pPr lvl="1" algn="just"/>
            <a:endParaRPr lang="en-GB" altLang="en-US" dirty="0" smtClean="0"/>
          </a:p>
          <a:p>
            <a:pPr algn="just"/>
            <a:endParaRPr lang="en-US" altLang="en-US" dirty="0" smtClean="0"/>
          </a:p>
          <a:p>
            <a:pPr algn="just"/>
            <a:endParaRPr lang="en-US" altLang="en-US" dirty="0" smtClean="0"/>
          </a:p>
          <a:p>
            <a:pPr algn="just"/>
            <a:endParaRPr lang="en-US" altLang="en-US" dirty="0" smtClean="0"/>
          </a:p>
          <a:p>
            <a:pPr algn="just"/>
            <a:endParaRPr lang="en-US" altLang="en-US" dirty="0" smtClean="0">
              <a:latin typeface="Arial" panose="020B0604020202020204" pitchFamily="34" charset="0"/>
            </a:endParaRPr>
          </a:p>
          <a:p>
            <a:pPr algn="just"/>
            <a:endParaRPr lang="en-US" altLang="en-US" dirty="0" smtClean="0">
              <a:latin typeface="Arial" panose="020B0604020202020204" pitchFamily="34" charset="0"/>
            </a:endParaRPr>
          </a:p>
          <a:p>
            <a:pPr algn="just"/>
            <a:endParaRPr lang="fr-FR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3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408176" y="49724"/>
            <a:ext cx="977493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Post-incident Operations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024128" y="1218333"/>
            <a:ext cx="1025956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sz="3200" dirty="0" smtClean="0"/>
              <a:t>Operational tasks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All equipment and stockpiles used for the response must be returned to their original state of readiness.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Ensure that equipment is ready for next spill.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Typical operational tasks are: </a:t>
            </a:r>
          </a:p>
          <a:p>
            <a:pPr lvl="2" indent="-430213" algn="just">
              <a:buFont typeface="Wingdings" panose="05000000000000000000" pitchFamily="2" charset="2"/>
              <a:buChar char="Ø"/>
            </a:pPr>
            <a:r>
              <a:rPr lang="en-GB" altLang="en-US" sz="2400" dirty="0" smtClean="0"/>
              <a:t>Remove equipment from field</a:t>
            </a:r>
          </a:p>
          <a:p>
            <a:pPr lvl="2" indent="-430213" algn="just">
              <a:buFont typeface="Wingdings" panose="05000000000000000000" pitchFamily="2" charset="2"/>
              <a:buChar char="Ø"/>
            </a:pPr>
            <a:r>
              <a:rPr lang="en-GB" altLang="en-US" sz="2400" dirty="0" smtClean="0"/>
              <a:t>Clean up of equipment, waste area, ports, vessels, etc.</a:t>
            </a:r>
          </a:p>
          <a:p>
            <a:pPr lvl="2" indent="-430213" algn="just">
              <a:buFont typeface="Wingdings" panose="05000000000000000000" pitchFamily="2" charset="2"/>
              <a:buChar char="Ø"/>
            </a:pPr>
            <a:r>
              <a:rPr lang="en-GB" altLang="en-US" sz="2400" dirty="0" smtClean="0"/>
              <a:t>Repairs and maintenance</a:t>
            </a:r>
          </a:p>
          <a:p>
            <a:pPr lvl="2" indent="-430213" algn="just">
              <a:buFont typeface="Wingdings" panose="05000000000000000000" pitchFamily="2" charset="2"/>
              <a:buChar char="Ø"/>
            </a:pPr>
            <a:r>
              <a:rPr lang="en-GB" altLang="en-US" sz="2400" dirty="0" smtClean="0"/>
              <a:t>Restock.</a:t>
            </a:r>
          </a:p>
          <a:p>
            <a:pPr algn="just"/>
            <a:endParaRPr lang="fr-F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33250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892808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Post-incident Operations</a:t>
            </a:r>
            <a:endParaRPr lang="fr-FR" altLang="en-US" b="1" dirty="0" smtClean="0"/>
          </a:p>
        </p:txBody>
      </p:sp>
      <p:pic>
        <p:nvPicPr>
          <p:cNvPr id="6" name="Content Placeholder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1224" y="963402"/>
            <a:ext cx="3454400" cy="521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4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371599" y="130175"/>
            <a:ext cx="9343199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Arial" panose="020B0604020202020204" pitchFamily="34" charset="0"/>
              </a:rPr>
              <a:t>Post-incident Operations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934656" y="1193525"/>
            <a:ext cx="9699816" cy="5184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3200" dirty="0" smtClean="0"/>
              <a:t>Administrative tasks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A number of administrative tasks must be completed once active clean-up is terminated.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Typical administrative tasks are: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sz="2400" dirty="0" smtClean="0"/>
              <a:t>Finalize payments and contracts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sz="2400" dirty="0" smtClean="0"/>
              <a:t>Compile costs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sz="2400" dirty="0" smtClean="0"/>
              <a:t>Produce final incident report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sz="2400" dirty="0" smtClean="0"/>
              <a:t>Prepare claims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sz="2400" dirty="0" smtClean="0"/>
              <a:t>Conduct incident debriefing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sz="2400" dirty="0" smtClean="0"/>
              <a:t>Implement lessons learned</a:t>
            </a:r>
          </a:p>
          <a:p>
            <a:pPr lvl="2"/>
            <a:endParaRPr lang="en-GB" altLang="en-US" dirty="0" smtClean="0"/>
          </a:p>
          <a:p>
            <a:pPr lvl="1"/>
            <a:endParaRPr lang="en-GB" altLang="en-US" dirty="0" smtClean="0"/>
          </a:p>
          <a:p>
            <a:endParaRPr lang="en-US" altLang="en-US" dirty="0" smtClean="0"/>
          </a:p>
          <a:p>
            <a:endParaRPr lang="en-US" altLang="en-US" dirty="0" smtClean="0"/>
          </a:p>
          <a:p>
            <a:endParaRPr lang="en-US" altLang="en-US" dirty="0" smtClean="0"/>
          </a:p>
          <a:p>
            <a:endParaRPr lang="en-US" altLang="en-US" dirty="0" smtClean="0">
              <a:latin typeface="Arial" panose="020B0604020202020204" pitchFamily="34" charset="0"/>
            </a:endParaRPr>
          </a:p>
          <a:p>
            <a:endParaRPr lang="en-US" altLang="en-US" dirty="0" smtClean="0">
              <a:latin typeface="Arial" panose="020B0604020202020204" pitchFamily="34" charset="0"/>
            </a:endParaRPr>
          </a:p>
          <a:p>
            <a:endParaRPr lang="fr-FR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75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975282" y="89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/>
              <a:t>Post-incident Operations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081075" y="1044719"/>
            <a:ext cx="1001801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en-US" altLang="en-US" dirty="0" smtClean="0"/>
              <a:t>Post-spill studies</a:t>
            </a:r>
          </a:p>
          <a:p>
            <a:pPr lvl="1" indent="-420688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US" altLang="en-US" dirty="0" smtClean="0"/>
              <a:t>Undertaken as necessary to:</a:t>
            </a:r>
          </a:p>
          <a:p>
            <a:pPr lvl="2" indent="-430213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en-US" dirty="0" smtClean="0"/>
              <a:t>determine the nature and extent of damage</a:t>
            </a:r>
          </a:p>
          <a:p>
            <a:pPr lvl="2" indent="-430213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en-US" dirty="0" smtClean="0"/>
              <a:t>assess and monitor the recovery processes</a:t>
            </a:r>
          </a:p>
          <a:p>
            <a:pPr lvl="1" indent="-420688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US" altLang="en-US" dirty="0" smtClean="0"/>
              <a:t>Typically, post-spill studies will start during response and continue after operations are concluded</a:t>
            </a:r>
          </a:p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en-US" altLang="en-US" dirty="0" smtClean="0"/>
              <a:t>Post-spill monitoring must answer specific questions such as:</a:t>
            </a:r>
          </a:p>
          <a:p>
            <a:pPr lvl="1" indent="-420688">
              <a:lnSpc>
                <a:spcPct val="110000"/>
              </a:lnSpc>
              <a:spcBef>
                <a:spcPts val="413"/>
              </a:spcBef>
              <a:buFont typeface="Wingdings" panose="05000000000000000000" pitchFamily="2" charset="2"/>
              <a:buChar char="ü"/>
            </a:pPr>
            <a:r>
              <a:rPr lang="en-US" altLang="en-US" dirty="0" smtClean="0"/>
              <a:t>What are the levels of contaminants in the environment?</a:t>
            </a:r>
          </a:p>
        </p:txBody>
      </p:sp>
    </p:spTree>
    <p:extLst>
      <p:ext uri="{BB962C8B-B14F-4D97-AF65-F5344CB8AC3E}">
        <p14:creationId xmlns:p14="http://schemas.microsoft.com/office/powerpoint/2010/main" val="16536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335024" y="130175"/>
            <a:ext cx="988466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/>
              <a:t>Post-incident Operations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426464" y="1090930"/>
            <a:ext cx="988466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en-US" altLang="en-US" dirty="0" smtClean="0"/>
              <a:t>Designing a post-spill monitoring study</a:t>
            </a:r>
          </a:p>
          <a:p>
            <a:pPr marL="914400" lvl="1" indent="-514350">
              <a:lnSpc>
                <a:spcPct val="110000"/>
              </a:lnSpc>
              <a:spcBef>
                <a:spcPct val="30000"/>
              </a:spcBef>
              <a:buFont typeface="Calibri" panose="020F0502020204030204" pitchFamily="34" charset="0"/>
              <a:buAutoNum type="arabicPeriod"/>
            </a:pPr>
            <a:r>
              <a:rPr lang="en-US" altLang="en-US" dirty="0" smtClean="0"/>
              <a:t>Determine monitoring objectives</a:t>
            </a:r>
          </a:p>
          <a:p>
            <a:pPr marL="1314450" lvl="2" indent="-327025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US" altLang="en-US" dirty="0" smtClean="0"/>
              <a:t>Ex: evaluate hydrocarbon levels in sediments</a:t>
            </a:r>
          </a:p>
          <a:p>
            <a:pPr marL="914400" lvl="1" indent="-514350">
              <a:lnSpc>
                <a:spcPct val="110000"/>
              </a:lnSpc>
              <a:spcBef>
                <a:spcPct val="30000"/>
              </a:spcBef>
              <a:buFont typeface="Calibri" panose="020F0502020204030204" pitchFamily="34" charset="0"/>
              <a:buAutoNum type="arabicPeriod"/>
            </a:pPr>
            <a:r>
              <a:rPr lang="en-US" altLang="en-US" dirty="0" smtClean="0"/>
              <a:t>Determine geographical extent</a:t>
            </a:r>
          </a:p>
          <a:p>
            <a:pPr marL="1314450" lvl="2" indent="-327025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US" altLang="en-US" dirty="0" smtClean="0"/>
              <a:t>Ex: Beach 1 and 5</a:t>
            </a:r>
          </a:p>
          <a:p>
            <a:pPr marL="914400" lvl="1" indent="-514350">
              <a:lnSpc>
                <a:spcPct val="110000"/>
              </a:lnSpc>
              <a:spcBef>
                <a:spcPct val="30000"/>
              </a:spcBef>
              <a:buFont typeface="Calibri" panose="020F0502020204030204" pitchFamily="34" charset="0"/>
              <a:buAutoNum type="arabicPeriod"/>
            </a:pPr>
            <a:r>
              <a:rPr lang="en-US" altLang="en-US" dirty="0" smtClean="0"/>
              <a:t>Determine study parameters</a:t>
            </a:r>
          </a:p>
          <a:p>
            <a:pPr marL="1314450" lvl="2" indent="-327025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US" altLang="en-US" dirty="0" smtClean="0"/>
              <a:t>Ex: Total hydrocarbons</a:t>
            </a:r>
          </a:p>
          <a:p>
            <a:pPr marL="914400" lvl="1" indent="-514350">
              <a:lnSpc>
                <a:spcPct val="110000"/>
              </a:lnSpc>
              <a:spcBef>
                <a:spcPct val="30000"/>
              </a:spcBef>
              <a:buFont typeface="Calibri" panose="020F0502020204030204" pitchFamily="34" charset="0"/>
              <a:buAutoNum type="arabicPeriod"/>
            </a:pPr>
            <a:r>
              <a:rPr lang="en-US" altLang="en-US" dirty="0" smtClean="0"/>
              <a:t>Elaborate sampling plan</a:t>
            </a:r>
          </a:p>
          <a:p>
            <a:pPr marL="1314450" lvl="2" indent="-327025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US" altLang="en-US" dirty="0" smtClean="0"/>
              <a:t>Ex: Monthly, 5 sampling stations, 3 samples/station </a:t>
            </a:r>
          </a:p>
        </p:txBody>
      </p:sp>
    </p:spTree>
    <p:extLst>
      <p:ext uri="{BB962C8B-B14F-4D97-AF65-F5344CB8AC3E}">
        <p14:creationId xmlns:p14="http://schemas.microsoft.com/office/powerpoint/2010/main" val="16076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344168" y="130175"/>
            <a:ext cx="986637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/>
              <a:t>Post-incident Operations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344168" y="1085719"/>
            <a:ext cx="986637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en-US" altLang="en-US" dirty="0" smtClean="0"/>
              <a:t>Designing a post-spill monitoring study</a:t>
            </a:r>
          </a:p>
          <a:p>
            <a:pPr marL="914400" lvl="1" indent="-514350">
              <a:lnSpc>
                <a:spcPct val="110000"/>
              </a:lnSpc>
              <a:spcBef>
                <a:spcPct val="30000"/>
              </a:spcBef>
              <a:buFont typeface="Calibri" panose="020F0502020204030204" pitchFamily="34" charset="0"/>
              <a:buAutoNum type="arabicPeriod" startAt="5"/>
            </a:pPr>
            <a:r>
              <a:rPr lang="en-US" altLang="en-US" dirty="0" smtClean="0"/>
              <a:t>Determine study timeframe</a:t>
            </a:r>
          </a:p>
          <a:p>
            <a:pPr marL="1314450" lvl="2" indent="-327025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US" altLang="en-US" dirty="0" smtClean="0"/>
              <a:t>Ex: 12 months </a:t>
            </a:r>
          </a:p>
          <a:p>
            <a:pPr marL="914400" lvl="1" indent="-514350">
              <a:lnSpc>
                <a:spcPct val="110000"/>
              </a:lnSpc>
              <a:spcBef>
                <a:spcPct val="30000"/>
              </a:spcBef>
              <a:buFont typeface="Calibri" panose="020F0502020204030204" pitchFamily="34" charset="0"/>
              <a:buAutoNum type="arabicPeriod" startAt="5"/>
            </a:pPr>
            <a:r>
              <a:rPr lang="en-US" altLang="en-US" dirty="0" smtClean="0"/>
              <a:t>Decide on interpretation of results</a:t>
            </a:r>
          </a:p>
          <a:p>
            <a:pPr marL="1314450" lvl="2" indent="-327025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en-US" dirty="0" smtClean="0"/>
              <a:t>Comparison with pre-spill data</a:t>
            </a:r>
          </a:p>
          <a:p>
            <a:pPr marL="1314450" lvl="2" indent="-327025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en-US" dirty="0" smtClean="0"/>
              <a:t>Comparison with non-contaminated reference sites</a:t>
            </a:r>
          </a:p>
          <a:p>
            <a:pPr marL="1314450" lvl="2" indent="-327025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en-US" dirty="0" smtClean="0"/>
              <a:t>Changes over time</a:t>
            </a:r>
          </a:p>
          <a:p>
            <a:pPr marL="914400" lvl="1" indent="-514350">
              <a:lnSpc>
                <a:spcPct val="110000"/>
              </a:lnSpc>
              <a:spcBef>
                <a:spcPct val="30000"/>
              </a:spcBef>
              <a:buFont typeface="Calibri" panose="020F0502020204030204" pitchFamily="34" charset="0"/>
              <a:buAutoNum type="arabicPeriod" startAt="5"/>
            </a:pPr>
            <a:r>
              <a:rPr lang="en-US" altLang="en-US" dirty="0" smtClean="0"/>
              <a:t>Carry out study and write report</a:t>
            </a:r>
          </a:p>
          <a:p>
            <a:pPr marL="914400" lvl="1" indent="-514350">
              <a:lnSpc>
                <a:spcPct val="110000"/>
              </a:lnSpc>
              <a:spcBef>
                <a:spcPct val="30000"/>
              </a:spcBef>
              <a:buFont typeface="Calibri" panose="020F0502020204030204" pitchFamily="34" charset="0"/>
              <a:buAutoNum type="arabicPeriod" startAt="5"/>
            </a:pPr>
            <a:r>
              <a:rPr lang="en-US" altLang="en-US" dirty="0" smtClean="0"/>
              <a:t>Identify required restoration measures </a:t>
            </a:r>
          </a:p>
        </p:txBody>
      </p:sp>
    </p:spTree>
    <p:extLst>
      <p:ext uri="{BB962C8B-B14F-4D97-AF65-F5344CB8AC3E}">
        <p14:creationId xmlns:p14="http://schemas.microsoft.com/office/powerpoint/2010/main" val="4055983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554480" y="130175"/>
            <a:ext cx="961948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/>
              <a:t>Post-incident Operations 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280338" y="1160187"/>
            <a:ext cx="961948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en-US" altLang="en-US" dirty="0" smtClean="0"/>
              <a:t>Collaboration between government and ship/facility owner is desirable during the whole process</a:t>
            </a:r>
          </a:p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en-US" altLang="en-US" dirty="0" smtClean="0"/>
              <a:t>It will avoid:</a:t>
            </a:r>
          </a:p>
          <a:p>
            <a:pPr lvl="1" indent="-420688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US" altLang="en-US" dirty="0" smtClean="0"/>
              <a:t>Duplication of efforts</a:t>
            </a:r>
          </a:p>
          <a:p>
            <a:pPr lvl="1" indent="-420688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US" altLang="en-US" dirty="0" smtClean="0"/>
              <a:t>Varying results due to differences in methodology</a:t>
            </a:r>
          </a:p>
          <a:p>
            <a:pPr lvl="1" indent="-420688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US" altLang="fr-FR" dirty="0" smtClean="0"/>
              <a:t>“</a:t>
            </a:r>
            <a:r>
              <a:rPr lang="en-US" altLang="en-US" dirty="0" smtClean="0"/>
              <a:t>Battle of experts</a:t>
            </a:r>
            <a:r>
              <a:rPr lang="en-US" altLang="fr-FR" dirty="0" smtClean="0"/>
              <a:t>”</a:t>
            </a:r>
            <a:r>
              <a:rPr lang="en-US" altLang="en-US" dirty="0" smtClean="0"/>
              <a:t> </a:t>
            </a:r>
          </a:p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en-US" altLang="en-US" dirty="0" smtClean="0"/>
              <a:t>Collaboration will ensure quicker implementation of restoration measures and treatment of claims</a:t>
            </a:r>
          </a:p>
        </p:txBody>
      </p:sp>
    </p:spTree>
    <p:extLst>
      <p:ext uri="{BB962C8B-B14F-4D97-AF65-F5344CB8AC3E}">
        <p14:creationId xmlns:p14="http://schemas.microsoft.com/office/powerpoint/2010/main" val="78392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417320" y="130175"/>
            <a:ext cx="928116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 smtClean="0"/>
              <a:t>Post-incident Operations </a:t>
            </a:r>
            <a:endParaRPr lang="fr-FR" altLang="en-US" b="1" dirty="0" smtClean="0"/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893" y="1143425"/>
            <a:ext cx="7288014" cy="4858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6541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554479" y="130175"/>
            <a:ext cx="9553511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/>
              <a:t>Post-incident Operation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090104" y="1085719"/>
            <a:ext cx="1009300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spcBef>
                <a:spcPct val="30000"/>
              </a:spcBef>
            </a:pPr>
            <a:r>
              <a:rPr lang="en-US" altLang="en-US" dirty="0" smtClean="0"/>
              <a:t>Restoration</a:t>
            </a:r>
          </a:p>
          <a:p>
            <a:pPr lvl="1" indent="-420688" algn="just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US" altLang="en-US" dirty="0" smtClean="0"/>
              <a:t>Measures to speed up recovery from environmental damage</a:t>
            </a:r>
          </a:p>
          <a:p>
            <a:pPr lvl="1" indent="-420688" algn="just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US" altLang="en-US" dirty="0" smtClean="0"/>
              <a:t>Aim to bring back environmental function to what it was prior to a spill</a:t>
            </a:r>
          </a:p>
          <a:p>
            <a:pPr lvl="1" indent="-420688" algn="just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US" altLang="en-US" dirty="0" smtClean="0"/>
              <a:t>Various methods:</a:t>
            </a:r>
          </a:p>
          <a:p>
            <a:pPr lvl="2" indent="-430213" algn="just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dirty="0" smtClean="0"/>
              <a:t>Planting (mangroves, marshes)</a:t>
            </a:r>
          </a:p>
          <a:p>
            <a:pPr lvl="2" indent="-430213" algn="just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dirty="0" smtClean="0"/>
              <a:t>Restricting access to particular habitat</a:t>
            </a:r>
          </a:p>
          <a:p>
            <a:pPr lvl="2" indent="-430213" algn="just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dirty="0" smtClean="0"/>
              <a:t>Predator control</a:t>
            </a:r>
          </a:p>
          <a:p>
            <a:pPr lvl="1" indent="-420688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en-US" dirty="0" smtClean="0"/>
              <a:t>Must have a realistic chance of success for compensation</a:t>
            </a:r>
          </a:p>
          <a:p>
            <a:pPr lvl="1" algn="just">
              <a:lnSpc>
                <a:spcPct val="110000"/>
              </a:lnSpc>
              <a:spcBef>
                <a:spcPct val="30000"/>
              </a:spcBef>
            </a:pPr>
            <a:endParaRPr lang="en-US" altLang="en-US" dirty="0" smtClean="0"/>
          </a:p>
          <a:p>
            <a:pPr algn="just">
              <a:lnSpc>
                <a:spcPct val="110000"/>
              </a:lnSpc>
              <a:spcBef>
                <a:spcPct val="30000"/>
              </a:spcBef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866548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2057400" y="8445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 smtClean="0"/>
              <a:t>Post-incident Operation</a:t>
            </a:r>
            <a:endParaRPr lang="fr-FR" altLang="en-US" b="1" dirty="0" smtClean="0"/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39" y="1654556"/>
            <a:ext cx="4951953" cy="3712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971" y="1654555"/>
            <a:ext cx="4713541" cy="3700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819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362456" y="130175"/>
            <a:ext cx="94914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Conclusion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841248" y="1160187"/>
            <a:ext cx="1031443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spcBef>
                <a:spcPts val="550"/>
              </a:spcBef>
            </a:pPr>
            <a:r>
              <a:rPr lang="en-GB" altLang="en-US" dirty="0" smtClean="0"/>
              <a:t>Many tasks must be undertaken after active clean-up to terminate an oil spill response.</a:t>
            </a:r>
          </a:p>
          <a:p>
            <a:pPr algn="just">
              <a:lnSpc>
                <a:spcPct val="110000"/>
              </a:lnSpc>
              <a:spcBef>
                <a:spcPts val="550"/>
              </a:spcBef>
            </a:pPr>
            <a:endParaRPr lang="en-GB" altLang="en-US" dirty="0" smtClean="0"/>
          </a:p>
          <a:p>
            <a:pPr algn="just">
              <a:lnSpc>
                <a:spcPct val="110000"/>
              </a:lnSpc>
              <a:spcBef>
                <a:spcPts val="550"/>
              </a:spcBef>
            </a:pPr>
            <a:r>
              <a:rPr lang="en-GB" altLang="en-US" dirty="0" smtClean="0"/>
              <a:t>It is important to plan for those during the response and to keep resources available.</a:t>
            </a:r>
          </a:p>
          <a:p>
            <a:pPr algn="just">
              <a:lnSpc>
                <a:spcPct val="110000"/>
              </a:lnSpc>
              <a:spcBef>
                <a:spcPts val="550"/>
              </a:spcBef>
            </a:pPr>
            <a:endParaRPr lang="en-GB" altLang="en-US" dirty="0" smtClean="0"/>
          </a:p>
          <a:p>
            <a:pPr algn="just">
              <a:lnSpc>
                <a:spcPct val="110000"/>
              </a:lnSpc>
              <a:spcBef>
                <a:spcPts val="550"/>
              </a:spcBef>
            </a:pPr>
            <a:r>
              <a:rPr lang="en-GB" altLang="en-US" dirty="0" smtClean="0"/>
              <a:t>Adopt a collaborative approach for the design of post-monitoring studies.</a:t>
            </a:r>
          </a:p>
          <a:p>
            <a:pPr algn="just">
              <a:lnSpc>
                <a:spcPct val="110000"/>
              </a:lnSpc>
              <a:spcBef>
                <a:spcPts val="550"/>
              </a:spcBef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89009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683</Words>
  <Application>Microsoft Office PowerPoint</Application>
  <PresentationFormat>Widescreen</PresentationFormat>
  <Paragraphs>116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ＭＳ Ｐゴシック</vt:lpstr>
      <vt:lpstr>Arial</vt:lpstr>
      <vt:lpstr>Calibri</vt:lpstr>
      <vt:lpstr>inherit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152</cp:revision>
  <dcterms:created xsi:type="dcterms:W3CDTF">2024-09-27T05:40:49Z</dcterms:created>
  <dcterms:modified xsi:type="dcterms:W3CDTF">2025-05-09T11:00:19Z</dcterms:modified>
</cp:coreProperties>
</file>
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903540" y="3111500"/>
            <a:ext cx="9182036" cy="863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 and Orientation</a:t>
            </a: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10">
            <a:extLst/>
          </p:cNvPr>
          <p:cNvSpPr txBox="1">
            <a:spLocks/>
          </p:cNvSpPr>
          <p:nvPr/>
        </p:nvSpPr>
        <p:spPr>
          <a:xfrm>
            <a:off x="457200" y="130175"/>
            <a:ext cx="11328400" cy="561975"/>
          </a:xfrm>
          <a:prstGeom prst="rect">
            <a:avLst/>
          </a:prstGeom>
        </p:spPr>
        <p:txBody>
          <a:bodyPr rtlCol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 Orientation</a:t>
            </a:r>
            <a:endParaRPr lang="en-GB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Rectangle 7">
            <a:extLst/>
          </p:cNvPr>
          <p:cNvSpPr/>
          <p:nvPr/>
        </p:nvSpPr>
        <p:spPr>
          <a:xfrm>
            <a:off x="1229233" y="1008634"/>
            <a:ext cx="8569325" cy="45243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Welcome</a:t>
            </a:r>
          </a:p>
          <a:p>
            <a:pPr eaLnBrk="1" hangingPunct="1">
              <a:buFont typeface="Arial" charset="0"/>
              <a:buNone/>
              <a:defRPr/>
            </a:pPr>
            <a:endParaRPr lang="en-GB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Domestic arrangements</a:t>
            </a:r>
          </a:p>
          <a:p>
            <a:pPr eaLnBrk="1" hangingPunct="1">
              <a:buFont typeface="Arial" charset="0"/>
              <a:buNone/>
              <a:defRPr/>
            </a:pPr>
            <a:endParaRPr lang="en-GB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Aims and objectives</a:t>
            </a:r>
          </a:p>
          <a:p>
            <a:pPr eaLnBrk="1" hangingPunct="1">
              <a:buFont typeface="Arial" charset="0"/>
              <a:buNone/>
              <a:defRPr/>
            </a:pPr>
            <a:endParaRPr lang="en-GB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 content and timetable</a:t>
            </a:r>
          </a:p>
          <a:p>
            <a:pPr eaLnBrk="1" hangingPunct="1">
              <a:buFont typeface="Arial" charset="0"/>
              <a:buNone/>
              <a:defRPr/>
            </a:pPr>
            <a:endParaRPr lang="en-GB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Introductions</a:t>
            </a:r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0">
            <a:extLst/>
          </p:cNvPr>
          <p:cNvSpPr txBox="1">
            <a:spLocks/>
          </p:cNvSpPr>
          <p:nvPr/>
        </p:nvSpPr>
        <p:spPr>
          <a:xfrm>
            <a:off x="806195" y="204643"/>
            <a:ext cx="10182225" cy="561975"/>
          </a:xfrm>
          <a:prstGeom prst="rect">
            <a:avLst/>
          </a:prstGeom>
        </p:spPr>
        <p:txBody>
          <a:bodyPr rtlCol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 Briefing</a:t>
            </a:r>
            <a:endParaRPr lang="en-GB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Box 6">
            <a:extLst/>
          </p:cNvPr>
          <p:cNvSpPr txBox="1">
            <a:spLocks noChangeArrowheads="1"/>
          </p:cNvSpPr>
          <p:nvPr/>
        </p:nvSpPr>
        <p:spPr bwMode="auto">
          <a:xfrm>
            <a:off x="1250633" y="1247839"/>
            <a:ext cx="8677275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 and fire escapes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Fire alarm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 aid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security considerations</a:t>
            </a:r>
          </a:p>
          <a:p>
            <a:pPr eaLnBrk="1" hangingPunct="1">
              <a:spcBef>
                <a:spcPts val="600"/>
              </a:spcBef>
              <a:defRPr/>
            </a:pPr>
            <a:endParaRPr lang="en-GB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ts val="600"/>
              </a:spcBef>
              <a:defRPr/>
            </a:pPr>
            <a:endParaRPr lang="en-GB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78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0">
            <a:extLst/>
          </p:cNvPr>
          <p:cNvSpPr txBox="1">
            <a:spLocks/>
          </p:cNvSpPr>
          <p:nvPr/>
        </p:nvSpPr>
        <p:spPr>
          <a:xfrm>
            <a:off x="1257300" y="130175"/>
            <a:ext cx="8229600" cy="561975"/>
          </a:xfrm>
          <a:prstGeom prst="rect">
            <a:avLst/>
          </a:prstGeom>
        </p:spPr>
        <p:txBody>
          <a:bodyPr rtlCol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Domestic Arrangements</a:t>
            </a:r>
            <a:endParaRPr lang="en-GB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052513" y="908050"/>
            <a:ext cx="8677275" cy="514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457200" indent="-457200" eaLnBrk="1" hangingPunct="1">
              <a:spcBef>
                <a:spcPts val="600"/>
              </a:spcBef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Smoking areas</a:t>
            </a:r>
          </a:p>
          <a:p>
            <a:pPr marL="457200" indent="-457200" eaLnBrk="1" hangingPunct="1">
              <a:spcBef>
                <a:spcPts val="600"/>
              </a:spcBef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Toilets</a:t>
            </a:r>
          </a:p>
          <a:p>
            <a:pPr marL="457200" indent="-457200" eaLnBrk="1" hangingPunct="1">
              <a:spcBef>
                <a:spcPts val="600"/>
              </a:spcBef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Refreshments and lunches</a:t>
            </a:r>
          </a:p>
          <a:p>
            <a:pPr marL="457200" indent="-457200" eaLnBrk="1" hangingPunct="1">
              <a:spcBef>
                <a:spcPts val="600"/>
              </a:spcBef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Cell phones – silent mode</a:t>
            </a:r>
          </a:p>
          <a:p>
            <a:pPr marL="457200" indent="-457200" eaLnBrk="1" hangingPunct="1">
              <a:spcBef>
                <a:spcPts val="600"/>
              </a:spcBef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cards or contact details</a:t>
            </a:r>
          </a:p>
          <a:p>
            <a:pPr marL="457200" indent="-457200" eaLnBrk="1" hangingPunct="1">
              <a:spcBef>
                <a:spcPts val="600"/>
              </a:spcBef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 materials</a:t>
            </a:r>
          </a:p>
          <a:p>
            <a:pPr marL="457200" indent="-457200" eaLnBrk="1" hangingPunct="1">
              <a:spcBef>
                <a:spcPts val="600"/>
              </a:spcBef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 photograph</a:t>
            </a:r>
          </a:p>
          <a:p>
            <a:pPr marL="457200" indent="-457200" eaLnBrk="1" hangingPunct="1">
              <a:spcBef>
                <a:spcPts val="600"/>
              </a:spcBef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 forms</a:t>
            </a:r>
          </a:p>
          <a:p>
            <a:pPr marL="457200" indent="-457200" eaLnBrk="1" hangingPunct="1">
              <a:spcBef>
                <a:spcPts val="600"/>
              </a:spcBef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Certificate of attendance</a:t>
            </a:r>
          </a:p>
        </p:txBody>
      </p:sp>
    </p:spTree>
    <p:extLst>
      <p:ext uri="{BB962C8B-B14F-4D97-AF65-F5344CB8AC3E}">
        <p14:creationId xmlns:p14="http://schemas.microsoft.com/office/powerpoint/2010/main" val="191468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0">
            <a:extLst/>
          </p:cNvPr>
          <p:cNvSpPr txBox="1">
            <a:spLocks/>
          </p:cNvSpPr>
          <p:nvPr/>
        </p:nvSpPr>
        <p:spPr>
          <a:xfrm>
            <a:off x="1352549" y="130175"/>
            <a:ext cx="9344025" cy="561975"/>
          </a:xfrm>
          <a:prstGeom prst="rect">
            <a:avLst/>
          </a:prstGeom>
        </p:spPr>
        <p:txBody>
          <a:bodyPr rtlCol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</a:t>
            </a:r>
            <a:endParaRPr lang="en-GB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46175" y="889000"/>
            <a:ext cx="9808337" cy="5001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914400" indent="-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course is one in a series of model OPRC courses developed by IMO.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 3 – The Strategic Level</a:t>
            </a:r>
          </a:p>
          <a:p>
            <a:pPr marL="447675" lvl="1" indent="-447675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Incident Preparedness and Response Objectives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 2 – The Tactical Level</a:t>
            </a:r>
          </a:p>
          <a:p>
            <a:pPr marL="447675" lvl="1" indent="-447675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Incident Management and Tactics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 1 – The Operational Level </a:t>
            </a:r>
          </a:p>
          <a:p>
            <a:pPr marL="447675" lvl="1" indent="-447675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Response Operations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Introductory Level – Awareness</a:t>
            </a:r>
          </a:p>
          <a:p>
            <a:pPr marL="447675" lvl="1" indent="-447675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 to Oil Spill Response</a:t>
            </a:r>
            <a:r>
              <a:rPr lang="en-GB" alt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 </a:t>
            </a:r>
          </a:p>
        </p:txBody>
      </p:sp>
    </p:spTree>
    <p:extLst>
      <p:ext uri="{BB962C8B-B14F-4D97-AF65-F5344CB8AC3E}">
        <p14:creationId xmlns:p14="http://schemas.microsoft.com/office/powerpoint/2010/main" val="54766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0">
            <a:extLst/>
          </p:cNvPr>
          <p:cNvSpPr txBox="1">
            <a:spLocks/>
          </p:cNvSpPr>
          <p:nvPr/>
        </p:nvSpPr>
        <p:spPr>
          <a:xfrm>
            <a:off x="1276350" y="130175"/>
            <a:ext cx="10020300" cy="561975"/>
          </a:xfrm>
          <a:prstGeom prst="rect">
            <a:avLst/>
          </a:prstGeom>
        </p:spPr>
        <p:txBody>
          <a:bodyPr rtlCol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Aims</a:t>
            </a:r>
            <a:endParaRPr lang="en-GB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>
            <a:extLst/>
          </p:cNvPr>
          <p:cNvSpPr/>
          <p:nvPr/>
        </p:nvSpPr>
        <p:spPr>
          <a:xfrm>
            <a:off x="965200" y="1315339"/>
            <a:ext cx="9940925" cy="3046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buFont typeface="Arial" charset="0"/>
              <a:buNone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course is focused on the activities within an incident command centre.</a:t>
            </a:r>
          </a:p>
          <a:p>
            <a:pPr algn="just" eaLnBrk="1" hangingPunct="1">
              <a:buFont typeface="Arial" charset="0"/>
              <a:buNone/>
              <a:defRPr/>
            </a:pPr>
            <a:endParaRPr lang="en-GB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 eaLnBrk="1" hangingPunct="1">
              <a:buFont typeface="Arial" charset="0"/>
              <a:buNone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is designed to prepare and assist you in the management of a response to a marine pollution incident.</a:t>
            </a:r>
          </a:p>
        </p:txBody>
      </p:sp>
    </p:spTree>
    <p:extLst>
      <p:ext uri="{BB962C8B-B14F-4D97-AF65-F5344CB8AC3E}">
        <p14:creationId xmlns:p14="http://schemas.microsoft.com/office/powerpoint/2010/main" val="92198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0">
            <a:extLst/>
          </p:cNvPr>
          <p:cNvSpPr txBox="1">
            <a:spLocks/>
          </p:cNvSpPr>
          <p:nvPr/>
        </p:nvSpPr>
        <p:spPr>
          <a:xfrm>
            <a:off x="1114425" y="130175"/>
            <a:ext cx="9923398" cy="561975"/>
          </a:xfrm>
          <a:prstGeom prst="rect">
            <a:avLst/>
          </a:prstGeom>
        </p:spPr>
        <p:txBody>
          <a:bodyPr rtlCol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 Content</a:t>
            </a:r>
            <a:endParaRPr lang="en-GB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Box 6">
            <a:extLst/>
          </p:cNvPr>
          <p:cNvSpPr txBox="1">
            <a:spLocks noChangeArrowheads="1"/>
          </p:cNvSpPr>
          <p:nvPr/>
        </p:nvSpPr>
        <p:spPr bwMode="auto">
          <a:xfrm>
            <a:off x="909638" y="982663"/>
            <a:ext cx="10463212" cy="458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course consists of a number of modules:</a:t>
            </a:r>
          </a:p>
          <a:p>
            <a:pPr eaLnBrk="1" hangingPunct="1">
              <a:spcBef>
                <a:spcPts val="600"/>
              </a:spcBef>
              <a:defRPr/>
            </a:pPr>
            <a:endParaRPr lang="en-GB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22313" indent="-546100" eaLnBrk="1" hangingPunct="1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Overview of oil spill response</a:t>
            </a:r>
          </a:p>
          <a:p>
            <a:pPr marL="722313" indent="-546100" eaLnBrk="1" hangingPunct="1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spill response techniques</a:t>
            </a:r>
          </a:p>
          <a:p>
            <a:pPr marL="722313" indent="-546100" eaLnBrk="1" hangingPunct="1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Response issues</a:t>
            </a:r>
          </a:p>
          <a:p>
            <a:pPr marL="722313" indent="-546100" eaLnBrk="1" hangingPunct="1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Incident termination</a:t>
            </a:r>
          </a:p>
          <a:p>
            <a:pPr marL="722313" indent="-546100" eaLnBrk="1" hangingPunct="1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 evaluation and review</a:t>
            </a:r>
          </a:p>
          <a:p>
            <a:pPr marL="176213" eaLnBrk="1" hangingPunct="1">
              <a:spcBef>
                <a:spcPts val="600"/>
              </a:spcBef>
              <a:defRPr/>
            </a:pPr>
            <a:endParaRPr lang="en-GB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6213" eaLnBrk="1" hangingPunct="1">
              <a:spcBef>
                <a:spcPts val="600"/>
              </a:spcBef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course timetable is contained within the course folder.</a:t>
            </a:r>
          </a:p>
        </p:txBody>
      </p:sp>
    </p:spTree>
    <p:extLst>
      <p:ext uri="{BB962C8B-B14F-4D97-AF65-F5344CB8AC3E}">
        <p14:creationId xmlns:p14="http://schemas.microsoft.com/office/powerpoint/2010/main" val="100371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0">
            <a:extLst/>
          </p:cNvPr>
          <p:cNvSpPr txBox="1">
            <a:spLocks/>
          </p:cNvSpPr>
          <p:nvPr/>
        </p:nvSpPr>
        <p:spPr>
          <a:xfrm>
            <a:off x="1133474" y="130175"/>
            <a:ext cx="10163176" cy="561975"/>
          </a:xfrm>
          <a:prstGeom prst="rect">
            <a:avLst/>
          </a:prstGeom>
        </p:spPr>
        <p:txBody>
          <a:bodyPr rtlCol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Introductions</a:t>
            </a:r>
            <a:endParaRPr lang="en-GB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Box 6">
            <a:extLst/>
          </p:cNvPr>
          <p:cNvSpPr txBox="1">
            <a:spLocks noChangeArrowheads="1"/>
          </p:cNvSpPr>
          <p:nvPr/>
        </p:nvSpPr>
        <p:spPr bwMode="auto">
          <a:xfrm>
            <a:off x="1133474" y="896793"/>
            <a:ext cx="9967912" cy="490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Please introduce yourself:</a:t>
            </a:r>
          </a:p>
          <a:p>
            <a:pPr lvl="1" indent="-365125" eaLnBrk="1" hangingPunct="1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Who are you?</a:t>
            </a:r>
          </a:p>
          <a:p>
            <a:pPr lvl="1" indent="-365125" eaLnBrk="1" hangingPunct="1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Who do you represent?</a:t>
            </a:r>
          </a:p>
          <a:p>
            <a:pPr lvl="1" indent="-365125" eaLnBrk="1" hangingPunct="1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What does your job entail?</a:t>
            </a:r>
          </a:p>
          <a:p>
            <a:pPr lvl="1" indent="-365125" eaLnBrk="1" hangingPunct="1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Any previous oil spill response experience?</a:t>
            </a:r>
          </a:p>
          <a:p>
            <a:pPr lvl="1" indent="-365125" eaLnBrk="1" hangingPunct="1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What are your expectations of this course?</a:t>
            </a:r>
          </a:p>
        </p:txBody>
      </p:sp>
    </p:spTree>
    <p:extLst>
      <p:ext uri="{BB962C8B-B14F-4D97-AF65-F5344CB8AC3E}">
        <p14:creationId xmlns:p14="http://schemas.microsoft.com/office/powerpoint/2010/main" val="407847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345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inherit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132</cp:revision>
  <dcterms:created xsi:type="dcterms:W3CDTF">2024-09-27T05:40:49Z</dcterms:created>
  <dcterms:modified xsi:type="dcterms:W3CDTF">2025-05-05T09:24:23Z</dcterms:modified>
</cp:coreProperties>
</file>
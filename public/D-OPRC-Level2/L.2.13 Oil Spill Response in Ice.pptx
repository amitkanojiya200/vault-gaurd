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6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2750884" y="3063240"/>
            <a:ext cx="7179500" cy="75895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Spill Response in Ice</a:t>
            </a: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2130552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>
                <a:latin typeface="Arial" panose="020B0604020202020204" pitchFamily="34" charset="0"/>
              </a:rPr>
              <a:t>Objective</a:t>
            </a:r>
          </a:p>
        </p:txBody>
      </p:sp>
      <p:sp>
        <p:nvSpPr>
          <p:cNvPr id="6" name="Rectangle 3">
            <a:extLst/>
          </p:cNvPr>
          <p:cNvSpPr txBox="1">
            <a:spLocks noChangeArrowheads="1"/>
          </p:cNvSpPr>
          <p:nvPr/>
        </p:nvSpPr>
        <p:spPr>
          <a:xfrm>
            <a:off x="1364424" y="1376087"/>
            <a:ext cx="9580943" cy="51847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US" dirty="0" smtClean="0">
                <a:cs typeface="ＭＳ Ｐゴシック" charset="0"/>
              </a:rPr>
              <a:t>To understand the unique aspects of oil spill response in ice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US" dirty="0" smtClean="0">
              <a:cs typeface="ＭＳ Ｐゴシック" charset="0"/>
            </a:endParaRPr>
          </a:p>
          <a:p>
            <a:pPr algn="just">
              <a:buFont typeface="Arial" charset="0"/>
              <a:buChar char="•"/>
              <a:defRPr/>
            </a:pPr>
            <a:r>
              <a:rPr lang="en-US" dirty="0" smtClean="0">
                <a:cs typeface="ＭＳ Ｐゴシック" charset="0"/>
              </a:rPr>
              <a:t>Considerations for response activities in ice</a:t>
            </a:r>
          </a:p>
          <a:p>
            <a:pPr algn="just">
              <a:buFont typeface="Arial" charset="0"/>
              <a:buChar char="•"/>
              <a:defRPr/>
            </a:pPr>
            <a:r>
              <a:rPr lang="en-US" dirty="0" smtClean="0">
                <a:cs typeface="ＭＳ Ｐゴシック" charset="0"/>
              </a:rPr>
              <a:t>Review response strategies for responding to oil in ice including limitations</a:t>
            </a:r>
            <a:endParaRPr lang="en-CA" dirty="0" smtClean="0">
              <a:cs typeface="ＭＳ Ｐゴシック" charset="0"/>
            </a:endParaRP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fr-CA" dirty="0" smtClean="0">
              <a:ea typeface="ＭＳ Ｐゴシック" charset="0"/>
              <a:cs typeface="ＭＳ Ｐゴシック" charset="0"/>
            </a:endParaRPr>
          </a:p>
          <a:p>
            <a:pPr algn="just">
              <a:defRPr/>
            </a:pPr>
            <a:endParaRPr lang="en-US" dirty="0" smtClean="0">
              <a:latin typeface="Arial" pitchFamily="34" charset="0"/>
              <a:ea typeface="ＭＳ Ｐゴシック" charset="0"/>
              <a:cs typeface="ＭＳ Ｐゴシック" charset="0"/>
            </a:endParaRPr>
          </a:p>
          <a:p>
            <a:pPr algn="just">
              <a:defRPr/>
            </a:pPr>
            <a:endParaRPr lang="en-US" dirty="0" smtClean="0">
              <a:latin typeface="Arial" pitchFamily="34" charset="0"/>
              <a:ea typeface="ＭＳ Ｐゴシック" charset="0"/>
              <a:cs typeface="ＭＳ Ｐゴシック" charset="0"/>
            </a:endParaRPr>
          </a:p>
          <a:p>
            <a:pPr algn="just">
              <a:defRPr/>
            </a:pPr>
            <a:endParaRPr lang="fr-FR" dirty="0">
              <a:latin typeface="Arial" pitchFamily="34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453896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Considerations for Oil in Ice 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465009" y="1125538"/>
            <a:ext cx="8229600" cy="5218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30000"/>
              </a:spcBef>
            </a:pPr>
            <a:r>
              <a:rPr lang="en-GB" altLang="en-US" dirty="0" smtClean="0"/>
              <a:t>Safety </a:t>
            </a:r>
            <a:endParaRPr lang="en-GB" altLang="en-US" b="1" dirty="0" smtClean="0"/>
          </a:p>
          <a:p>
            <a:pPr>
              <a:spcBef>
                <a:spcPct val="30000"/>
              </a:spcBef>
            </a:pPr>
            <a:r>
              <a:rPr lang="en-GB" altLang="en-US" dirty="0" smtClean="0"/>
              <a:t>Environment</a:t>
            </a:r>
          </a:p>
          <a:p>
            <a:pPr>
              <a:spcBef>
                <a:spcPct val="30000"/>
              </a:spcBef>
            </a:pPr>
            <a:r>
              <a:rPr lang="en-GB" altLang="en-US" dirty="0" smtClean="0"/>
              <a:t>Ice conditions</a:t>
            </a:r>
          </a:p>
          <a:p>
            <a:pPr>
              <a:spcBef>
                <a:spcPct val="30000"/>
              </a:spcBef>
            </a:pPr>
            <a:r>
              <a:rPr lang="en-GB" altLang="en-US" dirty="0" smtClean="0"/>
              <a:t>Location of oil in ice</a:t>
            </a:r>
          </a:p>
          <a:p>
            <a:pPr>
              <a:spcBef>
                <a:spcPct val="30000"/>
              </a:spcBef>
            </a:pPr>
            <a:r>
              <a:rPr lang="en-GB" altLang="en-US" dirty="0" smtClean="0"/>
              <a:t>Oil behaviour in ice</a:t>
            </a:r>
          </a:p>
          <a:p>
            <a:pPr>
              <a:spcBef>
                <a:spcPct val="30000"/>
              </a:spcBef>
            </a:pPr>
            <a:r>
              <a:rPr lang="en-GB" altLang="en-US" dirty="0" smtClean="0"/>
              <a:t>Effectiveness of response equipment in ice</a:t>
            </a:r>
          </a:p>
          <a:p>
            <a:pPr>
              <a:spcBef>
                <a:spcPct val="30000"/>
              </a:spcBef>
            </a:pPr>
            <a:r>
              <a:rPr lang="en-GB" altLang="en-US" dirty="0" smtClean="0"/>
              <a:t>Logistics for remote areas is a major factor</a:t>
            </a:r>
          </a:p>
        </p:txBody>
      </p:sp>
    </p:spTree>
    <p:extLst>
      <p:ext uri="{BB962C8B-B14F-4D97-AF65-F5344CB8AC3E}">
        <p14:creationId xmlns:p14="http://schemas.microsoft.com/office/powerpoint/2010/main" val="37763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883664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Safety	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399476" y="1416431"/>
            <a:ext cx="9390444" cy="4679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Safety of personnel is </a:t>
            </a:r>
            <a:r>
              <a:rPr lang="en-GB" altLang="en-US" u="sng" dirty="0" smtClean="0"/>
              <a:t>always</a:t>
            </a:r>
            <a:r>
              <a:rPr lang="en-GB" altLang="en-US" dirty="0" smtClean="0"/>
              <a:t> the first priority in spill response</a:t>
            </a:r>
          </a:p>
          <a:p>
            <a:pPr algn="just">
              <a:buFont typeface="Arial" panose="020B0604020202020204" pitchFamily="34" charset="0"/>
              <a:buNone/>
            </a:pPr>
            <a:endParaRPr lang="en-GB" altLang="en-US" dirty="0" smtClean="0"/>
          </a:p>
          <a:p>
            <a:pPr algn="just"/>
            <a:r>
              <a:rPr lang="en-GB" altLang="en-US" dirty="0" smtClean="0"/>
              <a:t>Response operations in ice present unique challenges with respect to safety</a:t>
            </a:r>
          </a:p>
        </p:txBody>
      </p:sp>
    </p:spTree>
    <p:extLst>
      <p:ext uri="{BB962C8B-B14F-4D97-AF65-F5344CB8AC3E}">
        <p14:creationId xmlns:p14="http://schemas.microsoft.com/office/powerpoint/2010/main" val="233250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901952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Safety	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378840" y="1232484"/>
            <a:ext cx="11142600" cy="4679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150000"/>
              </a:lnSpc>
            </a:pPr>
            <a:r>
              <a:rPr lang="en-GB" altLang="en-US" sz="2800" dirty="0" smtClean="0"/>
              <a:t>Cold related injuries due to exposure e.g. hypothermia, frost bite</a:t>
            </a:r>
          </a:p>
          <a:p>
            <a:pPr lvl="1" algn="just">
              <a:lnSpc>
                <a:spcPct val="150000"/>
              </a:lnSpc>
            </a:pPr>
            <a:r>
              <a:rPr lang="en-GB" altLang="en-US" sz="2800" dirty="0" smtClean="0"/>
              <a:t>Falling into icy water</a:t>
            </a:r>
          </a:p>
          <a:p>
            <a:pPr lvl="1" algn="just">
              <a:lnSpc>
                <a:spcPct val="150000"/>
              </a:lnSpc>
            </a:pPr>
            <a:r>
              <a:rPr lang="en-GB" altLang="en-US" sz="2800" dirty="0" smtClean="0"/>
              <a:t>Slippery surfaces</a:t>
            </a:r>
          </a:p>
          <a:p>
            <a:pPr lvl="1" algn="just">
              <a:lnSpc>
                <a:spcPct val="150000"/>
              </a:lnSpc>
            </a:pPr>
            <a:r>
              <a:rPr lang="en-GB" altLang="en-US" sz="2800" dirty="0" smtClean="0"/>
              <a:t>Operating vessels in ice infested waters</a:t>
            </a:r>
          </a:p>
          <a:p>
            <a:pPr lvl="1" algn="just">
              <a:lnSpc>
                <a:spcPct val="150000"/>
              </a:lnSpc>
            </a:pPr>
            <a:r>
              <a:rPr lang="en-GB" altLang="en-US" sz="2800" dirty="0" smtClean="0"/>
              <a:t>Bearing capacity of ice</a:t>
            </a:r>
          </a:p>
          <a:p>
            <a:pPr lvl="1" algn="just">
              <a:lnSpc>
                <a:spcPct val="150000"/>
              </a:lnSpc>
            </a:pPr>
            <a:r>
              <a:rPr lang="en-GB" altLang="en-US" sz="2800" dirty="0" smtClean="0"/>
              <a:t>Ice movement of broken ice (currents and wind)</a:t>
            </a:r>
          </a:p>
        </p:txBody>
      </p:sp>
    </p:spTree>
    <p:extLst>
      <p:ext uri="{BB962C8B-B14F-4D97-AF65-F5344CB8AC3E}">
        <p14:creationId xmlns:p14="http://schemas.microsoft.com/office/powerpoint/2010/main" val="23394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35024" y="130175"/>
            <a:ext cx="932688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Safety</a:t>
            </a:r>
            <a:endParaRPr lang="en-CA" altLang="en-US" b="1" dirty="0" smtClean="0"/>
          </a:p>
        </p:txBody>
      </p:sp>
      <p:pic>
        <p:nvPicPr>
          <p:cNvPr id="6" name="Content Placeholder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30754" y="908050"/>
            <a:ext cx="6840538" cy="5326063"/>
          </a:xfrm>
          <a:prstGeom prst="rect">
            <a:avLst/>
          </a:prstGeom>
        </p:spPr>
      </p:pic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8275892" y="6126163"/>
            <a:ext cx="19907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latin typeface="Tahoma" panose="020B0604030504040204" pitchFamily="34" charset="0"/>
              </a:rPr>
              <a:t>Source: OSRL</a:t>
            </a:r>
          </a:p>
        </p:txBody>
      </p:sp>
    </p:spTree>
    <p:extLst>
      <p:ext uri="{BB962C8B-B14F-4D97-AF65-F5344CB8AC3E}">
        <p14:creationId xmlns:p14="http://schemas.microsoft.com/office/powerpoint/2010/main" val="178475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673352" y="128312"/>
            <a:ext cx="880567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/>
              <a:t>Environment 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2023110" y="1198795"/>
            <a:ext cx="6264275" cy="5472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altLang="en-US" dirty="0" smtClean="0"/>
              <a:t>Potential environments for oil in ice:</a:t>
            </a:r>
          </a:p>
          <a:p>
            <a:pPr>
              <a:lnSpc>
                <a:spcPct val="150000"/>
              </a:lnSpc>
            </a:pPr>
            <a:r>
              <a:rPr lang="en-GB" altLang="en-US" dirty="0" smtClean="0"/>
              <a:t>Marine</a:t>
            </a:r>
          </a:p>
          <a:p>
            <a:pPr>
              <a:lnSpc>
                <a:spcPct val="150000"/>
              </a:lnSpc>
            </a:pPr>
            <a:r>
              <a:rPr lang="en-GB" altLang="en-US" dirty="0" smtClean="0"/>
              <a:t>Coastal</a:t>
            </a:r>
          </a:p>
          <a:p>
            <a:pPr>
              <a:lnSpc>
                <a:spcPct val="150000"/>
              </a:lnSpc>
            </a:pPr>
            <a:r>
              <a:rPr lang="en-GB" altLang="en-US" dirty="0" smtClean="0"/>
              <a:t>Lakes</a:t>
            </a:r>
          </a:p>
          <a:p>
            <a:pPr>
              <a:lnSpc>
                <a:spcPct val="150000"/>
              </a:lnSpc>
            </a:pPr>
            <a:r>
              <a:rPr lang="en-GB" altLang="en-US" dirty="0" smtClean="0"/>
              <a:t>Rivers</a:t>
            </a:r>
          </a:p>
          <a:p>
            <a:pPr>
              <a:lnSpc>
                <a:spcPct val="150000"/>
              </a:lnSpc>
            </a:pPr>
            <a:endParaRPr lang="en-US" altLang="en-US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en-US" dirty="0" smtClean="0"/>
          </a:p>
          <a:p>
            <a:pPr>
              <a:lnSpc>
                <a:spcPct val="150000"/>
              </a:lnSpc>
            </a:pPr>
            <a:endParaRPr lang="en-US" altLang="en-US" dirty="0" smtClean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en-US" dirty="0" smtClean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fr-FR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61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176272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 smtClean="0"/>
              <a:t>Environment</a:t>
            </a:r>
            <a:endParaRPr lang="en-CA" altLang="en-US" b="1" dirty="0" smtClean="0"/>
          </a:p>
        </p:txBody>
      </p:sp>
      <p:pic>
        <p:nvPicPr>
          <p:cNvPr id="6" name="Content Placeholder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20710" y="873125"/>
            <a:ext cx="3902075" cy="2592388"/>
          </a:xfrm>
          <a:prstGeom prst="rect">
            <a:avLst/>
          </a:prstGeom>
        </p:spPr>
      </p:pic>
      <p:pic>
        <p:nvPicPr>
          <p:cNvPr id="7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710" y="3644900"/>
            <a:ext cx="3902075" cy="251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5085" y="3609975"/>
            <a:ext cx="3497262" cy="254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435" y="869950"/>
            <a:ext cx="3490912" cy="259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5168710" y="3243263"/>
            <a:ext cx="1992312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OSRL</a:t>
            </a: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9146985" y="3243263"/>
            <a:ext cx="1992312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OSRL</a:t>
            </a:r>
          </a:p>
        </p:txBody>
      </p:sp>
      <p:sp>
        <p:nvSpPr>
          <p:cNvPr id="12" name="TextBox 9"/>
          <p:cNvSpPr txBox="1">
            <a:spLocks noChangeArrowheads="1"/>
          </p:cNvSpPr>
          <p:nvPr/>
        </p:nvSpPr>
        <p:spPr bwMode="auto">
          <a:xfrm>
            <a:off x="5138547" y="5918200"/>
            <a:ext cx="1992313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OSRL</a:t>
            </a:r>
          </a:p>
        </p:txBody>
      </p:sp>
      <p:sp>
        <p:nvSpPr>
          <p:cNvPr id="13" name="TextBox 10"/>
          <p:cNvSpPr txBox="1">
            <a:spLocks noChangeArrowheads="1"/>
          </p:cNvSpPr>
          <p:nvPr/>
        </p:nvSpPr>
        <p:spPr bwMode="auto">
          <a:xfrm>
            <a:off x="9410510" y="5930900"/>
            <a:ext cx="19907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OSRL</a:t>
            </a:r>
          </a:p>
        </p:txBody>
      </p:sp>
    </p:spTree>
    <p:extLst>
      <p:ext uri="{BB962C8B-B14F-4D97-AF65-F5344CB8AC3E}">
        <p14:creationId xmlns:p14="http://schemas.microsoft.com/office/powerpoint/2010/main" val="16076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44168" y="130175"/>
            <a:ext cx="964692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Ice Conditions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344168" y="1160187"/>
            <a:ext cx="964692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CA" altLang="en-US" dirty="0" smtClean="0"/>
              <a:t>Solid ice – waters are completely covered in ice, no movement</a:t>
            </a:r>
          </a:p>
          <a:p>
            <a:pPr algn="just"/>
            <a:endParaRPr lang="en-CA" altLang="en-US" dirty="0" smtClean="0"/>
          </a:p>
          <a:p>
            <a:pPr algn="just"/>
            <a:r>
              <a:rPr lang="en-CA" altLang="en-US" dirty="0" smtClean="0"/>
              <a:t>Broken ice – waters are partially covered in ice and therefore can move with wind and currents – concentration of ice expressed as a percentage</a:t>
            </a:r>
          </a:p>
          <a:p>
            <a:pPr marL="0" indent="0" algn="just">
              <a:buNone/>
            </a:pPr>
            <a:r>
              <a:rPr lang="en-CA" altLang="en-US" dirty="0" smtClean="0"/>
              <a:t> </a:t>
            </a:r>
          </a:p>
          <a:p>
            <a:pPr algn="just"/>
            <a:r>
              <a:rPr lang="en-CA" altLang="en-US" dirty="0" smtClean="0"/>
              <a:t>Ice along shorelines – solid ice attached to shoreline, broken ice accumulating along a shoreline and stranded, broken ice floating against the shoreline</a:t>
            </a:r>
          </a:p>
        </p:txBody>
      </p:sp>
    </p:spTree>
    <p:extLst>
      <p:ext uri="{BB962C8B-B14F-4D97-AF65-F5344CB8AC3E}">
        <p14:creationId xmlns:p14="http://schemas.microsoft.com/office/powerpoint/2010/main" val="13165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039112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Oil in Ice </a:t>
            </a:r>
            <a:r>
              <a:rPr lang="en-CA" altLang="en-US" sz="4000" b="1" dirty="0"/>
              <a:t>L</a:t>
            </a:r>
            <a:r>
              <a:rPr lang="en-CA" altLang="en-US" sz="4000" b="1" dirty="0" smtClean="0"/>
              <a:t>ocations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050225" y="981075"/>
            <a:ext cx="822960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altLang="en-US" dirty="0" smtClean="0"/>
              <a:t>Solid ice 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dirty="0" smtClean="0"/>
              <a:t>oil on top of ice, with or without snow cover 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dirty="0" smtClean="0"/>
              <a:t>oil submerged below ice</a:t>
            </a:r>
          </a:p>
          <a:p>
            <a:pPr lvl="1">
              <a:buFont typeface="Arial" panose="020B0604020202020204" pitchFamily="34" charset="0"/>
              <a:buNone/>
            </a:pPr>
            <a:endParaRPr lang="en-CA" altLang="en-US" dirty="0" smtClean="0"/>
          </a:p>
          <a:p>
            <a:pPr lvl="1"/>
            <a:endParaRPr lang="en-CA" altLang="en-US" dirty="0" smtClean="0"/>
          </a:p>
          <a:p>
            <a:pPr lvl="1"/>
            <a:endParaRPr lang="en-CA" altLang="en-US" dirty="0" smtClean="0"/>
          </a:p>
          <a:p>
            <a:pPr lvl="1"/>
            <a:endParaRPr lang="en-CA" altLang="en-US" dirty="0" smtClean="0"/>
          </a:p>
          <a:p>
            <a:pPr lvl="1"/>
            <a:endParaRPr lang="en-CA" altLang="en-US" dirty="0" smtClean="0"/>
          </a:p>
          <a:p>
            <a:pPr lvl="1"/>
            <a:endParaRPr lang="en-CA" altLang="en-US" dirty="0" smtClean="0"/>
          </a:p>
          <a:p>
            <a:pPr lvl="1">
              <a:buFont typeface="Arial" panose="020B0604020202020204" pitchFamily="34" charset="0"/>
              <a:buNone/>
            </a:pPr>
            <a:endParaRPr lang="en-CA" altLang="en-US" dirty="0" smtClean="0"/>
          </a:p>
          <a:p>
            <a:pPr lvl="4">
              <a:buFont typeface="Arial" panose="020B0604020202020204" pitchFamily="34" charset="0"/>
              <a:buNone/>
            </a:pPr>
            <a:endParaRPr lang="en-CA" altLang="en-US" dirty="0" smtClean="0"/>
          </a:p>
          <a:p>
            <a:pPr lvl="4">
              <a:buFont typeface="Arial" panose="020B0604020202020204" pitchFamily="34" charset="0"/>
              <a:buNone/>
            </a:pPr>
            <a:endParaRPr lang="en-CA" altLang="en-US" dirty="0" smtClean="0"/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662" y="3071813"/>
            <a:ext cx="4356100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350" y="3071813"/>
            <a:ext cx="4364037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3"/>
          <p:cNvSpPr txBox="1">
            <a:spLocks noChangeArrowheads="1"/>
          </p:cNvSpPr>
          <p:nvPr/>
        </p:nvSpPr>
        <p:spPr bwMode="auto">
          <a:xfrm>
            <a:off x="5255387" y="4949825"/>
            <a:ext cx="199231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OSRL</a:t>
            </a:r>
          </a:p>
        </p:txBody>
      </p:sp>
      <p:sp>
        <p:nvSpPr>
          <p:cNvPr id="14" name="TextBox 6"/>
          <p:cNvSpPr txBox="1">
            <a:spLocks noChangeArrowheads="1"/>
          </p:cNvSpPr>
          <p:nvPr/>
        </p:nvSpPr>
        <p:spPr bwMode="auto">
          <a:xfrm>
            <a:off x="9832150" y="4957763"/>
            <a:ext cx="19907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OSRL</a:t>
            </a:r>
          </a:p>
        </p:txBody>
      </p:sp>
    </p:spTree>
    <p:extLst>
      <p:ext uri="{BB962C8B-B14F-4D97-AF65-F5344CB8AC3E}">
        <p14:creationId xmlns:p14="http://schemas.microsoft.com/office/powerpoint/2010/main" val="180319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920240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Oil in Ice </a:t>
            </a:r>
            <a:r>
              <a:rPr lang="en-CA" altLang="en-US" sz="4000" b="1" dirty="0"/>
              <a:t>L</a:t>
            </a:r>
            <a:r>
              <a:rPr lang="en-CA" altLang="en-US" sz="4000" b="1" dirty="0" smtClean="0"/>
              <a:t>ocations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920240" y="908050"/>
            <a:ext cx="822960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CA" altLang="en-US" dirty="0" smtClean="0"/>
              <a:t>Broken ice 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altLang="en-US" dirty="0" smtClean="0"/>
              <a:t>oil on surface of water mixed with broken ice, with or without snow cover </a:t>
            </a:r>
          </a:p>
          <a:p>
            <a:pPr lvl="1" indent="-420688">
              <a:buFont typeface="Wingdings" panose="05000000000000000000" pitchFamily="2" charset="2"/>
              <a:buChar char="ü"/>
              <a:defRPr/>
            </a:pPr>
            <a:r>
              <a:rPr lang="en-CA" altLang="en-US" dirty="0" smtClean="0"/>
              <a:t>oil submerged below broken ice</a:t>
            </a:r>
          </a:p>
          <a:p>
            <a:pPr lvl="1">
              <a:buFont typeface="Arial" panose="020B0604020202020204" pitchFamily="34" charset="0"/>
              <a:buNone/>
              <a:defRPr/>
            </a:pPr>
            <a:endParaRPr lang="en-CA" altLang="en-US" dirty="0" smtClean="0"/>
          </a:p>
          <a:p>
            <a:pPr lvl="1">
              <a:defRPr/>
            </a:pPr>
            <a:endParaRPr lang="en-CA" altLang="en-US" dirty="0" smtClean="0"/>
          </a:p>
          <a:p>
            <a:pPr lvl="1">
              <a:defRPr/>
            </a:pPr>
            <a:endParaRPr lang="en-CA" altLang="en-US" dirty="0" smtClean="0"/>
          </a:p>
          <a:p>
            <a:pPr lvl="1">
              <a:defRPr/>
            </a:pPr>
            <a:endParaRPr lang="en-CA" altLang="en-US" dirty="0" smtClean="0"/>
          </a:p>
          <a:p>
            <a:pPr marL="457200" lvl="1" indent="0">
              <a:buFont typeface="Arial" panose="020B0604020202020204" pitchFamily="34" charset="0"/>
              <a:buNone/>
              <a:defRPr/>
            </a:pPr>
            <a:endParaRPr lang="en-CA" altLang="en-US" dirty="0"/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990" y="3305175"/>
            <a:ext cx="4464050" cy="215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1703" y="3305175"/>
            <a:ext cx="4464050" cy="215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5126990" y="5219700"/>
            <a:ext cx="19907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OSRL</a:t>
            </a: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9503728" y="5219700"/>
            <a:ext cx="199231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OSRL</a:t>
            </a:r>
          </a:p>
        </p:txBody>
      </p:sp>
    </p:spTree>
    <p:extLst>
      <p:ext uri="{BB962C8B-B14F-4D97-AF65-F5344CB8AC3E}">
        <p14:creationId xmlns:p14="http://schemas.microsoft.com/office/powerpoint/2010/main" val="2032183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039112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Oil in Ice </a:t>
            </a:r>
            <a:r>
              <a:rPr lang="en-CA" altLang="en-US" sz="4000" b="1" dirty="0"/>
              <a:t>L</a:t>
            </a:r>
            <a:r>
              <a:rPr lang="en-CA" altLang="en-US" sz="4000" b="1" dirty="0" smtClean="0"/>
              <a:t>ocations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572768" y="908050"/>
            <a:ext cx="929944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en-CA" altLang="en-US" dirty="0" smtClean="0"/>
              <a:t>Ice along shorelines</a:t>
            </a:r>
          </a:p>
          <a:p>
            <a:pPr lvl="1" indent="-420688" algn="just">
              <a:buFont typeface="Wingdings" panose="05000000000000000000" pitchFamily="2" charset="2"/>
              <a:buChar char="ü"/>
              <a:defRPr/>
            </a:pPr>
            <a:r>
              <a:rPr lang="en-CA" altLang="en-US" dirty="0" smtClean="0"/>
              <a:t>Oil can be held away from shoreline by ice acting as a barrier</a:t>
            </a:r>
          </a:p>
          <a:p>
            <a:pPr lvl="1" indent="-420688" algn="just">
              <a:buFont typeface="Wingdings" panose="05000000000000000000" pitchFamily="2" charset="2"/>
              <a:buChar char="ü"/>
              <a:defRPr/>
            </a:pPr>
            <a:r>
              <a:rPr lang="en-CA" altLang="en-US" dirty="0" smtClean="0"/>
              <a:t>Oil can be mixed with broken ice on the shoreline</a:t>
            </a:r>
          </a:p>
          <a:p>
            <a:pPr lvl="1" indent="-420688" algn="just">
              <a:buFont typeface="Wingdings" panose="05000000000000000000" pitchFamily="2" charset="2"/>
              <a:buChar char="ü"/>
              <a:defRPr/>
            </a:pPr>
            <a:r>
              <a:rPr lang="en-CA" altLang="en-US" dirty="0" smtClean="0"/>
              <a:t>Oil can be under the ice along the shoreline</a:t>
            </a:r>
          </a:p>
          <a:p>
            <a:pPr lvl="1" algn="just">
              <a:defRPr/>
            </a:pPr>
            <a:endParaRPr lang="en-CA" altLang="en-US" dirty="0" smtClean="0"/>
          </a:p>
          <a:p>
            <a:pPr lvl="1" algn="just">
              <a:defRPr/>
            </a:pPr>
            <a:endParaRPr lang="en-CA" altLang="en-US" dirty="0" smtClean="0"/>
          </a:p>
          <a:p>
            <a:pPr lvl="1" algn="just">
              <a:defRPr/>
            </a:pPr>
            <a:endParaRPr lang="en-CA" altLang="en-US" dirty="0" smtClean="0"/>
          </a:p>
          <a:p>
            <a:pPr marL="457200" lvl="1" indent="0" algn="just">
              <a:buFont typeface="Arial" panose="020B0604020202020204" pitchFamily="34" charset="0"/>
              <a:buNone/>
              <a:defRPr/>
            </a:pPr>
            <a:endParaRPr lang="en-CA" altLang="en-US" dirty="0"/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4187" y="3516313"/>
            <a:ext cx="561022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7977950" y="5930900"/>
            <a:ext cx="1992312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OSRL</a:t>
            </a:r>
          </a:p>
        </p:txBody>
      </p:sp>
    </p:spTree>
    <p:extLst>
      <p:ext uri="{BB962C8B-B14F-4D97-AF65-F5344CB8AC3E}">
        <p14:creationId xmlns:p14="http://schemas.microsoft.com/office/powerpoint/2010/main" val="238701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89888" y="130175"/>
            <a:ext cx="961034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Oil Behaviour in Ice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87552" y="1246378"/>
            <a:ext cx="1033272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altLang="en-US" dirty="0" smtClean="0"/>
              <a:t>Weathering of oil will occur more slowly in cold temperatures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dirty="0" smtClean="0"/>
              <a:t>Safety consideration as light ends will persist longer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dirty="0" smtClean="0"/>
              <a:t>Alters the window of opportunity for burning and dispersants</a:t>
            </a:r>
          </a:p>
          <a:p>
            <a:pPr>
              <a:buFont typeface="Arial" panose="020B0604020202020204" pitchFamily="34" charset="0"/>
              <a:buNone/>
            </a:pPr>
            <a:endParaRPr lang="en-CA" altLang="en-US" dirty="0" smtClean="0"/>
          </a:p>
          <a:p>
            <a:r>
              <a:rPr lang="en-CA" altLang="en-US" dirty="0" smtClean="0"/>
              <a:t>Cold temperatures may affect the ability to skim/pump oil due to pour point and viscosity</a:t>
            </a:r>
          </a:p>
          <a:p>
            <a:pPr>
              <a:buFont typeface="Arial" panose="020B0604020202020204" pitchFamily="34" charset="0"/>
              <a:buNone/>
            </a:pPr>
            <a:endParaRPr lang="en-CA" altLang="en-US" dirty="0" smtClean="0"/>
          </a:p>
          <a:p>
            <a:pPr lvl="1"/>
            <a:endParaRPr lang="en-CA" altLang="en-US" dirty="0" smtClean="0"/>
          </a:p>
          <a:p>
            <a:pPr lvl="1"/>
            <a:endParaRPr lang="en-C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64541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Content Placeholder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7312" y="2584450"/>
            <a:ext cx="9118600" cy="2201863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2039112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Oil Behaviour in Ice</a:t>
            </a:r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9601962" y="4570413"/>
            <a:ext cx="11239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OSRL</a:t>
            </a:r>
          </a:p>
        </p:txBody>
      </p:sp>
    </p:spTree>
    <p:extLst>
      <p:ext uri="{BB962C8B-B14F-4D97-AF65-F5344CB8AC3E}">
        <p14:creationId xmlns:p14="http://schemas.microsoft.com/office/powerpoint/2010/main" val="3548911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62456" y="130175"/>
            <a:ext cx="96012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Response Equipment in Ice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34034" y="1160187"/>
            <a:ext cx="1024110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CA" altLang="en-US" dirty="0" smtClean="0"/>
              <a:t>Cold temperatures can affect the operation of machinery </a:t>
            </a:r>
            <a:r>
              <a:rPr lang="en-CA" altLang="en-US" dirty="0" smtClean="0">
                <a:sym typeface="Symbol" panose="05050102010706020507" pitchFamily="18" charset="2"/>
              </a:rPr>
              <a:t> it</a:t>
            </a:r>
            <a:r>
              <a:rPr lang="en-CA" altLang="en-US" dirty="0" smtClean="0"/>
              <a:t> may operate less efficiently, or have issues with freezing, condensation, etc.</a:t>
            </a:r>
          </a:p>
          <a:p>
            <a:pPr algn="just"/>
            <a:endParaRPr lang="en-CA" altLang="en-US" dirty="0" smtClean="0"/>
          </a:p>
          <a:p>
            <a:pPr algn="just"/>
            <a:r>
              <a:rPr lang="en-CA" altLang="en-US" dirty="0" smtClean="0"/>
              <a:t>Vessel operations may be limited/not feasible</a:t>
            </a:r>
          </a:p>
          <a:p>
            <a:pPr algn="just"/>
            <a:endParaRPr lang="en-CA" altLang="en-US" dirty="0" smtClean="0"/>
          </a:p>
          <a:p>
            <a:pPr algn="just"/>
            <a:r>
              <a:rPr lang="en-CA" altLang="en-US" dirty="0" smtClean="0"/>
              <a:t>Use of boom is limited in broken ice – shifting ice flows can put too much pressure on boom and anchor systems</a:t>
            </a:r>
          </a:p>
          <a:p>
            <a:pPr algn="just">
              <a:buFont typeface="Arial" panose="020B0604020202020204" pitchFamily="34" charset="0"/>
              <a:buNone/>
            </a:pPr>
            <a:endParaRPr lang="en-CA" altLang="en-US" dirty="0" smtClean="0"/>
          </a:p>
          <a:p>
            <a:pPr lvl="1" algn="just"/>
            <a:endParaRPr lang="en-CA" altLang="en-US" dirty="0" smtClean="0"/>
          </a:p>
          <a:p>
            <a:pPr lvl="1" algn="just"/>
            <a:endParaRPr lang="en-C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11281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89888" y="130175"/>
            <a:ext cx="938174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Response Equipment in Ice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52144" y="1160187"/>
            <a:ext cx="986637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CA" altLang="en-US" dirty="0" smtClean="0"/>
              <a:t>Intakes on pumps or outboard engines can freeze up – engines may have to run continuously</a:t>
            </a:r>
          </a:p>
          <a:p>
            <a:pPr algn="just"/>
            <a:r>
              <a:rPr lang="en-CA" altLang="en-US" dirty="0" smtClean="0"/>
              <a:t>Skimmers may require screens to keep ice out and can only be used if there is enough open water – may have to move around</a:t>
            </a:r>
          </a:p>
          <a:p>
            <a:pPr algn="just"/>
            <a:r>
              <a:rPr lang="en-CA" altLang="en-US" dirty="0" smtClean="0"/>
              <a:t>Equipment/personnel must not exceed bearing capacity of ice</a:t>
            </a:r>
          </a:p>
          <a:p>
            <a:pPr algn="just"/>
            <a:r>
              <a:rPr lang="en-CA" altLang="en-US" dirty="0" smtClean="0"/>
              <a:t>Shifting ice is dangerous and can move quickly with changes in wind or tides</a:t>
            </a:r>
          </a:p>
          <a:p>
            <a:pPr algn="just">
              <a:buFont typeface="Arial" panose="020B0604020202020204" pitchFamily="34" charset="0"/>
              <a:buNone/>
            </a:pPr>
            <a:endParaRPr lang="en-CA" altLang="en-US" dirty="0" smtClean="0"/>
          </a:p>
          <a:p>
            <a:pPr lvl="1" algn="just"/>
            <a:endParaRPr lang="en-CA" altLang="en-US" dirty="0" smtClean="0"/>
          </a:p>
          <a:p>
            <a:pPr lvl="1" algn="just"/>
            <a:endParaRPr lang="en-C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84015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34439" y="130175"/>
            <a:ext cx="9516935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Response Strategies for Oil in Ice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34439" y="1085719"/>
            <a:ext cx="9516935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r>
              <a:rPr lang="en-CA" altLang="en-US" dirty="0" smtClean="0"/>
              <a:t>Solid ice</a:t>
            </a:r>
          </a:p>
          <a:p>
            <a:pPr algn="just"/>
            <a:r>
              <a:rPr lang="en-CA" altLang="en-US" dirty="0" smtClean="0"/>
              <a:t>Containment/Diversion/Deflecting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On </a:t>
            </a:r>
            <a:r>
              <a:rPr lang="en-CA" altLang="en-US" u="sng" dirty="0" smtClean="0"/>
              <a:t>top</a:t>
            </a:r>
            <a:r>
              <a:rPr lang="en-CA" altLang="en-US" dirty="0" smtClean="0"/>
              <a:t> of ice, oil can be contained, diverted or deflected by building berms with snow and ice using manual tools, i.e. shovels or mechanical tools such as graders (provided bearing capacity is sufficient)</a:t>
            </a:r>
          </a:p>
          <a:p>
            <a:pPr algn="just"/>
            <a:r>
              <a:rPr lang="en-CA" altLang="en-US" dirty="0" smtClean="0"/>
              <a:t>Recovery 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Using skimmers or vacuum systems – limitations due to ice clogging pumps or equipment freezing</a:t>
            </a:r>
          </a:p>
          <a:p>
            <a:pPr lvl="1" algn="just">
              <a:buFont typeface="Arial" panose="020B0604020202020204" pitchFamily="34" charset="0"/>
              <a:buNone/>
            </a:pPr>
            <a:endParaRPr lang="en-C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076752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Content Placeholder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92513" y="3748088"/>
            <a:ext cx="4959350" cy="2303462"/>
          </a:xfrm>
          <a:prstGeom prst="rect">
            <a:avLst/>
          </a:prstGeom>
        </p:spPr>
      </p:pic>
      <p:pic>
        <p:nvPicPr>
          <p:cNvPr id="6" name="Content Placeholder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513" y="1125538"/>
            <a:ext cx="495935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362456" y="130175"/>
            <a:ext cx="930859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Response </a:t>
            </a:r>
            <a:r>
              <a:rPr lang="en-CA" altLang="en-US" sz="4000" b="1" dirty="0"/>
              <a:t>S</a:t>
            </a:r>
            <a:r>
              <a:rPr lang="en-CA" altLang="en-US" sz="4000" b="1" dirty="0" smtClean="0"/>
              <a:t>trategies </a:t>
            </a:r>
            <a:r>
              <a:rPr lang="en-CA" altLang="en-US" sz="4000" b="1" dirty="0" smtClean="0"/>
              <a:t>for </a:t>
            </a:r>
            <a:r>
              <a:rPr lang="en-CA" altLang="en-US" sz="4000" b="1" dirty="0" smtClean="0"/>
              <a:t>Oil </a:t>
            </a:r>
            <a:r>
              <a:rPr lang="en-CA" altLang="en-US" sz="4000" b="1" dirty="0" smtClean="0"/>
              <a:t>in </a:t>
            </a:r>
            <a:r>
              <a:rPr lang="en-CA" altLang="en-US" sz="4000" b="1" dirty="0" smtClean="0"/>
              <a:t>Ice</a:t>
            </a:r>
            <a:endParaRPr lang="en-CA" altLang="en-US" sz="4000" b="1" dirty="0" smtClean="0"/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7685088" y="3235325"/>
            <a:ext cx="11239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OSRL</a:t>
            </a: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7685088" y="5835650"/>
            <a:ext cx="11239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OSRL</a:t>
            </a:r>
          </a:p>
        </p:txBody>
      </p:sp>
    </p:spTree>
    <p:extLst>
      <p:ext uri="{BB962C8B-B14F-4D97-AF65-F5344CB8AC3E}">
        <p14:creationId xmlns:p14="http://schemas.microsoft.com/office/powerpoint/2010/main" val="4162522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5918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929" y="1341438"/>
            <a:ext cx="5329237" cy="399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627632" y="130175"/>
            <a:ext cx="913485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en-US" sz="4000" b="1" dirty="0" smtClean="0"/>
              <a:t>Response Strategies for Oil in Ice</a:t>
            </a:r>
          </a:p>
        </p:txBody>
      </p:sp>
      <p:sp>
        <p:nvSpPr>
          <p:cNvPr id="7" name="TextBox 8"/>
          <p:cNvSpPr txBox="1">
            <a:spLocks noChangeArrowheads="1"/>
          </p:cNvSpPr>
          <p:nvPr/>
        </p:nvSpPr>
        <p:spPr bwMode="auto">
          <a:xfrm>
            <a:off x="7813104" y="5121275"/>
            <a:ext cx="11239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OSRL</a:t>
            </a:r>
          </a:p>
        </p:txBody>
      </p:sp>
    </p:spTree>
    <p:extLst>
      <p:ext uri="{BB962C8B-B14F-4D97-AF65-F5344CB8AC3E}">
        <p14:creationId xmlns:p14="http://schemas.microsoft.com/office/powerpoint/2010/main" val="3059926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34440" y="130175"/>
            <a:ext cx="915012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Response Strategies for Oil in Ice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17537" y="1085719"/>
            <a:ext cx="9526079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r>
              <a:rPr lang="en-CA" altLang="en-US" dirty="0" smtClean="0"/>
              <a:t>Solid ice</a:t>
            </a:r>
          </a:p>
          <a:p>
            <a:pPr algn="just"/>
            <a:r>
              <a:rPr lang="en-CA" altLang="en-US" dirty="0" smtClean="0"/>
              <a:t>Containment 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Oil </a:t>
            </a:r>
            <a:r>
              <a:rPr lang="en-CA" altLang="en-US" u="sng" dirty="0" smtClean="0"/>
              <a:t>below</a:t>
            </a:r>
            <a:r>
              <a:rPr lang="en-CA" altLang="en-US" dirty="0" smtClean="0"/>
              <a:t> ice can be accessed by cutting trenches, slots or holes using chain saws or augers </a:t>
            </a:r>
            <a:r>
              <a:rPr lang="en-CA" altLang="en-US" dirty="0" smtClean="0">
                <a:sym typeface="Symbol" panose="05050102010706020507" pitchFamily="18" charset="2"/>
              </a:rPr>
              <a:t></a:t>
            </a:r>
            <a:r>
              <a:rPr lang="en-CA" altLang="en-US" dirty="0" smtClean="0"/>
              <a:t> recover with skimmers to portable storage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It can be difficult to know where the oil is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Can cut holes downstream of spill to intercept in a river spill below ice</a:t>
            </a:r>
          </a:p>
          <a:p>
            <a:pPr algn="just"/>
            <a:r>
              <a:rPr lang="en-CA" altLang="en-US" dirty="0" smtClean="0"/>
              <a:t>Recovery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Using skimmers or vacuum systems – limitations due to ice clogging pumps or equipment freezing</a:t>
            </a:r>
          </a:p>
        </p:txBody>
      </p:sp>
    </p:spTree>
    <p:extLst>
      <p:ext uri="{BB962C8B-B14F-4D97-AF65-F5344CB8AC3E}">
        <p14:creationId xmlns:p14="http://schemas.microsoft.com/office/powerpoint/2010/main" val="934200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444752" y="102321"/>
            <a:ext cx="887882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Response Strategies for Oil in Ice</a:t>
            </a:r>
          </a:p>
        </p:txBody>
      </p:sp>
      <p:pic>
        <p:nvPicPr>
          <p:cNvPr id="6" name="Content Placeholder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17287" y="1844675"/>
            <a:ext cx="5280025" cy="3959225"/>
          </a:xfrm>
          <a:prstGeom prst="rect">
            <a:avLst/>
          </a:prstGeom>
        </p:spPr>
      </p:pic>
      <p:pic>
        <p:nvPicPr>
          <p:cNvPr id="7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850" y="908050"/>
            <a:ext cx="4892675" cy="190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7176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408176" y="130175"/>
            <a:ext cx="943660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altLang="en-US" sz="4000" b="1" dirty="0" smtClean="0"/>
              <a:t>Response </a:t>
            </a:r>
            <a:r>
              <a:rPr lang="en-CA" altLang="en-US" sz="4000" b="1" dirty="0"/>
              <a:t>S</a:t>
            </a:r>
            <a:r>
              <a:rPr lang="en-CA" altLang="en-US" sz="4000" b="1" dirty="0" smtClean="0"/>
              <a:t>trategies for Oil in Ice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408176" y="1085719"/>
            <a:ext cx="963777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r>
              <a:rPr lang="en-CA" altLang="en-US" dirty="0" smtClean="0"/>
              <a:t>Solid ice</a:t>
            </a:r>
          </a:p>
          <a:p>
            <a:pPr algn="just"/>
            <a:r>
              <a:rPr lang="en-CA" altLang="en-US" dirty="0" smtClean="0"/>
              <a:t>Dispersants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Not effective on solid ice </a:t>
            </a:r>
          </a:p>
          <a:p>
            <a:pPr algn="just"/>
            <a:r>
              <a:rPr lang="en-CA" altLang="en-US" dirty="0" smtClean="0"/>
              <a:t>Burning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Can be effective if done while oil is fresh – this window is longer if oil has been trapped below ice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Can achieve an oil thickness of at least 2 to 3 mm – can build berms to contain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Trench the oil because the burn will generate melt water </a:t>
            </a:r>
          </a:p>
          <a:p>
            <a:pPr lvl="1" algn="just">
              <a:buFont typeface="Arial" panose="020B0604020202020204" pitchFamily="34" charset="0"/>
              <a:buNone/>
            </a:pPr>
            <a:endParaRPr lang="en-C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8298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Content Placeholder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92475" y="1844675"/>
            <a:ext cx="5667375" cy="3789363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645920" y="102321"/>
            <a:ext cx="875995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Response Strategies for Oil in Ice</a:t>
            </a: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8043863" y="5419725"/>
            <a:ext cx="1125537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latin typeface="Tahoma" panose="020B0604030504040204" pitchFamily="34" charset="0"/>
              </a:rPr>
              <a:t>Source: OSRL</a:t>
            </a:r>
          </a:p>
        </p:txBody>
      </p:sp>
    </p:spTree>
    <p:extLst>
      <p:ext uri="{BB962C8B-B14F-4D97-AF65-F5344CB8AC3E}">
        <p14:creationId xmlns:p14="http://schemas.microsoft.com/office/powerpoint/2010/main" val="223779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08760" y="130175"/>
            <a:ext cx="917143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Response Strategies for Oil in Ice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376680" y="896793"/>
            <a:ext cx="955040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r>
              <a:rPr lang="en-CA" altLang="en-US" dirty="0" smtClean="0"/>
              <a:t>Broken ice</a:t>
            </a:r>
          </a:p>
          <a:p>
            <a:pPr algn="just"/>
            <a:r>
              <a:rPr lang="en-CA" altLang="en-US" dirty="0" smtClean="0"/>
              <a:t>Containment/Diversion/Deflection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Depending on ice concentration and type of ice, e.g. slush, pancake ice, large ice flows </a:t>
            </a:r>
            <a:r>
              <a:rPr lang="en-CA" altLang="en-US" dirty="0" smtClean="0">
                <a:sym typeface="Symbol" panose="05050102010706020507" pitchFamily="18" charset="2"/>
              </a:rPr>
              <a:t></a:t>
            </a:r>
            <a:r>
              <a:rPr lang="en-CA" altLang="en-US" dirty="0" smtClean="0"/>
              <a:t> booming may or may not be feasible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If boom can be used, it must be very durable 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Boom monitoring must be done continuously as shifting ice can damage or submerge boom</a:t>
            </a:r>
          </a:p>
          <a:p>
            <a:pPr algn="just"/>
            <a:r>
              <a:rPr lang="en-CA" altLang="en-US" dirty="0" smtClean="0"/>
              <a:t>Recovery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Using skimmers or vacuum systems – may have to be moved often as leads in ice change </a:t>
            </a:r>
            <a:r>
              <a:rPr lang="en-CA" altLang="en-US" dirty="0" smtClean="0">
                <a:sym typeface="Symbol" panose="05050102010706020507" pitchFamily="18" charset="2"/>
              </a:rPr>
              <a:t></a:t>
            </a:r>
            <a:r>
              <a:rPr lang="en-CA" altLang="en-US" dirty="0" smtClean="0"/>
              <a:t> limitations due to ice clogging pumps or equipment freezing</a:t>
            </a:r>
          </a:p>
        </p:txBody>
      </p:sp>
    </p:spTree>
    <p:extLst>
      <p:ext uri="{BB962C8B-B14F-4D97-AF65-F5344CB8AC3E}">
        <p14:creationId xmlns:p14="http://schemas.microsoft.com/office/powerpoint/2010/main" val="3631203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Content Placeholder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5842" y="1125538"/>
            <a:ext cx="4616450" cy="237490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492631" y="103116"/>
            <a:ext cx="926287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Response Strategies for Oil in Ice</a:t>
            </a:r>
          </a:p>
        </p:txBody>
      </p:sp>
      <p:pic>
        <p:nvPicPr>
          <p:cNvPr id="7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5842" y="3719513"/>
            <a:ext cx="4616450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7489317" y="3297238"/>
            <a:ext cx="11239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latin typeface="Tahoma" panose="020B0604030504040204" pitchFamily="34" charset="0"/>
              </a:rPr>
              <a:t>Source: OSRL</a:t>
            </a: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7489317" y="5873750"/>
            <a:ext cx="11239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latin typeface="Tahoma" panose="020B0604030504040204" pitchFamily="34" charset="0"/>
              </a:rPr>
              <a:t>Source: OSRL</a:t>
            </a:r>
          </a:p>
        </p:txBody>
      </p:sp>
    </p:spTree>
    <p:extLst>
      <p:ext uri="{BB962C8B-B14F-4D97-AF65-F5344CB8AC3E}">
        <p14:creationId xmlns:p14="http://schemas.microsoft.com/office/powerpoint/2010/main" val="167452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71016" y="908050"/>
            <a:ext cx="964692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CA" altLang="en-US" dirty="0" smtClean="0"/>
              <a:t>Broken Ice</a:t>
            </a:r>
          </a:p>
          <a:p>
            <a:r>
              <a:rPr lang="en-CA" altLang="en-US" dirty="0" smtClean="0"/>
              <a:t>Dispersants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dirty="0" smtClean="0"/>
              <a:t>Not generally effective in broken ice unless there is very low concentration of ice</a:t>
            </a:r>
          </a:p>
          <a:p>
            <a:r>
              <a:rPr lang="en-CA" altLang="en-US" dirty="0" smtClean="0"/>
              <a:t>Burning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dirty="0" smtClean="0"/>
              <a:t>Can be effective if done while oil is fresh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dirty="0" smtClean="0"/>
              <a:t>Requires an oil thickness of at least 2 to 3 mm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US" altLang="en-US" dirty="0" smtClean="0"/>
              <a:t>Herders may be used instead of booms to thicken oil</a:t>
            </a:r>
            <a:endParaRPr lang="en-CA" altLang="en-US" dirty="0" smtClean="0"/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dirty="0" smtClean="0"/>
              <a:t>Fire resistant boom used to contain slick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dirty="0" smtClean="0"/>
              <a:t>Waves less than 2m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en-CA" altLang="en-US" dirty="0" smtClean="0"/>
              <a:t>Try to burn oil in leads or at edges of ice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492631" y="103116"/>
            <a:ext cx="926287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Response Strategies for Oil in Ice</a:t>
            </a:r>
          </a:p>
        </p:txBody>
      </p:sp>
    </p:spTree>
    <p:extLst>
      <p:ext uri="{BB962C8B-B14F-4D97-AF65-F5344CB8AC3E}">
        <p14:creationId xmlns:p14="http://schemas.microsoft.com/office/powerpoint/2010/main" val="1179421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492631" y="103116"/>
            <a:ext cx="926287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Response Strategies for Oil in Ice</a:t>
            </a:r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095" y="1039813"/>
            <a:ext cx="5999163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7570470" y="5540375"/>
            <a:ext cx="11239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OSRL</a:t>
            </a:r>
          </a:p>
        </p:txBody>
      </p:sp>
    </p:spTree>
    <p:extLst>
      <p:ext uri="{BB962C8B-B14F-4D97-AF65-F5344CB8AC3E}">
        <p14:creationId xmlns:p14="http://schemas.microsoft.com/office/powerpoint/2010/main" val="207241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492631" y="103116"/>
            <a:ext cx="926287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Response Strategies for Oil in Ice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622424" y="963402"/>
            <a:ext cx="9505823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r>
              <a:rPr lang="en-CA" altLang="en-US" smtClean="0"/>
              <a:t>Ice along shorelines</a:t>
            </a:r>
          </a:p>
          <a:p>
            <a:pPr algn="just"/>
            <a:r>
              <a:rPr lang="en-CA" altLang="en-US" smtClean="0"/>
              <a:t>Ice may create a barrier and prevent oil from reaching the shoreline or oil may also penetrate the ice through cracks or between flows that have washed ashore</a:t>
            </a:r>
          </a:p>
          <a:p>
            <a:pPr algn="just"/>
            <a:r>
              <a:rPr lang="en-CA" altLang="en-US" smtClean="0"/>
              <a:t>Ice cracks can develop in this zone due to tides or other water level changes and are a safety issue for response personnel</a:t>
            </a:r>
          </a:p>
          <a:p>
            <a:pPr algn="just"/>
            <a:r>
              <a:rPr lang="en-CA" altLang="en-US" smtClean="0"/>
              <a:t>Shoreline response strategies will depend on shoreline type, ice concentration and ice type</a:t>
            </a:r>
            <a:endParaRPr lang="en-C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737911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492631" y="103116"/>
            <a:ext cx="926287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Response Strategies for Oil in Ice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492631" y="1058660"/>
            <a:ext cx="903427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r>
              <a:rPr lang="en-CA" altLang="en-US" dirty="0" smtClean="0"/>
              <a:t>Ice along shorelines</a:t>
            </a:r>
          </a:p>
          <a:p>
            <a:pPr algn="just"/>
            <a:r>
              <a:rPr lang="en-CA" altLang="en-US" dirty="0" smtClean="0"/>
              <a:t>Containment</a:t>
            </a:r>
          </a:p>
          <a:p>
            <a:pPr marL="630238" lvl="1" indent="-365125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On </a:t>
            </a:r>
            <a:r>
              <a:rPr lang="en-CA" altLang="en-US" u="sng" dirty="0" smtClean="0"/>
              <a:t>top</a:t>
            </a:r>
            <a:r>
              <a:rPr lang="en-CA" altLang="en-US" dirty="0" smtClean="0"/>
              <a:t> of ice, oil can be contained, diverted or deflected by building berms with snow and ice using manual tools, i.e. shovels or mechanical tools such as graders (provided bearing capacity is sufficient)</a:t>
            </a:r>
          </a:p>
          <a:p>
            <a:pPr marL="630238" lvl="1" indent="-365125" algn="just">
              <a:buFont typeface="Wingdings" panose="05000000000000000000" pitchFamily="2" charset="2"/>
              <a:buChar char="ü"/>
            </a:pPr>
            <a:endParaRPr lang="en-CA" altLang="en-US" dirty="0" smtClean="0"/>
          </a:p>
          <a:p>
            <a:pPr algn="just"/>
            <a:r>
              <a:rPr lang="en-CA" altLang="en-US" dirty="0" smtClean="0"/>
              <a:t>Recovery </a:t>
            </a:r>
          </a:p>
          <a:p>
            <a:pPr marL="630238" lvl="1" indent="-365125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Using skimmers or vacuum systems – limitations due to ice clogging pumps or equipment freezing</a:t>
            </a:r>
          </a:p>
          <a:p>
            <a:pPr marL="630238" indent="-365125" algn="just">
              <a:buFont typeface="Wingdings" panose="05000000000000000000" pitchFamily="2" charset="2"/>
              <a:buChar char="ü"/>
            </a:pPr>
            <a:endParaRPr lang="en-CA" altLang="en-US" dirty="0" smtClean="0"/>
          </a:p>
          <a:p>
            <a:pPr algn="just">
              <a:buFont typeface="Arial" panose="020B0604020202020204" pitchFamily="34" charset="0"/>
              <a:buNone/>
            </a:pPr>
            <a:endParaRPr lang="en-C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75869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492631" y="103116"/>
            <a:ext cx="926287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Response Strategies for Oil in Ice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36014" y="1058660"/>
            <a:ext cx="990993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r>
              <a:rPr lang="en-CA" altLang="en-US" smtClean="0"/>
              <a:t>Ice along shorelines</a:t>
            </a:r>
          </a:p>
          <a:p>
            <a:pPr algn="just"/>
            <a:r>
              <a:rPr lang="en-CA" altLang="en-US" smtClean="0"/>
              <a:t>Natural recovery – only recommended for lighter oils and exposed coasts </a:t>
            </a:r>
          </a:p>
          <a:p>
            <a:pPr algn="just"/>
            <a:r>
              <a:rPr lang="en-CA" altLang="en-US" smtClean="0"/>
              <a:t>Washing – flooding, low pressure washing, high pressure washing may be an option if temperatures do not prevent equipment from freezing – oil must be contained and collected</a:t>
            </a:r>
          </a:p>
          <a:p>
            <a:pPr algn="just"/>
            <a:r>
              <a:rPr lang="en-CA" altLang="en-US" smtClean="0"/>
              <a:t>Manual/mechanical removal – may require removal of an oil/snow or oil/ice combination depending on how mixed</a:t>
            </a:r>
          </a:p>
          <a:p>
            <a:pPr algn="just">
              <a:buFont typeface="Arial" panose="020B0604020202020204" pitchFamily="34" charset="0"/>
              <a:buNone/>
            </a:pPr>
            <a:endParaRPr lang="en-CA" altLang="en-US" smtClean="0"/>
          </a:p>
          <a:p>
            <a:pPr algn="just">
              <a:buFont typeface="Arial" panose="020B0604020202020204" pitchFamily="34" charset="0"/>
              <a:buNone/>
            </a:pPr>
            <a:endParaRPr lang="en-C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774033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492631" y="103116"/>
            <a:ext cx="926287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altLang="en-US" sz="4000" b="1" dirty="0" smtClean="0"/>
              <a:t>Response Strategies for Oil in Ice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161288" y="1160187"/>
            <a:ext cx="976579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r>
              <a:rPr lang="en-CA" altLang="en-US" dirty="0" smtClean="0"/>
              <a:t>Ice along shorelines</a:t>
            </a:r>
          </a:p>
          <a:p>
            <a:pPr algn="just"/>
            <a:r>
              <a:rPr lang="en-CA" altLang="en-US" dirty="0" smtClean="0"/>
              <a:t>Burning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Can be effective if done while oil is fresh – this window is longer if oil has been trapped below ice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Can achieve an oil thickness of at least 2 to 3 mm – can build berms to contain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Trench the oil because the burn will generate melt water 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CA" altLang="en-US" dirty="0" smtClean="0"/>
              <a:t>Requires regulatory approval</a:t>
            </a:r>
          </a:p>
        </p:txBody>
      </p:sp>
    </p:spTree>
    <p:extLst>
      <p:ext uri="{BB962C8B-B14F-4D97-AF65-F5344CB8AC3E}">
        <p14:creationId xmlns:p14="http://schemas.microsoft.com/office/powerpoint/2010/main" val="249002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298448" y="130175"/>
            <a:ext cx="954633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altLang="en-US" sz="4000" b="1" dirty="0" smtClean="0"/>
              <a:t>Conclusion</a:t>
            </a:r>
          </a:p>
        </p:txBody>
      </p:sp>
      <p:sp>
        <p:nvSpPr>
          <p:cNvPr id="6" name="Espace réservé du contenu 2">
            <a:extLst/>
          </p:cNvPr>
          <p:cNvSpPr txBox="1">
            <a:spLocks/>
          </p:cNvSpPr>
          <p:nvPr/>
        </p:nvSpPr>
        <p:spPr>
          <a:xfrm>
            <a:off x="1074598" y="1160187"/>
            <a:ext cx="1003096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spcBef>
                <a:spcPts val="550"/>
              </a:spcBef>
              <a:buFont typeface="Arial" charset="0"/>
              <a:buChar char="•"/>
              <a:defRPr/>
            </a:pPr>
            <a:r>
              <a:rPr lang="en-GB" dirty="0" smtClean="0">
                <a:ea typeface="MS PGothic" charset="0"/>
              </a:rPr>
              <a:t>Oil in ice presents unique challenges in spill response</a:t>
            </a:r>
          </a:p>
          <a:p>
            <a:pPr algn="just">
              <a:lnSpc>
                <a:spcPct val="110000"/>
              </a:lnSpc>
              <a:spcBef>
                <a:spcPts val="550"/>
              </a:spcBef>
              <a:buFont typeface="Arial" charset="0"/>
              <a:buChar char="•"/>
              <a:defRPr/>
            </a:pPr>
            <a:endParaRPr lang="en-GB" dirty="0" smtClean="0">
              <a:ea typeface="MS PGothic" charset="0"/>
            </a:endParaRPr>
          </a:p>
          <a:p>
            <a:pPr algn="just">
              <a:lnSpc>
                <a:spcPct val="110000"/>
              </a:lnSpc>
              <a:spcBef>
                <a:spcPts val="550"/>
              </a:spcBef>
              <a:buFont typeface="Arial" charset="0"/>
              <a:buChar char="•"/>
              <a:defRPr/>
            </a:pPr>
            <a:r>
              <a:rPr lang="en-GB" dirty="0" smtClean="0">
                <a:ea typeface="MS PGothic" charset="0"/>
              </a:rPr>
              <a:t>Safety is the first priority and there is a need for special consideration of personnel exposed to cold temperatures and working on/adjacent to ice infested waters</a:t>
            </a:r>
          </a:p>
          <a:p>
            <a:pPr algn="just">
              <a:lnSpc>
                <a:spcPct val="110000"/>
              </a:lnSpc>
              <a:spcBef>
                <a:spcPts val="550"/>
              </a:spcBef>
              <a:buFont typeface="Arial" charset="0"/>
              <a:buChar char="•"/>
              <a:defRPr/>
            </a:pPr>
            <a:endParaRPr lang="en-GB" dirty="0" smtClean="0">
              <a:ea typeface="MS PGothic" charset="0"/>
            </a:endParaRPr>
          </a:p>
          <a:p>
            <a:pPr algn="just"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  <a:cs typeface="ＭＳ Ｐゴシック" charset="0"/>
              </a:rPr>
              <a:t>Conventional spill response equipment may be less effective due to the cold and presence of ice</a:t>
            </a:r>
          </a:p>
          <a:p>
            <a:pPr algn="just">
              <a:buFont typeface="Arial" charset="0"/>
              <a:buNone/>
              <a:defRPr/>
            </a:pPr>
            <a:endParaRPr lang="en-GB" dirty="0" smtClean="0">
              <a:ea typeface="ＭＳ Ｐゴシック" charset="0"/>
              <a:cs typeface="ＭＳ Ｐゴシック" charset="0"/>
            </a:endParaRPr>
          </a:p>
          <a:p>
            <a:pPr marL="0" indent="0" algn="just">
              <a:buFont typeface="Arial" charset="0"/>
              <a:buNone/>
              <a:defRPr/>
            </a:pPr>
            <a:r>
              <a:rPr lang="en-GB" dirty="0" smtClean="0">
                <a:ea typeface="ＭＳ Ｐゴシック" charset="0"/>
                <a:cs typeface="ＭＳ Ｐゴシック" charset="0"/>
              </a:rPr>
              <a:t> </a:t>
            </a:r>
            <a:endParaRPr lang="en-GB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01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1681</Words>
  <Application>Microsoft Office PowerPoint</Application>
  <PresentationFormat>Widescreen</PresentationFormat>
  <Paragraphs>221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ＭＳ Ｐゴシック</vt:lpstr>
      <vt:lpstr>ＭＳ Ｐゴシック</vt:lpstr>
      <vt:lpstr>Arial</vt:lpstr>
      <vt:lpstr>Calibri</vt:lpstr>
      <vt:lpstr>inherit</vt:lpstr>
      <vt:lpstr>Symbol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158</cp:revision>
  <dcterms:created xsi:type="dcterms:W3CDTF">2024-09-27T05:40:49Z</dcterms:created>
  <dcterms:modified xsi:type="dcterms:W3CDTF">2025-05-08T06:16:42Z</dcterms:modified>
</cp:coreProperties>
</file>
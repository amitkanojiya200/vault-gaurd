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93" r:id="rId6"/>
    <p:sldId id="267" r:id="rId7"/>
    <p:sldId id="268" r:id="rId8"/>
    <p:sldId id="269" r:id="rId9"/>
    <p:sldId id="270" r:id="rId10"/>
    <p:sldId id="271" r:id="rId11"/>
    <p:sldId id="272" r:id="rId12"/>
    <p:sldId id="294" r:id="rId13"/>
    <p:sldId id="295" r:id="rId14"/>
    <p:sldId id="296" r:id="rId15"/>
    <p:sldId id="297" r:id="rId16"/>
    <p:sldId id="298" r:id="rId17"/>
    <p:sldId id="273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7" r:id="rId26"/>
    <p:sldId id="306" r:id="rId27"/>
    <p:sldId id="274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26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4195" y="2197977"/>
            <a:ext cx="10649528" cy="1120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</a:t>
            </a: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Oil Spills</a:t>
            </a:r>
            <a:endParaRPr lang="en-IN" sz="44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63698" y="2695296"/>
            <a:ext cx="975540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 aware of and recognize the impacts of oil spills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12918" y="0"/>
            <a:ext cx="10954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of </a:t>
            </a:r>
            <a:r>
              <a:rPr lang="en-US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US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pills</a:t>
            </a:r>
            <a:r>
              <a:rPr lang="en-US" alt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oil spills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59098" y="1239349"/>
            <a:ext cx="9439563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spills can adversely impact: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and safety due to oil toxicity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economic activities</a:t>
            </a:r>
            <a:r>
              <a:rPr lang="ja-JP" altLang="en-US" sz="2800" dirty="0">
                <a:ln w="0"/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ja-JP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(e.g. fisheries)</a:t>
            </a:r>
            <a:endParaRPr lang="en-US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and coastal environment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can be from: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interference with activities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smothering</a:t>
            </a:r>
          </a:p>
        </p:txBody>
      </p:sp>
    </p:spTree>
    <p:extLst>
      <p:ext uri="{BB962C8B-B14F-4D97-AF65-F5344CB8AC3E}">
        <p14:creationId xmlns:p14="http://schemas.microsoft.com/office/powerpoint/2010/main" val="339473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Toxicity </a:t>
            </a:r>
            <a:endParaRPr lang="en-IN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25263" y="1103245"/>
            <a:ext cx="1028930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depend on: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type and the amount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exposure duration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sensitivity of organisms</a:t>
            </a:r>
          </a:p>
          <a:p>
            <a:pPr marL="914400" lvl="1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CA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Toxic components: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Polycyclic Aromatic Hydrocarbons (PAHs)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 fractions</a:t>
            </a:r>
          </a:p>
          <a:p>
            <a:pPr marL="1371600" lvl="2" indent="-457200">
              <a:buFont typeface="Wingdings" panose="05000000000000000000" pitchFamily="2" charset="2"/>
              <a:buChar char="§"/>
            </a:pPr>
            <a:r>
              <a:rPr lang="en-CA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BETX (Benzene, Ethylene, Toluene, Xylene)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heavy metals</a:t>
            </a:r>
          </a:p>
        </p:txBody>
      </p:sp>
    </p:spTree>
    <p:extLst>
      <p:ext uri="{BB962C8B-B14F-4D97-AF65-F5344CB8AC3E}">
        <p14:creationId xmlns:p14="http://schemas.microsoft.com/office/powerpoint/2010/main" val="268895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</a:t>
            </a:r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Toxicity </a:t>
            </a:r>
            <a:endParaRPr lang="en-IN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74307" y="1221479"/>
            <a:ext cx="888584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Generally:  </a:t>
            </a:r>
          </a:p>
          <a:p>
            <a:pPr lvl="1" algn="just">
              <a:lnSpc>
                <a:spcPct val="150000"/>
              </a:lnSpc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Light oil: effects are from oil toxicity</a:t>
            </a:r>
          </a:p>
          <a:p>
            <a:pPr lvl="1" algn="just">
              <a:lnSpc>
                <a:spcPct val="150000"/>
              </a:lnSpc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Heavy oil: effects are from smothering of organisms</a:t>
            </a:r>
          </a:p>
        </p:txBody>
      </p:sp>
    </p:spTree>
    <p:extLst>
      <p:ext uri="{BB962C8B-B14F-4D97-AF65-F5344CB8AC3E}">
        <p14:creationId xmlns:p14="http://schemas.microsoft.com/office/powerpoint/2010/main" val="15739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</a:t>
            </a:r>
            <a:r>
              <a:rPr lang="en-CA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O</a:t>
            </a:r>
            <a:r>
              <a:rPr lang="en-CA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</a:t>
            </a:r>
            <a:endParaRPr lang="en-IN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2101" y="1209963"/>
            <a:ext cx="10117235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to differentiate between impacts to individuals and those to population.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CA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few individuals may suffer severe adverse effects with no impacts to overall population.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from oil have been studied since the first major shipping incidents.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Generally, short term impacts with moderate to low long term impacts.</a:t>
            </a:r>
          </a:p>
        </p:txBody>
      </p:sp>
    </p:spTree>
    <p:extLst>
      <p:ext uri="{BB962C8B-B14F-4D97-AF65-F5344CB8AC3E}">
        <p14:creationId xmlns:p14="http://schemas.microsoft.com/office/powerpoint/2010/main" val="69102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Factors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Affecting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21450" y="1012561"/>
            <a:ext cx="10732654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of oil and degree of weathering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Biological characteristics of the area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Geographic location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Degree of oiling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Oceanographic conditions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Season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Choice of response strategy and effectiveness of response</a:t>
            </a:r>
          </a:p>
        </p:txBody>
      </p:sp>
    </p:spTree>
    <p:extLst>
      <p:ext uri="{BB962C8B-B14F-4D97-AF65-F5344CB8AC3E}">
        <p14:creationId xmlns:p14="http://schemas.microsoft.com/office/powerpoint/2010/main" val="50912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75491" y="2495241"/>
            <a:ext cx="1187796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</a:t>
            </a:r>
            <a:b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17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3248" y="753049"/>
            <a:ext cx="9704648" cy="2207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Presence of oil will interfere with normal activities.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cause financial losses and loss of enjoyment.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coastal activities can be impacted.</a:t>
            </a:r>
          </a:p>
        </p:txBody>
      </p:sp>
      <p:pic>
        <p:nvPicPr>
          <p:cNvPr id="6" name="Image 1" descr="cleanupops_touristbeac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48" y="3213097"/>
            <a:ext cx="3848100" cy="291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3945890" y="5892797"/>
            <a:ext cx="89852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 dirty="0">
                <a:solidFill>
                  <a:schemeClr val="bg1"/>
                </a:solidFill>
                <a:latin typeface="Tahoma" panose="020B0604030504040204" pitchFamily="34" charset="0"/>
              </a:rPr>
              <a:t>Source: ITOPF</a:t>
            </a:r>
            <a:endParaRPr lang="en-CA" altLang="en-US" sz="8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93" y="3213097"/>
            <a:ext cx="6487895" cy="291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30055" y="1109116"/>
            <a:ext cx="1033189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tourism: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for many coastal communities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Direct oil impacts on beaches and coastal structures can lead to closures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Potentially fewer clients for restaurants, hotels, water parks, etc.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Positive financial impacts from oil spill workers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are generally short lived and activities resume following clean-up, however there can be significant image damage that may persist</a:t>
            </a:r>
          </a:p>
        </p:txBody>
      </p:sp>
    </p:spTree>
    <p:extLst>
      <p:ext uri="{BB962C8B-B14F-4D97-AF65-F5344CB8AC3E}">
        <p14:creationId xmlns:p14="http://schemas.microsoft.com/office/powerpoint/2010/main" val="404682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78361" y="1036703"/>
            <a:ext cx="1001272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water intakes: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industries need water to function properly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 and desalination plants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 plant</a:t>
            </a:r>
          </a:p>
          <a:p>
            <a:pPr marL="1371600" lvl="2" indent="-4572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Aquarium, pools, etc.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in a water intake can lead to contamination of water supply, malfunctions, etc.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have serious implications for power plants and desalination activities.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Important to protect these areas to avoid contamination.</a:t>
            </a:r>
          </a:p>
        </p:txBody>
      </p:sp>
    </p:spTree>
    <p:extLst>
      <p:ext uri="{BB962C8B-B14F-4D97-AF65-F5344CB8AC3E}">
        <p14:creationId xmlns:p14="http://schemas.microsoft.com/office/powerpoint/2010/main" val="2612325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2545" y="766618"/>
            <a:ext cx="1032422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ports and marinas: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Ports are the entrance or exit for many essential goods and trade.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Ports and marinas can be affected by: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Navigation channels closed or restricted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Contamination of structures such as wharves, jetties, etc.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Contamination of vessels</a:t>
            </a:r>
          </a:p>
          <a:p>
            <a:pPr marL="1714500" lvl="3" indent="-342900" algn="just"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Closure or limited access due to response operations (booms)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 of vessels is often required.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Contaminated structures can be difficult to clean</a:t>
            </a:r>
          </a:p>
        </p:txBody>
      </p:sp>
    </p:spTree>
    <p:extLst>
      <p:ext uri="{BB962C8B-B14F-4D97-AF65-F5344CB8AC3E}">
        <p14:creationId xmlns:p14="http://schemas.microsoft.com/office/powerpoint/2010/main" val="135009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pic>
        <p:nvPicPr>
          <p:cNvPr id="6" name="Espace réservé du contenu 3" descr="oil port on marin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7" b="2397"/>
          <a:stretch>
            <a:fillRect/>
          </a:stretch>
        </p:blipFill>
        <p:spPr>
          <a:xfrm>
            <a:off x="256250" y="2001058"/>
            <a:ext cx="5321931" cy="33756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7112" y="977469"/>
            <a:ext cx="39020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GB" altLang="en-US" sz="3200" dirty="0">
                <a:ln w="0"/>
                <a:latin typeface="Tahoma" panose="020B0604030504040204" pitchFamily="34" charset="0"/>
              </a:rPr>
              <a:t>Examples of impacts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4359" t="19548" r="3562" b="13470"/>
          <a:stretch/>
        </p:blipFill>
        <p:spPr>
          <a:xfrm>
            <a:off x="5746177" y="2001058"/>
            <a:ext cx="6189487" cy="33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3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58982" y="967515"/>
            <a:ext cx="10177826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r>
              <a:rPr lang="en-GB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communities</a:t>
            </a: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  <a:defRPr/>
            </a:pPr>
            <a:endParaRPr lang="en-GB" sz="2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many parts of the world, populations live near or on the coast.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Exposure to oil vapours can cause breathing difficulties, headaches and nausea.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Usually, vapours are present at the beginning of a spill and the impact is likely to be short-lived.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Daily activities can be impacted by the presence of oil and by response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8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3490" y="1088050"/>
            <a:ext cx="10353318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archaeological sites and coastal artefacts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GB" altLang="en-US" sz="2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Many archaeological sites and associated artefacts are found in coastal areas.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areas can be contaminated by direct contact with oil.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areas are very sensitive and clean-up methods must be adapted to preserve these sites.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Archaeologists are required to identify these areas and to provide recommendations for clean-up.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and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Economic </a:t>
            </a:r>
            <a:r>
              <a:rPr lang="en-GB" altLang="en-US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ctivities </a:t>
            </a:r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54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987683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46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-1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5808" y="946657"/>
            <a:ext cx="1008038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Plankton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Very sensitive to oil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Affected by dispersed oil (naturally or chemically)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Mortality is compensated by over production of young life stage and recruitment from non- affected area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Significant decline has not been observed following an oil spill</a:t>
            </a:r>
          </a:p>
        </p:txBody>
      </p:sp>
    </p:spTree>
    <p:extLst>
      <p:ext uri="{BB962C8B-B14F-4D97-AF65-F5344CB8AC3E}">
        <p14:creationId xmlns:p14="http://schemas.microsoft.com/office/powerpoint/2010/main" val="171046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3000" y="954130"/>
            <a:ext cx="9546336" cy="432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Fish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Juveniles susceptible to oil exposure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Adults more resilient, free swimming fish will avoid oil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Mortality associated with localized conditions</a:t>
            </a:r>
          </a:p>
          <a:p>
            <a:pPr marL="1371600" lvl="2" indent="-4572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Dispersed oil (naturally or chemically)</a:t>
            </a:r>
          </a:p>
          <a:p>
            <a:pPr marL="1371600" lvl="2" indent="-4572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Shallow waters, light oil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Depuration processes</a:t>
            </a: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 low impacts on fish population</a:t>
            </a:r>
          </a:p>
        </p:txBody>
      </p:sp>
    </p:spTree>
    <p:extLst>
      <p:ext uri="{BB962C8B-B14F-4D97-AF65-F5344CB8AC3E}">
        <p14:creationId xmlns:p14="http://schemas.microsoft.com/office/powerpoint/2010/main" val="26364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3400" y="1011580"/>
            <a:ext cx="10565200" cy="4670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mammals</a:t>
            </a:r>
          </a:p>
          <a:p>
            <a:pPr marL="285750" indent="-28575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Whales, dolphins, seals, otters, manatees, etc.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Species surfacing to breath can be exposed to floating oil.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Irritation to airways, eyes has been reported.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 no mortalities but may be exceptions.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Species using the shoreline such as seals and otters can suffer from oil exposure especially if their haul-out is contaminated.</a:t>
            </a:r>
          </a:p>
        </p:txBody>
      </p:sp>
    </p:spTree>
    <p:extLst>
      <p:ext uri="{BB962C8B-B14F-4D97-AF65-F5344CB8AC3E}">
        <p14:creationId xmlns:p14="http://schemas.microsoft.com/office/powerpoint/2010/main" val="692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4946" y="766618"/>
            <a:ext cx="10583302" cy="2536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 mammals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Furry animals can suffer from hypothermia if the fur is oiled.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Generally, impacts are mild with skin irritations and disruption the most reported.</a:t>
            </a:r>
          </a:p>
          <a:p>
            <a:pPr marL="914400" lvl="1" indent="-457200" algn="just">
              <a:lnSpc>
                <a:spcPct val="125000"/>
              </a:lnSpc>
              <a:buFont typeface="Wingdings" panose="05000000000000000000" pitchFamily="2" charset="2"/>
              <a:buChar char="ü"/>
              <a:defRPr/>
            </a:pPr>
            <a:r>
              <a:rPr lang="en-GB" sz="26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Mortality is usually rare following an oil spill.</a:t>
            </a:r>
          </a:p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25" y="3303082"/>
            <a:ext cx="8802947" cy="300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4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8613" y="903519"/>
            <a:ext cx="10565940" cy="5058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turtles</a:t>
            </a: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species are endangered.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are vulnerable to oil particularly during nesting season and in shallow waters.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They use sand beaches for nesting and to lay eggs so clean-up of these areas during nesting season will be high priority.</a:t>
            </a:r>
          </a:p>
          <a:p>
            <a:pPr marL="914400" lvl="1" indent="-457200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Adults can suffer irritation and inflammation of membranes.</a:t>
            </a:r>
          </a:p>
          <a:p>
            <a:pPr marL="914400" lvl="1" indent="-457200" algn="just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is possible to clean sea turtles.</a:t>
            </a:r>
          </a:p>
        </p:txBody>
      </p:sp>
    </p:spTree>
    <p:extLst>
      <p:ext uri="{BB962C8B-B14F-4D97-AF65-F5344CB8AC3E}">
        <p14:creationId xmlns:p14="http://schemas.microsoft.com/office/powerpoint/2010/main" val="288777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6794" y="766618"/>
            <a:ext cx="10813750" cy="5321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Seabirds, wildfowl and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waders</a:t>
            </a: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vulnerable to floating oil.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Large numbers can die from contact with floating oil at sea or on shorelines.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disrupts the feathers, affecting insulation properties which results in hypothermia.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Birds will also ingest oil as they attempt to clean their feathers.</a:t>
            </a:r>
          </a:p>
          <a:p>
            <a:pPr marL="914400" lvl="1" indent="-457200" algn="just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Exhaustion resulting from smothering, particularly following exposure to viscous oils, is a commonly observed effect.</a:t>
            </a:r>
          </a:p>
        </p:txBody>
      </p:sp>
    </p:spTree>
    <p:extLst>
      <p:ext uri="{BB962C8B-B14F-4D97-AF65-F5344CB8AC3E}">
        <p14:creationId xmlns:p14="http://schemas.microsoft.com/office/powerpoint/2010/main" val="352313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60218" y="831965"/>
            <a:ext cx="11028218" cy="4778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Seabirds, wildfowl and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waders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Contamination of habitat especially during nesting season can cause significant impacts.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Oiled birds can be cleaned and rehabilitated but depending on species it may be that only a small fraction will survive.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and long term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damage is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</a:t>
            </a:r>
          </a:p>
          <a:p>
            <a:pPr lvl="1">
              <a:lnSpc>
                <a:spcPct val="150000"/>
              </a:lnSpc>
              <a:defRPr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individuals </a:t>
            </a: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population.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36737" y="4354964"/>
            <a:ext cx="2593848" cy="1830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7976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857" y="1615800"/>
            <a:ext cx="316230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248" y="1612690"/>
            <a:ext cx="523875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400857" y="898105"/>
            <a:ext cx="63392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Seabirds, wildfowl and waders</a:t>
            </a:r>
          </a:p>
        </p:txBody>
      </p:sp>
    </p:spTree>
    <p:extLst>
      <p:ext uri="{BB962C8B-B14F-4D97-AF65-F5344CB8AC3E}">
        <p14:creationId xmlns:p14="http://schemas.microsoft.com/office/powerpoint/2010/main" val="143553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Marine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7806" y="1123234"/>
            <a:ext cx="1049638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Corals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Highly sensitive organisms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 recovery time if exposed to oil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be exposed to dispersed oil especially near shore with high energy breaking waves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Exposed coral reef can be affected by floating oil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priority areas for protection</a:t>
            </a:r>
          </a:p>
        </p:txBody>
      </p:sp>
    </p:spTree>
    <p:extLst>
      <p:ext uri="{BB962C8B-B14F-4D97-AF65-F5344CB8AC3E}">
        <p14:creationId xmlns:p14="http://schemas.microsoft.com/office/powerpoint/2010/main" val="358949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061" y="2864573"/>
            <a:ext cx="117394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Coastal </a:t>
            </a:r>
            <a:r>
              <a:rPr lang="en-GB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71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1391" y="1040728"/>
            <a:ext cx="10081953" cy="3801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GB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GB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Shorelines are almost always impacted during an oil spill.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Degree of sensitivity to oil is very variable between shoreline types.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en-GB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 is related to oil persistence and biological activity.</a:t>
            </a:r>
          </a:p>
        </p:txBody>
      </p:sp>
    </p:spTree>
    <p:extLst>
      <p:ext uri="{BB962C8B-B14F-4D97-AF65-F5344CB8AC3E}">
        <p14:creationId xmlns:p14="http://schemas.microsoft.com/office/powerpoint/2010/main" val="392329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63782" y="991838"/>
            <a:ext cx="5661891" cy="43862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Mangroves</a:t>
            </a:r>
          </a:p>
          <a:p>
            <a:pPr marL="457200" indent="-457200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>
              <a:lnSpc>
                <a:spcPct val="125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Highly sensitive to oil.</a:t>
            </a:r>
          </a:p>
          <a:p>
            <a:pPr marL="914400" lvl="1" indent="-457200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Trees suffer from asphyxia from oil coating of roots and pores.</a:t>
            </a:r>
          </a:p>
          <a:p>
            <a:pPr marL="914400" lvl="1" indent="-457200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is extremely difficult and recovery can take decades.</a:t>
            </a: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500" y="1778728"/>
            <a:ext cx="4587054" cy="343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0933592" y="5002645"/>
            <a:ext cx="8429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CA" altLang="en-US" sz="800" dirty="0">
                <a:solidFill>
                  <a:schemeClr val="bg1"/>
                </a:solidFill>
                <a:latin typeface="Tahoma" panose="020B0604030504040204" pitchFamily="34" charset="0"/>
              </a:rPr>
              <a:t>Source: ITOPF</a:t>
            </a:r>
            <a:endParaRPr lang="en-CA" altLang="en-US" sz="8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39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5213" y="930543"/>
            <a:ext cx="10032723" cy="483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Marshes</a:t>
            </a:r>
          </a:p>
          <a:p>
            <a:pPr marL="457200" indent="-457200" algn="just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biological importance.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Plants are relatively resistant to oiling</a:t>
            </a:r>
          </a:p>
          <a:p>
            <a:pPr marL="1371600" lvl="2" indent="-457200" algn="just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depend on growth cycle.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Long-term impacts due to oil penetration in the substrate affecting the root system.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Penetration is generally caused by trampling or use of mechanical equipment.</a:t>
            </a:r>
          </a:p>
          <a:p>
            <a:pPr marL="914400" lvl="1" indent="-457200" algn="just">
              <a:lnSpc>
                <a:spcPct val="114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Needs to be considered on a case by case basis.</a:t>
            </a:r>
          </a:p>
        </p:txBody>
      </p:sp>
    </p:spTree>
    <p:extLst>
      <p:ext uri="{BB962C8B-B14F-4D97-AF65-F5344CB8AC3E}">
        <p14:creationId xmlns:p14="http://schemas.microsoft.com/office/powerpoint/2010/main" val="77469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0034" y="948041"/>
            <a:ext cx="9632142" cy="3639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Mud flats </a:t>
            </a:r>
            <a:endParaRPr lang="en-GB" altLang="en-US" sz="3200" dirty="0" smtClean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Used by many vertebrate and invertebrate species.</a:t>
            </a:r>
          </a:p>
          <a:p>
            <a:pPr marL="914400" lvl="1" indent="-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 energy shoreline.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 term impacts are generally caused by oil penetration in sediments caused by trampling or by oil penetration through worm burrows.</a:t>
            </a:r>
          </a:p>
        </p:txBody>
      </p:sp>
    </p:spTree>
    <p:extLst>
      <p:ext uri="{BB962C8B-B14F-4D97-AF65-F5344CB8AC3E}">
        <p14:creationId xmlns:p14="http://schemas.microsoft.com/office/powerpoint/2010/main" val="192967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Coastal Environment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68218" y="1096083"/>
            <a:ext cx="1007715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Rocky shorelines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 biologically active.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Usually, they are colonized by algae or small invertebrates.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Recolonization can be rapid following an oil spill.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term impacts are typical for these shorelines.</a:t>
            </a:r>
          </a:p>
        </p:txBody>
      </p:sp>
    </p:spTree>
    <p:extLst>
      <p:ext uri="{BB962C8B-B14F-4D97-AF65-F5344CB8AC3E}">
        <p14:creationId xmlns:p14="http://schemas.microsoft.com/office/powerpoint/2010/main" val="398433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Coastal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 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49499" y="1006117"/>
            <a:ext cx="991357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Sandy shorelines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 biologically active.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Short term impacts are typical for these shorelines.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for oil burial due to sand movement.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for oil and sand interaction in the intertidal zone leading to sunken oil. </a:t>
            </a:r>
          </a:p>
        </p:txBody>
      </p:sp>
    </p:spTree>
    <p:extLst>
      <p:ext uri="{BB962C8B-B14F-4D97-AF65-F5344CB8AC3E}">
        <p14:creationId xmlns:p14="http://schemas.microsoft.com/office/powerpoint/2010/main" val="196490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on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Marine/Coastal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nvironment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2806" y="947331"/>
            <a:ext cx="10209138" cy="487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 spill 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studies</a:t>
            </a:r>
          </a:p>
          <a:p>
            <a:pPr marL="285750" indent="-28575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studies can be undertaken to evaluate environmental damages</a:t>
            </a:r>
          </a:p>
          <a:p>
            <a:pPr marL="1371600" lvl="2" indent="-4572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altLang="en-US" sz="24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Chemical analysis, population inventories, etc.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Should have clear objectives, achievable goals and focus on likely impacts from the spill.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Importance of pre spill background data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GB" altLang="en-US" sz="10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Restoration measures can be identified and implemented in some cases.</a:t>
            </a:r>
          </a:p>
        </p:txBody>
      </p:sp>
    </p:spTree>
    <p:extLst>
      <p:ext uri="{BB962C8B-B14F-4D97-AF65-F5344CB8AC3E}">
        <p14:creationId xmlns:p14="http://schemas.microsoft.com/office/powerpoint/2010/main" val="411628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Impacts 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Affecting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perational </a:t>
            </a:r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</a:t>
            </a:r>
            <a:r>
              <a:rPr lang="en-GB" altLang="en-US" sz="4000" b="1" dirty="0" smtClean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esponse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4391" y="940969"/>
            <a:ext cx="1062957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impacts of oil spills on the various activities and environments can affect the operational response</a:t>
            </a:r>
            <a:r>
              <a:rPr lang="en-GB" altLang="en-US" sz="32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Public/media attention to operational activities especially in areas of high population density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restrictions due to the impacts proximity to sensitivities such as cultural sites, private property, etc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Seasonal restrictions due wildlife nesting, etc</a:t>
            </a:r>
            <a:r>
              <a:rPr lang="en-GB" altLang="en-US" sz="2800" dirty="0" smtClean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GB" altLang="en-US" sz="1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Prioritization of operational activities.</a:t>
            </a:r>
          </a:p>
        </p:txBody>
      </p:sp>
    </p:spTree>
    <p:extLst>
      <p:ext uri="{BB962C8B-B14F-4D97-AF65-F5344CB8AC3E}">
        <p14:creationId xmlns:p14="http://schemas.microsoft.com/office/powerpoint/2010/main" val="1966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50698" y="1411310"/>
            <a:ext cx="10991272" cy="347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Oil spills interfere with coastal activities.</a:t>
            </a: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GB" altLang="en-US" sz="32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Effects on marine life are caused by:</a:t>
            </a: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GB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contamination and smothering;</a:t>
            </a: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8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tainting as a result of the smothering and toxic effects.</a:t>
            </a:r>
          </a:p>
          <a:p>
            <a:pPr marL="914400" lvl="1" indent="-4572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GB" altLang="en-US" sz="2800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of biological </a:t>
            </a:r>
            <a:r>
              <a:rPr lang="en-GB" altLang="en-US" sz="3200" u="sng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populations</a:t>
            </a:r>
            <a:r>
              <a:rPr lang="en-GB" altLang="en-US" sz="3200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more important than individuals.</a:t>
            </a:r>
          </a:p>
        </p:txBody>
      </p:sp>
    </p:spTree>
    <p:extLst>
      <p:ext uri="{BB962C8B-B14F-4D97-AF65-F5344CB8AC3E}">
        <p14:creationId xmlns:p14="http://schemas.microsoft.com/office/powerpoint/2010/main" val="43240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en-US" sz="4000" b="1" dirty="0">
                <a:ln w="0"/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  <a:endParaRPr lang="en-IN" sz="4000" b="1" dirty="0">
              <a:ln w="0"/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875654" y="1649251"/>
            <a:ext cx="10717078" cy="35290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Recovery time is highly variable.</a:t>
            </a:r>
          </a:p>
          <a:p>
            <a:pPr algn="just">
              <a:spcAft>
                <a:spcPts val="1200"/>
              </a:spcAft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Clean-up techniques can cause further damage.</a:t>
            </a:r>
          </a:p>
          <a:p>
            <a:pPr algn="just">
              <a:spcAft>
                <a:spcPts val="1200"/>
              </a:spcAft>
            </a:pPr>
            <a:r>
              <a:rPr lang="en-US" altLang="en-US" sz="3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and prioritize areas to be protected at contingency planning stage.</a:t>
            </a:r>
            <a:endParaRPr lang="en-US" altLang="en-US" sz="3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8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56883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1980</Words>
  <Application>Microsoft Office PowerPoint</Application>
  <PresentationFormat>Widescreen</PresentationFormat>
  <Paragraphs>259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MS PGothic</vt:lpstr>
      <vt:lpstr>游ゴシック</vt:lpstr>
      <vt:lpstr>Arial</vt:lpstr>
      <vt:lpstr>Calibri</vt:lpstr>
      <vt:lpstr>Calibri Light</vt:lpstr>
      <vt:lpstr>inherit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179</cp:revision>
  <dcterms:created xsi:type="dcterms:W3CDTF">2024-09-27T05:40:49Z</dcterms:created>
  <dcterms:modified xsi:type="dcterms:W3CDTF">2025-07-31T03:57:38Z</dcterms:modified>
</cp:coreProperties>
</file>
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6" r:id="rId9"/>
    <p:sldId id="263" r:id="rId10"/>
    <p:sldId id="265" r:id="rId11"/>
    <p:sldId id="266" r:id="rId12"/>
    <p:sldId id="268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6624" y="2088249"/>
            <a:ext cx="10649528" cy="1813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behaviour of oil in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shoreline environment</a:t>
            </a:r>
            <a:endParaRPr lang="en-IN" sz="44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215" y="1604308"/>
            <a:ext cx="100937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the fate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behaviour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oil when spilled into the marine and shoreline environment.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2918" y="0"/>
            <a:ext cx="10954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5930" y="1086769"/>
            <a:ext cx="1018831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chemical processes will change oil properties and behaviour once spilled into the environment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Referred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as “oil weathering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ja-JP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weathering will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selection of appropriate response strategies, affect operations and oil toxicity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weathering is influenced by important oil properties.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7308" y="-31167"/>
            <a:ext cx="10917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Behaviour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7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70849" y="1180956"/>
            <a:ext cx="1057101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Specific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gravity/</a:t>
            </a:r>
            <a:r>
              <a:rPr lang="en-GB" sz="3200" baseline="300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density</a:t>
            </a:r>
            <a:endParaRPr lang="en-GB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i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Viscosity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resistance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flow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Pour point: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below which oil does not flow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585216" y="-13286"/>
            <a:ext cx="10974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Properties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8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20981" y="1198150"/>
            <a:ext cx="10571019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ea typeface="ＭＳ Ｐゴシック" charset="0"/>
                <a:cs typeface="ＭＳ Ｐゴシック" charset="0"/>
              </a:rPr>
              <a:t> 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Volatility: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to evaporate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Flash point: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temperature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which vapour will ignite</a:t>
            </a:r>
          </a:p>
          <a:p>
            <a:pPr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Asphaltene</a:t>
            </a: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content: </a:t>
            </a:r>
          </a:p>
          <a:p>
            <a:pPr marL="85725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</a:t>
            </a: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emulsify</a:t>
            </a:r>
          </a:p>
          <a:p>
            <a:pPr lvl="1">
              <a:spcBef>
                <a:spcPct val="0"/>
              </a:spcBef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905161" y="0"/>
            <a:ext cx="10571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</a:t>
            </a:r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Properties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32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15999" y="776767"/>
            <a:ext cx="3751310" cy="527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processes: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Drifting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Emulsification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</a:p>
          <a:p>
            <a:pPr lvl="1">
              <a:spcBef>
                <a:spcPct val="0"/>
              </a:spcBef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49225" y="-14218"/>
            <a:ext cx="10824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Fate &amp;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Behaviour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Spilled Oil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77125" y="1718564"/>
            <a:ext cx="509905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Biodegradation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Photo-oxidation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Sedimentation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interaction</a:t>
            </a:r>
          </a:p>
        </p:txBody>
      </p:sp>
    </p:spTree>
    <p:extLst>
      <p:ext uri="{BB962C8B-B14F-4D97-AF65-F5344CB8AC3E}">
        <p14:creationId xmlns:p14="http://schemas.microsoft.com/office/powerpoint/2010/main" val="290642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Processes </a:t>
            </a:r>
            <a:endParaRPr lang="en-IN" sz="36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50" y="947040"/>
            <a:ext cx="10451911" cy="52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615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Processes Over Time</a:t>
            </a:r>
            <a:endParaRPr lang="en-IN" sz="36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7" r="-21617"/>
          <a:stretch>
            <a:fillRect/>
          </a:stretch>
        </p:blipFill>
        <p:spPr bwMode="auto">
          <a:xfrm>
            <a:off x="2140982" y="920283"/>
            <a:ext cx="7558087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638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-38503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41883" y="1064309"/>
            <a:ext cx="973889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spread</a:t>
            </a:r>
            <a:r>
              <a:rPr lang="ja-JP" altLang="en-US" sz="3200" dirty="0">
                <a:ln w="0"/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</a:t>
            </a:r>
            <a:r>
              <a:rPr lang="en-US" altLang="ja-JP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fragment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occupying a larger area.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Thickness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layer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surface will decrease over time, except in cases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emulsifies.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process affects oil recovery rates as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layer is difficult to recover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Lower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encounter rate as oiled area is increasing</a:t>
            </a:r>
          </a:p>
        </p:txBody>
      </p:sp>
    </p:spTree>
    <p:extLst>
      <p:ext uri="{BB962C8B-B14F-4D97-AF65-F5344CB8AC3E}">
        <p14:creationId xmlns:p14="http://schemas.microsoft.com/office/powerpoint/2010/main" val="234071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94945" y="0"/>
            <a:ext cx="10778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Spreading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237" y="766618"/>
            <a:ext cx="5205412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5062" y="3323950"/>
            <a:ext cx="4575175" cy="305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1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6" y="-33748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Drifting at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0436" y="858951"/>
            <a:ext cx="111000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drift at sea under the influence of currents and winds </a:t>
            </a:r>
          </a:p>
          <a:p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 current direction and speed, approximately 3% wind direction and speed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041" y="2668272"/>
            <a:ext cx="59039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04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-29119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 </a:t>
            </a:r>
            <a:r>
              <a:rPr lang="en-US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Content Placeholder 3" descr="Light Wind.pd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1" t="9982" r="16582" b="10736"/>
          <a:stretch>
            <a:fillRect/>
          </a:stretch>
        </p:blipFill>
        <p:spPr>
          <a:xfrm>
            <a:off x="7150100" y="1052623"/>
            <a:ext cx="2619375" cy="1423987"/>
          </a:xfrm>
          <a:prstGeom prst="rect">
            <a:avLst/>
          </a:prstGeom>
        </p:spPr>
      </p:pic>
      <p:pic>
        <p:nvPicPr>
          <p:cNvPr id="18" name="Picture 4" descr="Medium Wind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2" b="10510"/>
          <a:stretch>
            <a:fillRect/>
          </a:stretch>
        </p:blipFill>
        <p:spPr bwMode="auto">
          <a:xfrm>
            <a:off x="6548438" y="2603610"/>
            <a:ext cx="41783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5" descr="Strong Wind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9" t="10043" r="9335" b="7715"/>
          <a:stretch>
            <a:fillRect/>
          </a:stretch>
        </p:blipFill>
        <p:spPr bwMode="auto">
          <a:xfrm>
            <a:off x="6548438" y="4030773"/>
            <a:ext cx="438308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9"/>
          <p:cNvGrpSpPr>
            <a:grpSpLocks/>
          </p:cNvGrpSpPr>
          <p:nvPr/>
        </p:nvGrpSpPr>
        <p:grpSpPr bwMode="auto">
          <a:xfrm flipH="1">
            <a:off x="2068513" y="1308821"/>
            <a:ext cx="1657350" cy="822325"/>
            <a:chOff x="6012160" y="2708920"/>
            <a:chExt cx="2944415" cy="822960"/>
          </a:xfrm>
        </p:grpSpPr>
        <p:sp>
          <p:nvSpPr>
            <p:cNvPr id="21" name="Left Arrow 20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TextBox 11"/>
            <p:cNvSpPr txBox="1">
              <a:spLocks noChangeArrowheads="1"/>
            </p:cNvSpPr>
            <p:nvPr/>
          </p:nvSpPr>
          <p:spPr bwMode="auto">
            <a:xfrm>
              <a:off x="7228384" y="2894773"/>
              <a:ext cx="17281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Wind</a:t>
              </a:r>
            </a:p>
          </p:txBody>
        </p:sp>
      </p:grpSp>
      <p:grpSp>
        <p:nvGrpSpPr>
          <p:cNvPr id="23" name="Group 8"/>
          <p:cNvGrpSpPr>
            <a:grpSpLocks/>
          </p:cNvGrpSpPr>
          <p:nvPr/>
        </p:nvGrpSpPr>
        <p:grpSpPr bwMode="auto">
          <a:xfrm flipH="1">
            <a:off x="2014030" y="2746375"/>
            <a:ext cx="2409825" cy="823913"/>
            <a:chOff x="6012160" y="2708920"/>
            <a:chExt cx="2948299" cy="822960"/>
          </a:xfrm>
        </p:grpSpPr>
        <p:sp>
          <p:nvSpPr>
            <p:cNvPr id="24" name="Left Arrow 23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TextBox 7"/>
            <p:cNvSpPr txBox="1">
              <a:spLocks noChangeArrowheads="1"/>
            </p:cNvSpPr>
            <p:nvPr/>
          </p:nvSpPr>
          <p:spPr bwMode="auto">
            <a:xfrm>
              <a:off x="7232267" y="2889567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dirty="0"/>
                <a:t>Wind</a:t>
              </a:r>
            </a:p>
          </p:txBody>
        </p:sp>
      </p:grpSp>
      <p:grpSp>
        <p:nvGrpSpPr>
          <p:cNvPr id="26" name="Group 12"/>
          <p:cNvGrpSpPr>
            <a:grpSpLocks/>
          </p:cNvGrpSpPr>
          <p:nvPr/>
        </p:nvGrpSpPr>
        <p:grpSpPr bwMode="auto">
          <a:xfrm flipH="1">
            <a:off x="2014030" y="4318000"/>
            <a:ext cx="3589337" cy="823913"/>
            <a:chOff x="6012160" y="2708920"/>
            <a:chExt cx="2944415" cy="822960"/>
          </a:xfrm>
        </p:grpSpPr>
        <p:sp>
          <p:nvSpPr>
            <p:cNvPr id="27" name="Left Arrow 26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TextBox 14"/>
            <p:cNvSpPr txBox="1">
              <a:spLocks noChangeArrowheads="1"/>
            </p:cNvSpPr>
            <p:nvPr/>
          </p:nvSpPr>
          <p:spPr bwMode="auto">
            <a:xfrm>
              <a:off x="7228383" y="2895901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/>
                <a:t>Wind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174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2475" y="925334"/>
            <a:ext cx="1036662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release vapours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atmosphere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Rate of emission will depend on ambient temperature, vapour pressure &amp;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concentration of volatile components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Vapours are generally flammable and toxic (health and safety issue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reduce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of oil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oil viscosity.</a:t>
            </a:r>
          </a:p>
        </p:txBody>
      </p:sp>
    </p:spTree>
    <p:extLst>
      <p:ext uri="{BB962C8B-B14F-4D97-AF65-F5344CB8AC3E}">
        <p14:creationId xmlns:p14="http://schemas.microsoft.com/office/powerpoint/2010/main" val="351340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Emulsification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88949" y="993449"/>
            <a:ext cx="9691828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droplets can be incorporated into the oil layer by wave action forming an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emulsion.</a:t>
            </a:r>
          </a:p>
          <a:p>
            <a:pPr marL="89535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stable or unstable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 err="1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Asphaltene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 is a good indication of an oil’s propensity to form stable emulsions (above 0.5%).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major disadvantage for response:</a:t>
            </a:r>
          </a:p>
          <a:p>
            <a:pPr marL="914400" lvl="1" indent="-457200" algn="just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viscosity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</a:t>
            </a:r>
          </a:p>
        </p:txBody>
      </p:sp>
    </p:spTree>
    <p:extLst>
      <p:ext uri="{BB962C8B-B14F-4D97-AF65-F5344CB8AC3E}">
        <p14:creationId xmlns:p14="http://schemas.microsoft.com/office/powerpoint/2010/main" val="187576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Emulsion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818"/>
          <a:stretch>
            <a:fillRect/>
          </a:stretch>
        </p:blipFill>
        <p:spPr bwMode="auto">
          <a:xfrm>
            <a:off x="2024611" y="1013506"/>
            <a:ext cx="468153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6149" y="1013506"/>
            <a:ext cx="3381375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8127" y="933275"/>
            <a:ext cx="10519849" cy="527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droplets will be naturally entrained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 by wave action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breaking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slick into small droplets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 droplets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propensity to remain in suspension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column, facilitating dilution and biodegradation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Larger droplets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resurface to reform an oil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slick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spcBef>
                <a:spcPts val="163"/>
              </a:spcBef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dispersion using dispersants will enhance natural dispersion by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promoting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formation of small droplets.</a:t>
            </a:r>
          </a:p>
        </p:txBody>
      </p:sp>
    </p:spTree>
    <p:extLst>
      <p:ext uri="{BB962C8B-B14F-4D97-AF65-F5344CB8AC3E}">
        <p14:creationId xmlns:p14="http://schemas.microsoft.com/office/powerpoint/2010/main" val="247361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97585" y="0"/>
            <a:ext cx="10776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</a:t>
            </a:r>
            <a:r>
              <a:rPr lang="fr-FR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 descr="untitled12"/>
          <p:cNvPicPr>
            <a:picLocks noChangeAspect="1" noChangeArrowheads="1"/>
          </p:cNvPicPr>
          <p:nvPr/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68500" y="1035107"/>
            <a:ext cx="3422650" cy="5218113"/>
          </a:xfrm>
          <a:prstGeom prst="rect">
            <a:avLst/>
          </a:prstGeom>
          <a:noFill/>
        </p:spPr>
      </p:pic>
      <p:pic>
        <p:nvPicPr>
          <p:cNvPr id="7" name="Picture 4" descr="untitled13"/>
          <p:cNvPicPr>
            <a:picLocks noChangeAspect="1" noChangeArrowheads="1"/>
          </p:cNvPicPr>
          <p:nvPr/>
        </p:nvPicPr>
        <p:blipFill>
          <a:blip r:embed="rId3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035107"/>
            <a:ext cx="4575175" cy="345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943599" y="4686292"/>
            <a:ext cx="49053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32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Braer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Shetland Isles, UK, 1993 </a:t>
            </a:r>
          </a:p>
        </p:txBody>
      </p:sp>
    </p:spTree>
    <p:extLst>
      <p:ext uri="{BB962C8B-B14F-4D97-AF65-F5344CB8AC3E}">
        <p14:creationId xmlns:p14="http://schemas.microsoft.com/office/powerpoint/2010/main" val="408917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 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Weathering </a:t>
            </a:r>
            <a:r>
              <a:rPr lang="en-US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US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Response 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9175" y="897054"/>
            <a:ext cx="6096000" cy="54476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Evaporation</a:t>
            </a: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Efficacy of response strategies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Containment (e.g. spreading)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situ burning (e.g. losing ignitability by emulsification)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Dispersants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Skimmers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Pumps </a:t>
            </a:r>
          </a:p>
        </p:txBody>
      </p:sp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803" y="3704131"/>
            <a:ext cx="4060069" cy="249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774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63875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85715" y="1247897"/>
            <a:ext cx="95505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most cases, oil slicks will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reach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become stranded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process will be affected by shoreline wave exposure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substrate.</a:t>
            </a:r>
          </a:p>
        </p:txBody>
      </p:sp>
    </p:spTree>
    <p:extLst>
      <p:ext uri="{BB962C8B-B14F-4D97-AF65-F5344CB8AC3E}">
        <p14:creationId xmlns:p14="http://schemas.microsoft.com/office/powerpoint/2010/main" val="210828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Man-made </a:t>
            </a:r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fr-FR" altLang="en-US" sz="4000" b="1" dirty="0" err="1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horelines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7426" y="897054"/>
            <a:ext cx="10124289" cy="4883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penetrate deeply into permeable shorelines such as riprap/concrete </a:t>
            </a:r>
            <a:r>
              <a:rPr lang="en-GB" altLang="en-US" sz="2800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tetrapods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which limits the weathering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</a:t>
            </a:r>
          </a:p>
          <a:p>
            <a:pPr marL="914400" lvl="1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adhere to impermeable shorelines (concrete or steel wharves, etc.) with little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penetration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may become trapped under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pilings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altLang="en-US" sz="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 considered sensitive shoreline</a:t>
            </a:r>
          </a:p>
        </p:txBody>
      </p:sp>
    </p:spTree>
    <p:extLst>
      <p:ext uri="{BB962C8B-B14F-4D97-AF65-F5344CB8AC3E}">
        <p14:creationId xmlns:p14="http://schemas.microsoft.com/office/powerpoint/2010/main" val="230180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31597" y="0"/>
            <a:ext cx="10842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3371" y="1377558"/>
            <a:ext cx="9452229" cy="2549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Rocks and boulders </a:t>
            </a:r>
          </a:p>
          <a:p>
            <a:pPr algn="just">
              <a:defRPr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penetrate deeply into permeable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 </a:t>
            </a:r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penetration of oil limits the weathering process</a:t>
            </a:r>
          </a:p>
        </p:txBody>
      </p:sp>
    </p:spTree>
    <p:extLst>
      <p:ext uri="{BB962C8B-B14F-4D97-AF65-F5344CB8AC3E}">
        <p14:creationId xmlns:p14="http://schemas.microsoft.com/office/powerpoint/2010/main" val="266776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86423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59" y="1176561"/>
            <a:ext cx="9409137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Pebbles and cobbles beaches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stick to surface of sediments.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penetrate into interstices between sediment material.</a:t>
            </a:r>
          </a:p>
          <a:p>
            <a:pPr marL="1371600" lvl="2" indent="-457200" algn="just"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GB" altLang="en-US" sz="24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</a:t>
            </a: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low viscosity oils can penetrate deeper into sediments than heavy oils.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can be difficult due to penetration.</a:t>
            </a:r>
          </a:p>
        </p:txBody>
      </p:sp>
    </p:spTree>
    <p:extLst>
      <p:ext uri="{BB962C8B-B14F-4D97-AF65-F5344CB8AC3E}">
        <p14:creationId xmlns:p14="http://schemas.microsoft.com/office/powerpoint/2010/main" val="28842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8127" y="1008934"/>
            <a:ext cx="10538137" cy="5052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Sand beaches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generally remain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with minimal penetration – depending on surface grain size.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buried in layers by erosion and sand movements due to wind, waves or tides.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sand particles &amp;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sink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near shore environment or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intertidal zone.</a:t>
            </a:r>
          </a:p>
          <a:p>
            <a:pPr marL="914400" lvl="1" indent="-457200" algn="just">
              <a:spcBef>
                <a:spcPts val="75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mix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fine mineral particles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intertidal zone forming small aggregates which will eventually be dispersed.</a:t>
            </a:r>
          </a:p>
        </p:txBody>
      </p:sp>
    </p:spTree>
    <p:extLst>
      <p:ext uri="{BB962C8B-B14F-4D97-AF65-F5344CB8AC3E}">
        <p14:creationId xmlns:p14="http://schemas.microsoft.com/office/powerpoint/2010/main" val="392567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27544" y="1142795"/>
            <a:ext cx="9536909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Mud flats and marshes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oil penetration is not observed as these sediments are very compact and often flooded.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Walking or heavy equipment can push oil into the sediments.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penetrate into muddy shorelines via animals’ burrows.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stick to vegetation. </a:t>
            </a:r>
          </a:p>
        </p:txBody>
      </p:sp>
    </p:spTree>
    <p:extLst>
      <p:ext uri="{BB962C8B-B14F-4D97-AF65-F5344CB8AC3E}">
        <p14:creationId xmlns:p14="http://schemas.microsoft.com/office/powerpoint/2010/main" val="158101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29366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 err="1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</a:t>
            </a:r>
            <a:r>
              <a:rPr lang="fr-FR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Interactions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566863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363" y="1566863"/>
            <a:ext cx="4486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070476" y="4795902"/>
            <a:ext cx="842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CA" altLang="en-US" sz="800" dirty="0">
                <a:solidFill>
                  <a:schemeClr val="bg1"/>
                </a:solidFill>
              </a:rPr>
              <a:t>Source: ITOPF</a:t>
            </a:r>
            <a:endParaRPr lang="en-CA" altLang="en-US" sz="800" dirty="0">
              <a:solidFill>
                <a:schemeClr val="bg1"/>
              </a:solidFill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9271001" y="4779963"/>
            <a:ext cx="14176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CA" altLang="en-US" sz="800">
                <a:solidFill>
                  <a:schemeClr val="bg1"/>
                </a:solidFill>
              </a:rPr>
              <a:t>Source: Korea Coast Guard</a:t>
            </a:r>
            <a:endParaRPr lang="en-CA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322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87833" y="-1115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releases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8701" y="925580"/>
            <a:ext cx="1059403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Subsea releases can occur from sunken vessels or from a well blowout.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will rise to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surface forming a surface oil slick that will be exposed to normal oil weathering processes.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can re-surface far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spill source due to horizontal currents, density stratification and vertical turbulence mixing. 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Smaller oil droplets can remain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 column, be dispersed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 of subsea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currents &amp; 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subject to biodegradation.</a:t>
            </a:r>
          </a:p>
        </p:txBody>
      </p:sp>
    </p:spTree>
    <p:extLst>
      <p:ext uri="{BB962C8B-B14F-4D97-AF65-F5344CB8AC3E}">
        <p14:creationId xmlns:p14="http://schemas.microsoft.com/office/powerpoint/2010/main" val="2471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18127" y="0"/>
            <a:ext cx="1075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7855" y="1362295"/>
            <a:ext cx="101632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Weathering processes will change oil properties over time.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US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a direct impact on safety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operations on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effectiveness of spill equipment &amp;</a:t>
            </a:r>
            <a:r>
              <a:rPr lang="en-US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techniques.</a:t>
            </a:r>
          </a:p>
        </p:txBody>
      </p:sp>
    </p:spTree>
    <p:extLst>
      <p:ext uri="{BB962C8B-B14F-4D97-AF65-F5344CB8AC3E}">
        <p14:creationId xmlns:p14="http://schemas.microsoft.com/office/powerpoint/2010/main" val="324051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1205</Words>
  <Application>Microsoft Office PowerPoint</Application>
  <PresentationFormat>Widescreen</PresentationFormat>
  <Paragraphs>173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MS PGothic</vt:lpstr>
      <vt:lpstr>MS PGothic</vt:lpstr>
      <vt:lpstr>游ゴシック</vt:lpstr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124</cp:revision>
  <dcterms:created xsi:type="dcterms:W3CDTF">2024-09-27T05:40:49Z</dcterms:created>
  <dcterms:modified xsi:type="dcterms:W3CDTF">2025-07-31T04:03:11Z</dcterms:modified>
</cp:coreProperties>
</file>
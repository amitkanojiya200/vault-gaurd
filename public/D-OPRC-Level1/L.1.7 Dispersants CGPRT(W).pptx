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96" r:id="rId4"/>
    <p:sldId id="297" r:id="rId5"/>
    <p:sldId id="298" r:id="rId6"/>
    <p:sldId id="299" r:id="rId7"/>
    <p:sldId id="300" r:id="rId8"/>
    <p:sldId id="301" r:id="rId9"/>
    <p:sldId id="302" r:id="rId10"/>
    <p:sldId id="322" r:id="rId11"/>
    <p:sldId id="323" r:id="rId12"/>
    <p:sldId id="324" r:id="rId13"/>
    <p:sldId id="303" r:id="rId14"/>
    <p:sldId id="304" r:id="rId15"/>
    <p:sldId id="325" r:id="rId16"/>
    <p:sldId id="326" r:id="rId17"/>
    <p:sldId id="305" r:id="rId18"/>
    <p:sldId id="306" r:id="rId19"/>
    <p:sldId id="307" r:id="rId20"/>
    <p:sldId id="308" r:id="rId21"/>
    <p:sldId id="309" r:id="rId22"/>
    <p:sldId id="310" r:id="rId23"/>
    <p:sldId id="311" r:id="rId24"/>
    <p:sldId id="312" r:id="rId25"/>
    <p:sldId id="313" r:id="rId26"/>
    <p:sldId id="314" r:id="rId27"/>
    <p:sldId id="327" r:id="rId28"/>
    <p:sldId id="315" r:id="rId29"/>
    <p:sldId id="316" r:id="rId30"/>
    <p:sldId id="328" r:id="rId31"/>
    <p:sldId id="264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15" autoAdjust="0"/>
    <p:restoredTop sz="94660"/>
  </p:normalViewPr>
  <p:slideViewPr>
    <p:cSldViewPr snapToGrid="0">
      <p:cViewPr varScale="1">
        <p:scale>
          <a:sx n="96" d="100"/>
          <a:sy n="96" d="100"/>
        </p:scale>
        <p:origin x="90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28-11-2024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43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28-11-2024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5895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28-11-2024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6282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28-11-2024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750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28-11-2024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7587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28-11-2024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6559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28-11-2024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7471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28-11-2024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691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28-11-2024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6775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28-11-2024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5961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28-11-2024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7002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/>
            </a:gs>
            <a:gs pos="58000">
              <a:schemeClr val="accent2"/>
            </a:gs>
            <a:gs pos="100000">
              <a:schemeClr val="accent2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DD1F7B-0C96-49B7-BB03-29AB0B73B640}" type="datetimeFigureOut">
              <a:rPr lang="en-IN" smtClean="0"/>
              <a:t>28-11-2024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510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4" name="Rectangle 2"/>
          <p:cNvSpPr txBox="1">
            <a:spLocks/>
          </p:cNvSpPr>
          <p:nvPr/>
        </p:nvSpPr>
        <p:spPr>
          <a:xfrm>
            <a:off x="851039" y="2442556"/>
            <a:ext cx="10215418" cy="161636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GB" altLang="en-US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GB" altLang="en-US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Dispersants</a:t>
            </a:r>
          </a:p>
        </p:txBody>
      </p:sp>
    </p:spTree>
    <p:extLst>
      <p:ext uri="{BB962C8B-B14F-4D97-AF65-F5344CB8AC3E}">
        <p14:creationId xmlns:p14="http://schemas.microsoft.com/office/powerpoint/2010/main" val="3674839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2"/>
          <p:cNvSpPr txBox="1">
            <a:spLocks/>
          </p:cNvSpPr>
          <p:nvPr/>
        </p:nvSpPr>
        <p:spPr>
          <a:xfrm>
            <a:off x="457200" y="130175"/>
            <a:ext cx="11420764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Aim</a:t>
            </a:r>
          </a:p>
        </p:txBody>
      </p:sp>
      <p:sp>
        <p:nvSpPr>
          <p:cNvPr id="8" name="Rectangle 3">
            <a:extLst/>
          </p:cNvPr>
          <p:cNvSpPr txBox="1">
            <a:spLocks noChangeArrowheads="1"/>
          </p:cNvSpPr>
          <p:nvPr/>
        </p:nvSpPr>
        <p:spPr>
          <a:xfrm>
            <a:off x="568036" y="1342749"/>
            <a:ext cx="10885055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Aft>
                <a:spcPts val="1800"/>
              </a:spcAft>
              <a:defRPr/>
            </a:pPr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understand the operational use of dispersants*</a:t>
            </a:r>
          </a:p>
          <a:p>
            <a:pPr algn="just">
              <a:spcAft>
                <a:spcPts val="1800"/>
              </a:spcAft>
              <a:defRPr/>
            </a:pPr>
            <a:endParaRPr lang="en-US" altLang="en-US" sz="3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 algn="just">
              <a:spcAft>
                <a:spcPts val="1800"/>
              </a:spcAft>
              <a:buFont typeface="Arial" panose="020B0604020202020204" pitchFamily="34" charset="0"/>
              <a:buNone/>
              <a:defRPr/>
            </a:pPr>
            <a:r>
              <a:rPr lang="en-US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*The information provided in this lesson is, unless otherwise specified, referring to surface application of dispersant.</a:t>
            </a:r>
          </a:p>
          <a:p>
            <a:pPr algn="just">
              <a:spcAft>
                <a:spcPts val="1800"/>
              </a:spcAft>
              <a:defRPr/>
            </a:pPr>
            <a:endParaRPr lang="en-GB" alt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5323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387927" y="20637"/>
            <a:ext cx="11434618" cy="6536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GB" altLang="en-US" sz="4000" b="1" dirty="0">
                <a:ea typeface="Tahoma" panose="020B0604030504040204" pitchFamily="34" charset="0"/>
                <a:cs typeface="Tahoma" panose="020B0604030504040204" pitchFamily="34" charset="0"/>
              </a:rPr>
              <a:t>Dispersants – How </a:t>
            </a:r>
            <a:r>
              <a:rPr lang="en-GB" altLang="en-US" sz="4000" b="1" dirty="0" smtClean="0">
                <a:ea typeface="Tahoma" panose="020B0604030504040204" pitchFamily="34" charset="0"/>
                <a:cs typeface="Tahoma" panose="020B0604030504040204" pitchFamily="34" charset="0"/>
              </a:rPr>
              <a:t>They </a:t>
            </a:r>
            <a:r>
              <a:rPr lang="en-GB" altLang="en-US" sz="4000" b="1" dirty="0">
                <a:ea typeface="Tahoma" panose="020B0604030504040204" pitchFamily="34" charset="0"/>
                <a:cs typeface="Tahoma" panose="020B0604030504040204" pitchFamily="34" charset="0"/>
              </a:rPr>
              <a:t>W</a:t>
            </a:r>
            <a:r>
              <a:rPr lang="en-GB" altLang="en-US" sz="4000" b="1" dirty="0" smtClean="0">
                <a:ea typeface="Tahoma" panose="020B0604030504040204" pitchFamily="34" charset="0"/>
                <a:cs typeface="Tahoma" panose="020B0604030504040204" pitchFamily="34" charset="0"/>
              </a:rPr>
              <a:t>ork </a:t>
            </a:r>
            <a:endParaRPr lang="en-GB" altLang="en-US" sz="4000" b="1" dirty="0"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Rectangle 3">
            <a:extLst/>
          </p:cNvPr>
          <p:cNvSpPr>
            <a:spLocks noChangeArrowheads="1"/>
          </p:cNvSpPr>
          <p:nvPr/>
        </p:nvSpPr>
        <p:spPr bwMode="auto">
          <a:xfrm>
            <a:off x="1243583" y="1612139"/>
            <a:ext cx="10012681" cy="1725422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algn="just" defTabSz="271463">
              <a:spcBef>
                <a:spcPct val="50000"/>
              </a:spcBef>
              <a:buClr>
                <a:schemeClr val="tx1"/>
              </a:buClr>
              <a:defRPr/>
            </a:pPr>
            <a:r>
              <a:rPr 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Dispersants </a:t>
            </a:r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promote the formation of small oil droplets in the water column facilitating dilution and biodegradation.</a:t>
            </a:r>
            <a:endParaRPr lang="en-GB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9649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>
            <a:extLst/>
          </p:cNvPr>
          <p:cNvSpPr>
            <a:spLocks noChangeArrowheads="1"/>
          </p:cNvSpPr>
          <p:nvPr/>
        </p:nvSpPr>
        <p:spPr bwMode="auto">
          <a:xfrm>
            <a:off x="1041398" y="0"/>
            <a:ext cx="9811327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4456" tIns="47228" rIns="94456" bIns="47228">
            <a:spAutoFit/>
          </a:bodyPr>
          <a:lstStyle/>
          <a:p>
            <a:pPr algn="ctr" defTabSz="1089025">
              <a:defRPr/>
            </a:pPr>
            <a:r>
              <a:rPr lang="en-GB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Mechanism of </a:t>
            </a:r>
            <a:r>
              <a:rPr lang="en-GB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Chemical </a:t>
            </a:r>
            <a:r>
              <a:rPr lang="en-GB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  <a:r>
              <a:rPr lang="en-GB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ispersion</a:t>
            </a:r>
            <a:endParaRPr lang="en-GB" sz="4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7694" y="1125538"/>
            <a:ext cx="7678737" cy="460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84718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>
            <a:extLst/>
          </p:cNvPr>
          <p:cNvSpPr>
            <a:spLocks noChangeArrowheads="1"/>
          </p:cNvSpPr>
          <p:nvPr/>
        </p:nvSpPr>
        <p:spPr bwMode="auto">
          <a:xfrm>
            <a:off x="415636" y="12700"/>
            <a:ext cx="11342255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4456" tIns="47228" rIns="94456" bIns="47228">
            <a:spAutoFit/>
          </a:bodyPr>
          <a:lstStyle/>
          <a:p>
            <a:pPr algn="ctr" defTabSz="1089025">
              <a:defRPr/>
            </a:pPr>
            <a:r>
              <a:rPr lang="en-GB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Natural </a:t>
            </a:r>
            <a:r>
              <a:rPr lang="en-GB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Dispersion</a:t>
            </a:r>
            <a:endParaRPr lang="en-GB" sz="4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Picture 2" descr="untitled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1728" y="1052302"/>
            <a:ext cx="6721475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22655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>
            <a:extLst/>
          </p:cNvPr>
          <p:cNvSpPr>
            <a:spLocks noChangeArrowheads="1"/>
          </p:cNvSpPr>
          <p:nvPr/>
        </p:nvSpPr>
        <p:spPr bwMode="auto">
          <a:xfrm>
            <a:off x="498765" y="0"/>
            <a:ext cx="11176000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4456" tIns="47228" rIns="94456" bIns="47228">
            <a:spAutoFit/>
          </a:bodyPr>
          <a:lstStyle/>
          <a:p>
            <a:pPr algn="ctr" defTabSz="1089025">
              <a:defRPr/>
            </a:pPr>
            <a:r>
              <a:rPr lang="en-GB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Dispersants </a:t>
            </a:r>
            <a:r>
              <a:rPr lang="en-GB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Added</a:t>
            </a:r>
            <a:endParaRPr lang="en-GB" sz="4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Picture 3" descr="untitled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5086" y="969594"/>
            <a:ext cx="6697663" cy="5022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2433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4" name="Picture 2" descr="untitled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8943" y="1052303"/>
            <a:ext cx="6719887" cy="5040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>
            <a:extLst/>
          </p:cNvPr>
          <p:cNvSpPr>
            <a:spLocks noChangeArrowheads="1"/>
          </p:cNvSpPr>
          <p:nvPr/>
        </p:nvSpPr>
        <p:spPr bwMode="auto">
          <a:xfrm>
            <a:off x="498765" y="0"/>
            <a:ext cx="11176000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4456" tIns="47228" rIns="94456" bIns="47228">
            <a:spAutoFit/>
          </a:bodyPr>
          <a:lstStyle/>
          <a:p>
            <a:pPr algn="ctr" defTabSz="1089025">
              <a:defRPr/>
            </a:pPr>
            <a:r>
              <a:rPr lang="en-GB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Dispersants </a:t>
            </a:r>
            <a:r>
              <a:rPr lang="en-GB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Added</a:t>
            </a:r>
            <a:endParaRPr lang="en-GB" sz="4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3818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2"/>
          <p:cNvSpPr txBox="1">
            <a:spLocks/>
          </p:cNvSpPr>
          <p:nvPr/>
        </p:nvSpPr>
        <p:spPr>
          <a:xfrm>
            <a:off x="457199" y="1"/>
            <a:ext cx="11254509" cy="69215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Application Techniques</a:t>
            </a:r>
          </a:p>
        </p:txBody>
      </p:sp>
      <p:sp>
        <p:nvSpPr>
          <p:cNvPr id="6" name="Rectangle 3"/>
          <p:cNvSpPr txBox="1">
            <a:spLocks/>
          </p:cNvSpPr>
          <p:nvPr/>
        </p:nvSpPr>
        <p:spPr>
          <a:xfrm>
            <a:off x="1753800" y="1160187"/>
            <a:ext cx="8229600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7188" indent="-357188">
              <a:spcAft>
                <a:spcPts val="2400"/>
              </a:spcAft>
            </a:pPr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Guidance</a:t>
            </a:r>
          </a:p>
          <a:p>
            <a:pPr marL="357188" indent="-357188">
              <a:spcAft>
                <a:spcPts val="2400"/>
              </a:spcAft>
            </a:pPr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Ship spraying</a:t>
            </a:r>
          </a:p>
          <a:p>
            <a:pPr marL="357188" indent="-357188">
              <a:spcAft>
                <a:spcPts val="2400"/>
              </a:spcAft>
            </a:pPr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Airborne spraying</a:t>
            </a:r>
          </a:p>
          <a:p>
            <a:pPr marL="357188" indent="-357188">
              <a:spcAft>
                <a:spcPts val="2400"/>
              </a:spcAft>
            </a:pPr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Subsea application</a:t>
            </a:r>
          </a:p>
        </p:txBody>
      </p:sp>
    </p:spTree>
    <p:extLst>
      <p:ext uri="{BB962C8B-B14F-4D97-AF65-F5344CB8AC3E}">
        <p14:creationId xmlns:p14="http://schemas.microsoft.com/office/powerpoint/2010/main" val="506887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199" y="64654"/>
            <a:ext cx="11291455" cy="7019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Guidance</a:t>
            </a:r>
          </a:p>
        </p:txBody>
      </p:sp>
      <p:sp>
        <p:nvSpPr>
          <p:cNvPr id="6" name="Content Placeholder 2">
            <a:extLst/>
          </p:cNvPr>
          <p:cNvSpPr txBox="1">
            <a:spLocks/>
          </p:cNvSpPr>
          <p:nvPr/>
        </p:nvSpPr>
        <p:spPr>
          <a:xfrm>
            <a:off x="1073080" y="1160187"/>
            <a:ext cx="9533959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CA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Conditions for application</a:t>
            </a:r>
          </a:p>
          <a:p>
            <a:pPr lvl="1" indent="-420688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  <a:defRPr/>
            </a:pPr>
            <a:r>
              <a:rPr lang="en-CA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Sea conditions (wave energy required for mixing) </a:t>
            </a:r>
          </a:p>
          <a:p>
            <a:pPr lvl="1" indent="-420688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  <a:defRPr/>
            </a:pPr>
            <a:r>
              <a:rPr lang="en-CA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Avoid sensitivities (aquaculture, corals, sea grass etc.) </a:t>
            </a:r>
          </a:p>
          <a:p>
            <a:pPr lvl="1" indent="-420688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  <a:defRPr/>
            </a:pPr>
            <a:r>
              <a:rPr lang="en-CA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Water depth (&gt; 10m)</a:t>
            </a:r>
          </a:p>
          <a:p>
            <a:pPr lvl="1" indent="-420688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  <a:defRPr/>
            </a:pPr>
            <a:r>
              <a:rPr lang="en-CA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Salinity</a:t>
            </a:r>
          </a:p>
          <a:p>
            <a:pPr lvl="1" indent="-420688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  <a:defRPr/>
            </a:pPr>
            <a:r>
              <a:rPr lang="en-CA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Oil viscosity </a:t>
            </a:r>
          </a:p>
          <a:p>
            <a:pPr lvl="1" indent="-420688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  <a:defRPr/>
            </a:pPr>
            <a:r>
              <a:rPr lang="en-CA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Approval</a:t>
            </a:r>
          </a:p>
          <a:p>
            <a:pPr lvl="1">
              <a:defRPr/>
            </a:pPr>
            <a:endParaRPr lang="en-CA" altLang="en-US" sz="3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lvl="1" indent="0">
              <a:buFont typeface="Arial" panose="020B0604020202020204" pitchFamily="34" charset="0"/>
              <a:buNone/>
              <a:defRPr/>
            </a:pPr>
            <a:endParaRPr lang="en-CA" alt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6764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199" y="64654"/>
            <a:ext cx="11291455" cy="7019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Guidance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264643" y="1342749"/>
            <a:ext cx="9516133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CA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Spotter aircraft should be used to guide dispersant application.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CA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Fly above vessels or aircraft applying dispersant to guide operations and monitor effectiveness.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CA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Guide vessels or aircraft to targets, and give start and stop cues – this also prevents over application and waste of dispersant.</a:t>
            </a:r>
          </a:p>
        </p:txBody>
      </p:sp>
    </p:spTree>
    <p:extLst>
      <p:ext uri="{BB962C8B-B14F-4D97-AF65-F5344CB8AC3E}">
        <p14:creationId xmlns:p14="http://schemas.microsoft.com/office/powerpoint/2010/main" val="3901513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199" y="64654"/>
            <a:ext cx="11291455" cy="7019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Guidance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111631" y="1423734"/>
            <a:ext cx="9632570" cy="38147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CA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Smoke bombs can be used to test for drift caused by wind prior to spraying.</a:t>
            </a:r>
          </a:p>
          <a:p>
            <a:pPr algn="just"/>
            <a:endParaRPr lang="en-CA" altLang="en-US" sz="3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en-CA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Help pilots adjust application to minimize waste of droplets blown by the wind.</a:t>
            </a:r>
          </a:p>
          <a:p>
            <a:pPr algn="just"/>
            <a:endParaRPr lang="en-CA" altLang="en-US" sz="3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2807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199" y="64654"/>
            <a:ext cx="11291455" cy="7019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Guidance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088135" y="1325880"/>
            <a:ext cx="10140697" cy="426916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CA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Crews on spotter aircraft must be trained and experienced to understand where the dispersant should be applied and know if it is being effective.</a:t>
            </a:r>
          </a:p>
          <a:p>
            <a:pPr algn="just"/>
            <a:endParaRPr lang="en-CA" altLang="en-US" sz="3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en-CA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Good communication with spotter aircraft and aerial guidance procedures should be followed.</a:t>
            </a:r>
          </a:p>
          <a:p>
            <a:pPr algn="just"/>
            <a:endParaRPr lang="en-CA" altLang="en-US" sz="3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9296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200" y="130175"/>
            <a:ext cx="11272982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Ship Spraying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26903" y="1342749"/>
            <a:ext cx="10401930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CA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Spray arms with calibrated nozzles are fitted to bow of vessel.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CA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Dispersant is pumped from storage tank to spray arms.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CA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Speed of the vessel will affect the concentration of dispersant being applied.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CA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Repeated passes may be required for thicker slicks.</a:t>
            </a:r>
          </a:p>
        </p:txBody>
      </p:sp>
    </p:spTree>
    <p:extLst>
      <p:ext uri="{BB962C8B-B14F-4D97-AF65-F5344CB8AC3E}">
        <p14:creationId xmlns:p14="http://schemas.microsoft.com/office/powerpoint/2010/main" val="3416679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200" y="130175"/>
            <a:ext cx="11272982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Ship Spraying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009533" y="1342749"/>
            <a:ext cx="9899259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CA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Vessels are usually readily available, easy to load and cost effective.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CA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May be difficult to view slick from the bridge due to limited height.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CA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Spotter aircraft should be used to guide the vessel to the target.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CA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Apply to thickest part of slick (not to sheen).</a:t>
            </a:r>
          </a:p>
        </p:txBody>
      </p:sp>
    </p:spTree>
    <p:extLst>
      <p:ext uri="{BB962C8B-B14F-4D97-AF65-F5344CB8AC3E}">
        <p14:creationId xmlns:p14="http://schemas.microsoft.com/office/powerpoint/2010/main" val="2607206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200" y="130175"/>
            <a:ext cx="11272982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Ship Spraying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0163" y="1408620"/>
            <a:ext cx="5457233" cy="3529140"/>
          </a:xfrm>
          <a:prstGeom prst="rect">
            <a:avLst/>
          </a:prstGeom>
        </p:spPr>
      </p:pic>
      <p:pic>
        <p:nvPicPr>
          <p:cNvPr id="10" name="Picture 10" descr="msotw9_temp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1408620"/>
            <a:ext cx="5360718" cy="352914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72252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3"/>
          <p:cNvSpPr txBox="1">
            <a:spLocks/>
          </p:cNvSpPr>
          <p:nvPr/>
        </p:nvSpPr>
        <p:spPr>
          <a:xfrm>
            <a:off x="457199" y="130175"/>
            <a:ext cx="11143673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Aerial Spraying</a:t>
            </a:r>
          </a:p>
        </p:txBody>
      </p:sp>
      <p:sp>
        <p:nvSpPr>
          <p:cNvPr id="7" name="Text Box 4">
            <a:extLst/>
          </p:cNvPr>
          <p:cNvSpPr txBox="1">
            <a:spLocks noChangeArrowheads="1"/>
          </p:cNvSpPr>
          <p:nvPr/>
        </p:nvSpPr>
        <p:spPr bwMode="auto">
          <a:xfrm>
            <a:off x="862851" y="1291828"/>
            <a:ext cx="10332368" cy="481670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indent="-457200" algn="just">
              <a:spcBef>
                <a:spcPts val="600"/>
              </a:spcBef>
              <a:spcAft>
                <a:spcPts val="600"/>
              </a:spcAft>
              <a:buSzPct val="70000"/>
              <a:buFont typeface="Arial" panose="020B0604020202020204" pitchFamily="34" charset="0"/>
              <a:buChar char="•"/>
              <a:defRPr/>
            </a:pPr>
            <a:r>
              <a:rPr lang="en-GB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Helicopters and airplanes can usually be on site much faster than boats.</a:t>
            </a:r>
          </a:p>
          <a:p>
            <a:pPr marL="457200" indent="-457200" algn="just">
              <a:spcBef>
                <a:spcPts val="600"/>
              </a:spcBef>
              <a:spcAft>
                <a:spcPts val="600"/>
              </a:spcAft>
              <a:buSzPct val="70000"/>
              <a:buFont typeface="Arial" panose="020B0604020202020204" pitchFamily="34" charset="0"/>
              <a:buChar char="•"/>
              <a:defRPr/>
            </a:pPr>
            <a:r>
              <a:rPr lang="en-GB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Large aircraft need fewer reloading trips for big spills but are less manoeuvrable.</a:t>
            </a:r>
          </a:p>
          <a:p>
            <a:pPr marL="457200" indent="-457200" algn="just">
              <a:spcBef>
                <a:spcPts val="600"/>
              </a:spcBef>
              <a:spcAft>
                <a:spcPts val="600"/>
              </a:spcAft>
              <a:buSzPct val="70000"/>
              <a:buFont typeface="Arial" panose="020B0604020202020204" pitchFamily="34" charset="0"/>
              <a:buChar char="•"/>
              <a:defRPr/>
            </a:pPr>
            <a:r>
              <a:rPr lang="en-GB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Flight and dispersant crews must be well trained and exercised.</a:t>
            </a:r>
          </a:p>
          <a:p>
            <a:pPr marL="457200" indent="-457200" algn="just">
              <a:spcBef>
                <a:spcPts val="600"/>
              </a:spcBef>
              <a:spcAft>
                <a:spcPts val="600"/>
              </a:spcAft>
              <a:buSzPct val="70000"/>
              <a:buFont typeface="Arial" panose="020B0604020202020204" pitchFamily="34" charset="0"/>
              <a:buChar char="•"/>
              <a:defRPr/>
            </a:pPr>
            <a:r>
              <a:rPr lang="en-GB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Applied from a low altitude.</a:t>
            </a:r>
          </a:p>
          <a:p>
            <a:pPr marL="457200" indent="-457200" algn="just">
              <a:lnSpc>
                <a:spcPct val="90000"/>
              </a:lnSpc>
              <a:spcBef>
                <a:spcPct val="60000"/>
              </a:spcBef>
              <a:buSzPct val="70000"/>
              <a:buFont typeface="Arial" panose="020B0604020202020204" pitchFamily="34" charset="0"/>
              <a:buChar char="•"/>
              <a:defRPr/>
            </a:pPr>
            <a:endParaRPr lang="en-GB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3506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ext Box 4">
            <a:extLst/>
          </p:cNvPr>
          <p:cNvSpPr txBox="1">
            <a:spLocks noChangeArrowheads="1"/>
          </p:cNvSpPr>
          <p:nvPr/>
        </p:nvSpPr>
        <p:spPr bwMode="auto">
          <a:xfrm>
            <a:off x="991968" y="1449215"/>
            <a:ext cx="10208063" cy="289925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90000"/>
              </a:lnSpc>
              <a:spcBef>
                <a:spcPct val="60000"/>
              </a:spcBef>
              <a:buSzPct val="70000"/>
              <a:buFont typeface="Arial"/>
              <a:buChar char="•"/>
              <a:defRPr/>
            </a:pPr>
            <a:r>
              <a:rPr lang="en-GB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Aircraft have better overview and visibility of spill than vessels.</a:t>
            </a:r>
          </a:p>
          <a:p>
            <a:pPr marL="457200" indent="-457200" algn="just">
              <a:lnSpc>
                <a:spcPct val="90000"/>
              </a:lnSpc>
              <a:spcBef>
                <a:spcPct val="60000"/>
              </a:spcBef>
              <a:buSzPct val="70000"/>
              <a:buFont typeface="Arial"/>
              <a:buChar char="•"/>
              <a:defRPr/>
            </a:pPr>
            <a:r>
              <a:rPr lang="en-GB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High-flying spotter planes are needed to guide the operation and monitor effectiveness.</a:t>
            </a:r>
          </a:p>
          <a:p>
            <a:pPr marL="457200" indent="-457200" algn="just">
              <a:lnSpc>
                <a:spcPct val="90000"/>
              </a:lnSpc>
              <a:spcBef>
                <a:spcPct val="60000"/>
              </a:spcBef>
              <a:buSzPct val="70000"/>
              <a:buFont typeface="Arial"/>
              <a:buChar char="•"/>
              <a:defRPr/>
            </a:pPr>
            <a:endParaRPr lang="en-GB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Rectangle 3"/>
          <p:cNvSpPr txBox="1">
            <a:spLocks/>
          </p:cNvSpPr>
          <p:nvPr/>
        </p:nvSpPr>
        <p:spPr>
          <a:xfrm>
            <a:off x="457199" y="130175"/>
            <a:ext cx="11143673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Aerial Spraying</a:t>
            </a:r>
          </a:p>
        </p:txBody>
      </p:sp>
    </p:spTree>
    <p:extLst>
      <p:ext uri="{BB962C8B-B14F-4D97-AF65-F5344CB8AC3E}">
        <p14:creationId xmlns:p14="http://schemas.microsoft.com/office/powerpoint/2010/main" val="541695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2"/>
          <p:cNvSpPr txBox="1">
            <a:spLocks/>
          </p:cNvSpPr>
          <p:nvPr/>
        </p:nvSpPr>
        <p:spPr>
          <a:xfrm>
            <a:off x="457200" y="130175"/>
            <a:ext cx="113284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Airborne Spray </a:t>
            </a:r>
            <a:r>
              <a:rPr lang="en-GB" alt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ystems: Fixed Wing</a:t>
            </a:r>
          </a:p>
        </p:txBody>
      </p:sp>
      <p:pic>
        <p:nvPicPr>
          <p:cNvPr id="8" name="Picture 6" descr="D:\My Documents\FOR BRIEF\PHOTO\DORNIE~5.TIF"/>
          <p:cNvPicPr>
            <a:picLocks noChangeAspect="1" noChangeArrowheads="1"/>
          </p:cNvPicPr>
          <p:nvPr/>
        </p:nvPicPr>
        <p:blipFill>
          <a:blip r:embed="rId2" cstate="print"/>
          <a:srcRect r="9245"/>
          <a:stretch>
            <a:fillRect/>
          </a:stretch>
        </p:blipFill>
        <p:spPr bwMode="auto">
          <a:xfrm>
            <a:off x="457200" y="1628058"/>
            <a:ext cx="5644203" cy="371039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301" y="1628058"/>
            <a:ext cx="5565598" cy="3710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550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2">
            <a:extLst/>
          </p:cNvPr>
          <p:cNvSpPr txBox="1">
            <a:spLocks noChangeArrowheads="1"/>
          </p:cNvSpPr>
          <p:nvPr/>
        </p:nvSpPr>
        <p:spPr>
          <a:xfrm>
            <a:off x="457199" y="130175"/>
            <a:ext cx="11263745" cy="561975"/>
          </a:xfrm>
          <a:prstGeom prst="rect">
            <a:avLst/>
          </a:prstGeom>
        </p:spPr>
        <p:txBody>
          <a:bodyPr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GB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Airborne Spray </a:t>
            </a:r>
            <a:r>
              <a:rPr lang="en-GB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lang="en-GB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ystem: Helicopter</a:t>
            </a:r>
            <a:endParaRPr lang="en-GB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4404" y="981107"/>
            <a:ext cx="7712096" cy="5141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157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/>
          <p:cNvSpPr txBox="1">
            <a:spLocks/>
          </p:cNvSpPr>
          <p:nvPr/>
        </p:nvSpPr>
        <p:spPr>
          <a:xfrm>
            <a:off x="457199" y="64009"/>
            <a:ext cx="11263745" cy="62814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atin typeface="Arial" panose="020B0604020202020204" pitchFamily="34" charset="0"/>
              </a:rPr>
              <a:t>Application</a:t>
            </a: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8" r="22353"/>
          <a:stretch>
            <a:fillRect/>
          </a:stretch>
        </p:blipFill>
        <p:spPr bwMode="auto">
          <a:xfrm>
            <a:off x="2692400" y="1104690"/>
            <a:ext cx="6807200" cy="4935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97200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2">
            <a:extLst/>
          </p:cNvPr>
          <p:cNvSpPr txBox="1">
            <a:spLocks noChangeArrowheads="1"/>
          </p:cNvSpPr>
          <p:nvPr/>
        </p:nvSpPr>
        <p:spPr>
          <a:xfrm>
            <a:off x="457199" y="130175"/>
            <a:ext cx="11245273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Subsea Dispersant</a:t>
            </a:r>
            <a:endParaRPr lang="en-GB" altLang="en-US" sz="4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Rectangle 4">
            <a:extLst/>
          </p:cNvPr>
          <p:cNvSpPr>
            <a:spLocks noChangeArrowheads="1"/>
          </p:cNvSpPr>
          <p:nvPr/>
        </p:nvSpPr>
        <p:spPr bwMode="auto">
          <a:xfrm>
            <a:off x="852165" y="1202579"/>
            <a:ext cx="10321803" cy="4739759"/>
          </a:xfrm>
          <a:prstGeom prst="rect">
            <a:avLst/>
          </a:prstGeom>
          <a:noFill/>
          <a:ln>
            <a:noFill/>
          </a:ln>
          <a:extLst/>
        </p:spPr>
        <p:txBody>
          <a:bodyPr wrap="square">
            <a:spAutoFit/>
          </a:bodyPr>
          <a:lstStyle/>
          <a:p>
            <a:pPr marL="457200" indent="-4572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Application of dispersants directly at the well head.</a:t>
            </a:r>
          </a:p>
          <a:p>
            <a:pPr marL="457200" indent="-4572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May inhibit hydrocarbon </a:t>
            </a:r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vapours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at the surface allowing responders and vessels to operate in a safer environment.</a:t>
            </a:r>
            <a:endParaRPr lang="en-GB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Used as a technique in Macondo response.</a:t>
            </a:r>
          </a:p>
          <a:p>
            <a:pPr marL="457200" indent="-4572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May require authorization prior to use.</a:t>
            </a:r>
          </a:p>
          <a:p>
            <a:pPr marL="457200" indent="-4572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Lack of environmental data to determine the ultimate fate of the dispersed oil at depth.</a:t>
            </a:r>
          </a:p>
          <a:p>
            <a:pPr marL="457200" indent="-4572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Impacts on the different layers in the water column unknown.</a:t>
            </a:r>
            <a:endParaRPr lang="en-GB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4974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199" y="73891"/>
            <a:ext cx="11309927" cy="6182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Dispersant Logistics</a:t>
            </a:r>
          </a:p>
        </p:txBody>
      </p:sp>
      <p:sp>
        <p:nvSpPr>
          <p:cNvPr id="6" name="Content Placeholder 2">
            <a:extLst/>
          </p:cNvPr>
          <p:cNvSpPr txBox="1">
            <a:spLocks/>
          </p:cNvSpPr>
          <p:nvPr/>
        </p:nvSpPr>
        <p:spPr>
          <a:xfrm>
            <a:off x="651162" y="1160187"/>
            <a:ext cx="11115963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defRPr/>
            </a:pPr>
            <a:r>
              <a:rPr lang="en-GB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Dispersant may be stored in barrels, IBCs or ISO tank containers or in bulk.</a:t>
            </a:r>
          </a:p>
          <a:p>
            <a:pPr>
              <a:spcBef>
                <a:spcPts val="600"/>
              </a:spcBef>
              <a:defRPr/>
            </a:pPr>
            <a:r>
              <a:rPr lang="en-GB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Regardless of storage method the dispersant needs to be:</a:t>
            </a:r>
          </a:p>
          <a:p>
            <a:pPr lvl="1" indent="-420688">
              <a:spcBef>
                <a:spcPts val="600"/>
              </a:spcBef>
              <a:buFont typeface="Wingdings" panose="05000000000000000000" pitchFamily="2" charset="2"/>
              <a:buChar char="ü"/>
              <a:defRPr/>
            </a:pPr>
            <a:r>
              <a:rPr lang="en-GB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transported to site (airfield, dock, etc.)</a:t>
            </a:r>
          </a:p>
          <a:p>
            <a:pPr lvl="1" indent="-420688">
              <a:spcBef>
                <a:spcPts val="600"/>
              </a:spcBef>
              <a:buFont typeface="Wingdings" panose="05000000000000000000" pitchFamily="2" charset="2"/>
              <a:buChar char="ü"/>
              <a:defRPr/>
            </a:pPr>
            <a:r>
              <a:rPr lang="en-GB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offloading and storage</a:t>
            </a:r>
          </a:p>
          <a:p>
            <a:pPr lvl="1" indent="-420688">
              <a:spcBef>
                <a:spcPts val="600"/>
              </a:spcBef>
              <a:buFont typeface="Wingdings" panose="05000000000000000000" pitchFamily="2" charset="2"/>
              <a:buChar char="ü"/>
              <a:defRPr/>
            </a:pPr>
            <a:r>
              <a:rPr lang="en-GB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securely and safely stored</a:t>
            </a:r>
          </a:p>
          <a:p>
            <a:pPr lvl="1" indent="-420688">
              <a:spcBef>
                <a:spcPts val="600"/>
              </a:spcBef>
              <a:buFont typeface="Wingdings" panose="05000000000000000000" pitchFamily="2" charset="2"/>
              <a:buChar char="ü"/>
              <a:defRPr/>
            </a:pPr>
            <a:r>
              <a:rPr lang="en-GB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handled safely and appropriately  (SDS)</a:t>
            </a:r>
          </a:p>
          <a:p>
            <a:pPr lvl="1" indent="-420688">
              <a:spcBef>
                <a:spcPts val="600"/>
              </a:spcBef>
              <a:buFont typeface="Wingdings" panose="05000000000000000000" pitchFamily="2" charset="2"/>
              <a:buChar char="ü"/>
              <a:defRPr/>
            </a:pPr>
            <a:r>
              <a:rPr lang="en-GB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transferred to the delivery vessel or aircraft</a:t>
            </a:r>
          </a:p>
          <a:p>
            <a:pPr lvl="1" indent="-420688">
              <a:spcBef>
                <a:spcPts val="600"/>
              </a:spcBef>
              <a:buFont typeface="Wingdings" panose="05000000000000000000" pitchFamily="2" charset="2"/>
              <a:buChar char="ü"/>
              <a:defRPr/>
            </a:pPr>
            <a:r>
              <a:rPr lang="en-GB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dispersant use records maintained.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GB" sz="3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defRPr/>
            </a:pPr>
            <a:endParaRPr lang="en-GB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3298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199" y="73891"/>
            <a:ext cx="11309927" cy="6182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Dispersant Logistics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560947" y="1160187"/>
            <a:ext cx="9725890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Consider usage requirements</a:t>
            </a:r>
          </a:p>
          <a:p>
            <a:pPr lvl="1" indent="-420688">
              <a:buFont typeface="Wingdings" panose="05000000000000000000" pitchFamily="2" charset="2"/>
              <a:buChar char="ü"/>
            </a:pPr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delivery system and duration of dispersant operations</a:t>
            </a:r>
          </a:p>
          <a:p>
            <a:pPr lvl="1" indent="-420688">
              <a:buFont typeface="Wingdings" panose="05000000000000000000" pitchFamily="2" charset="2"/>
              <a:buChar char="ü"/>
            </a:pPr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logistics and re-supply route</a:t>
            </a:r>
          </a:p>
        </p:txBody>
      </p:sp>
      <p:pic>
        <p:nvPicPr>
          <p:cNvPr id="7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1169" y="3370667"/>
            <a:ext cx="8729662" cy="273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95804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199" y="73891"/>
            <a:ext cx="11309927" cy="6182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Dispersant Logistics</a:t>
            </a:r>
          </a:p>
        </p:txBody>
      </p:sp>
      <p:sp>
        <p:nvSpPr>
          <p:cNvPr id="6" name="Content Placeholder 2">
            <a:extLst/>
          </p:cNvPr>
          <p:cNvSpPr txBox="1">
            <a:spLocks/>
          </p:cNvSpPr>
          <p:nvPr/>
        </p:nvSpPr>
        <p:spPr>
          <a:xfrm>
            <a:off x="774953" y="963402"/>
            <a:ext cx="10642093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600"/>
              </a:spcBef>
              <a:defRPr/>
            </a:pPr>
            <a:r>
              <a:rPr lang="en-GB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Consider usage requirements:</a:t>
            </a:r>
          </a:p>
          <a:p>
            <a:pPr lvl="1" indent="-420688" algn="just">
              <a:spcBef>
                <a:spcPts val="600"/>
              </a:spcBef>
              <a:buFont typeface="Wingdings" panose="05000000000000000000" pitchFamily="2" charset="2"/>
              <a:buChar char="ü"/>
              <a:defRPr/>
            </a:pPr>
            <a:r>
              <a:rPr lang="en-GB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adequacy of temporary storage areas;</a:t>
            </a:r>
          </a:p>
          <a:p>
            <a:pPr lvl="1" indent="-420688" algn="just">
              <a:spcBef>
                <a:spcPts val="600"/>
              </a:spcBef>
              <a:buFont typeface="Wingdings" panose="05000000000000000000" pitchFamily="2" charset="2"/>
              <a:buChar char="ü"/>
              <a:defRPr/>
            </a:pPr>
            <a:r>
              <a:rPr lang="en-GB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any requirements for mixing, diluting or dosage rates;</a:t>
            </a:r>
          </a:p>
          <a:p>
            <a:pPr lvl="1" indent="-420688" algn="just">
              <a:spcBef>
                <a:spcPts val="600"/>
              </a:spcBef>
              <a:buFont typeface="Wingdings" panose="05000000000000000000" pitchFamily="2" charset="2"/>
              <a:buChar char="ü"/>
              <a:defRPr/>
            </a:pPr>
            <a:r>
              <a:rPr lang="en-GB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numbers of personnel involved;</a:t>
            </a:r>
          </a:p>
          <a:p>
            <a:pPr lvl="1" indent="-420688" algn="just">
              <a:spcBef>
                <a:spcPts val="600"/>
              </a:spcBef>
              <a:buFont typeface="Wingdings" panose="05000000000000000000" pitchFamily="2" charset="2"/>
              <a:buChar char="ü"/>
              <a:defRPr/>
            </a:pPr>
            <a:r>
              <a:rPr lang="en-GB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suitable PPE for personnel involved in mixing, transferring or delivering product;</a:t>
            </a:r>
          </a:p>
          <a:p>
            <a:pPr lvl="1" indent="-420688" algn="just">
              <a:spcBef>
                <a:spcPts val="600"/>
              </a:spcBef>
              <a:buFont typeface="Wingdings" panose="05000000000000000000" pitchFamily="2" charset="2"/>
              <a:buChar char="ü"/>
              <a:defRPr/>
            </a:pPr>
            <a:r>
              <a:rPr lang="en-GB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empty containers may need to be cleaned prior to removal;</a:t>
            </a:r>
          </a:p>
          <a:p>
            <a:pPr lvl="1" indent="-420688" algn="just">
              <a:spcBef>
                <a:spcPts val="600"/>
              </a:spcBef>
              <a:buFont typeface="Wingdings" panose="05000000000000000000" pitchFamily="2" charset="2"/>
              <a:buChar char="ü"/>
              <a:defRPr/>
            </a:pPr>
            <a:r>
              <a:rPr lang="en-GB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 containers removed and area restored on completion.</a:t>
            </a:r>
          </a:p>
          <a:p>
            <a:pPr lvl="1" algn="just">
              <a:defRPr/>
            </a:pPr>
            <a:endParaRPr lang="en-GB" sz="3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lvl="1" indent="0" algn="just">
              <a:buFont typeface="Arial" panose="020B0604020202020204" pitchFamily="34" charset="0"/>
              <a:buNone/>
              <a:defRPr/>
            </a:pPr>
            <a:endParaRPr lang="en-GB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7255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2"/>
          <p:cNvSpPr txBox="1">
            <a:spLocks/>
          </p:cNvSpPr>
          <p:nvPr/>
        </p:nvSpPr>
        <p:spPr>
          <a:xfrm>
            <a:off x="434975" y="83127"/>
            <a:ext cx="11304443" cy="85898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Dispersant Application: Summary</a:t>
            </a:r>
          </a:p>
        </p:txBody>
      </p:sp>
      <p:sp>
        <p:nvSpPr>
          <p:cNvPr id="6" name="Rectangle 3"/>
          <p:cNvSpPr txBox="1">
            <a:spLocks/>
          </p:cNvSpPr>
          <p:nvPr/>
        </p:nvSpPr>
        <p:spPr>
          <a:xfrm>
            <a:off x="846455" y="1335678"/>
            <a:ext cx="10638409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Break up oil into small droplets facilitating dilution and natural degradation.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Should only be used in salt water with high degree of mixing energy.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Spraying should be concentrated on thickest layer.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Modern dispersants are less toxic and more effective than earlier generation types.</a:t>
            </a:r>
          </a:p>
        </p:txBody>
      </p:sp>
    </p:spTree>
    <p:extLst>
      <p:ext uri="{BB962C8B-B14F-4D97-AF65-F5344CB8AC3E}">
        <p14:creationId xmlns:p14="http://schemas.microsoft.com/office/powerpoint/2010/main" val="1356805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457199" y="130175"/>
            <a:ext cx="11309927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Dispersants  </a:t>
            </a:r>
            <a:endParaRPr lang="en-GB" altLang="en-US" sz="4000" b="1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64463" y="963402"/>
            <a:ext cx="10728961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Issues with dispersants use</a:t>
            </a:r>
          </a:p>
          <a:p>
            <a:pPr lvl="1" indent="-420688" algn="just"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Oil viscosity and time </a:t>
            </a:r>
          </a:p>
          <a:p>
            <a:pPr lvl="2" indent="-430213" algn="just">
              <a:buFont typeface="Wingdings" panose="05000000000000000000" pitchFamily="2" charset="2"/>
              <a:buChar char="§"/>
            </a:pPr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Weathering processes will increase oil viscosity over time</a:t>
            </a:r>
          </a:p>
          <a:p>
            <a:pPr lvl="2" indent="-430213" algn="just">
              <a:buFont typeface="Wingdings" panose="05000000000000000000" pitchFamily="2" charset="2"/>
              <a:buChar char="§"/>
            </a:pPr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Dispersants must be applied before viscosity is too high</a:t>
            </a:r>
          </a:p>
          <a:p>
            <a:pPr lvl="2" indent="-430213" algn="just">
              <a:buFont typeface="Wingdings" panose="05000000000000000000" pitchFamily="2" charset="2"/>
              <a:buChar char="§"/>
            </a:pPr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“Window of opportunity” </a:t>
            </a:r>
          </a:p>
          <a:p>
            <a:pPr lvl="1" indent="-420688" algn="just"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Sea state and weat</a:t>
            </a:r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her</a:t>
            </a:r>
          </a:p>
          <a:p>
            <a:pPr lvl="2" indent="-430213" algn="just">
              <a:buFont typeface="Wingdings" panose="05000000000000000000" pitchFamily="2" charset="2"/>
              <a:buChar char="§"/>
            </a:pPr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Mixing energy from breaking waves is beneficial</a:t>
            </a:r>
          </a:p>
          <a:p>
            <a:pPr lvl="2" indent="-430213" algn="just">
              <a:buFont typeface="Wingdings" panose="05000000000000000000" pitchFamily="2" charset="2"/>
              <a:buChar char="§"/>
            </a:pPr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Weather conditions must permit application of dispersants</a:t>
            </a:r>
          </a:p>
        </p:txBody>
      </p:sp>
    </p:spTree>
    <p:extLst>
      <p:ext uri="{BB962C8B-B14F-4D97-AF65-F5344CB8AC3E}">
        <p14:creationId xmlns:p14="http://schemas.microsoft.com/office/powerpoint/2010/main" val="3033925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457199" y="130175"/>
            <a:ext cx="11309927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Dispersants  </a:t>
            </a:r>
          </a:p>
        </p:txBody>
      </p:sp>
      <p:sp>
        <p:nvSpPr>
          <p:cNvPr id="8" name="Espace réservé du contenu 2">
            <a:extLst/>
          </p:cNvPr>
          <p:cNvSpPr txBox="1">
            <a:spLocks/>
          </p:cNvSpPr>
          <p:nvPr/>
        </p:nvSpPr>
        <p:spPr>
          <a:xfrm>
            <a:off x="675639" y="1085719"/>
            <a:ext cx="11023601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600"/>
              </a:spcBef>
              <a:spcAft>
                <a:spcPts val="600"/>
              </a:spcAft>
              <a:buFont typeface="Arial" charset="0"/>
              <a:buChar char="•"/>
              <a:defRPr/>
            </a:pPr>
            <a:r>
              <a:rPr lang="en-GB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Conflict with other response methods</a:t>
            </a:r>
          </a:p>
          <a:p>
            <a:pPr lvl="1" indent="-420688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  <a:defRPr/>
            </a:pPr>
            <a:r>
              <a:rPr lang="en-GB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Coordination of all response methods is necessary to ensure dispersant use does not conflict with other techniques.</a:t>
            </a:r>
          </a:p>
          <a:p>
            <a:pPr lvl="1" indent="-420688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  <a:defRPr/>
            </a:pPr>
            <a:r>
              <a:rPr lang="en-GB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Oil dispersed into the water column cannot be contained by booms or recovered by skimmers.</a:t>
            </a:r>
          </a:p>
          <a:p>
            <a:pPr lvl="1" indent="-420688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  <a:defRPr/>
            </a:pPr>
            <a:r>
              <a:rPr lang="en-GB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effectiveness of </a:t>
            </a:r>
            <a:r>
              <a:rPr lang="en-GB" sz="32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Oleophillic</a:t>
            </a:r>
            <a:r>
              <a:rPr lang="en-GB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skimmers and sorbent materials can be significantly reduced by the use of dispersants.</a:t>
            </a:r>
          </a:p>
          <a:p>
            <a:pPr marL="914400" lvl="2" indent="0" algn="just">
              <a:buFont typeface="Arial" charset="0"/>
              <a:buNone/>
              <a:defRPr/>
            </a:pPr>
            <a:r>
              <a:rPr lang="en-GB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endParaRPr lang="en-GB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9851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457199" y="130175"/>
            <a:ext cx="11356109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Dispersants - Monitoring  </a:t>
            </a:r>
            <a:endParaRPr lang="en-GB" altLang="en-US" sz="4000" b="1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568035" y="1160187"/>
            <a:ext cx="10654145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Effectiveness of chemical dispersion should be monitored continually.</a:t>
            </a:r>
          </a:p>
          <a:p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Visual observation of effectiveness may be impaired by:</a:t>
            </a:r>
          </a:p>
          <a:p>
            <a:pPr lvl="1" indent="-420688"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Poor weather, high sediment waters, pale-coloured oils, poor light.</a:t>
            </a:r>
          </a:p>
          <a:p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Effectiveness can be monitored by towing an ultra-violet </a:t>
            </a:r>
            <a:r>
              <a:rPr lang="en-GB" altLang="en-US" sz="32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fluorometer</a:t>
            </a:r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below the oil to  measure the variation in oil concentrations.</a:t>
            </a:r>
          </a:p>
          <a:p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Should be used with visual observation. </a:t>
            </a:r>
          </a:p>
        </p:txBody>
      </p:sp>
    </p:spTree>
    <p:extLst>
      <p:ext uri="{BB962C8B-B14F-4D97-AF65-F5344CB8AC3E}">
        <p14:creationId xmlns:p14="http://schemas.microsoft.com/office/powerpoint/2010/main" val="1706707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199" y="130175"/>
            <a:ext cx="11254509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Key Considerations</a:t>
            </a:r>
          </a:p>
        </p:txBody>
      </p:sp>
      <p:sp>
        <p:nvSpPr>
          <p:cNvPr id="6" name="Content Placeholder 2">
            <a:extLst/>
          </p:cNvPr>
          <p:cNvSpPr txBox="1">
            <a:spLocks/>
          </p:cNvSpPr>
          <p:nvPr/>
        </p:nvSpPr>
        <p:spPr>
          <a:xfrm>
            <a:off x="839308" y="1233339"/>
            <a:ext cx="10513384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7188" indent="-320675" algn="just">
              <a:spcBef>
                <a:spcPts val="600"/>
              </a:spcBef>
              <a:spcAft>
                <a:spcPts val="600"/>
              </a:spcAft>
              <a:defRPr/>
            </a:pPr>
            <a:r>
              <a:rPr lang="en-CA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Vessels working near slick require proper air monitoring for crew safety.</a:t>
            </a:r>
          </a:p>
          <a:p>
            <a:pPr marL="357188" indent="-320675" algn="just">
              <a:spcBef>
                <a:spcPts val="600"/>
              </a:spcBef>
              <a:spcAft>
                <a:spcPts val="600"/>
              </a:spcAft>
              <a:defRPr/>
            </a:pPr>
            <a:r>
              <a:rPr lang="en-CA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Fire/explosion hazards due to vapours.</a:t>
            </a:r>
          </a:p>
          <a:p>
            <a:pPr marL="357188" indent="-320675" algn="just">
              <a:spcBef>
                <a:spcPts val="600"/>
              </a:spcBef>
              <a:spcAft>
                <a:spcPts val="600"/>
              </a:spcAft>
              <a:defRPr/>
            </a:pPr>
            <a:r>
              <a:rPr lang="en-CA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Proper PPE must be worn.</a:t>
            </a:r>
          </a:p>
          <a:p>
            <a:pPr marL="357188" indent="-320675" algn="just">
              <a:spcBef>
                <a:spcPts val="600"/>
              </a:spcBef>
              <a:spcAft>
                <a:spcPts val="600"/>
              </a:spcAft>
              <a:defRPr/>
            </a:pPr>
            <a:r>
              <a:rPr lang="en-CA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Relief crews may be needed to prevent over-tiring in challenging circumstances particularly flight crews.</a:t>
            </a:r>
          </a:p>
          <a:p>
            <a:pPr marL="357188" indent="-320675" algn="just">
              <a:spcBef>
                <a:spcPts val="600"/>
              </a:spcBef>
              <a:spcAft>
                <a:spcPts val="600"/>
              </a:spcAft>
              <a:defRPr/>
            </a:pPr>
            <a:r>
              <a:rPr lang="en-CA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Vessel decks should be cleaned as product on deck creates a slippery surface for crew.</a:t>
            </a:r>
          </a:p>
          <a:p>
            <a:pPr algn="just">
              <a:defRPr/>
            </a:pPr>
            <a:endParaRPr lang="en-CA" sz="3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 algn="just">
              <a:buFont typeface="Arial" panose="020B0604020202020204" pitchFamily="34" charset="0"/>
              <a:buNone/>
              <a:defRPr/>
            </a:pPr>
            <a:endParaRPr lang="en-CA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6021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199" y="73153"/>
            <a:ext cx="11254509" cy="6189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Key Considerations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786383" y="1233339"/>
            <a:ext cx="10451594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CA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Aircraft need regular inspections.</a:t>
            </a:r>
          </a:p>
          <a:p>
            <a:pPr algn="just"/>
            <a:endParaRPr lang="en-CA" altLang="en-US" sz="3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en-CA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Aircraft may need regular rinsing with fresh water to prevent dispersant or salt water from damaging components.</a:t>
            </a:r>
          </a:p>
          <a:p>
            <a:pPr algn="just"/>
            <a:endParaRPr lang="en-CA" altLang="en-US" sz="3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en-CA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Aircraft exclusion zones should be in place for aircraft safety.</a:t>
            </a:r>
          </a:p>
          <a:p>
            <a:pPr algn="just"/>
            <a:endParaRPr lang="en-CA" altLang="en-US" sz="3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endParaRPr lang="en-CA" altLang="en-US" sz="3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0699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37338" y="2257940"/>
            <a:ext cx="1057101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GB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Any questions?</a:t>
            </a:r>
          </a:p>
          <a:p>
            <a:pPr lvl="1">
              <a:spcBef>
                <a:spcPct val="0"/>
              </a:spcBef>
            </a:pPr>
            <a:endParaRPr lang="en-GB" altLang="en-US" sz="4000" b="1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283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835</TotalTime>
  <Words>1341</Words>
  <Application>Microsoft Office PowerPoint</Application>
  <PresentationFormat>Widescreen</PresentationFormat>
  <Paragraphs>156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Calibri</vt:lpstr>
      <vt:lpstr>Calibri Light</vt:lpstr>
      <vt:lpstr>inherit</vt:lpstr>
      <vt:lpstr>Tahoma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Syed, Mohammad Muktadar</dc:creator>
  <cp:lastModifiedBy>Sajith, Sadanandan </cp:lastModifiedBy>
  <cp:revision>217</cp:revision>
  <dcterms:created xsi:type="dcterms:W3CDTF">2024-09-27T05:40:49Z</dcterms:created>
  <dcterms:modified xsi:type="dcterms:W3CDTF">2024-11-28T10:17:16Z</dcterms:modified>
</cp:coreProperties>
</file>
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0" r:id="rId3"/>
    <p:sldId id="423" r:id="rId4"/>
    <p:sldId id="424" r:id="rId5"/>
    <p:sldId id="425" r:id="rId6"/>
    <p:sldId id="426" r:id="rId7"/>
    <p:sldId id="427" r:id="rId8"/>
    <p:sldId id="428" r:id="rId9"/>
    <p:sldId id="429" r:id="rId10"/>
    <p:sldId id="430" r:id="rId11"/>
    <p:sldId id="431" r:id="rId12"/>
    <p:sldId id="432" r:id="rId13"/>
    <p:sldId id="433" r:id="rId14"/>
    <p:sldId id="434" r:id="rId15"/>
    <p:sldId id="42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1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0555A-5A35-47AC-90DE-54164EB42B0B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99A2B-2DEA-46DC-A0A3-57D0D3700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796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8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358140" y="2231136"/>
            <a:ext cx="11475720" cy="14356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fr-CA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Post-incident Operations</a:t>
            </a:r>
            <a:endParaRPr lang="en-GB" altLang="en-US" sz="4000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457200" y="130175"/>
            <a:ext cx="1136599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Objectives</a:t>
            </a:r>
          </a:p>
        </p:txBody>
      </p:sp>
      <p:sp>
        <p:nvSpPr>
          <p:cNvPr id="8" name="Rectangle 3">
            <a:extLst/>
          </p:cNvPr>
          <p:cNvSpPr txBox="1">
            <a:spLocks noChangeArrowheads="1"/>
          </p:cNvSpPr>
          <p:nvPr/>
        </p:nvSpPr>
        <p:spPr>
          <a:xfrm>
            <a:off x="1825752" y="1270127"/>
            <a:ext cx="8229600" cy="5184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understand the required post-incident operations from a field perspective after an oil spill.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include the restoration of the response site, decontamination, overhaul and maintenance of response equipment, replacement of response equipment, post-incident assessment and wash-up.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fr-CA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algn="just">
              <a:defRPr/>
            </a:pPr>
            <a:endParaRPr 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defRPr/>
            </a:pPr>
            <a:endParaRPr 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defRPr/>
            </a:pPr>
            <a:endParaRPr lang="fr-FR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32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2"/>
          <p:cNvSpPr txBox="1">
            <a:spLocks/>
          </p:cNvSpPr>
          <p:nvPr/>
        </p:nvSpPr>
        <p:spPr>
          <a:xfrm>
            <a:off x="468313" y="60600"/>
            <a:ext cx="1138428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Post-Incident </a:t>
            </a:r>
            <a:r>
              <a:rPr lang="en-US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perations</a:t>
            </a:r>
          </a:p>
        </p:txBody>
      </p:sp>
      <p:sp>
        <p:nvSpPr>
          <p:cNvPr id="9" name="Rectangle 3">
            <a:extLst/>
          </p:cNvPr>
          <p:cNvSpPr txBox="1">
            <a:spLocks noChangeArrowheads="1"/>
          </p:cNvSpPr>
          <p:nvPr/>
        </p:nvSpPr>
        <p:spPr>
          <a:xfrm>
            <a:off x="1881061" y="1049482"/>
            <a:ext cx="8229600" cy="5184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Arial" charset="0"/>
              <a:buChar char="•"/>
              <a:defRPr/>
            </a:pP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Once active clean-up is terminated many tasks must be accomplished to complete the response.</a:t>
            </a:r>
          </a:p>
          <a:p>
            <a:pPr algn="just">
              <a:lnSpc>
                <a:spcPct val="100000"/>
              </a:lnSpc>
              <a:buFont typeface="Arial" charset="0"/>
              <a:buChar char="•"/>
              <a:defRPr/>
            </a:pP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Generally, four types of tasks are carried out: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Operational tasks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Administrative tasks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Post-spill studies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Restoration</a:t>
            </a:r>
          </a:p>
          <a:p>
            <a:pPr marL="457200" lvl="1" indent="0" algn="just">
              <a:lnSpc>
                <a:spcPct val="100000"/>
              </a:lnSpc>
              <a:buFont typeface="Arial" charset="0"/>
              <a:buNone/>
              <a:defRPr/>
            </a:pPr>
            <a:endParaRPr lang="en-GB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lnSpc>
                <a:spcPct val="100000"/>
              </a:lnSpc>
              <a:buFont typeface="Arial" charset="0"/>
              <a:buChar char="–"/>
              <a:defRPr/>
            </a:pPr>
            <a:endParaRPr lang="en-GB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0000"/>
              </a:lnSpc>
              <a:buFont typeface="Arial" charset="0"/>
              <a:buChar char="•"/>
              <a:defRPr/>
            </a:pPr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0000"/>
              </a:lnSpc>
              <a:buFont typeface="Arial" charset="0"/>
              <a:buChar char="•"/>
              <a:defRPr/>
            </a:pPr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0000"/>
              </a:lnSpc>
              <a:buFont typeface="Arial" charset="0"/>
              <a:buChar char="•"/>
              <a:defRPr/>
            </a:pPr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0000"/>
              </a:lnSpc>
              <a:buFont typeface="Arial" charset="0"/>
              <a:buChar char="•"/>
              <a:defRPr/>
            </a:pPr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0000"/>
              </a:lnSpc>
              <a:buFont typeface="Arial" charset="0"/>
              <a:buChar char="•"/>
              <a:defRPr/>
            </a:pPr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0000"/>
              </a:lnSpc>
              <a:buFont typeface="Arial" charset="0"/>
              <a:buChar char="•"/>
              <a:defRPr/>
            </a:pPr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842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57200" y="130175"/>
            <a:ext cx="1126540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Post-Incident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perations</a:t>
            </a:r>
          </a:p>
        </p:txBody>
      </p:sp>
      <p:sp>
        <p:nvSpPr>
          <p:cNvPr id="6" name="Espace réservé du contenu 2">
            <a:extLst/>
          </p:cNvPr>
          <p:cNvSpPr txBox="1">
            <a:spLocks/>
          </p:cNvSpPr>
          <p:nvPr/>
        </p:nvSpPr>
        <p:spPr>
          <a:xfrm>
            <a:off x="1545336" y="1246379"/>
            <a:ext cx="8741664" cy="43771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Operational tasks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equipment and stockpiles used for the response must be returned to their original state of readiness for the next operation.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Typical operational tasks are: </a:t>
            </a:r>
          </a:p>
          <a:p>
            <a:pPr lvl="2" indent="-430213">
              <a:buFont typeface="Wingdings" panose="05000000000000000000" pitchFamily="2" charset="2"/>
              <a:buChar char="§"/>
              <a:defRPr/>
            </a:pPr>
            <a:r>
              <a:rPr lang="en-GB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Remove equipment from field</a:t>
            </a:r>
          </a:p>
          <a:p>
            <a:pPr lvl="2" indent="-430213">
              <a:buFont typeface="Wingdings" panose="05000000000000000000" pitchFamily="2" charset="2"/>
              <a:buChar char="§"/>
              <a:defRPr/>
            </a:pPr>
            <a:r>
              <a:rPr lang="en-GB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Clean-up of equipment, waste area, ports, vessels, etc.</a:t>
            </a:r>
          </a:p>
          <a:p>
            <a:pPr lvl="2" indent="-430213">
              <a:buFont typeface="Wingdings" panose="05000000000000000000" pitchFamily="2" charset="2"/>
              <a:buChar char="§"/>
              <a:defRPr/>
            </a:pPr>
            <a:r>
              <a:rPr lang="en-GB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Repairs and maintenance </a:t>
            </a:r>
          </a:p>
          <a:p>
            <a:pPr lvl="3" indent="-438150">
              <a:buFont typeface="Wingdings" panose="05000000000000000000" pitchFamily="2" charset="2"/>
              <a:buChar char="Ø"/>
              <a:defRPr/>
            </a:pPr>
            <a:r>
              <a:rPr lang="en-GB" alt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planned maintenance system and/or manufacturer’s recommendations</a:t>
            </a:r>
          </a:p>
          <a:p>
            <a:pPr lvl="2" indent="-430213">
              <a:buFont typeface="Wingdings" panose="05000000000000000000" pitchFamily="2" charset="2"/>
              <a:buChar char="§"/>
              <a:defRPr/>
            </a:pPr>
            <a:r>
              <a:rPr lang="en-GB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Restock consumables.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fr-FR" alt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11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38150" y="55838"/>
            <a:ext cx="1132027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altLang="en-US" sz="40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Typical</a:t>
            </a:r>
            <a:r>
              <a:rPr lang="fr-FR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alt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fr-FR" altLang="en-US" sz="40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econ</a:t>
            </a:r>
            <a:r>
              <a:rPr lang="fr-FR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alt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fr-FR" altLang="en-US" sz="40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ayout</a:t>
            </a:r>
            <a:endParaRPr lang="fr-FR" altLang="en-US" sz="4000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Content Placeholder 3" descr="decontamination zon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39" b="15839"/>
          <a:stretch>
            <a:fillRect/>
          </a:stretch>
        </p:blipFill>
        <p:spPr>
          <a:xfrm>
            <a:off x="2120900" y="1022219"/>
            <a:ext cx="7950200" cy="5041900"/>
          </a:xfrm>
          <a:prstGeom prst="rect">
            <a:avLst/>
          </a:prstGeom>
        </p:spPr>
      </p:pic>
      <p:sp>
        <p:nvSpPr>
          <p:cNvPr id="7" name="TextBox 6">
            <a:extLst/>
          </p:cNvPr>
          <p:cNvSpPr txBox="1"/>
          <p:nvPr/>
        </p:nvSpPr>
        <p:spPr>
          <a:xfrm>
            <a:off x="9062276" y="6067222"/>
            <a:ext cx="1366837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400" dirty="0">
                <a:latin typeface="+mn-lt"/>
                <a:ea typeface="MS PGothic" charset="0"/>
                <a:cs typeface="MS PGothic" charset="0"/>
              </a:rPr>
              <a:t>Source: OSRL</a:t>
            </a:r>
          </a:p>
        </p:txBody>
      </p:sp>
    </p:spTree>
    <p:extLst>
      <p:ext uri="{BB962C8B-B14F-4D97-AF65-F5344CB8AC3E}">
        <p14:creationId xmlns:p14="http://schemas.microsoft.com/office/powerpoint/2010/main" val="1890180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93776" y="64008"/>
            <a:ext cx="11393424" cy="7026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Post-Incident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perations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2107692" y="1118363"/>
            <a:ext cx="8165592" cy="42857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Operational tasks for field personnel:</a:t>
            </a:r>
          </a:p>
          <a:p>
            <a:pPr marL="712788" lvl="1" indent="-3556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all equipment is removed from work sites;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equipment for repairs or to be replaced;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it is returned to the appropriate location;</a:t>
            </a:r>
          </a:p>
          <a:p>
            <a:pPr marL="712788" lvl="1" indent="-3556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equipment is cleaned up to the appropriate level;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another spill happens, equipment can be used without problems;</a:t>
            </a:r>
          </a:p>
          <a:p>
            <a:pPr marL="712788" lvl="1" indent="-3556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all waste is removed from worksite.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Oil, debris, PPE, food items, etc.</a:t>
            </a:r>
          </a:p>
          <a:p>
            <a:pPr lvl="1"/>
            <a:endParaRPr lang="en-GB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/>
            <a:endParaRPr lang="en-GB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/>
            <a:endParaRPr lang="fr-FR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23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457199" y="1"/>
            <a:ext cx="11384281" cy="6921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Post-Incident Operations</a:t>
            </a:r>
          </a:p>
        </p:txBody>
      </p:sp>
      <p:sp>
        <p:nvSpPr>
          <p:cNvPr id="6" name="Rectangle 3">
            <a:extLst/>
          </p:cNvPr>
          <p:cNvSpPr txBox="1">
            <a:spLocks noChangeArrowheads="1"/>
          </p:cNvSpPr>
          <p:nvPr/>
        </p:nvSpPr>
        <p:spPr>
          <a:xfrm>
            <a:off x="1450307" y="1193525"/>
            <a:ext cx="9398063" cy="5184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>
              <a:buFont typeface="Arial" charset="0"/>
              <a:buChar char="•"/>
              <a:defRPr/>
            </a:pPr>
            <a:r>
              <a:rPr lang="en-GB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Administrative tasks</a:t>
            </a:r>
          </a:p>
          <a:p>
            <a:pPr lvl="1" indent="-328613"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number of administrative tasks must be completed once active clean-up is terminated.</a:t>
            </a:r>
          </a:p>
          <a:p>
            <a:pPr lvl="1" indent="-328613"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Typical administrative tasks at the operational level are:</a:t>
            </a:r>
          </a:p>
          <a:p>
            <a:pPr lvl="2" indent="-430213">
              <a:buFont typeface="Wingdings" panose="05000000000000000000" pitchFamily="2" charset="2"/>
              <a:buChar char="Ø"/>
              <a:defRPr/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Finalize personnel and equipment usage timesheets</a:t>
            </a:r>
          </a:p>
          <a:p>
            <a:pPr lvl="2" indent="-430213">
              <a:buFont typeface="Wingdings" panose="05000000000000000000" pitchFamily="2" charset="2"/>
              <a:buChar char="Ø"/>
              <a:defRPr/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Conduct incident debriefing with response personnel</a:t>
            </a:r>
          </a:p>
          <a:p>
            <a:pPr lvl="2" indent="-430213">
              <a:buFont typeface="Wingdings" panose="05000000000000000000" pitchFamily="2" charset="2"/>
              <a:buChar char="Ø"/>
              <a:defRPr/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Participate in wider incident debrief</a:t>
            </a:r>
          </a:p>
          <a:p>
            <a:pPr lvl="2" indent="-430213">
              <a:buFont typeface="Wingdings" panose="05000000000000000000" pitchFamily="2" charset="2"/>
              <a:buChar char="Ø"/>
              <a:defRPr/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and implement lessons learned</a:t>
            </a:r>
          </a:p>
          <a:p>
            <a:pPr lvl="2" indent="-430213">
              <a:buFont typeface="Wingdings" panose="05000000000000000000" pitchFamily="2" charset="2"/>
              <a:buChar char="Ø"/>
              <a:defRPr/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Amend operational procedures, if </a:t>
            </a: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appropriate</a:t>
            </a:r>
          </a:p>
          <a:p>
            <a:pPr lvl="2" indent="-430213">
              <a:buFont typeface="Wingdings" panose="05000000000000000000" pitchFamily="2" charset="2"/>
              <a:buChar char="Ø"/>
              <a:defRPr/>
            </a:pP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Contribute to incident rep</a:t>
            </a:r>
            <a:r>
              <a:rPr lang="en-GB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ort</a:t>
            </a:r>
          </a:p>
          <a:p>
            <a:pPr marL="914400" lvl="2" indent="0">
              <a:buFont typeface="Arial" charset="0"/>
              <a:buNone/>
              <a:defRPr/>
            </a:pPr>
            <a:endParaRPr lang="en-GB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Arial" charset="0"/>
              <a:buChar char="–"/>
              <a:defRPr/>
            </a:pPr>
            <a:endParaRPr lang="en-GB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charset="0"/>
              <a:buChar char="•"/>
              <a:defRPr/>
            </a:pPr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charset="0"/>
              <a:buChar char="•"/>
              <a:defRPr/>
            </a:pPr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charset="0"/>
              <a:buChar char="•"/>
              <a:defRPr/>
            </a:pPr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charset="0"/>
              <a:buChar char="•"/>
              <a:defRPr/>
            </a:pPr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charset="0"/>
              <a:buChar char="•"/>
              <a:defRPr/>
            </a:pPr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charset="0"/>
              <a:buChar char="•"/>
              <a:defRPr/>
            </a:pPr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763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417576" y="66393"/>
            <a:ext cx="1135684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Post-Incident </a:t>
            </a:r>
            <a:r>
              <a:rPr lang="en-US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perations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762000" y="933595"/>
            <a:ext cx="11012424" cy="48218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algn="just">
              <a:lnSpc>
                <a:spcPct val="110000"/>
              </a:lnSpc>
              <a:spcBef>
                <a:spcPct val="30000"/>
              </a:spcBef>
            </a:pPr>
            <a:r>
              <a:rPr lang="en-US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Post-spill studies</a:t>
            </a:r>
          </a:p>
          <a:p>
            <a:pPr marL="712788" lvl="1" indent="-355600" algn="just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US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Undertaken as necessary to:</a:t>
            </a:r>
          </a:p>
          <a:p>
            <a:pPr lvl="2" indent="-430213" algn="just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determine the nature and extent of damage;</a:t>
            </a:r>
          </a:p>
          <a:p>
            <a:pPr lvl="2" indent="-430213" algn="just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 and monitor the recovery processes.</a:t>
            </a:r>
          </a:p>
          <a:p>
            <a:pPr marL="712788" lvl="1" indent="-355600" algn="just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US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Typically, post spill studies will start during response and continue after operations are concluded.</a:t>
            </a:r>
          </a:p>
          <a:p>
            <a:pPr marL="357188" indent="-357188" algn="just">
              <a:lnSpc>
                <a:spcPct val="110000"/>
              </a:lnSpc>
              <a:spcBef>
                <a:spcPct val="30000"/>
              </a:spcBef>
            </a:pPr>
            <a:r>
              <a:rPr lang="en-US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Post-spill monitoring must answer specific questions such as:</a:t>
            </a:r>
          </a:p>
          <a:p>
            <a:pPr marL="712788" lvl="1" indent="-355600" algn="just">
              <a:lnSpc>
                <a:spcPct val="110000"/>
              </a:lnSpc>
              <a:spcBef>
                <a:spcPts val="413"/>
              </a:spcBef>
              <a:buFont typeface="Wingdings" panose="05000000000000000000" pitchFamily="2" charset="2"/>
              <a:buChar char="ü"/>
            </a:pPr>
            <a:r>
              <a:rPr lang="en-US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example, what are the levels of contaminants in the environment?</a:t>
            </a:r>
          </a:p>
        </p:txBody>
      </p:sp>
    </p:spTree>
    <p:extLst>
      <p:ext uri="{BB962C8B-B14F-4D97-AF65-F5344CB8AC3E}">
        <p14:creationId xmlns:p14="http://schemas.microsoft.com/office/powerpoint/2010/main" val="415641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457200" y="129704"/>
            <a:ext cx="1141171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Post-Incident </a:t>
            </a:r>
            <a:r>
              <a:rPr lang="en-US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perations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439037" y="1276768"/>
            <a:ext cx="931392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20675" algn="just">
              <a:lnSpc>
                <a:spcPct val="110000"/>
              </a:lnSpc>
              <a:spcBef>
                <a:spcPct val="30000"/>
              </a:spcBef>
            </a:pPr>
            <a:r>
              <a:rPr lang="en-US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Post-spill studies – field perspect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ive</a:t>
            </a:r>
          </a:p>
          <a:p>
            <a:pPr marL="700087" lvl="1" indent="-342900" algn="just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US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is possible that some activities related to post-spill studies will take place while workers are on site. In this case:</a:t>
            </a:r>
          </a:p>
          <a:p>
            <a:pPr lvl="2" indent="-430213" algn="just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Accommodate teams visiting sites (only if safe)</a:t>
            </a:r>
          </a:p>
          <a:p>
            <a:pPr lvl="2" indent="-430213" algn="just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Try not to interfere with sampling material/sites left on beaches</a:t>
            </a:r>
          </a:p>
          <a:p>
            <a:pPr lvl="2" indent="-430213" algn="just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Provide logistical support as required.</a:t>
            </a:r>
          </a:p>
          <a:p>
            <a:pPr algn="just">
              <a:lnSpc>
                <a:spcPct val="110000"/>
              </a:lnSpc>
              <a:spcBef>
                <a:spcPct val="30000"/>
              </a:spcBef>
            </a:pPr>
            <a:endParaRPr lang="en-US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395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58783"/>
            <a:ext cx="114300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Sampling</a:t>
            </a:r>
          </a:p>
        </p:txBody>
      </p:sp>
      <p:pic>
        <p:nvPicPr>
          <p:cNvPr id="6" name="Content Placeholder 3" descr="sampli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4" b="2444"/>
          <a:stretch>
            <a:fillRect/>
          </a:stretch>
        </p:blipFill>
        <p:spPr>
          <a:xfrm>
            <a:off x="2353120" y="1051509"/>
            <a:ext cx="7950200" cy="5041900"/>
          </a:xfrm>
          <a:prstGeom prst="rect">
            <a:avLst/>
          </a:prstGeom>
        </p:spPr>
      </p:pic>
      <p:sp>
        <p:nvSpPr>
          <p:cNvPr id="7" name="TextBox 6">
            <a:extLst/>
          </p:cNvPr>
          <p:cNvSpPr txBox="1"/>
          <p:nvPr/>
        </p:nvSpPr>
        <p:spPr>
          <a:xfrm>
            <a:off x="8925116" y="6010236"/>
            <a:ext cx="14533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Source: CEDRE</a:t>
            </a:r>
          </a:p>
        </p:txBody>
      </p:sp>
    </p:spTree>
    <p:extLst>
      <p:ext uri="{BB962C8B-B14F-4D97-AF65-F5344CB8AC3E}">
        <p14:creationId xmlns:p14="http://schemas.microsoft.com/office/powerpoint/2010/main" val="839115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7905"/>
            <a:ext cx="1122883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Sampling</a:t>
            </a:r>
          </a:p>
        </p:txBody>
      </p:sp>
      <p:pic>
        <p:nvPicPr>
          <p:cNvPr id="6" name="Content Placeholder 3" descr="sampling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4" b="2444"/>
          <a:stretch>
            <a:fillRect/>
          </a:stretch>
        </p:blipFill>
        <p:spPr>
          <a:xfrm>
            <a:off x="2254028" y="1088021"/>
            <a:ext cx="7837488" cy="4968875"/>
          </a:xfrm>
          <a:prstGeom prst="rect">
            <a:avLst/>
          </a:prstGeom>
        </p:spPr>
      </p:pic>
      <p:sp>
        <p:nvSpPr>
          <p:cNvPr id="7" name="TextBox 6">
            <a:extLst/>
          </p:cNvPr>
          <p:cNvSpPr txBox="1"/>
          <p:nvPr/>
        </p:nvSpPr>
        <p:spPr>
          <a:xfrm>
            <a:off x="8970836" y="6029758"/>
            <a:ext cx="1366837" cy="3063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400" dirty="0">
                <a:latin typeface="+mn-lt"/>
                <a:ea typeface="MS PGothic" charset="0"/>
                <a:cs typeface="MS PGothic" charset="0"/>
              </a:rPr>
              <a:t>Source: CEDRE</a:t>
            </a:r>
          </a:p>
        </p:txBody>
      </p:sp>
    </p:spTree>
    <p:extLst>
      <p:ext uri="{BB962C8B-B14F-4D97-AF65-F5344CB8AC3E}">
        <p14:creationId xmlns:p14="http://schemas.microsoft.com/office/powerpoint/2010/main" val="3102977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457200" y="130175"/>
            <a:ext cx="1142085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Post-Incident </a:t>
            </a:r>
            <a:r>
              <a:rPr lang="en-US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peration</a:t>
            </a:r>
          </a:p>
        </p:txBody>
      </p:sp>
      <p:sp>
        <p:nvSpPr>
          <p:cNvPr id="6" name="Rectangle 3">
            <a:extLst/>
          </p:cNvPr>
          <p:cNvSpPr txBox="1">
            <a:spLocks noChangeArrowheads="1"/>
          </p:cNvSpPr>
          <p:nvPr/>
        </p:nvSpPr>
        <p:spPr>
          <a:xfrm>
            <a:off x="1499616" y="1029211"/>
            <a:ext cx="8240713" cy="508649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>
              <a:lnSpc>
                <a:spcPct val="110000"/>
              </a:lnSpc>
              <a:spcBef>
                <a:spcPct val="30000"/>
              </a:spcBef>
              <a:buFont typeface="Arial" charset="0"/>
              <a:buChar char="•"/>
              <a:defRPr/>
            </a:pPr>
            <a:r>
              <a:rPr 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Restoration</a:t>
            </a:r>
          </a:p>
          <a:p>
            <a:pPr lvl="1" indent="-328613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  <a:defRPr/>
            </a:pPr>
            <a:r>
              <a:rPr 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Measures to speed up recovery from environmental damages.</a:t>
            </a:r>
          </a:p>
          <a:p>
            <a:pPr lvl="1" indent="-328613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  <a:defRPr/>
            </a:pPr>
            <a:r>
              <a:rPr 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Aim to bring back environmental function to what it was prior to a spill.</a:t>
            </a:r>
          </a:p>
          <a:p>
            <a:pPr lvl="1" indent="-328613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  <a:defRPr/>
            </a:pPr>
            <a:r>
              <a:rPr 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Various methods:</a:t>
            </a:r>
          </a:p>
          <a:p>
            <a:pPr lvl="2" indent="-430213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Planting (mangroves, marshes)</a:t>
            </a:r>
          </a:p>
          <a:p>
            <a:pPr lvl="2" indent="-430213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Restricting access to particular habitat</a:t>
            </a:r>
          </a:p>
          <a:p>
            <a:pPr lvl="2" indent="-430213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Predator control</a:t>
            </a:r>
          </a:p>
          <a:p>
            <a:pPr marL="457200" lvl="1" indent="0">
              <a:lnSpc>
                <a:spcPct val="110000"/>
              </a:lnSpc>
              <a:spcBef>
                <a:spcPts val="600"/>
              </a:spcBef>
              <a:buFont typeface="Arial" charset="0"/>
              <a:buNone/>
              <a:defRPr/>
            </a:pPr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110000"/>
              </a:lnSpc>
              <a:spcBef>
                <a:spcPct val="30000"/>
              </a:spcBef>
              <a:buFont typeface="Arial" charset="0"/>
              <a:buChar char="–"/>
              <a:defRPr/>
            </a:pPr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10000"/>
              </a:lnSpc>
              <a:spcBef>
                <a:spcPct val="30000"/>
              </a:spcBef>
              <a:buFont typeface="Arial" charset="0"/>
              <a:buChar char="•"/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605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57200" y="76850"/>
            <a:ext cx="1142085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altLang="en-US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Restoration</a:t>
            </a:r>
            <a:endParaRPr lang="fr-FR" altLang="en-US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Content Placeholder 1" descr="environmental restauration sit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29" b="7729"/>
          <a:stretch>
            <a:fillRect/>
          </a:stretch>
        </p:blipFill>
        <p:spPr>
          <a:xfrm>
            <a:off x="2192528" y="1051509"/>
            <a:ext cx="7950200" cy="5041900"/>
          </a:xfrm>
          <a:prstGeom prst="rect">
            <a:avLst/>
          </a:prstGeom>
        </p:spPr>
      </p:pic>
      <p:sp>
        <p:nvSpPr>
          <p:cNvPr id="7" name="TextBox 6">
            <a:extLst/>
          </p:cNvPr>
          <p:cNvSpPr txBox="1"/>
          <p:nvPr/>
        </p:nvSpPr>
        <p:spPr>
          <a:xfrm>
            <a:off x="9016556" y="6058779"/>
            <a:ext cx="1366837" cy="3063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400" dirty="0">
                <a:latin typeface="+mn-lt"/>
                <a:ea typeface="MS PGothic" charset="0"/>
                <a:cs typeface="MS PGothic" charset="0"/>
              </a:rPr>
              <a:t>Source: CEDRE</a:t>
            </a:r>
          </a:p>
        </p:txBody>
      </p:sp>
    </p:spTree>
    <p:extLst>
      <p:ext uri="{BB962C8B-B14F-4D97-AF65-F5344CB8AC3E}">
        <p14:creationId xmlns:p14="http://schemas.microsoft.com/office/powerpoint/2010/main" val="3346130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457200" y="130175"/>
            <a:ext cx="1137513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243584" y="1357926"/>
            <a:ext cx="9354312" cy="52029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spcBef>
                <a:spcPts val="550"/>
              </a:spcBef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Many tasks must be undertaken after active clean-up to terminate an oil spill response.</a:t>
            </a:r>
          </a:p>
          <a:p>
            <a:pPr algn="just">
              <a:lnSpc>
                <a:spcPct val="110000"/>
              </a:lnSpc>
              <a:spcBef>
                <a:spcPts val="550"/>
              </a:spcBef>
            </a:pPr>
            <a:endParaRPr lang="en-GB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10000"/>
              </a:lnSpc>
              <a:spcBef>
                <a:spcPts val="550"/>
              </a:spcBef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is important to plan for those during the response and to keep resources available.</a:t>
            </a:r>
          </a:p>
          <a:p>
            <a:pPr algn="just">
              <a:lnSpc>
                <a:spcPct val="110000"/>
              </a:lnSpc>
              <a:spcBef>
                <a:spcPts val="550"/>
              </a:spcBef>
            </a:pPr>
            <a:endParaRPr lang="en-GB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10000"/>
              </a:lnSpc>
              <a:spcBef>
                <a:spcPts val="550"/>
              </a:spcBef>
            </a:pPr>
            <a:endParaRPr lang="en-GB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10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4" name="Text Box 4">
            <a:extLst/>
          </p:cNvPr>
          <p:cNvSpPr txBox="1">
            <a:spLocks noChangeArrowheads="1"/>
          </p:cNvSpPr>
          <p:nvPr/>
        </p:nvSpPr>
        <p:spPr bwMode="auto">
          <a:xfrm>
            <a:off x="394716" y="2622423"/>
            <a:ext cx="1140256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GB" sz="40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798997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1904</TotalTime>
  <Words>685</Words>
  <Application>Microsoft Office PowerPoint</Application>
  <PresentationFormat>Widescreen</PresentationFormat>
  <Paragraphs>106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MS PGothic</vt:lpstr>
      <vt:lpstr>Arial</vt:lpstr>
      <vt:lpstr>Calibri</vt:lpstr>
      <vt:lpstr>Calibri Light</vt:lpstr>
      <vt:lpstr>inherit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500</cp:revision>
  <dcterms:created xsi:type="dcterms:W3CDTF">2024-09-27T05:40:49Z</dcterms:created>
  <dcterms:modified xsi:type="dcterms:W3CDTF">2024-11-27T06:21:42Z</dcterms:modified>
</cp:coreProperties>
</file>
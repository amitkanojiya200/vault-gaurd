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2" r:id="rId28"/>
    <p:sldId id="293" r:id="rId29"/>
    <p:sldId id="290" r:id="rId30"/>
    <p:sldId id="26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1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8691" y="1812744"/>
            <a:ext cx="1143461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Health and Safety Aspects of Oil Spill Response</a:t>
            </a:r>
            <a:endParaRPr lang="en-IN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877824" y="58732"/>
            <a:ext cx="105983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Objective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ctangle 3"/>
          <p:cNvSpPr txBox="1">
            <a:spLocks/>
          </p:cNvSpPr>
          <p:nvPr/>
        </p:nvSpPr>
        <p:spPr>
          <a:xfrm>
            <a:off x="1182531" y="1678185"/>
            <a:ext cx="9698829" cy="291912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algn="just"/>
            <a:r>
              <a:rPr lang="en-US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understand the health and safety aspects of oil spill response including risk assessments, site safety, PPE and emergency response.</a:t>
            </a:r>
            <a:endParaRPr lang="fr-FR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323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7199" y="130175"/>
            <a:ext cx="11365345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Health and Safety </a:t>
            </a:r>
            <a:r>
              <a:rPr lang="en-CA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CA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spects	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960120" y="1225297"/>
            <a:ext cx="10094976" cy="52444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Know the health and safety considerations and precautions with respect to:</a:t>
            </a:r>
          </a:p>
          <a:p>
            <a:pPr marL="357188" lvl="1" indent="-357188" algn="just">
              <a:lnSpc>
                <a:spcPct val="100000"/>
              </a:lnSpc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Spilled product</a:t>
            </a:r>
          </a:p>
          <a:p>
            <a:pPr marL="357188" lvl="1" indent="-357188" algn="just">
              <a:lnSpc>
                <a:spcPct val="100000"/>
              </a:lnSpc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Working environment</a:t>
            </a:r>
          </a:p>
          <a:p>
            <a:pPr marL="357188" lvl="1" indent="-357188" algn="just">
              <a:lnSpc>
                <a:spcPct val="100000"/>
              </a:lnSpc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Equipment</a:t>
            </a:r>
          </a:p>
          <a:p>
            <a:pPr marL="357188" lvl="1" indent="-357188" algn="just">
              <a:lnSpc>
                <a:spcPct val="100000"/>
              </a:lnSpc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Transportation</a:t>
            </a:r>
          </a:p>
          <a:p>
            <a:pPr marL="357188" lvl="1" indent="-357188" algn="just">
              <a:lnSpc>
                <a:spcPct val="100000"/>
              </a:lnSpc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Decontamination</a:t>
            </a:r>
          </a:p>
        </p:txBody>
      </p:sp>
    </p:spTree>
    <p:extLst>
      <p:ext uri="{BB962C8B-B14F-4D97-AF65-F5344CB8AC3E}">
        <p14:creationId xmlns:p14="http://schemas.microsoft.com/office/powerpoint/2010/main" val="136807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7199" y="130175"/>
            <a:ext cx="11365345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Health and Safety </a:t>
            </a:r>
            <a:r>
              <a:rPr lang="en-CA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CA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spects	</a:t>
            </a:r>
          </a:p>
        </p:txBody>
      </p:sp>
      <p:sp>
        <p:nvSpPr>
          <p:cNvPr id="7" name="Content Placeholder 2">
            <a:extLst/>
          </p:cNvPr>
          <p:cNvSpPr txBox="1">
            <a:spLocks/>
          </p:cNvSpPr>
          <p:nvPr/>
        </p:nvSpPr>
        <p:spPr>
          <a:xfrm>
            <a:off x="1186455" y="1085719"/>
            <a:ext cx="930171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 are multiple hazards when responding to an oil spill:</a:t>
            </a:r>
          </a:p>
          <a:p>
            <a:pPr marL="447675" lvl="1" indent="-447675">
              <a:lnSpc>
                <a:spcPct val="100000"/>
              </a:lnSpc>
              <a:defRPr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Chemical</a:t>
            </a:r>
          </a:p>
          <a:p>
            <a:pPr marL="447675" lvl="1" indent="-447675">
              <a:lnSpc>
                <a:spcPct val="100000"/>
              </a:lnSpc>
              <a:defRPr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Physical</a:t>
            </a:r>
          </a:p>
          <a:p>
            <a:pPr marL="447675" lvl="1" indent="-447675">
              <a:lnSpc>
                <a:spcPct val="100000"/>
              </a:lnSpc>
              <a:defRPr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Environmental</a:t>
            </a:r>
          </a:p>
          <a:p>
            <a:pPr marL="447675" lvl="1" indent="-447675">
              <a:lnSpc>
                <a:spcPct val="100000"/>
              </a:lnSpc>
              <a:defRPr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Wildlife</a:t>
            </a:r>
          </a:p>
          <a:p>
            <a:pPr marL="447675" lvl="1" indent="-447675">
              <a:lnSpc>
                <a:spcPct val="100000"/>
              </a:lnSpc>
              <a:defRPr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Other</a:t>
            </a:r>
          </a:p>
          <a:p>
            <a:pPr>
              <a:lnSpc>
                <a:spcPct val="100000"/>
              </a:lnSpc>
              <a:defRPr/>
            </a:pPr>
            <a:endParaRPr lang="en-C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083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Content Placeholder 2">
            <a:extLst/>
          </p:cNvPr>
          <p:cNvSpPr txBox="1">
            <a:spLocks/>
          </p:cNvSpPr>
          <p:nvPr/>
        </p:nvSpPr>
        <p:spPr>
          <a:xfrm>
            <a:off x="1078345" y="1160187"/>
            <a:ext cx="10035309" cy="5400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CA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Some compounds found in oil can be toxic.</a:t>
            </a:r>
          </a:p>
          <a:p>
            <a:pPr>
              <a:defRPr/>
            </a:pPr>
            <a:r>
              <a:rPr lang="en-CA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Responders must avoid exposure to these compounds.</a:t>
            </a:r>
          </a:p>
          <a:p>
            <a:pPr>
              <a:defRPr/>
            </a:pPr>
            <a:r>
              <a:rPr lang="en-CA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Typical exposure routes:</a:t>
            </a:r>
          </a:p>
          <a:p>
            <a:pPr marL="357188" lvl="1" indent="-357188">
              <a:buFont typeface="Wingdings" panose="05000000000000000000" pitchFamily="2" charset="2"/>
              <a:buChar char="ü"/>
              <a:defRPr/>
            </a:pPr>
            <a:r>
              <a:rPr lang="en-CA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Inhalation</a:t>
            </a:r>
          </a:p>
          <a:p>
            <a:pPr marL="357188" lvl="1" indent="-357188">
              <a:buFont typeface="Wingdings" panose="05000000000000000000" pitchFamily="2" charset="2"/>
              <a:buChar char="ü"/>
              <a:defRPr/>
            </a:pPr>
            <a:r>
              <a:rPr lang="en-CA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Ingestion</a:t>
            </a:r>
          </a:p>
          <a:p>
            <a:pPr marL="357188" lvl="1" indent="-357188">
              <a:buFont typeface="Wingdings" panose="05000000000000000000" pitchFamily="2" charset="2"/>
              <a:buChar char="ü"/>
              <a:defRPr/>
            </a:pPr>
            <a:r>
              <a:rPr lang="en-CA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Contact</a:t>
            </a:r>
          </a:p>
          <a:p>
            <a:pPr marL="357188" lvl="1" indent="-357188">
              <a:buFont typeface="Wingdings" panose="05000000000000000000" pitchFamily="2" charset="2"/>
              <a:buChar char="ü"/>
              <a:defRPr/>
            </a:pPr>
            <a:r>
              <a:rPr lang="en-CA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Absorption</a:t>
            </a:r>
          </a:p>
          <a:p>
            <a:pPr lvl="1">
              <a:defRPr/>
            </a:pPr>
            <a:endParaRPr lang="en-CA" sz="28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defRPr/>
            </a:pPr>
            <a:endParaRPr lang="en-CA" sz="28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CA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C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57200" y="115888"/>
            <a:ext cx="1139305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Chemical Hazards from Spilled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roduct</a:t>
            </a:r>
          </a:p>
        </p:txBody>
      </p:sp>
    </p:spTree>
    <p:extLst>
      <p:ext uri="{BB962C8B-B14F-4D97-AF65-F5344CB8AC3E}">
        <p14:creationId xmlns:p14="http://schemas.microsoft.com/office/powerpoint/2010/main" val="842920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115888"/>
            <a:ext cx="1139305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Chemical Hazards from Spilled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roduct</a:t>
            </a:r>
          </a:p>
        </p:txBody>
      </p:sp>
      <p:sp>
        <p:nvSpPr>
          <p:cNvPr id="9" name="Content Placeholder 2">
            <a:extLst/>
          </p:cNvPr>
          <p:cNvSpPr txBox="1">
            <a:spLocks/>
          </p:cNvSpPr>
          <p:nvPr/>
        </p:nvSpPr>
        <p:spPr>
          <a:xfrm>
            <a:off x="871635" y="1160187"/>
            <a:ext cx="10457781" cy="5400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en-CA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Inhalation is a very important exposure route initially as light ends will evaporate: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CA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Hydrogen Sulphide</a:t>
            </a:r>
            <a:r>
              <a:rPr lang="en-C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  <a:p>
            <a:pPr marL="987425" lvl="2" indent="-274638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en-CA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Rotten egg smell</a:t>
            </a:r>
          </a:p>
          <a:p>
            <a:pPr marL="987425" lvl="2" indent="-274638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en-CA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Mild symptoms: dizziness, headache, eye irritation</a:t>
            </a:r>
          </a:p>
          <a:p>
            <a:pPr marL="987425" lvl="2" indent="-274638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en-CA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Severe symptoms: Dulled sense of smell to no sense of smell, loss of consciousness, death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CA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Benzene</a:t>
            </a:r>
          </a:p>
          <a:p>
            <a:pPr marL="987425" lvl="2" indent="-274638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en-CA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Known carcinogen</a:t>
            </a:r>
          </a:p>
          <a:p>
            <a:pPr marL="987425" lvl="2" indent="-274638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en-CA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Irritation, headache, dizziness.</a:t>
            </a:r>
          </a:p>
          <a:p>
            <a:pPr marL="987425" lvl="1" indent="-274638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endParaRPr lang="en-CA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100000"/>
              </a:lnSpc>
              <a:defRPr/>
            </a:pPr>
            <a:endParaRPr lang="en-CA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CA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C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066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7200" y="130175"/>
            <a:ext cx="1131916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Precautions</a:t>
            </a:r>
            <a:endParaRPr lang="en-CA" altLang="en-US" sz="4000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026899" y="1160187"/>
            <a:ext cx="9836173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avoid inhalation:</a:t>
            </a:r>
          </a:p>
          <a:p>
            <a:pPr marL="447675" lvl="2" indent="-355600" algn="just">
              <a:lnSpc>
                <a:spcPct val="100000"/>
              </a:lnSpc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Conduct air monitoring</a:t>
            </a:r>
          </a:p>
          <a:p>
            <a:pPr marL="447675" lvl="2" indent="-355600" algn="just">
              <a:lnSpc>
                <a:spcPct val="100000"/>
              </a:lnSpc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Avoid confined spaces (caves, low-lying areas, tanks, etc.) until deemed safe </a:t>
            </a:r>
          </a:p>
          <a:p>
            <a:pPr marL="447675" lvl="2" indent="-355600" algn="just">
              <a:lnSpc>
                <a:spcPct val="100000"/>
              </a:lnSpc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 upwind from spill source</a:t>
            </a:r>
          </a:p>
          <a:p>
            <a:pPr marL="447675" lvl="2" indent="-355600" algn="just">
              <a:lnSpc>
                <a:spcPct val="100000"/>
              </a:lnSpc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Wear respiratory protection</a:t>
            </a:r>
          </a:p>
          <a:p>
            <a:pPr marL="742950" lvl="2" indent="-342900" algn="just">
              <a:lnSpc>
                <a:spcPct val="100000"/>
              </a:lnSpc>
            </a:pPr>
            <a:endParaRPr lang="en-CA" altLang="en-US" sz="28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314450" lvl="4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CA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CA" altLang="en-US" sz="2800" i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Never rely on sense of smell </a:t>
            </a:r>
          </a:p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endParaRPr lang="en-CA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770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68313" y="115888"/>
            <a:ext cx="1140041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Chemical Hazards from Spilled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roduct</a:t>
            </a:r>
          </a:p>
        </p:txBody>
      </p:sp>
      <p:sp>
        <p:nvSpPr>
          <p:cNvPr id="9" name="Content Placeholder 2">
            <a:extLst/>
          </p:cNvPr>
          <p:cNvSpPr txBox="1">
            <a:spLocks/>
          </p:cNvSpPr>
          <p:nvPr/>
        </p:nvSpPr>
        <p:spPr>
          <a:xfrm>
            <a:off x="930131" y="977625"/>
            <a:ext cx="10490725" cy="5400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defRPr/>
            </a:pPr>
            <a:r>
              <a:rPr lang="en-CA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Ingestion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CA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While eating or drinking (always wash first!)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CA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Breathing liquid into lungs from mist during pressure washing or while using cleaning agents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CA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Falling into product (swimming).</a:t>
            </a:r>
          </a:p>
          <a:p>
            <a:pPr lvl="1" algn="just">
              <a:lnSpc>
                <a:spcPct val="100000"/>
              </a:lnSpc>
              <a:buFontTx/>
              <a:buChar char="-"/>
              <a:defRPr/>
            </a:pPr>
            <a:endParaRPr lang="en-CA" sz="28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00000"/>
              </a:lnSpc>
              <a:defRPr/>
            </a:pPr>
            <a:r>
              <a:rPr lang="en-C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</a:t>
            </a:r>
            <a:r>
              <a:rPr lang="en-CA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sorption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CA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Direct skin contact resulting in compounds entering the blood stream (may be a long term effect).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endParaRPr lang="en-CA" sz="28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>
              <a:lnSpc>
                <a:spcPct val="100000"/>
              </a:lnSpc>
              <a:defRPr/>
            </a:pPr>
            <a:endParaRPr lang="en-CA" sz="28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 algn="just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CA" sz="28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 algn="just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CA" sz="28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 algn="just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CA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649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68312" y="115888"/>
            <a:ext cx="11326523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Precautions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907682" y="1342750"/>
            <a:ext cx="10183990" cy="5400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CA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proper decontamination procedures before eating/drinking/smoking/taking breaks.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CA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Wear PPE properly as directed.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CA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face shields, masks and filters as directed when pressure washing.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CA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Remove oil from skin immediately if contact does occur.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CA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Seek medical attention if ingested or product gets into the eyes.</a:t>
            </a:r>
          </a:p>
        </p:txBody>
      </p:sp>
    </p:spTree>
    <p:extLst>
      <p:ext uri="{BB962C8B-B14F-4D97-AF65-F5344CB8AC3E}">
        <p14:creationId xmlns:p14="http://schemas.microsoft.com/office/powerpoint/2010/main" val="1147236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11480" y="115888"/>
            <a:ext cx="11383355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Precautions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152145" y="1514505"/>
            <a:ext cx="9683495" cy="411590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Know the properties and characteristics of the spilled product.</a:t>
            </a:r>
          </a:p>
          <a:p>
            <a:pPr algn="just">
              <a:lnSpc>
                <a:spcPct val="100000"/>
              </a:lnSpc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Know the general hazards of the spilled product.</a:t>
            </a:r>
          </a:p>
          <a:p>
            <a:pPr algn="just">
              <a:lnSpc>
                <a:spcPct val="100000"/>
              </a:lnSpc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Safety data sheet.</a:t>
            </a:r>
          </a:p>
          <a:p>
            <a:pPr algn="just">
              <a:lnSpc>
                <a:spcPct val="100000"/>
              </a:lnSpc>
            </a:pPr>
            <a:endParaRPr lang="en-CA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4138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57200" y="130175"/>
            <a:ext cx="1137458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Spilled Product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3143250" y="1023938"/>
            <a:ext cx="5905500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C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Safety data sheet Information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43346" y="1821688"/>
            <a:ext cx="6354039" cy="38179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9750" lvl="1" indent="-357188">
              <a:buFont typeface="Wingdings" panose="05000000000000000000" pitchFamily="2" charset="2"/>
              <a:buChar char="ü"/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 and Company</a:t>
            </a:r>
          </a:p>
          <a:p>
            <a:pPr marL="539750" lvl="1" indent="-357188">
              <a:buFont typeface="Wingdings" panose="05000000000000000000" pitchFamily="2" charset="2"/>
              <a:buChar char="ü"/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Hazards identification</a:t>
            </a:r>
          </a:p>
          <a:p>
            <a:pPr marL="539750" lvl="1" indent="-357188">
              <a:buFont typeface="Wingdings" panose="05000000000000000000" pitchFamily="2" charset="2"/>
              <a:buChar char="ü"/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Composition/Information on ingredients</a:t>
            </a:r>
          </a:p>
          <a:p>
            <a:pPr marL="539750" lvl="1" indent="-357188">
              <a:buFont typeface="Wingdings" panose="05000000000000000000" pitchFamily="2" charset="2"/>
              <a:buChar char="ü"/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First aid measures</a:t>
            </a:r>
          </a:p>
          <a:p>
            <a:pPr marL="539750" lvl="1" indent="-357188">
              <a:buFont typeface="Wingdings" panose="05000000000000000000" pitchFamily="2" charset="2"/>
              <a:buChar char="ü"/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Fire fighting measures</a:t>
            </a:r>
          </a:p>
          <a:p>
            <a:pPr marL="539750" lvl="1" indent="-357188">
              <a:buFont typeface="Wingdings" panose="05000000000000000000" pitchFamily="2" charset="2"/>
              <a:buChar char="ü"/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Accidental release measures</a:t>
            </a:r>
          </a:p>
          <a:p>
            <a:pPr marL="539750" lvl="1" indent="-357188">
              <a:buFont typeface="Wingdings" panose="05000000000000000000" pitchFamily="2" charset="2"/>
              <a:buChar char="ü"/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Handling and storage</a:t>
            </a:r>
          </a:p>
          <a:p>
            <a:pPr marL="539750" lvl="1" indent="-357188">
              <a:buFont typeface="Wingdings" panose="05000000000000000000" pitchFamily="2" charset="2"/>
              <a:buChar char="ü"/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Exposure controls/Personal protection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6677891" y="1730191"/>
            <a:ext cx="5421745" cy="360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lvl="1" indent="-385763">
              <a:buFont typeface="Wingdings" panose="05000000000000000000" pitchFamily="2" charset="2"/>
              <a:buChar char="ü"/>
            </a:pPr>
            <a:r>
              <a:rPr lang="en-C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Physical and chemical properties</a:t>
            </a:r>
          </a:p>
          <a:p>
            <a:pPr lvl="1" indent="-385763">
              <a:buFont typeface="Wingdings" panose="05000000000000000000" pitchFamily="2" charset="2"/>
              <a:buChar char="ü"/>
            </a:pPr>
            <a:r>
              <a:rPr lang="en-C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Stability and reactivity</a:t>
            </a:r>
          </a:p>
          <a:p>
            <a:pPr lvl="1" indent="-385763">
              <a:buFont typeface="Wingdings" panose="05000000000000000000" pitchFamily="2" charset="2"/>
              <a:buChar char="ü"/>
            </a:pPr>
            <a:r>
              <a:rPr lang="en-C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Toxicological information</a:t>
            </a:r>
          </a:p>
          <a:p>
            <a:pPr lvl="1" indent="-385763">
              <a:buFont typeface="Wingdings" panose="05000000000000000000" pitchFamily="2" charset="2"/>
              <a:buChar char="ü"/>
            </a:pPr>
            <a:r>
              <a:rPr lang="en-C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Ecological information</a:t>
            </a:r>
          </a:p>
          <a:p>
            <a:pPr lvl="1" indent="-385763">
              <a:buFont typeface="Wingdings" panose="05000000000000000000" pitchFamily="2" charset="2"/>
              <a:buChar char="ü"/>
            </a:pPr>
            <a:r>
              <a:rPr lang="en-C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Disposal considerations</a:t>
            </a:r>
          </a:p>
          <a:p>
            <a:pPr lvl="1" indent="-385763">
              <a:buFont typeface="Wingdings" panose="05000000000000000000" pitchFamily="2" charset="2"/>
              <a:buChar char="ü"/>
            </a:pPr>
            <a:r>
              <a:rPr lang="en-C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Transport information</a:t>
            </a:r>
          </a:p>
          <a:p>
            <a:pPr lvl="1" indent="-385763">
              <a:buFont typeface="Wingdings" panose="05000000000000000000" pitchFamily="2" charset="2"/>
              <a:buChar char="ü"/>
            </a:pPr>
            <a:r>
              <a:rPr lang="en-C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Regulatory information</a:t>
            </a:r>
          </a:p>
          <a:p>
            <a:pPr lvl="1" indent="-385763">
              <a:buFont typeface="Wingdings" panose="05000000000000000000" pitchFamily="2" charset="2"/>
              <a:buChar char="ü"/>
            </a:pPr>
            <a:r>
              <a:rPr lang="en-CA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Other information</a:t>
            </a:r>
          </a:p>
        </p:txBody>
      </p:sp>
    </p:spTree>
    <p:extLst>
      <p:ext uri="{BB962C8B-B14F-4D97-AF65-F5344CB8AC3E}">
        <p14:creationId xmlns:p14="http://schemas.microsoft.com/office/powerpoint/2010/main" val="136720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457200" y="130175"/>
            <a:ext cx="1143923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Symptoms of Toxic </a:t>
            </a:r>
            <a:r>
              <a:rPr lang="en-CA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en-CA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xposure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1147872" y="1150235"/>
            <a:ext cx="4249738" cy="48244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>
              <a:lnSpc>
                <a:spcPct val="100000"/>
              </a:lnSpc>
              <a:spcBef>
                <a:spcPct val="0"/>
              </a:spcBef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Skin rashes/allergies/ sores</a:t>
            </a:r>
          </a:p>
          <a:p>
            <a:pPr marL="357188" indent="-357188">
              <a:lnSpc>
                <a:spcPct val="100000"/>
              </a:lnSpc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Changes in sense of smell</a:t>
            </a:r>
          </a:p>
          <a:p>
            <a:pPr marL="357188" indent="-357188">
              <a:lnSpc>
                <a:spcPct val="100000"/>
              </a:lnSpc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Shortness of breath/ asthma/cough </a:t>
            </a:r>
          </a:p>
          <a:p>
            <a:pPr marL="357188" indent="-357188">
              <a:lnSpc>
                <a:spcPct val="100000"/>
              </a:lnSpc>
              <a:spcBef>
                <a:spcPct val="0"/>
              </a:spcBef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Headaches</a:t>
            </a:r>
          </a:p>
          <a:p>
            <a:endParaRPr lang="en-CA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Rectangle 1">
            <a:extLst/>
          </p:cNvPr>
          <p:cNvSpPr>
            <a:spLocks noChangeArrowheads="1"/>
          </p:cNvSpPr>
          <p:nvPr/>
        </p:nvSpPr>
        <p:spPr bwMode="auto">
          <a:xfrm>
            <a:off x="6784940" y="1074166"/>
            <a:ext cx="4572000" cy="4819781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/>
          <a:p>
            <a:pPr marL="342900" indent="-342900">
              <a:lnSpc>
                <a:spcPct val="120000"/>
              </a:lnSpc>
              <a:buFont typeface="Arial" charset="0"/>
              <a:buChar char="•"/>
              <a:defRPr/>
            </a:pPr>
            <a:r>
              <a:rPr lang="en-GB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Chest </a:t>
            </a: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pains</a:t>
            </a:r>
          </a:p>
          <a:p>
            <a:pPr marL="457200" indent="-457200">
              <a:lnSpc>
                <a:spcPct val="120000"/>
              </a:lnSpc>
              <a:buFont typeface="Arial"/>
              <a:buChar char="•"/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Nausea/vomiting</a:t>
            </a:r>
          </a:p>
          <a:p>
            <a:pPr marL="457200" indent="-457200">
              <a:lnSpc>
                <a:spcPct val="120000"/>
              </a:lnSpc>
              <a:buFont typeface="Arial"/>
              <a:buChar char="•"/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Weakness/tremors</a:t>
            </a:r>
          </a:p>
          <a:p>
            <a:pPr marL="457200" indent="-457200">
              <a:lnSpc>
                <a:spcPct val="120000"/>
              </a:lnSpc>
              <a:buFont typeface="Arial"/>
              <a:buChar char="•"/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Unusual fatigue or new sleeping difficulties</a:t>
            </a:r>
          </a:p>
          <a:p>
            <a:pPr marL="457200" indent="-457200">
              <a:lnSpc>
                <a:spcPct val="120000"/>
              </a:lnSpc>
              <a:buFont typeface="Arial"/>
              <a:buChar char="•"/>
              <a:defRPr/>
            </a:pPr>
            <a:r>
              <a:rPr lang="en-GB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Unusual irritability</a:t>
            </a:r>
          </a:p>
          <a:p>
            <a:pPr marL="342900" indent="-342900">
              <a:lnSpc>
                <a:spcPct val="120000"/>
              </a:lnSpc>
              <a:buFont typeface="Arial" charset="0"/>
              <a:buChar char="•"/>
              <a:defRPr/>
            </a:pPr>
            <a:endParaRPr lang="en-GB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80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130175"/>
            <a:ext cx="1158701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Physical Hazards from Spilled </a:t>
            </a:r>
            <a:r>
              <a:rPr lang="en-CA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lang="en-CA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roduct</a:t>
            </a:r>
          </a:p>
        </p:txBody>
      </p:sp>
      <p:sp>
        <p:nvSpPr>
          <p:cNvPr id="8" name="Content Placeholder 2">
            <a:extLst/>
          </p:cNvPr>
          <p:cNvSpPr txBox="1">
            <a:spLocks/>
          </p:cNvSpPr>
          <p:nvPr/>
        </p:nvSpPr>
        <p:spPr>
          <a:xfrm>
            <a:off x="1307592" y="1195971"/>
            <a:ext cx="10474036" cy="47529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CA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Fire/Explosion</a:t>
            </a:r>
          </a:p>
          <a:p>
            <a:pPr>
              <a:lnSpc>
                <a:spcPct val="100000"/>
              </a:lnSpc>
              <a:buFont typeface="Arial" charset="0"/>
              <a:buChar char="•"/>
              <a:defRPr/>
            </a:pPr>
            <a:r>
              <a:rPr lang="en-C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is a flammable product!</a:t>
            </a:r>
          </a:p>
          <a:p>
            <a:pPr>
              <a:lnSpc>
                <a:spcPct val="100000"/>
              </a:lnSpc>
              <a:buFont typeface="Arial" charset="0"/>
              <a:buChar char="•"/>
              <a:defRPr/>
            </a:pPr>
            <a:r>
              <a:rPr lang="en-C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Precautions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Avoid ignition sources</a:t>
            </a:r>
          </a:p>
          <a:p>
            <a:pPr lvl="2" indent="-430213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en-C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Smoking: lighters and matches</a:t>
            </a:r>
          </a:p>
          <a:p>
            <a:pPr lvl="2" indent="-430213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en-C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Electrical equipment</a:t>
            </a:r>
          </a:p>
          <a:p>
            <a:pPr lvl="2" indent="-430213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en-C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Phone usage during response (including camera)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Conduct air monitoring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Establish site control</a:t>
            </a:r>
          </a:p>
          <a:p>
            <a:pPr>
              <a:lnSpc>
                <a:spcPct val="100000"/>
              </a:lnSpc>
              <a:defRPr/>
            </a:pPr>
            <a:endParaRPr lang="en-CA" alt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621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7199" y="130175"/>
            <a:ext cx="11494655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Physical Hazards in Work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nvironment</a:t>
            </a:r>
          </a:p>
        </p:txBody>
      </p:sp>
      <p:sp>
        <p:nvSpPr>
          <p:cNvPr id="9" name="Content Placeholder 2">
            <a:extLst/>
          </p:cNvPr>
          <p:cNvSpPr txBox="1">
            <a:spLocks/>
          </p:cNvSpPr>
          <p:nvPr/>
        </p:nvSpPr>
        <p:spPr>
          <a:xfrm>
            <a:off x="1225296" y="1079323"/>
            <a:ext cx="11503798" cy="52245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charset="0"/>
              <a:buNone/>
              <a:defRPr/>
            </a:pPr>
            <a:r>
              <a:rPr lang="en-CA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Field work</a:t>
            </a:r>
          </a:p>
          <a:p>
            <a:pPr>
              <a:lnSpc>
                <a:spcPct val="100000"/>
              </a:lnSpc>
              <a:buFont typeface="Arial" charset="0"/>
              <a:buChar char="•"/>
              <a:defRPr/>
            </a:pPr>
            <a:r>
              <a:rPr lang="en-C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Main hazards: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Water hazards/drowning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Slips, trips and falls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Ergonomic stresses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Fatigue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Poor weather conditions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Hypothermia/frostbite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Heat stress and heat exhaustion </a:t>
            </a:r>
          </a:p>
          <a:p>
            <a:pPr marL="457200" lvl="1" indent="0">
              <a:lnSpc>
                <a:spcPct val="100000"/>
              </a:lnSpc>
              <a:buFont typeface="Arial" charset="0"/>
              <a:buNone/>
              <a:defRPr/>
            </a:pPr>
            <a:endParaRPr lang="en-CA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00000"/>
              </a:lnSpc>
              <a:buFont typeface="Arial" charset="0"/>
              <a:buChar char="•"/>
              <a:defRPr/>
            </a:pPr>
            <a:endParaRPr lang="en-CA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00000"/>
              </a:lnSpc>
              <a:buFont typeface="Arial" charset="0"/>
              <a:buChar char="•"/>
              <a:defRPr/>
            </a:pPr>
            <a:endParaRPr lang="en-C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199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199" y="130175"/>
            <a:ext cx="11402291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Physical Hazards – Cold Related</a:t>
            </a:r>
          </a:p>
        </p:txBody>
      </p:sp>
      <p:pic>
        <p:nvPicPr>
          <p:cNvPr id="8" name="Picture 4" descr="http://i.cbc.ca/1.2487205.1389113488!/fileImage/httpImage/image.png_gen/derivatives/original_620/environment-canada-wind-chill-char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8130" y="822325"/>
            <a:ext cx="4410075" cy="544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3630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23849" y="1"/>
            <a:ext cx="11526405" cy="75088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Precautions</a:t>
            </a:r>
          </a:p>
        </p:txBody>
      </p:sp>
      <p:sp>
        <p:nvSpPr>
          <p:cNvPr id="9" name="Content Placeholder 2">
            <a:extLst/>
          </p:cNvPr>
          <p:cNvSpPr txBox="1">
            <a:spLocks/>
          </p:cNvSpPr>
          <p:nvPr/>
        </p:nvSpPr>
        <p:spPr>
          <a:xfrm>
            <a:off x="1200658" y="1114679"/>
            <a:ext cx="8793734" cy="4679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algn="just">
              <a:defRPr/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Take sufficient breaks.</a:t>
            </a:r>
          </a:p>
          <a:p>
            <a:pPr marL="357188" indent="-357188" algn="just">
              <a:defRPr/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Obey all health &amp; safety instructions.</a:t>
            </a:r>
          </a:p>
          <a:p>
            <a:pPr marL="357188" indent="-357188" algn="just">
              <a:defRPr/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Wear appropriate PPE at all times.</a:t>
            </a:r>
          </a:p>
          <a:p>
            <a:pPr marL="357188" indent="-357188" algn="just">
              <a:defRPr/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proper lifting and carrying procedures.</a:t>
            </a:r>
          </a:p>
          <a:p>
            <a:pPr marL="357188" indent="-357188" algn="just">
              <a:defRPr/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Never work alone.</a:t>
            </a:r>
          </a:p>
          <a:p>
            <a:pPr marL="357188" indent="-357188" algn="just">
              <a:defRPr/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Keep situational awareness:</a:t>
            </a:r>
          </a:p>
          <a:p>
            <a:pPr marL="712788" lvl="1" indent="-355600" algn="just">
              <a:buFont typeface="Wingdings" panose="05000000000000000000" pitchFamily="2" charset="2"/>
              <a:buChar char="ü"/>
              <a:defRPr/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Concentrate on what you are doing now, not what you are going to do!</a:t>
            </a:r>
          </a:p>
          <a:p>
            <a:pPr marL="0" indent="0" algn="just">
              <a:buFont typeface="Arial" panose="020B0604020202020204" pitchFamily="34" charset="0"/>
              <a:buNone/>
              <a:defRPr/>
            </a:pPr>
            <a:endParaRPr lang="en-CA" alt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42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81012" y="83127"/>
            <a:ext cx="11360005" cy="66776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Wildlife Hazards in Work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nvironment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166812" y="1071306"/>
            <a:ext cx="10852005" cy="52181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Wildlife – especially in remote locations, e.g.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Birds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Bears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Coyotes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Snakes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Crocodiles/alligators</a:t>
            </a:r>
          </a:p>
          <a:p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Insects - stings</a:t>
            </a:r>
          </a:p>
          <a:p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Domestic dogs</a:t>
            </a:r>
          </a:p>
          <a:p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Poisonous plants</a:t>
            </a:r>
          </a:p>
          <a:p>
            <a:endParaRPr lang="en-CA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GB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438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1" y="130175"/>
            <a:ext cx="11961091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Wildlife Response </a:t>
            </a:r>
            <a:r>
              <a:rPr lang="en-CA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lang="en-CA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azards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60674" y="1050787"/>
            <a:ext cx="10450945" cy="49688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During search and collection of oiled wildlife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Slips, trips and falls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Lacerations/broken bones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Bites/cuts/scratches/stab wounds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Strains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Heat/cold related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Zoonotic diseases/parasites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Working near water</a:t>
            </a:r>
          </a:p>
          <a:p>
            <a:pPr lvl="1" indent="-420688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Working in proximity to heavy machinery (clean-up)</a:t>
            </a:r>
          </a:p>
        </p:txBody>
      </p:sp>
    </p:spTree>
    <p:extLst>
      <p:ext uri="{BB962C8B-B14F-4D97-AF65-F5344CB8AC3E}">
        <p14:creationId xmlns:p14="http://schemas.microsoft.com/office/powerpoint/2010/main" val="636587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130175"/>
            <a:ext cx="121920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Wildlife Response </a:t>
            </a:r>
            <a:r>
              <a:rPr lang="en-CA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lang="en-CA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azards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96574" y="1085719"/>
            <a:ext cx="1147618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During wildlife rehabilitation</a:t>
            </a:r>
          </a:p>
          <a:p>
            <a:pPr marL="630238" lvl="1" indent="-365125">
              <a:lnSpc>
                <a:spcPct val="100000"/>
              </a:lnSpc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Slips, trips and falls</a:t>
            </a:r>
          </a:p>
          <a:p>
            <a:pPr marL="630238" lvl="1" indent="-365125">
              <a:lnSpc>
                <a:spcPct val="100000"/>
              </a:lnSpc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Lacerations/broken bones</a:t>
            </a:r>
          </a:p>
          <a:p>
            <a:pPr marL="630238" lvl="1" indent="-365125">
              <a:lnSpc>
                <a:spcPct val="100000"/>
              </a:lnSpc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Bites/cuts/scratches/stab wounds</a:t>
            </a:r>
          </a:p>
          <a:p>
            <a:pPr marL="630238" lvl="1" indent="-365125">
              <a:lnSpc>
                <a:spcPct val="100000"/>
              </a:lnSpc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Strains</a:t>
            </a:r>
          </a:p>
          <a:p>
            <a:pPr marL="630238" lvl="1" indent="-365125">
              <a:lnSpc>
                <a:spcPct val="100000"/>
              </a:lnSpc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Zoonotic diseases/parasites</a:t>
            </a:r>
          </a:p>
          <a:p>
            <a:pPr marL="630238" lvl="1" indent="-365125">
              <a:lnSpc>
                <a:spcPct val="100000"/>
              </a:lnSpc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Skin irritations due to allergies (latex gloves, etc.)</a:t>
            </a:r>
          </a:p>
          <a:p>
            <a:pPr marL="630238" lvl="1" indent="-365125">
              <a:lnSpc>
                <a:spcPct val="100000"/>
              </a:lnSpc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Skin puncture from syringes</a:t>
            </a:r>
          </a:p>
          <a:p>
            <a:pPr marL="630238" lvl="1" indent="-365125">
              <a:lnSpc>
                <a:spcPct val="100000"/>
              </a:lnSpc>
            </a:pPr>
            <a:r>
              <a:rPr lang="en-CA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Burns/shock from heaters/electrical equipment</a:t>
            </a:r>
          </a:p>
          <a:p>
            <a:pPr marL="630238" lvl="1" indent="-365125">
              <a:lnSpc>
                <a:spcPct val="100000"/>
              </a:lnSpc>
            </a:pPr>
            <a:endParaRPr lang="en-CA" altLang="en-US" sz="28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157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23849" y="92365"/>
            <a:ext cx="11526405" cy="65852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Wildlife Handling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recautions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78032" y="977625"/>
            <a:ext cx="11313968" cy="5400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>
              <a:lnSpc>
                <a:spcPct val="100000"/>
              </a:lnSpc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proper decontamination procedures before eating/drinking/taking breaks.</a:t>
            </a:r>
          </a:p>
          <a:p>
            <a:pPr marL="357188" indent="-357188">
              <a:lnSpc>
                <a:spcPct val="100000"/>
              </a:lnSpc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Wear PPE properly as directed.</a:t>
            </a:r>
          </a:p>
          <a:p>
            <a:pPr marL="357188" indent="-357188">
              <a:lnSpc>
                <a:spcPct val="100000"/>
              </a:lnSpc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Take sufficient breaks.</a:t>
            </a:r>
          </a:p>
          <a:p>
            <a:pPr marL="357188" indent="-357188">
              <a:lnSpc>
                <a:spcPct val="100000"/>
              </a:lnSpc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proper lifting procedures.</a:t>
            </a:r>
          </a:p>
          <a:p>
            <a:pPr marL="357188" indent="-357188">
              <a:lnSpc>
                <a:spcPct val="100000"/>
              </a:lnSpc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Proper ventilation.</a:t>
            </a:r>
          </a:p>
          <a:p>
            <a:pPr marL="357188" indent="-357188">
              <a:lnSpc>
                <a:spcPct val="100000"/>
              </a:lnSpc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Follow directions for disease control.</a:t>
            </a:r>
          </a:p>
          <a:p>
            <a:pPr marL="357188" indent="-357188">
              <a:lnSpc>
                <a:spcPct val="100000"/>
              </a:lnSpc>
            </a:pPr>
            <a:r>
              <a:rPr lang="en-CA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trained personnel should attempt to capture or treat wildlife.</a:t>
            </a:r>
          </a:p>
        </p:txBody>
      </p:sp>
    </p:spTree>
    <p:extLst>
      <p:ext uri="{BB962C8B-B14F-4D97-AF65-F5344CB8AC3E}">
        <p14:creationId xmlns:p14="http://schemas.microsoft.com/office/powerpoint/2010/main" val="1565079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199" y="130175"/>
            <a:ext cx="11300691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Other Hazards in Work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nvironment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216153" y="905257"/>
            <a:ext cx="10797372" cy="565560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CA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Transportation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CA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Road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CA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Helicopters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CA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Fixed wing aircraft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CA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Boat and water operations</a:t>
            </a:r>
          </a:p>
          <a:p>
            <a:pPr>
              <a:defRPr/>
            </a:pPr>
            <a:r>
              <a:rPr lang="en-CA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Noise exposure</a:t>
            </a:r>
          </a:p>
          <a:p>
            <a:pPr>
              <a:defRPr/>
            </a:pPr>
            <a:r>
              <a:rPr lang="en-CA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Drugs and alcohol</a:t>
            </a:r>
          </a:p>
          <a:p>
            <a:pPr>
              <a:defRPr/>
            </a:pPr>
            <a:r>
              <a:rPr lang="en-CA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Allergies</a:t>
            </a:r>
          </a:p>
          <a:p>
            <a:pPr>
              <a:defRPr/>
            </a:pPr>
            <a:r>
              <a:rPr lang="en-CA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Firearms, munitions, weapons </a:t>
            </a:r>
          </a:p>
          <a:p>
            <a:pPr>
              <a:defRPr/>
            </a:pPr>
            <a:r>
              <a:rPr lang="en-CA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Biohazards on shorelines (sharps)</a:t>
            </a:r>
          </a:p>
          <a:p>
            <a:pPr>
              <a:defRPr/>
            </a:pPr>
            <a:endParaRPr lang="en-CA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defRPr/>
            </a:pPr>
            <a:endParaRPr lang="en-CA" sz="28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defRPr/>
            </a:pPr>
            <a:endParaRPr lang="en-CA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defRPr/>
            </a:pPr>
            <a:endParaRPr lang="en-CA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GB" alt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833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457199" y="130175"/>
            <a:ext cx="11393055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Safety Plan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60400" y="1160187"/>
            <a:ext cx="1069644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safety plan must be developed for the response.</a:t>
            </a:r>
          </a:p>
          <a:p>
            <a:pPr marL="357188" indent="-357188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Applicable to all response activities:</a:t>
            </a:r>
          </a:p>
          <a:p>
            <a:pPr lvl="1" indent="-328613">
              <a:spcBef>
                <a:spcPts val="163"/>
              </a:spcBef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water</a:t>
            </a:r>
          </a:p>
          <a:p>
            <a:pPr lvl="1" indent="-328613">
              <a:spcBef>
                <a:spcPts val="163"/>
              </a:spcBef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Aerial</a:t>
            </a:r>
          </a:p>
          <a:p>
            <a:pPr lvl="1" indent="-328613">
              <a:spcBef>
                <a:spcPts val="163"/>
              </a:spcBef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Shoreline</a:t>
            </a:r>
          </a:p>
          <a:p>
            <a:pPr lvl="1" indent="-328613">
              <a:spcBef>
                <a:spcPts val="163"/>
              </a:spcBef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Command post</a:t>
            </a:r>
          </a:p>
          <a:p>
            <a:pPr marL="357188" indent="-357188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Implementation of safety plan is the responsibility of the incident commander/supervisor.</a:t>
            </a:r>
          </a:p>
        </p:txBody>
      </p:sp>
    </p:spTree>
    <p:extLst>
      <p:ext uri="{BB962C8B-B14F-4D97-AF65-F5344CB8AC3E}">
        <p14:creationId xmlns:p14="http://schemas.microsoft.com/office/powerpoint/2010/main" val="2750061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457200" y="130175"/>
            <a:ext cx="1123603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 Elements of a Safety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lan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370422" y="1085719"/>
            <a:ext cx="1145251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>
              <a:lnSpc>
                <a:spcPct val="110000"/>
              </a:lnSpc>
              <a:spcBef>
                <a:spcPct val="30000"/>
              </a:spcBef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Evaluate potential hazards</a:t>
            </a:r>
          </a:p>
          <a:p>
            <a:pPr marL="712788" lvl="1" indent="-355600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Safe task analysis</a:t>
            </a:r>
          </a:p>
          <a:p>
            <a:pPr marL="357188" indent="-357188">
              <a:lnSpc>
                <a:spcPct val="110000"/>
              </a:lnSpc>
              <a:spcBef>
                <a:spcPct val="30000"/>
              </a:spcBef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 essential safety requirements:</a:t>
            </a:r>
          </a:p>
          <a:p>
            <a:pPr marL="712788" lvl="1" indent="-355600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Establish site control</a:t>
            </a:r>
          </a:p>
          <a:p>
            <a:pPr marL="712788" lvl="1" indent="-355600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Safety training/briefings</a:t>
            </a:r>
          </a:p>
          <a:p>
            <a:pPr marL="712788" lvl="1" indent="-355600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Equipment</a:t>
            </a:r>
          </a:p>
          <a:p>
            <a:pPr marL="357188" indent="-357188">
              <a:lnSpc>
                <a:spcPct val="110000"/>
              </a:lnSpc>
              <a:spcBef>
                <a:spcPct val="30000"/>
              </a:spcBef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Reporting</a:t>
            </a:r>
          </a:p>
        </p:txBody>
      </p:sp>
    </p:spTree>
    <p:extLst>
      <p:ext uri="{BB962C8B-B14F-4D97-AF65-F5344CB8AC3E}">
        <p14:creationId xmlns:p14="http://schemas.microsoft.com/office/powerpoint/2010/main" val="2433127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457200" y="130175"/>
            <a:ext cx="1142076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Evaluate Potential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azards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181424" y="1207380"/>
            <a:ext cx="10513752" cy="50964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>
              <a:spcBef>
                <a:spcPts val="600"/>
              </a:spcBef>
              <a:spcAft>
                <a:spcPts val="6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Conduct on-site safe tasks analysis:</a:t>
            </a:r>
          </a:p>
          <a:p>
            <a:pPr marL="814387" lvl="1" indent="-4572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Identify hazards</a:t>
            </a:r>
          </a:p>
          <a:p>
            <a:pPr marL="814387" lvl="1" indent="-4572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Identify operations.</a:t>
            </a:r>
          </a:p>
          <a:p>
            <a:pPr marL="357188" indent="-357188">
              <a:spcBef>
                <a:spcPts val="600"/>
              </a:spcBef>
              <a:spcAft>
                <a:spcPts val="6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Must be done on every site and every time clean-up crew arrive on site.</a:t>
            </a:r>
          </a:p>
          <a:p>
            <a:pPr marL="357188" indent="-357188">
              <a:spcBef>
                <a:spcPts val="600"/>
              </a:spcBef>
              <a:spcAft>
                <a:spcPts val="600"/>
              </a:spcAft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Evaluate risks and mitigation measures.</a:t>
            </a:r>
          </a:p>
        </p:txBody>
      </p:sp>
    </p:spTree>
    <p:extLst>
      <p:ext uri="{BB962C8B-B14F-4D97-AF65-F5344CB8AC3E}">
        <p14:creationId xmlns:p14="http://schemas.microsoft.com/office/powerpoint/2010/main" val="2321866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07950" y="0"/>
            <a:ext cx="11890086" cy="762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 Essential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afety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equirements</a:t>
            </a:r>
          </a:p>
        </p:txBody>
      </p:sp>
      <p:sp>
        <p:nvSpPr>
          <p:cNvPr id="6" name="Rectangle 3">
            <a:extLst/>
          </p:cNvPr>
          <p:cNvSpPr txBox="1">
            <a:spLocks noChangeArrowheads="1"/>
          </p:cNvSpPr>
          <p:nvPr/>
        </p:nvSpPr>
        <p:spPr>
          <a:xfrm>
            <a:off x="802880" y="1107377"/>
            <a:ext cx="10878848" cy="44640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buFont typeface="Arial" charset="0"/>
              <a:buNone/>
              <a:defRPr/>
            </a:pPr>
            <a:r>
              <a:rPr lang="en-GB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Site control:</a:t>
            </a:r>
          </a:p>
          <a:p>
            <a:pPr marL="357188" indent="-357188">
              <a:lnSpc>
                <a:spcPct val="110000"/>
              </a:lnSpc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GB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Limit access to essential personnel</a:t>
            </a:r>
          </a:p>
          <a:p>
            <a:pPr marL="712788" lvl="1" indent="-328613">
              <a:lnSpc>
                <a:spcPct val="110000"/>
              </a:lnSpc>
              <a:spcBef>
                <a:spcPts val="120"/>
              </a:spcBef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Command post</a:t>
            </a:r>
          </a:p>
          <a:p>
            <a:pPr marL="712788" lvl="1" indent="-328613">
              <a:lnSpc>
                <a:spcPct val="110000"/>
              </a:lnSpc>
              <a:spcBef>
                <a:spcPts val="120"/>
              </a:spcBef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Clean-up sites</a:t>
            </a:r>
          </a:p>
          <a:p>
            <a:pPr marL="712788" lvl="1" indent="-328613">
              <a:lnSpc>
                <a:spcPct val="110000"/>
              </a:lnSpc>
              <a:spcBef>
                <a:spcPts val="120"/>
              </a:spcBef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Identification for workers.</a:t>
            </a:r>
          </a:p>
          <a:p>
            <a:pPr marL="357188" indent="-357188">
              <a:lnSpc>
                <a:spcPct val="110000"/>
              </a:lnSpc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GB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workers must be briefed on site safety plan.</a:t>
            </a:r>
          </a:p>
          <a:p>
            <a:pPr marL="357188" indent="-357188">
              <a:lnSpc>
                <a:spcPct val="110000"/>
              </a:lnSpc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GB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Identify first-aid workers on site.</a:t>
            </a:r>
          </a:p>
          <a:p>
            <a:pPr marL="0" indent="0">
              <a:lnSpc>
                <a:spcPct val="110000"/>
              </a:lnSpc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endParaRPr lang="en-GB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95000"/>
              </a:lnSpc>
              <a:buFont typeface="Arial" charset="0"/>
              <a:buChar char="•"/>
              <a:defRPr/>
            </a:pPr>
            <a:endParaRPr lang="en-GB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95000"/>
              </a:lnSpc>
              <a:buFont typeface="Arial" charset="0"/>
              <a:buChar char="•"/>
              <a:defRPr/>
            </a:pPr>
            <a:endParaRPr lang="en-GB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250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79388" y="17463"/>
            <a:ext cx="11790939" cy="7778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 Essential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afety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equirements</a:t>
            </a:r>
          </a:p>
        </p:txBody>
      </p:sp>
      <p:sp>
        <p:nvSpPr>
          <p:cNvPr id="6" name="Rectangle 3">
            <a:extLst/>
          </p:cNvPr>
          <p:cNvSpPr txBox="1">
            <a:spLocks noChangeArrowheads="1"/>
          </p:cNvSpPr>
          <p:nvPr/>
        </p:nvSpPr>
        <p:spPr>
          <a:xfrm>
            <a:off x="687388" y="1131467"/>
            <a:ext cx="11282939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buFont typeface="Arial" charset="0"/>
              <a:buNone/>
              <a:defRPr/>
            </a:pPr>
            <a:r>
              <a:rPr lang="en-GB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Safety training/briefings</a:t>
            </a:r>
            <a:r>
              <a:rPr lang="en-GB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0" indent="0">
              <a:lnSpc>
                <a:spcPct val="95000"/>
              </a:lnSpc>
              <a:buFont typeface="Arial" charset="0"/>
              <a:buNone/>
              <a:defRPr/>
            </a:pPr>
            <a:endParaRPr lang="en-GB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57188" indent="-357188">
              <a:lnSpc>
                <a:spcPct val="95000"/>
              </a:lnSpc>
              <a:buFont typeface="Arial" charset="0"/>
              <a:buChar char="•"/>
              <a:defRPr/>
            </a:pPr>
            <a:r>
              <a:rPr lang="en-GB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personnel must be trained for the task they need to accomplish.</a:t>
            </a:r>
          </a:p>
          <a:p>
            <a:pPr marL="357188" indent="-357188">
              <a:lnSpc>
                <a:spcPct val="95000"/>
              </a:lnSpc>
              <a:buFont typeface="Arial" charset="0"/>
              <a:buChar char="•"/>
              <a:defRPr/>
            </a:pPr>
            <a:endParaRPr lang="en-GB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57188" indent="-357188">
              <a:lnSpc>
                <a:spcPct val="95000"/>
              </a:lnSpc>
              <a:buFont typeface="Arial" charset="0"/>
              <a:buChar char="•"/>
              <a:defRPr/>
            </a:pPr>
            <a:r>
              <a:rPr lang="en-GB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Basic on-site training.</a:t>
            </a:r>
          </a:p>
          <a:p>
            <a:pPr marL="357188" indent="-357188">
              <a:lnSpc>
                <a:spcPct val="95000"/>
              </a:lnSpc>
              <a:buFont typeface="Arial" charset="0"/>
              <a:buChar char="•"/>
              <a:defRPr/>
            </a:pPr>
            <a:endParaRPr lang="en-GB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57188" indent="-357188">
              <a:lnSpc>
                <a:spcPct val="95000"/>
              </a:lnSpc>
              <a:buFont typeface="Arial" charset="0"/>
              <a:buChar char="•"/>
              <a:defRPr/>
            </a:pPr>
            <a:r>
              <a:rPr lang="en-GB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Daily site safety briefings (weather, objectives, etc.).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232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79388" y="17463"/>
            <a:ext cx="11790939" cy="7778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 Essential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afety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equirements</a:t>
            </a:r>
          </a:p>
        </p:txBody>
      </p:sp>
      <p:sp>
        <p:nvSpPr>
          <p:cNvPr id="7" name="Rectangle 3">
            <a:extLst/>
          </p:cNvPr>
          <p:cNvSpPr txBox="1">
            <a:spLocks noChangeArrowheads="1"/>
          </p:cNvSpPr>
          <p:nvPr/>
        </p:nvSpPr>
        <p:spPr>
          <a:xfrm>
            <a:off x="646544" y="908050"/>
            <a:ext cx="10538691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buFont typeface="Arial" charset="0"/>
              <a:buNone/>
              <a:defRPr/>
            </a:pPr>
            <a:r>
              <a:rPr lang="en-GB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Equipment:</a:t>
            </a:r>
          </a:p>
          <a:p>
            <a:pPr>
              <a:lnSpc>
                <a:spcPct val="95000"/>
              </a:lnSpc>
              <a:buFont typeface="Arial" charset="0"/>
              <a:buChar char="•"/>
              <a:defRPr/>
            </a:pPr>
            <a:endParaRPr lang="en-GB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57188" indent="-357188">
              <a:lnSpc>
                <a:spcPct val="95000"/>
              </a:lnSpc>
              <a:buFont typeface="Arial" charset="0"/>
              <a:buChar char="•"/>
              <a:defRPr/>
            </a:pPr>
            <a:r>
              <a:rPr lang="en-GB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Safety equipment must be provided</a:t>
            </a:r>
            <a:r>
              <a:rPr lang="en-GB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814388" lvl="1" indent="-457200">
              <a:lnSpc>
                <a:spcPct val="95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Protective clothing</a:t>
            </a:r>
          </a:p>
          <a:p>
            <a:pPr>
              <a:lnSpc>
                <a:spcPct val="95000"/>
              </a:lnSpc>
              <a:buFont typeface="Arial" charset="0"/>
              <a:buChar char="•"/>
              <a:defRPr/>
            </a:pPr>
            <a:endParaRPr lang="en-GB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57188" indent="-357188">
              <a:lnSpc>
                <a:spcPct val="95000"/>
              </a:lnSpc>
              <a:buFont typeface="Arial" charset="0"/>
              <a:buChar char="•"/>
              <a:defRPr/>
            </a:pPr>
            <a:r>
              <a:rPr lang="en-GB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Basic facilities must be in place:</a:t>
            </a:r>
          </a:p>
          <a:p>
            <a:pPr marL="814388" lvl="1" indent="-457200">
              <a:lnSpc>
                <a:spcPct val="95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First aid</a:t>
            </a:r>
          </a:p>
          <a:p>
            <a:pPr marL="814388" lvl="1" indent="-457200">
              <a:lnSpc>
                <a:spcPct val="95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Sanitation</a:t>
            </a:r>
          </a:p>
          <a:p>
            <a:pPr marL="814388" lvl="1" indent="-457200">
              <a:lnSpc>
                <a:spcPct val="95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Rest areas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448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79388" y="17463"/>
            <a:ext cx="11790939" cy="7778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 Essential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afety Requirements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76563" y="1229995"/>
            <a:ext cx="10838873" cy="38163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algn="just">
              <a:lnSpc>
                <a:spcPct val="95000"/>
              </a:lnSpc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Communications in place</a:t>
            </a:r>
          </a:p>
          <a:p>
            <a:pPr marL="357188" indent="-357188" algn="just">
              <a:lnSpc>
                <a:spcPct val="95000"/>
              </a:lnSpc>
            </a:pPr>
            <a:endParaRPr lang="en-GB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57188" indent="-357188" algn="just">
              <a:lnSpc>
                <a:spcPct val="95000"/>
              </a:lnSpc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Don’t forget specific hazards:</a:t>
            </a:r>
          </a:p>
          <a:p>
            <a:pPr marL="814387" lvl="1" indent="-457200" algn="just">
              <a:lnSpc>
                <a:spcPct val="95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On-water operations, crane usage; entry to confined spaces; helicopter operations</a:t>
            </a:r>
          </a:p>
          <a:p>
            <a:pPr algn="just">
              <a:lnSpc>
                <a:spcPct val="110000"/>
              </a:lnSpc>
              <a:spcBef>
                <a:spcPct val="50000"/>
              </a:spcBef>
            </a:pPr>
            <a:endParaRPr lang="en-GB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fr-FR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44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558800" y="130175"/>
            <a:ext cx="1138381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Safety Training/Briefings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002145" y="1099947"/>
            <a:ext cx="11189855" cy="45699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>
              <a:lnSpc>
                <a:spcPct val="100000"/>
              </a:lnSpc>
              <a:spcBef>
                <a:spcPct val="30000"/>
              </a:spcBef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Site safety policy</a:t>
            </a:r>
          </a:p>
          <a:p>
            <a:pPr marL="357188" indent="-357188">
              <a:lnSpc>
                <a:spcPct val="100000"/>
              </a:lnSpc>
              <a:spcBef>
                <a:spcPct val="30000"/>
              </a:spcBef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Chain-of-command on site</a:t>
            </a:r>
          </a:p>
          <a:p>
            <a:pPr marL="357188" indent="-357188">
              <a:lnSpc>
                <a:spcPct val="100000"/>
              </a:lnSpc>
              <a:spcBef>
                <a:spcPct val="30000"/>
              </a:spcBef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Safety procedures:</a:t>
            </a:r>
          </a:p>
          <a:p>
            <a:pPr marL="712788" lvl="1" indent="-328613">
              <a:lnSpc>
                <a:spcPct val="10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 safety</a:t>
            </a:r>
          </a:p>
          <a:p>
            <a:pPr marL="712788" lvl="1" indent="-328613">
              <a:lnSpc>
                <a:spcPct val="10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Procedures for specific operations/equipment</a:t>
            </a:r>
          </a:p>
          <a:p>
            <a:pPr marL="357188" indent="-357188">
              <a:lnSpc>
                <a:spcPct val="100000"/>
              </a:lnSpc>
              <a:spcBef>
                <a:spcPct val="30000"/>
              </a:spcBef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Emergency procedures:</a:t>
            </a:r>
          </a:p>
          <a:p>
            <a:pPr marL="712788" lvl="1" indent="-328613">
              <a:lnSpc>
                <a:spcPct val="10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Personal injury; evacuation; fire-fighting</a:t>
            </a:r>
          </a:p>
        </p:txBody>
      </p:sp>
    </p:spTree>
    <p:extLst>
      <p:ext uri="{BB962C8B-B14F-4D97-AF65-F5344CB8AC3E}">
        <p14:creationId xmlns:p14="http://schemas.microsoft.com/office/powerpoint/2010/main" val="3816277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482" y="247739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</TotalTime>
  <Words>1351</Words>
  <Application>Microsoft Office PowerPoint</Application>
  <PresentationFormat>Widescreen</PresentationFormat>
  <Paragraphs>270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Calibri Light</vt:lpstr>
      <vt:lpstr>inherit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139</cp:revision>
  <dcterms:created xsi:type="dcterms:W3CDTF">2024-09-27T05:40:49Z</dcterms:created>
  <dcterms:modified xsi:type="dcterms:W3CDTF">2025-01-15T10:19:21Z</dcterms:modified>
</cp:coreProperties>
</file>
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6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6624" y="2088249"/>
            <a:ext cx="10649528" cy="1813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Fate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behaviour of oil in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marine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shoreline environment</a:t>
            </a:r>
            <a:endParaRPr lang="en-IN" sz="44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43215" y="1604308"/>
            <a:ext cx="1009373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</a:t>
            </a: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 the fate &amp;</a:t>
            </a:r>
            <a:r>
              <a:rPr lang="en-US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3200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behaviour</a:t>
            </a: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oil when spilled into the marine and shoreline environment.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12918" y="0"/>
            <a:ext cx="10954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5930" y="1086769"/>
            <a:ext cx="1018831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Physical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chemical processes will change oil properties and behaviour once spilled into the environment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GB" altLang="en-US" sz="1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Referred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as “oil weathering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ja-JP" sz="1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weathering will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influence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selection of appropriate response strategies, affect operations and oil toxicity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en-US" sz="1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weathering is influenced by important oil properties.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37308" y="-31167"/>
            <a:ext cx="10917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Behaviour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87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70849" y="1180956"/>
            <a:ext cx="1057101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  <a:defRPr/>
            </a:pP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Specific </a:t>
            </a: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gravity/</a:t>
            </a:r>
            <a:r>
              <a:rPr lang="en-GB" sz="3200" baseline="30000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GB" sz="3200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API</a:t>
            </a: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density</a:t>
            </a:r>
            <a:endParaRPr lang="en-GB" sz="2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  <a:buFont typeface="Arial" charset="0"/>
              <a:buChar char="•"/>
              <a:defRPr/>
            </a:pPr>
            <a:r>
              <a:rPr lang="en-GB" sz="3200" i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Viscosity</a:t>
            </a: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resistance </a:t>
            </a: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flow</a:t>
            </a:r>
          </a:p>
          <a:p>
            <a:pPr>
              <a:lnSpc>
                <a:spcPct val="150000"/>
              </a:lnSpc>
              <a:buFont typeface="Arial" charset="0"/>
              <a:buChar char="•"/>
              <a:defRPr/>
            </a:pP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Pour point: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temperature </a:t>
            </a: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below which oil does not flow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585216" y="-13286"/>
            <a:ext cx="10974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Important 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Properties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82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20981" y="1198150"/>
            <a:ext cx="10571019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  <a:defRPr/>
            </a:pPr>
            <a:r>
              <a:rPr lang="en-GB" sz="3200" dirty="0" smtClean="0">
                <a:ln w="0"/>
                <a:ea typeface="ＭＳ Ｐゴシック" charset="0"/>
                <a:cs typeface="ＭＳ Ｐゴシック" charset="0"/>
              </a:rPr>
              <a:t> </a:t>
            </a: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Volatility: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propensity to evaporate</a:t>
            </a:r>
          </a:p>
          <a:p>
            <a:pPr>
              <a:lnSpc>
                <a:spcPct val="150000"/>
              </a:lnSpc>
              <a:buFont typeface="Arial" charset="0"/>
              <a:buChar char="•"/>
              <a:defRPr/>
            </a:pP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Flash point:</a:t>
            </a:r>
          </a:p>
          <a:p>
            <a:pPr marL="85725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temperature </a:t>
            </a: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 which vapour will ignite</a:t>
            </a:r>
          </a:p>
          <a:p>
            <a:pPr>
              <a:lnSpc>
                <a:spcPct val="150000"/>
              </a:lnSpc>
              <a:buFont typeface="Arial" charset="0"/>
              <a:buChar char="•"/>
              <a:defRPr/>
            </a:pP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Asphaltene</a:t>
            </a: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content: </a:t>
            </a:r>
          </a:p>
          <a:p>
            <a:pPr marL="85725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propensity </a:t>
            </a: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emulsify</a:t>
            </a:r>
          </a:p>
          <a:p>
            <a:pPr lvl="1">
              <a:spcBef>
                <a:spcPct val="0"/>
              </a:spcBef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905161" y="0"/>
            <a:ext cx="105710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Important 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Properties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32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15999" y="776767"/>
            <a:ext cx="3751310" cy="527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40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Major processes: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Drifting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Spreading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Evaporation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Emulsification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Dispersion</a:t>
            </a:r>
          </a:p>
          <a:p>
            <a:pPr lvl="1">
              <a:spcBef>
                <a:spcPct val="0"/>
              </a:spcBef>
            </a:pP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49225" y="-14218"/>
            <a:ext cx="108246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Fate &amp;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Behaviour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Spilled Oil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77125" y="1718564"/>
            <a:ext cx="509905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Biodegradation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Dissolution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Photo-oxidation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Sedimentation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 interaction</a:t>
            </a:r>
          </a:p>
        </p:txBody>
      </p:sp>
    </p:spTree>
    <p:extLst>
      <p:ext uri="{BB962C8B-B14F-4D97-AF65-F5344CB8AC3E}">
        <p14:creationId xmlns:p14="http://schemas.microsoft.com/office/powerpoint/2010/main" val="2906427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Weathering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Processes Over Time</a:t>
            </a:r>
            <a:endParaRPr lang="en-IN" sz="36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617" r="-21617"/>
          <a:stretch>
            <a:fillRect/>
          </a:stretch>
        </p:blipFill>
        <p:spPr bwMode="auto">
          <a:xfrm>
            <a:off x="2140982" y="920283"/>
            <a:ext cx="7558087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615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-38503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Spreading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41883" y="1064309"/>
            <a:ext cx="9738893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spread</a:t>
            </a:r>
            <a:r>
              <a:rPr lang="ja-JP" altLang="en-US" sz="3200" dirty="0">
                <a:ln w="0"/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&amp;</a:t>
            </a:r>
            <a:r>
              <a:rPr lang="en-US" altLang="ja-JP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fragment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 surface occupying a larger area.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Thickness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layer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 surface will decrease over time, except in cases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emulsifies.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process affects oil recovery rates as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en-US" sz="1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Thin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layer is difficult to recover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Lower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encounter rate as oiled area is increasing</a:t>
            </a:r>
          </a:p>
        </p:txBody>
      </p:sp>
    </p:spTree>
    <p:extLst>
      <p:ext uri="{BB962C8B-B14F-4D97-AF65-F5344CB8AC3E}">
        <p14:creationId xmlns:p14="http://schemas.microsoft.com/office/powerpoint/2010/main" val="234071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94945" y="0"/>
            <a:ext cx="10778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Spreading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237" y="766618"/>
            <a:ext cx="5205412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5062" y="3323950"/>
            <a:ext cx="4575175" cy="305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1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6" y="-33748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Drifting at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20436" y="858951"/>
            <a:ext cx="1110008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drift at sea under the influence of currents and winds </a:t>
            </a:r>
          </a:p>
          <a:p>
            <a:endParaRPr lang="en-GB" altLang="en-US" sz="2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100% current direction and speed, approximately 3% wind direction and speed</a:t>
            </a: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041" y="2668272"/>
            <a:ext cx="5903913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804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-29119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 </a:t>
            </a:r>
            <a:r>
              <a:rPr lang="en-US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Content Placeholder 3" descr="Light Wind.pd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1" t="9982" r="16582" b="10736"/>
          <a:stretch>
            <a:fillRect/>
          </a:stretch>
        </p:blipFill>
        <p:spPr>
          <a:xfrm>
            <a:off x="7150100" y="1052623"/>
            <a:ext cx="2619375" cy="1423987"/>
          </a:xfrm>
          <a:prstGeom prst="rect">
            <a:avLst/>
          </a:prstGeom>
        </p:spPr>
      </p:pic>
      <p:pic>
        <p:nvPicPr>
          <p:cNvPr id="18" name="Picture 4" descr="Medium Wind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2" b="10510"/>
          <a:stretch>
            <a:fillRect/>
          </a:stretch>
        </p:blipFill>
        <p:spPr bwMode="auto">
          <a:xfrm>
            <a:off x="6548438" y="2603610"/>
            <a:ext cx="4178300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5" descr="Strong Wind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9" t="10043" r="9335" b="7715"/>
          <a:stretch>
            <a:fillRect/>
          </a:stretch>
        </p:blipFill>
        <p:spPr bwMode="auto">
          <a:xfrm>
            <a:off x="6548438" y="4030773"/>
            <a:ext cx="4383088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9"/>
          <p:cNvGrpSpPr>
            <a:grpSpLocks/>
          </p:cNvGrpSpPr>
          <p:nvPr/>
        </p:nvGrpSpPr>
        <p:grpSpPr bwMode="auto">
          <a:xfrm flipH="1">
            <a:off x="2068513" y="1308821"/>
            <a:ext cx="1657350" cy="822325"/>
            <a:chOff x="6012160" y="2708920"/>
            <a:chExt cx="2944415" cy="822960"/>
          </a:xfrm>
        </p:grpSpPr>
        <p:sp>
          <p:nvSpPr>
            <p:cNvPr id="21" name="Left Arrow 20">
              <a:extLst/>
            </p:cNvPr>
            <p:cNvSpPr>
              <a:spLocks noChangeArrowheads="1"/>
            </p:cNvSpPr>
            <p:nvPr/>
          </p:nvSpPr>
          <p:spPr bwMode="auto">
            <a:xfrm>
              <a:off x="6012160" y="2708920"/>
              <a:ext cx="2944415" cy="822960"/>
            </a:xfrm>
            <a:prstGeom prst="leftArrow">
              <a:avLst>
                <a:gd name="adj1" fmla="val 50000"/>
                <a:gd name="adj2" fmla="val 50007"/>
              </a:avLst>
            </a:prstGeom>
            <a:gradFill rotWithShape="1">
              <a:gsLst>
                <a:gs pos="0">
                  <a:srgbClr val="3A7CCB"/>
                </a:gs>
                <a:gs pos="20000">
                  <a:srgbClr val="3C7BC7"/>
                </a:gs>
                <a:gs pos="100000">
                  <a:srgbClr val="2C5D98"/>
                </a:gs>
              </a:gsLst>
              <a:lin ang="5400000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22" name="TextBox 11"/>
            <p:cNvSpPr txBox="1">
              <a:spLocks noChangeArrowheads="1"/>
            </p:cNvSpPr>
            <p:nvPr/>
          </p:nvSpPr>
          <p:spPr bwMode="auto">
            <a:xfrm>
              <a:off x="7228384" y="2894773"/>
              <a:ext cx="172819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/>
                <a:t>Wind</a:t>
              </a:r>
            </a:p>
          </p:txBody>
        </p:sp>
      </p:grpSp>
      <p:grpSp>
        <p:nvGrpSpPr>
          <p:cNvPr id="23" name="Group 8"/>
          <p:cNvGrpSpPr>
            <a:grpSpLocks/>
          </p:cNvGrpSpPr>
          <p:nvPr/>
        </p:nvGrpSpPr>
        <p:grpSpPr bwMode="auto">
          <a:xfrm flipH="1">
            <a:off x="2014030" y="2746375"/>
            <a:ext cx="2409825" cy="823913"/>
            <a:chOff x="6012160" y="2708920"/>
            <a:chExt cx="2948299" cy="822960"/>
          </a:xfrm>
        </p:grpSpPr>
        <p:sp>
          <p:nvSpPr>
            <p:cNvPr id="24" name="Left Arrow 23">
              <a:extLst/>
            </p:cNvPr>
            <p:cNvSpPr>
              <a:spLocks noChangeArrowheads="1"/>
            </p:cNvSpPr>
            <p:nvPr/>
          </p:nvSpPr>
          <p:spPr bwMode="auto">
            <a:xfrm>
              <a:off x="6012160" y="2708920"/>
              <a:ext cx="2944415" cy="822960"/>
            </a:xfrm>
            <a:prstGeom prst="leftArrow">
              <a:avLst>
                <a:gd name="adj1" fmla="val 50000"/>
                <a:gd name="adj2" fmla="val 50007"/>
              </a:avLst>
            </a:prstGeom>
            <a:gradFill rotWithShape="1">
              <a:gsLst>
                <a:gs pos="0">
                  <a:srgbClr val="3A7CCB"/>
                </a:gs>
                <a:gs pos="20000">
                  <a:srgbClr val="3C7BC7"/>
                </a:gs>
                <a:gs pos="100000">
                  <a:srgbClr val="2C5D98"/>
                </a:gs>
              </a:gsLst>
              <a:lin ang="5400000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25" name="TextBox 7"/>
            <p:cNvSpPr txBox="1">
              <a:spLocks noChangeArrowheads="1"/>
            </p:cNvSpPr>
            <p:nvPr/>
          </p:nvSpPr>
          <p:spPr bwMode="auto">
            <a:xfrm>
              <a:off x="7232267" y="2889567"/>
              <a:ext cx="17281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dirty="0"/>
                <a:t>Wind</a:t>
              </a:r>
            </a:p>
          </p:txBody>
        </p:sp>
      </p:grpSp>
      <p:grpSp>
        <p:nvGrpSpPr>
          <p:cNvPr id="26" name="Group 12"/>
          <p:cNvGrpSpPr>
            <a:grpSpLocks/>
          </p:cNvGrpSpPr>
          <p:nvPr/>
        </p:nvGrpSpPr>
        <p:grpSpPr bwMode="auto">
          <a:xfrm flipH="1">
            <a:off x="2014030" y="4318000"/>
            <a:ext cx="3589337" cy="823913"/>
            <a:chOff x="6012160" y="2708920"/>
            <a:chExt cx="2944415" cy="822960"/>
          </a:xfrm>
        </p:grpSpPr>
        <p:sp>
          <p:nvSpPr>
            <p:cNvPr id="27" name="Left Arrow 26">
              <a:extLst/>
            </p:cNvPr>
            <p:cNvSpPr>
              <a:spLocks noChangeArrowheads="1"/>
            </p:cNvSpPr>
            <p:nvPr/>
          </p:nvSpPr>
          <p:spPr bwMode="auto">
            <a:xfrm>
              <a:off x="6012160" y="2708920"/>
              <a:ext cx="2944415" cy="822960"/>
            </a:xfrm>
            <a:prstGeom prst="leftArrow">
              <a:avLst>
                <a:gd name="adj1" fmla="val 50000"/>
                <a:gd name="adj2" fmla="val 50007"/>
              </a:avLst>
            </a:prstGeom>
            <a:gradFill rotWithShape="1">
              <a:gsLst>
                <a:gs pos="0">
                  <a:srgbClr val="3A7CCB"/>
                </a:gs>
                <a:gs pos="20000">
                  <a:srgbClr val="3C7BC7"/>
                </a:gs>
                <a:gs pos="100000">
                  <a:srgbClr val="2C5D98"/>
                </a:gs>
              </a:gsLst>
              <a:lin ang="5400000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28" name="TextBox 14"/>
            <p:cNvSpPr txBox="1">
              <a:spLocks noChangeArrowheads="1"/>
            </p:cNvSpPr>
            <p:nvPr/>
          </p:nvSpPr>
          <p:spPr bwMode="auto">
            <a:xfrm>
              <a:off x="7228383" y="2895901"/>
              <a:ext cx="17281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/>
                <a:t>Wind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174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Evaporation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2475" y="925334"/>
            <a:ext cx="10366629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release vapours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atmosphere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Rate of emission will depend on ambient temperature, vapour pressure &amp;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concentration of volatile components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Vapours are generally flammable and toxic (health and safety issue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Evaporation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reduce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volume of oil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increase oil viscosity.</a:t>
            </a:r>
          </a:p>
        </p:txBody>
      </p:sp>
    </p:spTree>
    <p:extLst>
      <p:ext uri="{BB962C8B-B14F-4D97-AF65-F5344CB8AC3E}">
        <p14:creationId xmlns:p14="http://schemas.microsoft.com/office/powerpoint/2010/main" val="351340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Emulsification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8949" y="993449"/>
            <a:ext cx="9691828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Water droplets can be incorporated into the oil layer by wave action forming an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emulsion.</a:t>
            </a:r>
          </a:p>
          <a:p>
            <a:pPr marL="895350" indent="-4572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Can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 stable or unstable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3200" dirty="0" err="1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Asphaltene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content is a good indication of an oil’s propensity to form stable emulsions (above 0.5%).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major disadvantage for response:</a:t>
            </a:r>
          </a:p>
          <a:p>
            <a:pPr marL="914400" lvl="1" indent="-457200" algn="just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Increase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viscosity</a:t>
            </a:r>
          </a:p>
          <a:p>
            <a:pPr marL="914400" lvl="1" indent="-4572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Increase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volume</a:t>
            </a:r>
          </a:p>
        </p:txBody>
      </p:sp>
    </p:spTree>
    <p:extLst>
      <p:ext uri="{BB962C8B-B14F-4D97-AF65-F5344CB8AC3E}">
        <p14:creationId xmlns:p14="http://schemas.microsoft.com/office/powerpoint/2010/main" val="1875763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Emulsion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6818"/>
          <a:stretch>
            <a:fillRect/>
          </a:stretch>
        </p:blipFill>
        <p:spPr bwMode="auto">
          <a:xfrm>
            <a:off x="2024611" y="1013506"/>
            <a:ext cx="4681538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Content Placeholder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06149" y="1013506"/>
            <a:ext cx="3381375" cy="509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72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29366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 </a:t>
            </a:r>
            <a:r>
              <a:rPr lang="fr-FR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Dispersion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8127" y="933275"/>
            <a:ext cx="10519849" cy="5278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droplets will be naturally entrained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water column by wave action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breaking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slick into small droplets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spcBef>
                <a:spcPts val="163"/>
              </a:spcBef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Small droplets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propensity to remain in suspension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water column, facilitating dilution and biodegradation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 algn="just">
              <a:spcBef>
                <a:spcPts val="163"/>
              </a:spcBef>
              <a:buFont typeface="Arial" panose="020B0604020202020204" pitchFamily="34" charset="0"/>
              <a:buChar char="•"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Larger droplets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resurface to reform an oil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slick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spcBef>
                <a:spcPts val="163"/>
              </a:spcBef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Chemical dispersion using dispersants will enhance natural dispersion by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promoting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formation of small droplets.</a:t>
            </a:r>
          </a:p>
        </p:txBody>
      </p:sp>
    </p:spTree>
    <p:extLst>
      <p:ext uri="{BB962C8B-B14F-4D97-AF65-F5344CB8AC3E}">
        <p14:creationId xmlns:p14="http://schemas.microsoft.com/office/powerpoint/2010/main" val="247361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97585" y="0"/>
            <a:ext cx="10776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 </a:t>
            </a:r>
            <a:r>
              <a:rPr lang="fr-FR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Dispersion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3" descr="untitled12"/>
          <p:cNvPicPr>
            <a:picLocks noChangeAspect="1" noChangeArrowheads="1"/>
          </p:cNvPicPr>
          <p:nvPr/>
        </p:nvPicPr>
        <p:blipFill>
          <a:blip r:embed="rId2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68500" y="1035107"/>
            <a:ext cx="3422650" cy="5218113"/>
          </a:xfrm>
          <a:prstGeom prst="rect">
            <a:avLst/>
          </a:prstGeom>
          <a:noFill/>
        </p:spPr>
      </p:pic>
      <p:pic>
        <p:nvPicPr>
          <p:cNvPr id="7" name="Picture 4" descr="untitled13"/>
          <p:cNvPicPr>
            <a:picLocks noChangeAspect="1" noChangeArrowheads="1"/>
          </p:cNvPicPr>
          <p:nvPr/>
        </p:nvPicPr>
        <p:blipFill>
          <a:blip r:embed="rId3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035107"/>
            <a:ext cx="4575175" cy="345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5943599" y="4686292"/>
            <a:ext cx="49053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sz="3200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Braer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Shetland Isles, UK, 1993 </a:t>
            </a:r>
          </a:p>
        </p:txBody>
      </p:sp>
    </p:spTree>
    <p:extLst>
      <p:ext uri="{BB962C8B-B14F-4D97-AF65-F5344CB8AC3E}">
        <p14:creationId xmlns:p14="http://schemas.microsoft.com/office/powerpoint/2010/main" val="408917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29366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Effects </a:t>
            </a:r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Oil Weathering </a:t>
            </a:r>
            <a:r>
              <a:rPr lang="en-US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Response 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19175" y="897054"/>
            <a:ext cx="6096000" cy="544764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Evaporation</a:t>
            </a:r>
            <a:r>
              <a:rPr lang="en-US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Efficacy of response strategies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Containment (e.g. spreading)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situ burning (e.g. losing ignitability by emulsification)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Dispersants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Skimmers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Pumps </a:t>
            </a:r>
          </a:p>
        </p:txBody>
      </p:sp>
      <p:pic>
        <p:nvPicPr>
          <p:cNvPr id="9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803" y="3704131"/>
            <a:ext cx="4060069" cy="2492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774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63875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Interactions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85715" y="1247897"/>
            <a:ext cx="955051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most cases, oil slicks will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reach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coast.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can become stranded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process will be affected by shoreline wave exposure and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substrate.</a:t>
            </a:r>
          </a:p>
        </p:txBody>
      </p:sp>
    </p:spTree>
    <p:extLst>
      <p:ext uri="{BB962C8B-B14F-4D97-AF65-F5344CB8AC3E}">
        <p14:creationId xmlns:p14="http://schemas.microsoft.com/office/powerpoint/2010/main" val="2108282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Man-made </a:t>
            </a:r>
            <a:r>
              <a:rPr lang="fr-FR" altLang="en-US" sz="4000" b="1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fr-FR" altLang="en-US" sz="4000" b="1" dirty="0" err="1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horelines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7426" y="897054"/>
            <a:ext cx="10124289" cy="4883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generally penetrate deeply into permeable shorelines such as riprap/concrete </a:t>
            </a:r>
            <a:r>
              <a:rPr lang="en-GB" altLang="en-US" sz="2800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tetrapods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which limits the weathering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</a:t>
            </a:r>
          </a:p>
          <a:p>
            <a:pPr marL="914400" lvl="1" indent="-4572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adhere to impermeable shorelines (concrete or steel wharves, etc.) with little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penetration</a:t>
            </a: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may become trapped under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pilings</a:t>
            </a: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considered sensitive shoreline</a:t>
            </a:r>
          </a:p>
        </p:txBody>
      </p:sp>
    </p:spTree>
    <p:extLst>
      <p:ext uri="{BB962C8B-B14F-4D97-AF65-F5344CB8AC3E}">
        <p14:creationId xmlns:p14="http://schemas.microsoft.com/office/powerpoint/2010/main" val="230180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31597" y="0"/>
            <a:ext cx="108422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</a:t>
            </a:r>
            <a:r>
              <a:rPr lang="fr-FR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Interactions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63371" y="1377558"/>
            <a:ext cx="9452229" cy="25494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Rocks and boulders </a:t>
            </a:r>
          </a:p>
          <a:p>
            <a:pPr algn="just">
              <a:defRPr/>
            </a:pP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generally penetrate deeply into permeable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shorelines </a:t>
            </a:r>
            <a:endParaRPr lang="en-GB" altLang="en-US" sz="2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Deep penetration of oil limits the weathering process</a:t>
            </a:r>
          </a:p>
        </p:txBody>
      </p:sp>
    </p:spTree>
    <p:extLst>
      <p:ext uri="{BB962C8B-B14F-4D97-AF65-F5344CB8AC3E}">
        <p14:creationId xmlns:p14="http://schemas.microsoft.com/office/powerpoint/2010/main" val="2667767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86423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</a:t>
            </a:r>
            <a:r>
              <a:rPr lang="fr-FR" altLang="en-US" sz="4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altLang="en-US" sz="4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Interactions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59" y="1176561"/>
            <a:ext cx="9409137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Pebbles and cobbles beaches</a:t>
            </a:r>
          </a:p>
          <a:p>
            <a:pPr marL="914400" lvl="1" indent="-457200" algn="just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generally stick to surface of sediments.</a:t>
            </a:r>
          </a:p>
          <a:p>
            <a:pPr marL="914400" lvl="1" indent="-457200" algn="just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can penetrate into interstices between sediment material.</a:t>
            </a:r>
          </a:p>
          <a:p>
            <a:pPr marL="1371600" lvl="2" indent="-457200" algn="just">
              <a:spcAft>
                <a:spcPts val="1200"/>
              </a:spcAft>
              <a:buFont typeface="Wingdings" panose="05000000000000000000" pitchFamily="2" charset="2"/>
              <a:buChar char="§"/>
              <a:defRPr/>
            </a:pPr>
            <a:r>
              <a:rPr lang="en-GB" altLang="en-US" sz="24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Generally</a:t>
            </a: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low viscosity oils can penetrate deeper into sediments than heavy oils.</a:t>
            </a:r>
          </a:p>
          <a:p>
            <a:pPr marL="914400" lvl="1" indent="-457200" algn="just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Clean-up can be difficult due to penetration.</a:t>
            </a:r>
          </a:p>
        </p:txBody>
      </p:sp>
    </p:spTree>
    <p:extLst>
      <p:ext uri="{BB962C8B-B14F-4D97-AF65-F5344CB8AC3E}">
        <p14:creationId xmlns:p14="http://schemas.microsoft.com/office/powerpoint/2010/main" val="28842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</a:t>
            </a:r>
            <a:r>
              <a:rPr lang="fr-FR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Interactions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8127" y="1008934"/>
            <a:ext cx="10538137" cy="5052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Sand beaches</a:t>
            </a: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generally remain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surface with minimal penetration – depending on surface grain size.</a:t>
            </a: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be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buried in layers by erosion and sand movements due to wind, waves or tides.</a:t>
            </a: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mix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sand particles &amp;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sink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near shore environment or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intertidal zone.</a:t>
            </a: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mix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fine mineral particles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intertidal zone forming small aggregates which will eventually be dispersed.</a:t>
            </a:r>
          </a:p>
        </p:txBody>
      </p:sp>
    </p:spTree>
    <p:extLst>
      <p:ext uri="{BB962C8B-B14F-4D97-AF65-F5344CB8AC3E}">
        <p14:creationId xmlns:p14="http://schemas.microsoft.com/office/powerpoint/2010/main" val="392567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</a:t>
            </a:r>
            <a:r>
              <a:rPr lang="fr-FR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Interactions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27544" y="1142795"/>
            <a:ext cx="9536909" cy="4170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Mud flats and marshes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Generally, oil penetration is not observed as these sediments are very compact and often flooded.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Walking or heavy equipment can push oil into the sediments.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can penetrate into muddy shorelines via animals’ burrows.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can stick to vegetation. </a:t>
            </a:r>
          </a:p>
        </p:txBody>
      </p:sp>
    </p:spTree>
    <p:extLst>
      <p:ext uri="{BB962C8B-B14F-4D97-AF65-F5344CB8AC3E}">
        <p14:creationId xmlns:p14="http://schemas.microsoft.com/office/powerpoint/2010/main" val="1581015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29366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</a:t>
            </a:r>
            <a:r>
              <a:rPr lang="fr-FR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Interactions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438" y="1566863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363" y="1566863"/>
            <a:ext cx="44862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070476" y="4795902"/>
            <a:ext cx="8429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CA" altLang="en-US" sz="800" dirty="0">
                <a:solidFill>
                  <a:schemeClr val="bg1"/>
                </a:solidFill>
              </a:rPr>
              <a:t>Source: ITOPF</a:t>
            </a:r>
            <a:endParaRPr lang="en-CA" altLang="en-US" sz="800" dirty="0">
              <a:solidFill>
                <a:schemeClr val="bg1"/>
              </a:solidFill>
            </a:endParaRPr>
          </a:p>
        </p:txBody>
      </p:sp>
      <p:sp>
        <p:nvSpPr>
          <p:cNvPr id="9" name="TextBox 9"/>
          <p:cNvSpPr txBox="1">
            <a:spLocks noChangeArrowheads="1"/>
          </p:cNvSpPr>
          <p:nvPr/>
        </p:nvSpPr>
        <p:spPr bwMode="auto">
          <a:xfrm>
            <a:off x="9271001" y="4779963"/>
            <a:ext cx="141763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CA" altLang="en-US" sz="800">
                <a:solidFill>
                  <a:schemeClr val="bg1"/>
                </a:solidFill>
              </a:rPr>
              <a:t>Source: Korea Coast Guard</a:t>
            </a:r>
            <a:endParaRPr lang="en-CA" alt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322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87833" y="-1115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Subsea releases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8701" y="925580"/>
            <a:ext cx="10594038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Subsea releases can occur from sunken vessels or from a well blowout.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rise to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surface forming a surface oil slick that will be exposed to normal oil weathering processes.</a:t>
            </a:r>
          </a:p>
          <a:p>
            <a:pPr marL="914400" lvl="1" indent="-4572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can re-surface far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spill source due to horizontal currents, density stratification and vertical turbulence mixing. 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Smaller oil droplets can remain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water column, be dispersed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influence of subsea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currents &amp;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subject to biodegradation.</a:t>
            </a:r>
          </a:p>
        </p:txBody>
      </p:sp>
    </p:spTree>
    <p:extLst>
      <p:ext uri="{BB962C8B-B14F-4D97-AF65-F5344CB8AC3E}">
        <p14:creationId xmlns:p14="http://schemas.microsoft.com/office/powerpoint/2010/main" val="24711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7855" y="1362295"/>
            <a:ext cx="1016323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Weathering processes will change oil properties over time.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endParaRPr lang="en-US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</a:t>
            </a: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 a direct impact on safety &amp;</a:t>
            </a:r>
            <a:r>
              <a:rPr lang="en-US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operations on </a:t>
            </a: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effectiveness of spill equipment &amp;</a:t>
            </a:r>
            <a:r>
              <a:rPr lang="en-US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clean-up techniques.</a:t>
            </a:r>
          </a:p>
        </p:txBody>
      </p:sp>
    </p:spTree>
    <p:extLst>
      <p:ext uri="{BB962C8B-B14F-4D97-AF65-F5344CB8AC3E}">
        <p14:creationId xmlns:p14="http://schemas.microsoft.com/office/powerpoint/2010/main" val="324051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1190</Words>
  <Application>Microsoft Office PowerPoint</Application>
  <PresentationFormat>Widescreen</PresentationFormat>
  <Paragraphs>171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ＭＳ Ｐゴシック</vt:lpstr>
      <vt:lpstr>ＭＳ Ｐゴシック</vt:lpstr>
      <vt:lpstr>游ゴシック</vt:lpstr>
      <vt:lpstr>Arial</vt:lpstr>
      <vt:lpstr>Calibri</vt:lpstr>
      <vt:lpstr>Calibri Light</vt:lpstr>
      <vt:lpstr>inherit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123</cp:revision>
  <dcterms:created xsi:type="dcterms:W3CDTF">2024-09-27T05:40:49Z</dcterms:created>
  <dcterms:modified xsi:type="dcterms:W3CDTF">2025-01-15T09:45:01Z</dcterms:modified>
</cp:coreProperties>
</file>
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60" r:id="rId3"/>
    <p:sldId id="443" r:id="rId4"/>
    <p:sldId id="444" r:id="rId5"/>
    <p:sldId id="445" r:id="rId6"/>
    <p:sldId id="446" r:id="rId7"/>
    <p:sldId id="447" r:id="rId8"/>
    <p:sldId id="448" r:id="rId9"/>
    <p:sldId id="449" r:id="rId10"/>
    <p:sldId id="450" r:id="rId11"/>
    <p:sldId id="451" r:id="rId12"/>
    <p:sldId id="452" r:id="rId13"/>
    <p:sldId id="453" r:id="rId14"/>
    <p:sldId id="454" r:id="rId15"/>
    <p:sldId id="455" r:id="rId16"/>
    <p:sldId id="456" r:id="rId17"/>
    <p:sldId id="457" r:id="rId18"/>
    <p:sldId id="458" r:id="rId19"/>
    <p:sldId id="459" r:id="rId20"/>
    <p:sldId id="460" r:id="rId21"/>
    <p:sldId id="461" r:id="rId22"/>
    <p:sldId id="462" r:id="rId23"/>
    <p:sldId id="463" r:id="rId24"/>
    <p:sldId id="464" r:id="rId25"/>
    <p:sldId id="465" r:id="rId26"/>
    <p:sldId id="466" r:id="rId27"/>
    <p:sldId id="467" r:id="rId28"/>
    <p:sldId id="468" r:id="rId29"/>
    <p:sldId id="41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1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0555A-5A35-47AC-90DE-54164EB42B0B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299A2B-2DEA-46DC-A0A3-57D0D3700A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796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99A2B-2DEA-46DC-A0A3-57D0D3700AF3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026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8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413004" y="2221992"/>
            <a:ext cx="11365992" cy="165506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Situ Burning</a:t>
            </a:r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2"/>
          <p:cNvSpPr txBox="1">
            <a:spLocks/>
          </p:cNvSpPr>
          <p:nvPr/>
        </p:nvSpPr>
        <p:spPr>
          <a:xfrm>
            <a:off x="594361" y="15875"/>
            <a:ext cx="11109960" cy="798513"/>
          </a:xfrm>
          <a:prstGeom prst="rect">
            <a:avLst/>
          </a:prstGeom>
        </p:spPr>
        <p:txBody>
          <a:bodyPr lIns="90488" tIns="44450" rIns="90488" bIns="4445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Aim</a:t>
            </a:r>
          </a:p>
        </p:txBody>
      </p:sp>
      <p:sp>
        <p:nvSpPr>
          <p:cNvPr id="7" name="Rectangle 2"/>
          <p:cNvSpPr txBox="1">
            <a:spLocks/>
          </p:cNvSpPr>
          <p:nvPr/>
        </p:nvSpPr>
        <p:spPr>
          <a:xfrm>
            <a:off x="1060704" y="1785875"/>
            <a:ext cx="9985248" cy="243865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Understand the operational aspects of in situ burning including support equipment and accessories required.</a:t>
            </a:r>
          </a:p>
        </p:txBody>
      </p:sp>
    </p:spTree>
    <p:extLst>
      <p:ext uri="{BB962C8B-B14F-4D97-AF65-F5344CB8AC3E}">
        <p14:creationId xmlns:p14="http://schemas.microsoft.com/office/powerpoint/2010/main" val="2325323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200" y="130175"/>
            <a:ext cx="1129284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Situ Burning 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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ISB</a:t>
            </a:r>
          </a:p>
        </p:txBody>
      </p:sp>
      <p:pic>
        <p:nvPicPr>
          <p:cNvPr id="7" name="Content Placeholder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21426" y="885615"/>
            <a:ext cx="7164388" cy="537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415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23850" y="130175"/>
            <a:ext cx="1139875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Deepwater Horizon</a:t>
            </a:r>
          </a:p>
        </p:txBody>
      </p:sp>
      <p:pic>
        <p:nvPicPr>
          <p:cNvPr id="8" name="Content Placeholder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31301" y="822325"/>
            <a:ext cx="6551612" cy="5387975"/>
          </a:xfrm>
          <a:prstGeom prst="rect">
            <a:avLst/>
          </a:prstGeom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531300" y="5949950"/>
            <a:ext cx="5425249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200">
                <a:solidFill>
                  <a:schemeClr val="bg1"/>
                </a:solidFill>
                <a:latin typeface="Tahoma" panose="020B0604030504040204" pitchFamily="34" charset="0"/>
              </a:rPr>
              <a:t>Source: USCG </a:t>
            </a:r>
          </a:p>
        </p:txBody>
      </p:sp>
    </p:spTree>
    <p:extLst>
      <p:ext uri="{BB962C8B-B14F-4D97-AF65-F5344CB8AC3E}">
        <p14:creationId xmlns:p14="http://schemas.microsoft.com/office/powerpoint/2010/main" val="3986169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25626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Situ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urning 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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ISB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05840" y="1566419"/>
            <a:ext cx="10158984" cy="281355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principle is to combust vapours from slicks on a water or land surface.</a:t>
            </a:r>
          </a:p>
          <a:p>
            <a:pPr algn="just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has been used on small inland and onshore spills in North America since the late 1950s.</a:t>
            </a:r>
          </a:p>
        </p:txBody>
      </p:sp>
    </p:spTree>
    <p:extLst>
      <p:ext uri="{BB962C8B-B14F-4D97-AF65-F5344CB8AC3E}">
        <p14:creationId xmlns:p14="http://schemas.microsoft.com/office/powerpoint/2010/main" val="4222076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35684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Situ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urning 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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ISB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051560" y="1237234"/>
            <a:ext cx="963777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algn="just">
              <a:defRPr/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ISB operations can be conducted on land, ice or other hard surfaces, or on water.</a:t>
            </a:r>
          </a:p>
          <a:p>
            <a:pPr marL="357188" indent="-357188" algn="just">
              <a:defRPr/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Like any response technique the effectiveness, efficiency and success rates are dependent on:</a:t>
            </a:r>
          </a:p>
          <a:p>
            <a:pPr marL="814387" lvl="1" indent="-457200" algn="just">
              <a:buFont typeface="Wingdings" panose="05000000000000000000" pitchFamily="2" charset="2"/>
              <a:buChar char="ü"/>
              <a:defRPr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type and properties of the oil</a:t>
            </a:r>
          </a:p>
          <a:p>
            <a:pPr marL="814387" lvl="1" indent="-457200" algn="just">
              <a:buFont typeface="Wingdings" panose="05000000000000000000" pitchFamily="2" charset="2"/>
              <a:buChar char="ü"/>
              <a:defRPr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amount of weathering that has occurred</a:t>
            </a:r>
          </a:p>
          <a:p>
            <a:pPr marL="814387" lvl="1" indent="-457200" algn="just">
              <a:buFont typeface="Wingdings" panose="05000000000000000000" pitchFamily="2" charset="2"/>
              <a:buChar char="ü"/>
              <a:defRPr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amount of oil and area covered</a:t>
            </a:r>
          </a:p>
          <a:p>
            <a:pPr marL="814387" lvl="1" indent="-457200" algn="just">
              <a:buFont typeface="Wingdings" panose="05000000000000000000" pitchFamily="2" charset="2"/>
              <a:buChar char="ü"/>
              <a:defRPr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response time and equipment availability</a:t>
            </a:r>
          </a:p>
          <a:p>
            <a:pPr marL="814387" lvl="1" indent="-457200" algn="just">
              <a:buFont typeface="Wingdings" panose="05000000000000000000" pitchFamily="2" charset="2"/>
              <a:buChar char="ü"/>
              <a:defRPr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current and forecasted weather and sea state.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GB" alt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730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37513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Situ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urning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perations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33856" y="1197632"/>
            <a:ext cx="10149839" cy="44167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ISB operations require:</a:t>
            </a:r>
          </a:p>
          <a:p>
            <a:pPr marL="712788" lvl="1" indent="-355600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Sufficient fuel to generate an ignitable concentration of vapours (the vapour burns rather than the liquid).</a:t>
            </a:r>
          </a:p>
          <a:p>
            <a:pPr marL="712788" lvl="1" indent="-355600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 ignition source to instigate the burn.</a:t>
            </a:r>
          </a:p>
          <a:p>
            <a:pPr marL="712788" lvl="1" indent="-355600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Sufficient quantities of fuel (i.e. at least 2</a:t>
            </a: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</a:t>
            </a: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3mm oil thickness) to sustain a burn.</a:t>
            </a:r>
          </a:p>
          <a:p>
            <a:pPr marL="712788" lvl="1" indent="-355600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Herding agents, if allowed, may be considered to increase the oil thickness.</a:t>
            </a:r>
          </a:p>
          <a:p>
            <a:pPr marL="712788" lvl="1" indent="-355600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Specialist training.</a:t>
            </a:r>
          </a:p>
          <a:p>
            <a:pPr marL="712788" lvl="1" indent="-355600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Means of measuring the air and water quality.</a:t>
            </a:r>
          </a:p>
          <a:p>
            <a:pPr lvl="1"/>
            <a:endParaRPr lang="en-GB" altLang="en-US" sz="2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83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36599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Equipment Required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52728" y="1160187"/>
            <a:ext cx="1004925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Offshore:</a:t>
            </a:r>
          </a:p>
          <a:p>
            <a:pPr marL="814388" lvl="1" indent="-457200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Boom towing vessels</a:t>
            </a:r>
          </a:p>
          <a:p>
            <a:pPr marL="814388" lvl="1" indent="-457200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Fire boom</a:t>
            </a:r>
          </a:p>
          <a:p>
            <a:pPr marL="814388" lvl="1" indent="-457200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Igniter</a:t>
            </a:r>
          </a:p>
          <a:p>
            <a:pPr marL="814388" lvl="1" indent="-457200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Fire control</a:t>
            </a:r>
          </a:p>
          <a:p>
            <a:pPr marL="814388" lvl="1" indent="-457200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 quality monitoring and Wind and Sea state monitoring</a:t>
            </a:r>
          </a:p>
          <a:p>
            <a:pPr marL="814388" lvl="1" indent="-457200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Aerial surveillance</a:t>
            </a:r>
          </a:p>
          <a:p>
            <a:pPr marL="814388" lvl="1" indent="-457200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Personal protective equipment (PPE)</a:t>
            </a:r>
          </a:p>
          <a:p>
            <a:pPr marL="814388" lvl="1" indent="-457200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Burn residue recovery resources</a:t>
            </a:r>
          </a:p>
        </p:txBody>
      </p:sp>
    </p:spTree>
    <p:extLst>
      <p:ext uri="{BB962C8B-B14F-4D97-AF65-F5344CB8AC3E}">
        <p14:creationId xmlns:p14="http://schemas.microsoft.com/office/powerpoint/2010/main" val="3545037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38428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Equipment Required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371600" y="1237234"/>
            <a:ext cx="822960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Onshore:</a:t>
            </a:r>
          </a:p>
          <a:p>
            <a:pPr marL="814387" lvl="1" indent="-457200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Trenching equipment or shovels to provide a collection basin</a:t>
            </a:r>
          </a:p>
          <a:p>
            <a:pPr marL="814387" lvl="1" indent="-457200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Igniter</a:t>
            </a:r>
          </a:p>
          <a:p>
            <a:pPr marL="814387" lvl="1" indent="-457200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Fire control</a:t>
            </a:r>
          </a:p>
          <a:p>
            <a:pPr marL="814387" lvl="1" indent="-457200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 quality monitoring </a:t>
            </a:r>
          </a:p>
          <a:p>
            <a:pPr marL="814387" lvl="1" indent="-457200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Wind direction monitoring</a:t>
            </a:r>
          </a:p>
          <a:p>
            <a:pPr marL="814387" lvl="1" indent="-457200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Personal protective equipment (PPE)</a:t>
            </a:r>
          </a:p>
        </p:txBody>
      </p:sp>
    </p:spTree>
    <p:extLst>
      <p:ext uri="{BB962C8B-B14F-4D97-AF65-F5344CB8AC3E}">
        <p14:creationId xmlns:p14="http://schemas.microsoft.com/office/powerpoint/2010/main" val="328674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33856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Helicopter Herder</a:t>
            </a:r>
            <a:endParaRPr lang="en-US" altLang="en-US" sz="4000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868" y="1411034"/>
            <a:ext cx="9066646" cy="3901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9080881" y="5096764"/>
            <a:ext cx="1800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Source: ExxonMobil</a:t>
            </a:r>
          </a:p>
        </p:txBody>
      </p:sp>
    </p:spTree>
    <p:extLst>
      <p:ext uri="{BB962C8B-B14F-4D97-AF65-F5344CB8AC3E}">
        <p14:creationId xmlns:p14="http://schemas.microsoft.com/office/powerpoint/2010/main" val="3430325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34770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Typical ISB Operation on Water</a:t>
            </a:r>
            <a:endParaRPr lang="en-US" altLang="en-US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248" y="1034098"/>
            <a:ext cx="9464320" cy="4845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9479852" y="5494338"/>
            <a:ext cx="1800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Source: ExxonMobil</a:t>
            </a:r>
          </a:p>
        </p:txBody>
      </p:sp>
    </p:spTree>
    <p:extLst>
      <p:ext uri="{BB962C8B-B14F-4D97-AF65-F5344CB8AC3E}">
        <p14:creationId xmlns:p14="http://schemas.microsoft.com/office/powerpoint/2010/main" val="3608470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43914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Initiating an in Situ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urn</a:t>
            </a:r>
            <a:endParaRPr lang="en-US" altLang="en-US" sz="4000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Content Placeholder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40725" y="896793"/>
            <a:ext cx="7470203" cy="5123589"/>
          </a:xfrm>
          <a:prstGeom prst="rect">
            <a:avLst/>
          </a:prstGeom>
        </p:spPr>
      </p:pic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8435213" y="5628577"/>
            <a:ext cx="18002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Source: ExxonMobil</a:t>
            </a:r>
          </a:p>
        </p:txBody>
      </p:sp>
    </p:spTree>
    <p:extLst>
      <p:ext uri="{BB962C8B-B14F-4D97-AF65-F5344CB8AC3E}">
        <p14:creationId xmlns:p14="http://schemas.microsoft.com/office/powerpoint/2010/main" val="2805980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32027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ISB Fire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oom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onfigurations</a:t>
            </a:r>
          </a:p>
        </p:txBody>
      </p:sp>
      <p:grpSp>
        <p:nvGrpSpPr>
          <p:cNvPr id="6" name="Group 1099"/>
          <p:cNvGrpSpPr>
            <a:grpSpLocks/>
          </p:cNvGrpSpPr>
          <p:nvPr/>
        </p:nvGrpSpPr>
        <p:grpSpPr bwMode="auto">
          <a:xfrm>
            <a:off x="1459928" y="978281"/>
            <a:ext cx="9001126" cy="4962525"/>
            <a:chOff x="528" y="636"/>
            <a:chExt cx="5177" cy="3409"/>
          </a:xfrm>
        </p:grpSpPr>
        <p:sp>
          <p:nvSpPr>
            <p:cNvPr id="7" name="Rectangle 1026"/>
            <p:cNvSpPr>
              <a:spLocks noChangeArrowheads="1"/>
            </p:cNvSpPr>
            <p:nvPr/>
          </p:nvSpPr>
          <p:spPr bwMode="auto">
            <a:xfrm>
              <a:off x="569" y="636"/>
              <a:ext cx="5136" cy="3360"/>
            </a:xfrm>
            <a:prstGeom prst="rect">
              <a:avLst/>
            </a:prstGeom>
            <a:solidFill>
              <a:srgbClr val="0099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8" name="Arc 1027"/>
            <p:cNvSpPr>
              <a:spLocks/>
            </p:cNvSpPr>
            <p:nvPr/>
          </p:nvSpPr>
          <p:spPr bwMode="auto">
            <a:xfrm flipV="1">
              <a:off x="1464" y="1488"/>
              <a:ext cx="432" cy="62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" name="Arc 1028"/>
            <p:cNvSpPr>
              <a:spLocks/>
            </p:cNvSpPr>
            <p:nvPr/>
          </p:nvSpPr>
          <p:spPr bwMode="auto">
            <a:xfrm flipH="1" flipV="1">
              <a:off x="984" y="1488"/>
              <a:ext cx="480" cy="62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" name="Arc 1029"/>
            <p:cNvSpPr>
              <a:spLocks/>
            </p:cNvSpPr>
            <p:nvPr/>
          </p:nvSpPr>
          <p:spPr bwMode="auto">
            <a:xfrm flipV="1">
              <a:off x="3712" y="1592"/>
              <a:ext cx="249" cy="532"/>
            </a:xfrm>
            <a:custGeom>
              <a:avLst/>
              <a:gdLst>
                <a:gd name="T0" fmla="*/ 0 w 22389"/>
                <a:gd name="T1" fmla="*/ 0 h 21600"/>
                <a:gd name="T2" fmla="*/ 0 w 22389"/>
                <a:gd name="T3" fmla="*/ 0 h 21600"/>
                <a:gd name="T4" fmla="*/ 0 w 22389"/>
                <a:gd name="T5" fmla="*/ 0 h 21600"/>
                <a:gd name="T6" fmla="*/ 0 60000 65536"/>
                <a:gd name="T7" fmla="*/ 0 60000 65536"/>
                <a:gd name="T8" fmla="*/ 0 60000 65536"/>
                <a:gd name="T9" fmla="*/ 0 w 22389"/>
                <a:gd name="T10" fmla="*/ 0 h 21600"/>
                <a:gd name="T11" fmla="*/ 22389 w 2238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389" h="21600" fill="none" extrusionOk="0">
                  <a:moveTo>
                    <a:pt x="0" y="14"/>
                  </a:moveTo>
                  <a:cubicBezTo>
                    <a:pt x="262" y="4"/>
                    <a:pt x="525" y="-1"/>
                    <a:pt x="789" y="0"/>
                  </a:cubicBezTo>
                  <a:cubicBezTo>
                    <a:pt x="12718" y="0"/>
                    <a:pt x="22389" y="9670"/>
                    <a:pt x="22389" y="21600"/>
                  </a:cubicBezTo>
                </a:path>
                <a:path w="22389" h="21600" stroke="0" extrusionOk="0">
                  <a:moveTo>
                    <a:pt x="0" y="14"/>
                  </a:moveTo>
                  <a:cubicBezTo>
                    <a:pt x="262" y="4"/>
                    <a:pt x="525" y="-1"/>
                    <a:pt x="789" y="0"/>
                  </a:cubicBezTo>
                  <a:cubicBezTo>
                    <a:pt x="12718" y="0"/>
                    <a:pt x="22389" y="9670"/>
                    <a:pt x="22389" y="21600"/>
                  </a:cubicBezTo>
                  <a:lnTo>
                    <a:pt x="789" y="21600"/>
                  </a:lnTo>
                  <a:lnTo>
                    <a:pt x="0" y="14"/>
                  </a:lnTo>
                  <a:close/>
                </a:path>
              </a:pathLst>
            </a:custGeom>
            <a:noFill/>
            <a:ln w="571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" name="Line 1031"/>
            <p:cNvSpPr>
              <a:spLocks noChangeShapeType="1"/>
            </p:cNvSpPr>
            <p:nvPr/>
          </p:nvSpPr>
          <p:spPr bwMode="auto">
            <a:xfrm flipV="1">
              <a:off x="3960" y="1164"/>
              <a:ext cx="192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" name="Arc 1032"/>
            <p:cNvSpPr>
              <a:spLocks/>
            </p:cNvSpPr>
            <p:nvPr/>
          </p:nvSpPr>
          <p:spPr bwMode="auto">
            <a:xfrm flipH="1" flipV="1">
              <a:off x="3480" y="1596"/>
              <a:ext cx="249" cy="532"/>
            </a:xfrm>
            <a:custGeom>
              <a:avLst/>
              <a:gdLst>
                <a:gd name="T0" fmla="*/ 0 w 22389"/>
                <a:gd name="T1" fmla="*/ 0 h 21600"/>
                <a:gd name="T2" fmla="*/ 0 w 22389"/>
                <a:gd name="T3" fmla="*/ 0 h 21600"/>
                <a:gd name="T4" fmla="*/ 0 w 22389"/>
                <a:gd name="T5" fmla="*/ 0 h 21600"/>
                <a:gd name="T6" fmla="*/ 0 60000 65536"/>
                <a:gd name="T7" fmla="*/ 0 60000 65536"/>
                <a:gd name="T8" fmla="*/ 0 60000 65536"/>
                <a:gd name="T9" fmla="*/ 0 w 22389"/>
                <a:gd name="T10" fmla="*/ 0 h 21600"/>
                <a:gd name="T11" fmla="*/ 22389 w 2238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389" h="21600" fill="none" extrusionOk="0">
                  <a:moveTo>
                    <a:pt x="0" y="14"/>
                  </a:moveTo>
                  <a:cubicBezTo>
                    <a:pt x="262" y="4"/>
                    <a:pt x="525" y="-1"/>
                    <a:pt x="789" y="0"/>
                  </a:cubicBezTo>
                  <a:cubicBezTo>
                    <a:pt x="12718" y="0"/>
                    <a:pt x="22389" y="9670"/>
                    <a:pt x="22389" y="21600"/>
                  </a:cubicBezTo>
                </a:path>
                <a:path w="22389" h="21600" stroke="0" extrusionOk="0">
                  <a:moveTo>
                    <a:pt x="0" y="14"/>
                  </a:moveTo>
                  <a:cubicBezTo>
                    <a:pt x="262" y="4"/>
                    <a:pt x="525" y="-1"/>
                    <a:pt x="789" y="0"/>
                  </a:cubicBezTo>
                  <a:cubicBezTo>
                    <a:pt x="12718" y="0"/>
                    <a:pt x="22389" y="9670"/>
                    <a:pt x="22389" y="21600"/>
                  </a:cubicBezTo>
                  <a:lnTo>
                    <a:pt x="789" y="21600"/>
                  </a:lnTo>
                  <a:lnTo>
                    <a:pt x="0" y="14"/>
                  </a:lnTo>
                  <a:close/>
                </a:path>
              </a:pathLst>
            </a:custGeom>
            <a:noFill/>
            <a:ln w="571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" name="Line 1033"/>
            <p:cNvSpPr>
              <a:spLocks noChangeShapeType="1"/>
            </p:cNvSpPr>
            <p:nvPr/>
          </p:nvSpPr>
          <p:spPr bwMode="auto">
            <a:xfrm flipH="1" flipV="1">
              <a:off x="3288" y="1164"/>
              <a:ext cx="192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" name="AutoShape 1034"/>
            <p:cNvSpPr>
              <a:spLocks noChangeArrowheads="1"/>
            </p:cNvSpPr>
            <p:nvPr/>
          </p:nvSpPr>
          <p:spPr bwMode="auto">
            <a:xfrm rot="-5400000">
              <a:off x="1791" y="960"/>
              <a:ext cx="297" cy="105"/>
            </a:xfrm>
            <a:prstGeom prst="homePlate">
              <a:avLst>
                <a:gd name="adj" fmla="val 76345"/>
              </a:avLst>
            </a:prstGeom>
            <a:solidFill>
              <a:srgbClr val="A5939D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5" name="AutoShape 1035"/>
            <p:cNvSpPr>
              <a:spLocks noChangeArrowheads="1"/>
            </p:cNvSpPr>
            <p:nvPr/>
          </p:nvSpPr>
          <p:spPr bwMode="auto">
            <a:xfrm rot="-5400000">
              <a:off x="792" y="972"/>
              <a:ext cx="297" cy="105"/>
            </a:xfrm>
            <a:prstGeom prst="homePlate">
              <a:avLst>
                <a:gd name="adj" fmla="val 76345"/>
              </a:avLst>
            </a:prstGeom>
            <a:solidFill>
              <a:srgbClr val="A5939D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6" name="AutoShape 1036"/>
            <p:cNvSpPr>
              <a:spLocks noChangeArrowheads="1"/>
            </p:cNvSpPr>
            <p:nvPr/>
          </p:nvSpPr>
          <p:spPr bwMode="auto">
            <a:xfrm rot="-5400000">
              <a:off x="3135" y="963"/>
              <a:ext cx="297" cy="105"/>
            </a:xfrm>
            <a:prstGeom prst="homePlate">
              <a:avLst>
                <a:gd name="adj" fmla="val 76345"/>
              </a:avLst>
            </a:prstGeom>
            <a:solidFill>
              <a:srgbClr val="A5939D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7" name="AutoShape 1037"/>
            <p:cNvSpPr>
              <a:spLocks noChangeArrowheads="1"/>
            </p:cNvSpPr>
            <p:nvPr/>
          </p:nvSpPr>
          <p:spPr bwMode="auto">
            <a:xfrm rot="-5400000">
              <a:off x="4008" y="963"/>
              <a:ext cx="297" cy="105"/>
            </a:xfrm>
            <a:prstGeom prst="homePlate">
              <a:avLst>
                <a:gd name="adj" fmla="val 76345"/>
              </a:avLst>
            </a:prstGeom>
            <a:solidFill>
              <a:srgbClr val="A5939D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8" name="Line 1038"/>
            <p:cNvSpPr>
              <a:spLocks noChangeShapeType="1"/>
            </p:cNvSpPr>
            <p:nvPr/>
          </p:nvSpPr>
          <p:spPr bwMode="auto">
            <a:xfrm>
              <a:off x="3456" y="1596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9" name="Arc 1039"/>
            <p:cNvSpPr>
              <a:spLocks/>
            </p:cNvSpPr>
            <p:nvPr/>
          </p:nvSpPr>
          <p:spPr bwMode="auto">
            <a:xfrm flipV="1">
              <a:off x="3768" y="3273"/>
              <a:ext cx="432" cy="5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" name="Arc 1040"/>
            <p:cNvSpPr>
              <a:spLocks/>
            </p:cNvSpPr>
            <p:nvPr/>
          </p:nvSpPr>
          <p:spPr bwMode="auto">
            <a:xfrm flipH="1" flipV="1">
              <a:off x="3288" y="3273"/>
              <a:ext cx="480" cy="5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" name="Line 1041"/>
            <p:cNvSpPr>
              <a:spLocks noChangeShapeType="1"/>
            </p:cNvSpPr>
            <p:nvPr/>
          </p:nvSpPr>
          <p:spPr bwMode="auto">
            <a:xfrm flipV="1">
              <a:off x="3288" y="2745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2" name="Line 1042"/>
            <p:cNvSpPr>
              <a:spLocks noChangeShapeType="1"/>
            </p:cNvSpPr>
            <p:nvPr/>
          </p:nvSpPr>
          <p:spPr bwMode="auto">
            <a:xfrm flipV="1">
              <a:off x="4200" y="2745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" name="Line 1043"/>
            <p:cNvSpPr>
              <a:spLocks noChangeShapeType="1"/>
            </p:cNvSpPr>
            <p:nvPr/>
          </p:nvSpPr>
          <p:spPr bwMode="auto">
            <a:xfrm>
              <a:off x="3288" y="2793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" name="AutoShape 1044"/>
            <p:cNvSpPr>
              <a:spLocks noChangeArrowheads="1"/>
            </p:cNvSpPr>
            <p:nvPr/>
          </p:nvSpPr>
          <p:spPr bwMode="auto">
            <a:xfrm rot="-5400000">
              <a:off x="3135" y="2544"/>
              <a:ext cx="297" cy="105"/>
            </a:xfrm>
            <a:prstGeom prst="homePlate">
              <a:avLst>
                <a:gd name="adj" fmla="val 76345"/>
              </a:avLst>
            </a:prstGeom>
            <a:solidFill>
              <a:srgbClr val="A5939D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5" name="AutoShape 1045"/>
            <p:cNvSpPr>
              <a:spLocks noChangeArrowheads="1"/>
            </p:cNvSpPr>
            <p:nvPr/>
          </p:nvSpPr>
          <p:spPr bwMode="auto">
            <a:xfrm rot="-5400000">
              <a:off x="4047" y="2553"/>
              <a:ext cx="297" cy="105"/>
            </a:xfrm>
            <a:prstGeom prst="homePlate">
              <a:avLst>
                <a:gd name="adj" fmla="val 76345"/>
              </a:avLst>
            </a:prstGeom>
            <a:solidFill>
              <a:srgbClr val="A5939D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6" name="Line 1046"/>
            <p:cNvSpPr>
              <a:spLocks noChangeShapeType="1"/>
            </p:cNvSpPr>
            <p:nvPr/>
          </p:nvSpPr>
          <p:spPr bwMode="auto">
            <a:xfrm flipH="1">
              <a:off x="1896" y="1152"/>
              <a:ext cx="48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" name="Line 1047"/>
            <p:cNvSpPr>
              <a:spLocks noChangeShapeType="1"/>
            </p:cNvSpPr>
            <p:nvPr/>
          </p:nvSpPr>
          <p:spPr bwMode="auto">
            <a:xfrm>
              <a:off x="936" y="1152"/>
              <a:ext cx="48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" name="Arc 1048"/>
            <p:cNvSpPr>
              <a:spLocks/>
            </p:cNvSpPr>
            <p:nvPr/>
          </p:nvSpPr>
          <p:spPr bwMode="auto">
            <a:xfrm flipV="1">
              <a:off x="1410" y="3365"/>
              <a:ext cx="249" cy="532"/>
            </a:xfrm>
            <a:custGeom>
              <a:avLst/>
              <a:gdLst>
                <a:gd name="T0" fmla="*/ 0 w 22389"/>
                <a:gd name="T1" fmla="*/ 0 h 21600"/>
                <a:gd name="T2" fmla="*/ 0 w 22389"/>
                <a:gd name="T3" fmla="*/ 0 h 21600"/>
                <a:gd name="T4" fmla="*/ 0 w 22389"/>
                <a:gd name="T5" fmla="*/ 0 h 21600"/>
                <a:gd name="T6" fmla="*/ 0 60000 65536"/>
                <a:gd name="T7" fmla="*/ 0 60000 65536"/>
                <a:gd name="T8" fmla="*/ 0 60000 65536"/>
                <a:gd name="T9" fmla="*/ 0 w 22389"/>
                <a:gd name="T10" fmla="*/ 0 h 21600"/>
                <a:gd name="T11" fmla="*/ 22389 w 2238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389" h="21600" fill="none" extrusionOk="0">
                  <a:moveTo>
                    <a:pt x="0" y="14"/>
                  </a:moveTo>
                  <a:cubicBezTo>
                    <a:pt x="262" y="4"/>
                    <a:pt x="525" y="-1"/>
                    <a:pt x="789" y="0"/>
                  </a:cubicBezTo>
                  <a:cubicBezTo>
                    <a:pt x="12718" y="0"/>
                    <a:pt x="22389" y="9670"/>
                    <a:pt x="22389" y="21600"/>
                  </a:cubicBezTo>
                </a:path>
                <a:path w="22389" h="21600" stroke="0" extrusionOk="0">
                  <a:moveTo>
                    <a:pt x="0" y="14"/>
                  </a:moveTo>
                  <a:cubicBezTo>
                    <a:pt x="262" y="4"/>
                    <a:pt x="525" y="-1"/>
                    <a:pt x="789" y="0"/>
                  </a:cubicBezTo>
                  <a:cubicBezTo>
                    <a:pt x="12718" y="0"/>
                    <a:pt x="22389" y="9670"/>
                    <a:pt x="22389" y="21600"/>
                  </a:cubicBezTo>
                  <a:lnTo>
                    <a:pt x="789" y="21600"/>
                  </a:lnTo>
                  <a:lnTo>
                    <a:pt x="0" y="14"/>
                  </a:lnTo>
                  <a:close/>
                </a:path>
              </a:pathLst>
            </a:custGeom>
            <a:noFill/>
            <a:ln w="571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9" name="Line 1049"/>
            <p:cNvSpPr>
              <a:spLocks noChangeShapeType="1"/>
            </p:cNvSpPr>
            <p:nvPr/>
          </p:nvSpPr>
          <p:spPr bwMode="auto">
            <a:xfrm flipV="1">
              <a:off x="1658" y="2937"/>
              <a:ext cx="192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" name="Arc 1050"/>
            <p:cNvSpPr>
              <a:spLocks/>
            </p:cNvSpPr>
            <p:nvPr/>
          </p:nvSpPr>
          <p:spPr bwMode="auto">
            <a:xfrm flipH="1" flipV="1">
              <a:off x="1178" y="3369"/>
              <a:ext cx="249" cy="532"/>
            </a:xfrm>
            <a:custGeom>
              <a:avLst/>
              <a:gdLst>
                <a:gd name="T0" fmla="*/ 0 w 22389"/>
                <a:gd name="T1" fmla="*/ 0 h 21600"/>
                <a:gd name="T2" fmla="*/ 0 w 22389"/>
                <a:gd name="T3" fmla="*/ 0 h 21600"/>
                <a:gd name="T4" fmla="*/ 0 w 22389"/>
                <a:gd name="T5" fmla="*/ 0 h 21600"/>
                <a:gd name="T6" fmla="*/ 0 60000 65536"/>
                <a:gd name="T7" fmla="*/ 0 60000 65536"/>
                <a:gd name="T8" fmla="*/ 0 60000 65536"/>
                <a:gd name="T9" fmla="*/ 0 w 22389"/>
                <a:gd name="T10" fmla="*/ 0 h 21600"/>
                <a:gd name="T11" fmla="*/ 22389 w 2238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389" h="21600" fill="none" extrusionOk="0">
                  <a:moveTo>
                    <a:pt x="0" y="14"/>
                  </a:moveTo>
                  <a:cubicBezTo>
                    <a:pt x="262" y="4"/>
                    <a:pt x="525" y="-1"/>
                    <a:pt x="789" y="0"/>
                  </a:cubicBezTo>
                  <a:cubicBezTo>
                    <a:pt x="12718" y="0"/>
                    <a:pt x="22389" y="9670"/>
                    <a:pt x="22389" y="21600"/>
                  </a:cubicBezTo>
                </a:path>
                <a:path w="22389" h="21600" stroke="0" extrusionOk="0">
                  <a:moveTo>
                    <a:pt x="0" y="14"/>
                  </a:moveTo>
                  <a:cubicBezTo>
                    <a:pt x="262" y="4"/>
                    <a:pt x="525" y="-1"/>
                    <a:pt x="789" y="0"/>
                  </a:cubicBezTo>
                  <a:cubicBezTo>
                    <a:pt x="12718" y="0"/>
                    <a:pt x="22389" y="9670"/>
                    <a:pt x="22389" y="21600"/>
                  </a:cubicBezTo>
                  <a:lnTo>
                    <a:pt x="789" y="21600"/>
                  </a:lnTo>
                  <a:lnTo>
                    <a:pt x="0" y="14"/>
                  </a:lnTo>
                  <a:close/>
                </a:path>
              </a:pathLst>
            </a:custGeom>
            <a:noFill/>
            <a:ln w="571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" name="Line 1051"/>
            <p:cNvSpPr>
              <a:spLocks noChangeShapeType="1"/>
            </p:cNvSpPr>
            <p:nvPr/>
          </p:nvSpPr>
          <p:spPr bwMode="auto">
            <a:xfrm flipH="1" flipV="1">
              <a:off x="986" y="2937"/>
              <a:ext cx="192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" name="AutoShape 1052"/>
            <p:cNvSpPr>
              <a:spLocks noChangeArrowheads="1"/>
            </p:cNvSpPr>
            <p:nvPr/>
          </p:nvSpPr>
          <p:spPr bwMode="auto">
            <a:xfrm rot="-5400000">
              <a:off x="833" y="2736"/>
              <a:ext cx="297" cy="105"/>
            </a:xfrm>
            <a:prstGeom prst="homePlate">
              <a:avLst>
                <a:gd name="adj" fmla="val 76345"/>
              </a:avLst>
            </a:prstGeom>
            <a:solidFill>
              <a:srgbClr val="A5939D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3" name="AutoShape 1053"/>
            <p:cNvSpPr>
              <a:spLocks noChangeArrowheads="1"/>
            </p:cNvSpPr>
            <p:nvPr/>
          </p:nvSpPr>
          <p:spPr bwMode="auto">
            <a:xfrm rot="-5400000">
              <a:off x="1706" y="2736"/>
              <a:ext cx="297" cy="105"/>
            </a:xfrm>
            <a:prstGeom prst="homePlate">
              <a:avLst>
                <a:gd name="adj" fmla="val 76345"/>
              </a:avLst>
            </a:prstGeom>
            <a:solidFill>
              <a:srgbClr val="A5939D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4" name="Line 1054"/>
            <p:cNvSpPr>
              <a:spLocks noChangeShapeType="1"/>
            </p:cNvSpPr>
            <p:nvPr/>
          </p:nvSpPr>
          <p:spPr bwMode="auto">
            <a:xfrm>
              <a:off x="1113" y="3369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5" name="Line 1055"/>
            <p:cNvSpPr>
              <a:spLocks noChangeShapeType="1"/>
            </p:cNvSpPr>
            <p:nvPr/>
          </p:nvSpPr>
          <p:spPr bwMode="auto">
            <a:xfrm flipH="1">
              <a:off x="1169" y="2688"/>
              <a:ext cx="24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6" name="Line 1056"/>
            <p:cNvSpPr>
              <a:spLocks noChangeShapeType="1"/>
            </p:cNvSpPr>
            <p:nvPr/>
          </p:nvSpPr>
          <p:spPr bwMode="auto">
            <a:xfrm flipH="1" flipV="1">
              <a:off x="1409" y="2688"/>
              <a:ext cx="24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7" name="AutoShape 1057"/>
            <p:cNvSpPr>
              <a:spLocks noChangeArrowheads="1"/>
            </p:cNvSpPr>
            <p:nvPr/>
          </p:nvSpPr>
          <p:spPr bwMode="auto">
            <a:xfrm rot="-5400000">
              <a:off x="1256" y="2487"/>
              <a:ext cx="297" cy="105"/>
            </a:xfrm>
            <a:prstGeom prst="homePlate">
              <a:avLst>
                <a:gd name="adj" fmla="val 76345"/>
              </a:avLst>
            </a:prstGeom>
            <a:solidFill>
              <a:srgbClr val="A5939D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8" name="Line 1059"/>
            <p:cNvSpPr>
              <a:spLocks noChangeShapeType="1"/>
            </p:cNvSpPr>
            <p:nvPr/>
          </p:nvSpPr>
          <p:spPr bwMode="auto">
            <a:xfrm>
              <a:off x="4560" y="672"/>
              <a:ext cx="0" cy="336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" name="Line 1060"/>
            <p:cNvSpPr>
              <a:spLocks noChangeShapeType="1"/>
            </p:cNvSpPr>
            <p:nvPr/>
          </p:nvSpPr>
          <p:spPr bwMode="auto">
            <a:xfrm>
              <a:off x="4656" y="1104"/>
              <a:ext cx="240" cy="0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0" name="Line 1061"/>
            <p:cNvSpPr>
              <a:spLocks noChangeShapeType="1"/>
            </p:cNvSpPr>
            <p:nvPr/>
          </p:nvSpPr>
          <p:spPr bwMode="auto">
            <a:xfrm>
              <a:off x="4704" y="1584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1" name="AutoShape 1062"/>
            <p:cNvSpPr>
              <a:spLocks noChangeArrowheads="1"/>
            </p:cNvSpPr>
            <p:nvPr/>
          </p:nvSpPr>
          <p:spPr bwMode="auto">
            <a:xfrm rot="-5400000">
              <a:off x="4647" y="2199"/>
              <a:ext cx="297" cy="105"/>
            </a:xfrm>
            <a:prstGeom prst="homePlate">
              <a:avLst>
                <a:gd name="adj" fmla="val 76345"/>
              </a:avLst>
            </a:prstGeom>
            <a:solidFill>
              <a:srgbClr val="A5939D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grpSp>
          <p:nvGrpSpPr>
            <p:cNvPr id="42" name="Group 1066"/>
            <p:cNvGrpSpPr>
              <a:grpSpLocks/>
            </p:cNvGrpSpPr>
            <p:nvPr/>
          </p:nvGrpSpPr>
          <p:grpSpPr bwMode="auto">
            <a:xfrm>
              <a:off x="1296" y="912"/>
              <a:ext cx="192" cy="192"/>
              <a:chOff x="1392" y="912"/>
              <a:chExt cx="192" cy="192"/>
            </a:xfrm>
          </p:grpSpPr>
          <p:sp>
            <p:nvSpPr>
              <p:cNvPr id="75" name="Line 1063"/>
              <p:cNvSpPr>
                <a:spLocks noChangeShapeType="1"/>
              </p:cNvSpPr>
              <p:nvPr/>
            </p:nvSpPr>
            <p:spPr bwMode="auto">
              <a:xfrm>
                <a:off x="1392" y="91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76" name="Line 1064"/>
              <p:cNvSpPr>
                <a:spLocks noChangeShapeType="1"/>
              </p:cNvSpPr>
              <p:nvPr/>
            </p:nvSpPr>
            <p:spPr bwMode="auto">
              <a:xfrm>
                <a:off x="1488" y="91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77" name="Line 1065"/>
              <p:cNvSpPr>
                <a:spLocks noChangeShapeType="1"/>
              </p:cNvSpPr>
              <p:nvPr/>
            </p:nvSpPr>
            <p:spPr bwMode="auto">
              <a:xfrm>
                <a:off x="1584" y="91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43" name="Group 1067"/>
            <p:cNvGrpSpPr>
              <a:grpSpLocks/>
            </p:cNvGrpSpPr>
            <p:nvPr/>
          </p:nvGrpSpPr>
          <p:grpSpPr bwMode="auto">
            <a:xfrm>
              <a:off x="3648" y="912"/>
              <a:ext cx="192" cy="192"/>
              <a:chOff x="1392" y="912"/>
              <a:chExt cx="192" cy="192"/>
            </a:xfrm>
          </p:grpSpPr>
          <p:sp>
            <p:nvSpPr>
              <p:cNvPr id="72" name="Line 1068"/>
              <p:cNvSpPr>
                <a:spLocks noChangeShapeType="1"/>
              </p:cNvSpPr>
              <p:nvPr/>
            </p:nvSpPr>
            <p:spPr bwMode="auto">
              <a:xfrm>
                <a:off x="1392" y="91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73" name="Line 1069"/>
              <p:cNvSpPr>
                <a:spLocks noChangeShapeType="1"/>
              </p:cNvSpPr>
              <p:nvPr/>
            </p:nvSpPr>
            <p:spPr bwMode="auto">
              <a:xfrm>
                <a:off x="1488" y="91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74" name="Line 1070"/>
              <p:cNvSpPr>
                <a:spLocks noChangeShapeType="1"/>
              </p:cNvSpPr>
              <p:nvPr/>
            </p:nvSpPr>
            <p:spPr bwMode="auto">
              <a:xfrm>
                <a:off x="1584" y="91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44" name="Group 1071"/>
            <p:cNvGrpSpPr>
              <a:grpSpLocks/>
            </p:cNvGrpSpPr>
            <p:nvPr/>
          </p:nvGrpSpPr>
          <p:grpSpPr bwMode="auto">
            <a:xfrm>
              <a:off x="1577" y="2448"/>
              <a:ext cx="192" cy="192"/>
              <a:chOff x="1433" y="912"/>
              <a:chExt cx="192" cy="192"/>
            </a:xfrm>
          </p:grpSpPr>
          <p:sp>
            <p:nvSpPr>
              <p:cNvPr id="69" name="Line 1072"/>
              <p:cNvSpPr>
                <a:spLocks noChangeShapeType="1"/>
              </p:cNvSpPr>
              <p:nvPr/>
            </p:nvSpPr>
            <p:spPr bwMode="auto">
              <a:xfrm>
                <a:off x="1433" y="91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70" name="Line 1073"/>
              <p:cNvSpPr>
                <a:spLocks noChangeShapeType="1"/>
              </p:cNvSpPr>
              <p:nvPr/>
            </p:nvSpPr>
            <p:spPr bwMode="auto">
              <a:xfrm>
                <a:off x="1529" y="91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71" name="Line 1074"/>
              <p:cNvSpPr>
                <a:spLocks noChangeShapeType="1"/>
              </p:cNvSpPr>
              <p:nvPr/>
            </p:nvSpPr>
            <p:spPr bwMode="auto">
              <a:xfrm>
                <a:off x="1625" y="91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45" name="Group 1075"/>
            <p:cNvGrpSpPr>
              <a:grpSpLocks/>
            </p:cNvGrpSpPr>
            <p:nvPr/>
          </p:nvGrpSpPr>
          <p:grpSpPr bwMode="auto">
            <a:xfrm>
              <a:off x="3648" y="2457"/>
              <a:ext cx="192" cy="192"/>
              <a:chOff x="1392" y="912"/>
              <a:chExt cx="192" cy="192"/>
            </a:xfrm>
          </p:grpSpPr>
          <p:sp>
            <p:nvSpPr>
              <p:cNvPr id="66" name="Line 1076"/>
              <p:cNvSpPr>
                <a:spLocks noChangeShapeType="1"/>
              </p:cNvSpPr>
              <p:nvPr/>
            </p:nvSpPr>
            <p:spPr bwMode="auto">
              <a:xfrm>
                <a:off x="1392" y="91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7" name="Line 1077"/>
              <p:cNvSpPr>
                <a:spLocks noChangeShapeType="1"/>
              </p:cNvSpPr>
              <p:nvPr/>
            </p:nvSpPr>
            <p:spPr bwMode="auto">
              <a:xfrm>
                <a:off x="1488" y="91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8" name="Line 1078"/>
              <p:cNvSpPr>
                <a:spLocks noChangeShapeType="1"/>
              </p:cNvSpPr>
              <p:nvPr/>
            </p:nvSpPr>
            <p:spPr bwMode="auto">
              <a:xfrm>
                <a:off x="1584" y="91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46" name="Line 1079"/>
            <p:cNvSpPr>
              <a:spLocks noChangeShapeType="1"/>
            </p:cNvSpPr>
            <p:nvPr/>
          </p:nvSpPr>
          <p:spPr bwMode="auto">
            <a:xfrm>
              <a:off x="2808" y="672"/>
              <a:ext cx="0" cy="336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7" name="Line 1080"/>
            <p:cNvSpPr>
              <a:spLocks noChangeShapeType="1"/>
            </p:cNvSpPr>
            <p:nvPr/>
          </p:nvSpPr>
          <p:spPr bwMode="auto">
            <a:xfrm>
              <a:off x="528" y="2261"/>
              <a:ext cx="4032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8" name="Freeform 1081"/>
            <p:cNvSpPr>
              <a:spLocks/>
            </p:cNvSpPr>
            <p:nvPr/>
          </p:nvSpPr>
          <p:spPr bwMode="auto">
            <a:xfrm>
              <a:off x="1248" y="1908"/>
              <a:ext cx="384" cy="192"/>
            </a:xfrm>
            <a:custGeom>
              <a:avLst/>
              <a:gdLst>
                <a:gd name="T0" fmla="*/ 0 w 384"/>
                <a:gd name="T1" fmla="*/ 48 h 192"/>
                <a:gd name="T2" fmla="*/ 96 w 384"/>
                <a:gd name="T3" fmla="*/ 0 h 192"/>
                <a:gd name="T4" fmla="*/ 192 w 384"/>
                <a:gd name="T5" fmla="*/ 48 h 192"/>
                <a:gd name="T6" fmla="*/ 288 w 384"/>
                <a:gd name="T7" fmla="*/ 0 h 192"/>
                <a:gd name="T8" fmla="*/ 384 w 384"/>
                <a:gd name="T9" fmla="*/ 0 h 192"/>
                <a:gd name="T10" fmla="*/ 384 w 384"/>
                <a:gd name="T11" fmla="*/ 96 h 192"/>
                <a:gd name="T12" fmla="*/ 240 w 384"/>
                <a:gd name="T13" fmla="*/ 192 h 192"/>
                <a:gd name="T14" fmla="*/ 144 w 384"/>
                <a:gd name="T15" fmla="*/ 192 h 192"/>
                <a:gd name="T16" fmla="*/ 48 w 384"/>
                <a:gd name="T17" fmla="*/ 144 h 192"/>
                <a:gd name="T18" fmla="*/ 0 w 384"/>
                <a:gd name="T19" fmla="*/ 48 h 1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84"/>
                <a:gd name="T31" fmla="*/ 0 h 192"/>
                <a:gd name="T32" fmla="*/ 384 w 384"/>
                <a:gd name="T33" fmla="*/ 192 h 19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84" h="192">
                  <a:moveTo>
                    <a:pt x="0" y="48"/>
                  </a:moveTo>
                  <a:lnTo>
                    <a:pt x="96" y="0"/>
                  </a:lnTo>
                  <a:lnTo>
                    <a:pt x="192" y="48"/>
                  </a:lnTo>
                  <a:lnTo>
                    <a:pt x="288" y="0"/>
                  </a:lnTo>
                  <a:lnTo>
                    <a:pt x="384" y="0"/>
                  </a:lnTo>
                  <a:lnTo>
                    <a:pt x="384" y="96"/>
                  </a:lnTo>
                  <a:lnTo>
                    <a:pt x="240" y="192"/>
                  </a:lnTo>
                  <a:lnTo>
                    <a:pt x="144" y="192"/>
                  </a:lnTo>
                  <a:lnTo>
                    <a:pt x="48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99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9" name="Freeform 1082"/>
            <p:cNvSpPr>
              <a:spLocks/>
            </p:cNvSpPr>
            <p:nvPr/>
          </p:nvSpPr>
          <p:spPr bwMode="auto">
            <a:xfrm>
              <a:off x="3552" y="3657"/>
              <a:ext cx="384" cy="192"/>
            </a:xfrm>
            <a:custGeom>
              <a:avLst/>
              <a:gdLst>
                <a:gd name="T0" fmla="*/ 0 w 384"/>
                <a:gd name="T1" fmla="*/ 48 h 192"/>
                <a:gd name="T2" fmla="*/ 96 w 384"/>
                <a:gd name="T3" fmla="*/ 0 h 192"/>
                <a:gd name="T4" fmla="*/ 192 w 384"/>
                <a:gd name="T5" fmla="*/ 48 h 192"/>
                <a:gd name="T6" fmla="*/ 288 w 384"/>
                <a:gd name="T7" fmla="*/ 0 h 192"/>
                <a:gd name="T8" fmla="*/ 384 w 384"/>
                <a:gd name="T9" fmla="*/ 0 h 192"/>
                <a:gd name="T10" fmla="*/ 384 w 384"/>
                <a:gd name="T11" fmla="*/ 96 h 192"/>
                <a:gd name="T12" fmla="*/ 240 w 384"/>
                <a:gd name="T13" fmla="*/ 192 h 192"/>
                <a:gd name="T14" fmla="*/ 144 w 384"/>
                <a:gd name="T15" fmla="*/ 192 h 192"/>
                <a:gd name="T16" fmla="*/ 48 w 384"/>
                <a:gd name="T17" fmla="*/ 144 h 192"/>
                <a:gd name="T18" fmla="*/ 0 w 384"/>
                <a:gd name="T19" fmla="*/ 48 h 1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84"/>
                <a:gd name="T31" fmla="*/ 0 h 192"/>
                <a:gd name="T32" fmla="*/ 384 w 384"/>
                <a:gd name="T33" fmla="*/ 192 h 19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84" h="192">
                  <a:moveTo>
                    <a:pt x="0" y="48"/>
                  </a:moveTo>
                  <a:lnTo>
                    <a:pt x="96" y="0"/>
                  </a:lnTo>
                  <a:lnTo>
                    <a:pt x="192" y="48"/>
                  </a:lnTo>
                  <a:lnTo>
                    <a:pt x="288" y="0"/>
                  </a:lnTo>
                  <a:lnTo>
                    <a:pt x="384" y="0"/>
                  </a:lnTo>
                  <a:lnTo>
                    <a:pt x="384" y="96"/>
                  </a:lnTo>
                  <a:lnTo>
                    <a:pt x="240" y="192"/>
                  </a:lnTo>
                  <a:lnTo>
                    <a:pt x="144" y="192"/>
                  </a:lnTo>
                  <a:lnTo>
                    <a:pt x="48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99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0" name="Freeform 1083"/>
            <p:cNvSpPr>
              <a:spLocks/>
            </p:cNvSpPr>
            <p:nvPr/>
          </p:nvSpPr>
          <p:spPr bwMode="auto">
            <a:xfrm>
              <a:off x="3576" y="1896"/>
              <a:ext cx="288" cy="204"/>
            </a:xfrm>
            <a:custGeom>
              <a:avLst/>
              <a:gdLst>
                <a:gd name="T0" fmla="*/ 0 w 384"/>
                <a:gd name="T1" fmla="*/ 284 h 192"/>
                <a:gd name="T2" fmla="*/ 2 w 384"/>
                <a:gd name="T3" fmla="*/ 0 h 192"/>
                <a:gd name="T4" fmla="*/ 2 w 384"/>
                <a:gd name="T5" fmla="*/ 284 h 192"/>
                <a:gd name="T6" fmla="*/ 2 w 384"/>
                <a:gd name="T7" fmla="*/ 0 h 192"/>
                <a:gd name="T8" fmla="*/ 2 w 384"/>
                <a:gd name="T9" fmla="*/ 0 h 192"/>
                <a:gd name="T10" fmla="*/ 2 w 384"/>
                <a:gd name="T11" fmla="*/ 557 h 192"/>
                <a:gd name="T12" fmla="*/ 2 w 384"/>
                <a:gd name="T13" fmla="*/ 1114 h 192"/>
                <a:gd name="T14" fmla="*/ 2 w 384"/>
                <a:gd name="T15" fmla="*/ 1114 h 192"/>
                <a:gd name="T16" fmla="*/ 2 w 384"/>
                <a:gd name="T17" fmla="*/ 848 h 192"/>
                <a:gd name="T18" fmla="*/ 0 w 384"/>
                <a:gd name="T19" fmla="*/ 284 h 1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84"/>
                <a:gd name="T31" fmla="*/ 0 h 192"/>
                <a:gd name="T32" fmla="*/ 384 w 384"/>
                <a:gd name="T33" fmla="*/ 192 h 19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84" h="192">
                  <a:moveTo>
                    <a:pt x="0" y="48"/>
                  </a:moveTo>
                  <a:lnTo>
                    <a:pt x="96" y="0"/>
                  </a:lnTo>
                  <a:lnTo>
                    <a:pt x="192" y="48"/>
                  </a:lnTo>
                  <a:lnTo>
                    <a:pt x="288" y="0"/>
                  </a:lnTo>
                  <a:lnTo>
                    <a:pt x="384" y="0"/>
                  </a:lnTo>
                  <a:lnTo>
                    <a:pt x="384" y="96"/>
                  </a:lnTo>
                  <a:lnTo>
                    <a:pt x="240" y="192"/>
                  </a:lnTo>
                  <a:lnTo>
                    <a:pt x="144" y="192"/>
                  </a:lnTo>
                  <a:lnTo>
                    <a:pt x="48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99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1" name="Freeform 1084"/>
            <p:cNvSpPr>
              <a:spLocks/>
            </p:cNvSpPr>
            <p:nvPr/>
          </p:nvSpPr>
          <p:spPr bwMode="auto">
            <a:xfrm>
              <a:off x="1289" y="3684"/>
              <a:ext cx="288" cy="204"/>
            </a:xfrm>
            <a:custGeom>
              <a:avLst/>
              <a:gdLst>
                <a:gd name="T0" fmla="*/ 0 w 384"/>
                <a:gd name="T1" fmla="*/ 284 h 192"/>
                <a:gd name="T2" fmla="*/ 2 w 384"/>
                <a:gd name="T3" fmla="*/ 0 h 192"/>
                <a:gd name="T4" fmla="*/ 2 w 384"/>
                <a:gd name="T5" fmla="*/ 284 h 192"/>
                <a:gd name="T6" fmla="*/ 2 w 384"/>
                <a:gd name="T7" fmla="*/ 0 h 192"/>
                <a:gd name="T8" fmla="*/ 2 w 384"/>
                <a:gd name="T9" fmla="*/ 0 h 192"/>
                <a:gd name="T10" fmla="*/ 2 w 384"/>
                <a:gd name="T11" fmla="*/ 557 h 192"/>
                <a:gd name="T12" fmla="*/ 2 w 384"/>
                <a:gd name="T13" fmla="*/ 1114 h 192"/>
                <a:gd name="T14" fmla="*/ 2 w 384"/>
                <a:gd name="T15" fmla="*/ 1114 h 192"/>
                <a:gd name="T16" fmla="*/ 2 w 384"/>
                <a:gd name="T17" fmla="*/ 848 h 192"/>
                <a:gd name="T18" fmla="*/ 0 w 384"/>
                <a:gd name="T19" fmla="*/ 284 h 1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84"/>
                <a:gd name="T31" fmla="*/ 0 h 192"/>
                <a:gd name="T32" fmla="*/ 384 w 384"/>
                <a:gd name="T33" fmla="*/ 192 h 19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84" h="192">
                  <a:moveTo>
                    <a:pt x="0" y="48"/>
                  </a:moveTo>
                  <a:lnTo>
                    <a:pt x="96" y="0"/>
                  </a:lnTo>
                  <a:lnTo>
                    <a:pt x="192" y="48"/>
                  </a:lnTo>
                  <a:lnTo>
                    <a:pt x="288" y="0"/>
                  </a:lnTo>
                  <a:lnTo>
                    <a:pt x="384" y="0"/>
                  </a:lnTo>
                  <a:lnTo>
                    <a:pt x="384" y="96"/>
                  </a:lnTo>
                  <a:lnTo>
                    <a:pt x="240" y="192"/>
                  </a:lnTo>
                  <a:lnTo>
                    <a:pt x="144" y="192"/>
                  </a:lnTo>
                  <a:lnTo>
                    <a:pt x="48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99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2" name="Freeform 1085"/>
            <p:cNvSpPr>
              <a:spLocks/>
            </p:cNvSpPr>
            <p:nvPr/>
          </p:nvSpPr>
          <p:spPr bwMode="auto">
            <a:xfrm>
              <a:off x="4704" y="3492"/>
              <a:ext cx="288" cy="204"/>
            </a:xfrm>
            <a:custGeom>
              <a:avLst/>
              <a:gdLst>
                <a:gd name="T0" fmla="*/ 0 w 384"/>
                <a:gd name="T1" fmla="*/ 284 h 192"/>
                <a:gd name="T2" fmla="*/ 2 w 384"/>
                <a:gd name="T3" fmla="*/ 0 h 192"/>
                <a:gd name="T4" fmla="*/ 2 w 384"/>
                <a:gd name="T5" fmla="*/ 284 h 192"/>
                <a:gd name="T6" fmla="*/ 2 w 384"/>
                <a:gd name="T7" fmla="*/ 0 h 192"/>
                <a:gd name="T8" fmla="*/ 2 w 384"/>
                <a:gd name="T9" fmla="*/ 0 h 192"/>
                <a:gd name="T10" fmla="*/ 2 w 384"/>
                <a:gd name="T11" fmla="*/ 557 h 192"/>
                <a:gd name="T12" fmla="*/ 2 w 384"/>
                <a:gd name="T13" fmla="*/ 1114 h 192"/>
                <a:gd name="T14" fmla="*/ 2 w 384"/>
                <a:gd name="T15" fmla="*/ 1114 h 192"/>
                <a:gd name="T16" fmla="*/ 2 w 384"/>
                <a:gd name="T17" fmla="*/ 848 h 192"/>
                <a:gd name="T18" fmla="*/ 0 w 384"/>
                <a:gd name="T19" fmla="*/ 284 h 1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84"/>
                <a:gd name="T31" fmla="*/ 0 h 192"/>
                <a:gd name="T32" fmla="*/ 384 w 384"/>
                <a:gd name="T33" fmla="*/ 192 h 19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84" h="192">
                  <a:moveTo>
                    <a:pt x="0" y="48"/>
                  </a:moveTo>
                  <a:lnTo>
                    <a:pt x="96" y="0"/>
                  </a:lnTo>
                  <a:lnTo>
                    <a:pt x="192" y="48"/>
                  </a:lnTo>
                  <a:lnTo>
                    <a:pt x="288" y="0"/>
                  </a:lnTo>
                  <a:lnTo>
                    <a:pt x="384" y="0"/>
                  </a:lnTo>
                  <a:lnTo>
                    <a:pt x="384" y="96"/>
                  </a:lnTo>
                  <a:lnTo>
                    <a:pt x="240" y="192"/>
                  </a:lnTo>
                  <a:lnTo>
                    <a:pt x="144" y="192"/>
                  </a:lnTo>
                  <a:lnTo>
                    <a:pt x="48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99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grpSp>
          <p:nvGrpSpPr>
            <p:cNvPr id="53" name="Group 1086"/>
            <p:cNvGrpSpPr>
              <a:grpSpLocks/>
            </p:cNvGrpSpPr>
            <p:nvPr/>
          </p:nvGrpSpPr>
          <p:grpSpPr bwMode="auto">
            <a:xfrm>
              <a:off x="4704" y="2880"/>
              <a:ext cx="192" cy="192"/>
              <a:chOff x="1392" y="912"/>
              <a:chExt cx="192" cy="192"/>
            </a:xfrm>
          </p:grpSpPr>
          <p:sp>
            <p:nvSpPr>
              <p:cNvPr id="63" name="Line 1087"/>
              <p:cNvSpPr>
                <a:spLocks noChangeShapeType="1"/>
              </p:cNvSpPr>
              <p:nvPr/>
            </p:nvSpPr>
            <p:spPr bwMode="auto">
              <a:xfrm>
                <a:off x="1392" y="91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4" name="Line 1088"/>
              <p:cNvSpPr>
                <a:spLocks noChangeShapeType="1"/>
              </p:cNvSpPr>
              <p:nvPr/>
            </p:nvSpPr>
            <p:spPr bwMode="auto">
              <a:xfrm>
                <a:off x="1488" y="91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5" name="Line 1089"/>
              <p:cNvSpPr>
                <a:spLocks noChangeShapeType="1"/>
              </p:cNvSpPr>
              <p:nvPr/>
            </p:nvSpPr>
            <p:spPr bwMode="auto">
              <a:xfrm>
                <a:off x="1584" y="91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54" name="Text Box 1090"/>
            <p:cNvSpPr txBox="1">
              <a:spLocks noChangeArrowheads="1"/>
            </p:cNvSpPr>
            <p:nvPr/>
          </p:nvSpPr>
          <p:spPr bwMode="auto">
            <a:xfrm>
              <a:off x="4992" y="1008"/>
              <a:ext cx="432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50000"/>
                </a:spcBef>
                <a:buFontTx/>
                <a:buNone/>
              </a:pPr>
              <a:r>
                <a:rPr lang="en-GB" altLang="en-US" sz="1300">
                  <a:solidFill>
                    <a:schemeClr val="bg1"/>
                  </a:solidFill>
                  <a:latin typeface="Tahoma" panose="020B0604030504040204" pitchFamily="34" charset="0"/>
                </a:rPr>
                <a:t>Boom</a:t>
              </a:r>
            </a:p>
          </p:txBody>
        </p:sp>
        <p:sp>
          <p:nvSpPr>
            <p:cNvPr id="55" name="Text Box 1091"/>
            <p:cNvSpPr txBox="1">
              <a:spLocks noChangeArrowheads="1"/>
            </p:cNvSpPr>
            <p:nvPr/>
          </p:nvSpPr>
          <p:spPr bwMode="auto">
            <a:xfrm>
              <a:off x="4944" y="1440"/>
              <a:ext cx="720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50000"/>
                </a:spcBef>
                <a:buFontTx/>
                <a:buNone/>
              </a:pPr>
              <a:r>
                <a:rPr lang="en-GB" altLang="en-US" sz="1300">
                  <a:solidFill>
                    <a:schemeClr val="bg1"/>
                  </a:solidFill>
                  <a:latin typeface="Tahoma" panose="020B0604030504040204" pitchFamily="34" charset="0"/>
                </a:rPr>
                <a:t>Tow and feather line</a:t>
              </a:r>
            </a:p>
          </p:txBody>
        </p:sp>
        <p:sp>
          <p:nvSpPr>
            <p:cNvPr id="56" name="Text Box 1092"/>
            <p:cNvSpPr txBox="1">
              <a:spLocks noChangeArrowheads="1"/>
            </p:cNvSpPr>
            <p:nvPr/>
          </p:nvSpPr>
          <p:spPr bwMode="auto">
            <a:xfrm>
              <a:off x="4992" y="2160"/>
              <a:ext cx="528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50000"/>
                </a:spcBef>
                <a:buFontTx/>
                <a:buNone/>
              </a:pPr>
              <a:r>
                <a:rPr lang="en-GB" altLang="en-US" sz="1300">
                  <a:solidFill>
                    <a:schemeClr val="bg1"/>
                  </a:solidFill>
                  <a:latin typeface="Tahoma" panose="020B0604030504040204" pitchFamily="34" charset="0"/>
                </a:rPr>
                <a:t>Towing vessel</a:t>
              </a:r>
            </a:p>
          </p:txBody>
        </p:sp>
        <p:sp>
          <p:nvSpPr>
            <p:cNvPr id="57" name="Text Box 1093"/>
            <p:cNvSpPr txBox="1">
              <a:spLocks noChangeArrowheads="1"/>
            </p:cNvSpPr>
            <p:nvPr/>
          </p:nvSpPr>
          <p:spPr bwMode="auto">
            <a:xfrm>
              <a:off x="4992" y="2832"/>
              <a:ext cx="576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50000"/>
                </a:spcBef>
                <a:buFontTx/>
                <a:buNone/>
              </a:pPr>
              <a:r>
                <a:rPr lang="en-GB" altLang="en-US" sz="1300">
                  <a:solidFill>
                    <a:schemeClr val="bg1"/>
                  </a:solidFill>
                  <a:latin typeface="Tahoma" panose="020B0604030504040204" pitchFamily="34" charset="0"/>
                </a:rPr>
                <a:t>Wind direction</a:t>
              </a:r>
            </a:p>
          </p:txBody>
        </p:sp>
        <p:sp>
          <p:nvSpPr>
            <p:cNvPr id="58" name="Text Box 1094"/>
            <p:cNvSpPr txBox="1">
              <a:spLocks noChangeArrowheads="1"/>
            </p:cNvSpPr>
            <p:nvPr/>
          </p:nvSpPr>
          <p:spPr bwMode="auto">
            <a:xfrm>
              <a:off x="5088" y="3456"/>
              <a:ext cx="432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50000"/>
                </a:spcBef>
                <a:buFontTx/>
                <a:buNone/>
              </a:pPr>
              <a:r>
                <a:rPr lang="en-GB" altLang="en-US" sz="1300">
                  <a:solidFill>
                    <a:schemeClr val="bg1"/>
                  </a:solidFill>
                  <a:latin typeface="Tahoma" panose="020B0604030504040204" pitchFamily="34" charset="0"/>
                </a:rPr>
                <a:t>Oil slick</a:t>
              </a:r>
            </a:p>
          </p:txBody>
        </p:sp>
        <p:sp>
          <p:nvSpPr>
            <p:cNvPr id="59" name="Text Box 1095"/>
            <p:cNvSpPr txBox="1">
              <a:spLocks noChangeArrowheads="1"/>
            </p:cNvSpPr>
            <p:nvPr/>
          </p:nvSpPr>
          <p:spPr bwMode="auto">
            <a:xfrm>
              <a:off x="1704" y="1783"/>
              <a:ext cx="1104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50000"/>
                </a:spcBef>
                <a:buFontTx/>
                <a:buNone/>
              </a:pPr>
              <a:r>
                <a:rPr lang="en-GB" altLang="en-US" sz="2400">
                  <a:solidFill>
                    <a:schemeClr val="bg1"/>
                  </a:solidFill>
                  <a:latin typeface="Tahoma" panose="020B0604030504040204" pitchFamily="34" charset="0"/>
                </a:rPr>
                <a:t>Standard “U”</a:t>
              </a:r>
            </a:p>
          </p:txBody>
        </p:sp>
        <p:sp>
          <p:nvSpPr>
            <p:cNvPr id="60" name="Text Box 1096"/>
            <p:cNvSpPr txBox="1">
              <a:spLocks noChangeArrowheads="1"/>
            </p:cNvSpPr>
            <p:nvPr/>
          </p:nvSpPr>
          <p:spPr bwMode="auto">
            <a:xfrm>
              <a:off x="2680" y="1249"/>
              <a:ext cx="2064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50000"/>
                </a:spcBef>
                <a:buFontTx/>
                <a:buNone/>
              </a:pPr>
              <a:r>
                <a:rPr lang="en-GB" altLang="en-US" sz="2400">
                  <a:solidFill>
                    <a:schemeClr val="bg1"/>
                  </a:solidFill>
                  <a:latin typeface="Tahoma" panose="020B0604030504040204" pitchFamily="34" charset="0"/>
                </a:rPr>
                <a:t> “U” with feather line or bridle</a:t>
              </a:r>
            </a:p>
          </p:txBody>
        </p:sp>
        <p:sp>
          <p:nvSpPr>
            <p:cNvPr id="61" name="Text Box 1097"/>
            <p:cNvSpPr txBox="1">
              <a:spLocks noChangeArrowheads="1"/>
            </p:cNvSpPr>
            <p:nvPr/>
          </p:nvSpPr>
          <p:spPr bwMode="auto">
            <a:xfrm>
              <a:off x="2815" y="3081"/>
              <a:ext cx="2064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50000"/>
                </a:spcBef>
                <a:buFontTx/>
                <a:buNone/>
              </a:pPr>
              <a:r>
                <a:rPr lang="en-GB" altLang="en-US" sz="2400">
                  <a:solidFill>
                    <a:schemeClr val="bg1"/>
                  </a:solidFill>
                  <a:latin typeface="Tahoma" panose="020B0604030504040204" pitchFamily="34" charset="0"/>
                </a:rPr>
                <a:t>Feather line or bridle at boat</a:t>
              </a:r>
            </a:p>
          </p:txBody>
        </p:sp>
        <p:sp>
          <p:nvSpPr>
            <p:cNvPr id="62" name="Text Box 1098"/>
            <p:cNvSpPr txBox="1">
              <a:spLocks noChangeArrowheads="1"/>
            </p:cNvSpPr>
            <p:nvPr/>
          </p:nvSpPr>
          <p:spPr bwMode="auto">
            <a:xfrm>
              <a:off x="1717" y="3068"/>
              <a:ext cx="1104" cy="9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50000"/>
                </a:spcBef>
                <a:buFontTx/>
                <a:buNone/>
              </a:pPr>
              <a:r>
                <a:rPr lang="en-GB" altLang="en-US" sz="2400">
                  <a:solidFill>
                    <a:schemeClr val="bg1"/>
                  </a:solidFill>
                  <a:latin typeface="Tahoma" panose="020B0604030504040204" pitchFamily="34" charset="0"/>
                </a:rPr>
                <a:t>3-tow vessel “U” with feather line or bridle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54605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35684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Fire Boom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50976" y="1410971"/>
            <a:ext cx="9208008" cy="43680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Fire boom can be classified as either:</a:t>
            </a:r>
          </a:p>
          <a:p>
            <a:pPr marL="814387" lvl="1" indent="-457200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Actively-cooled fire-resistant boom</a:t>
            </a:r>
          </a:p>
          <a:p>
            <a:pPr lvl="2" indent="-338138">
              <a:buFont typeface="Wingdings" panose="05000000000000000000" pitchFamily="2" charset="2"/>
              <a:buChar char="Ø"/>
            </a:pPr>
            <a:r>
              <a:rPr lang="en-GB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Resistance to heat is achieved by pumping water onto the surface of the boom or by wicking water into the boom surface material.</a:t>
            </a:r>
          </a:p>
          <a:p>
            <a:pPr marL="814387" lvl="1" indent="-457200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Intrinsically fire-resistant boom</a:t>
            </a:r>
          </a:p>
          <a:p>
            <a:pPr lvl="2" indent="-338138">
              <a:buFont typeface="Wingdings" panose="05000000000000000000" pitchFamily="2" charset="2"/>
              <a:buChar char="Ø"/>
            </a:pPr>
            <a:r>
              <a:rPr lang="en-GB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Resistance to heat is achieved through the use of fire-resistant materials in its construction.</a:t>
            </a:r>
          </a:p>
        </p:txBody>
      </p:sp>
    </p:spTree>
    <p:extLst>
      <p:ext uri="{BB962C8B-B14F-4D97-AF65-F5344CB8AC3E}">
        <p14:creationId xmlns:p14="http://schemas.microsoft.com/office/powerpoint/2010/main" val="312444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32941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Fire Boom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907352" y="1160188"/>
            <a:ext cx="10577512" cy="52181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algn="just">
              <a:defRPr/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They have a finite life once deployed as integrity will be reduced through repeated burns.</a:t>
            </a:r>
          </a:p>
          <a:p>
            <a:pPr marL="357188" indent="-357188" algn="just">
              <a:defRPr/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Important that:</a:t>
            </a:r>
          </a:p>
          <a:p>
            <a:pPr marL="814387" lvl="1" indent="-457200" algn="just">
              <a:buFont typeface="Wingdings" panose="05000000000000000000" pitchFamily="2" charset="2"/>
              <a:buChar char="ü"/>
              <a:defRPr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will last through the proposed burn operation;</a:t>
            </a:r>
          </a:p>
          <a:p>
            <a:pPr marL="814387" lvl="1" indent="-457200" algn="just">
              <a:buFont typeface="Wingdings" panose="05000000000000000000" pitchFamily="2" charset="2"/>
              <a:buChar char="ü"/>
              <a:defRPr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that the boom can contain the fire residues;</a:t>
            </a:r>
          </a:p>
          <a:p>
            <a:pPr marL="814387" lvl="1" indent="-457200" algn="just">
              <a:buFont typeface="Wingdings" panose="05000000000000000000" pitchFamily="2" charset="2"/>
              <a:buChar char="ü"/>
              <a:defRPr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that the boom will remain sufficiently intact so that it can be recovered for disposal.</a:t>
            </a:r>
          </a:p>
          <a:p>
            <a:pPr marL="357188" indent="-357188" algn="just">
              <a:defRPr/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Generally heavier than conventional boom so more prone to failure in higher sea conditions.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GB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>
              <a:defRPr/>
            </a:pPr>
            <a:endParaRPr lang="en-GB" alt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530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32027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Typical Fire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ooms</a:t>
            </a:r>
          </a:p>
        </p:txBody>
      </p:sp>
      <p:pic>
        <p:nvPicPr>
          <p:cNvPr id="6" name="Content Placeholder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24712" y="1276765"/>
            <a:ext cx="4709483" cy="4342424"/>
          </a:xfrm>
          <a:prstGeom prst="rect">
            <a:avLst/>
          </a:prstGeom>
        </p:spPr>
      </p:pic>
      <p:pic>
        <p:nvPicPr>
          <p:cNvPr id="7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1865" y="1276765"/>
            <a:ext cx="4673729" cy="4341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3982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35684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Actively Cooled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ire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oom</a:t>
            </a:r>
          </a:p>
        </p:txBody>
      </p:sp>
      <p:sp>
        <p:nvSpPr>
          <p:cNvPr id="6" name="Content Placeholder 5"/>
          <p:cNvSpPr txBox="1">
            <a:spLocks/>
          </p:cNvSpPr>
          <p:nvPr/>
        </p:nvSpPr>
        <p:spPr>
          <a:xfrm>
            <a:off x="1078992" y="1276605"/>
            <a:ext cx="10113264" cy="39699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algn="just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Cooling system that uses water pumps and a protective jacket.</a:t>
            </a:r>
          </a:p>
          <a:p>
            <a:pPr marL="357188" indent="-357188" algn="just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Distributes water across the exposed surfaces to provide cooling.</a:t>
            </a:r>
          </a:p>
          <a:p>
            <a:pPr marL="357188" indent="-357188" algn="just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be stored on powered reel.</a:t>
            </a:r>
          </a:p>
          <a:p>
            <a:pPr marL="357188" indent="-357188" algn="just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Needs specific training due to ancillary equipment</a:t>
            </a:r>
          </a:p>
          <a:p>
            <a:pPr marL="712788" lvl="1" indent="-355600" algn="just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Reel, air pumps, water pumps.</a:t>
            </a:r>
          </a:p>
        </p:txBody>
      </p:sp>
    </p:spTree>
    <p:extLst>
      <p:ext uri="{BB962C8B-B14F-4D97-AF65-F5344CB8AC3E}">
        <p14:creationId xmlns:p14="http://schemas.microsoft.com/office/powerpoint/2010/main" val="516875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32941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Actively Cooled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ire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oom</a:t>
            </a:r>
          </a:p>
        </p:txBody>
      </p:sp>
      <p:pic>
        <p:nvPicPr>
          <p:cNvPr id="6" name="Content Placeholder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3488" y="1273556"/>
            <a:ext cx="10036840" cy="4212844"/>
          </a:xfrm>
          <a:prstGeom prst="rect">
            <a:avLst/>
          </a:prstGeom>
        </p:spPr>
      </p:pic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9502140" y="5135436"/>
            <a:ext cx="171754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ahoma" panose="020B0604030504040204" pitchFamily="34" charset="0"/>
              </a:rPr>
              <a:t>Source: IPIECA/IOGP</a:t>
            </a:r>
          </a:p>
        </p:txBody>
      </p:sp>
    </p:spTree>
    <p:extLst>
      <p:ext uri="{BB962C8B-B14F-4D97-AF65-F5344CB8AC3E}">
        <p14:creationId xmlns:p14="http://schemas.microsoft.com/office/powerpoint/2010/main" val="2566012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33669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Intrinsically Fire-Resistant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oom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35697" y="1342749"/>
            <a:ext cx="10179699" cy="37424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algn="just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Relies upon fire-resistant materials to maintain integrity.</a:t>
            </a:r>
          </a:p>
          <a:p>
            <a:pPr marL="357188" indent="-357188" algn="just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 not require support systems thus simplifying maintenance and deployment.</a:t>
            </a:r>
          </a:p>
          <a:p>
            <a:pPr marL="357188" indent="-357188" algn="just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Shipped in containers or on pallets.</a:t>
            </a:r>
          </a:p>
          <a:p>
            <a:pPr marL="357188" indent="-357188" algn="just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Deployment and retrieval will rely on manpower and vessel crane, if available.</a:t>
            </a:r>
          </a:p>
        </p:txBody>
      </p:sp>
    </p:spTree>
    <p:extLst>
      <p:ext uri="{BB962C8B-B14F-4D97-AF65-F5344CB8AC3E}">
        <p14:creationId xmlns:p14="http://schemas.microsoft.com/office/powerpoint/2010/main" val="2359852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43914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Intrinsically Fire-Resistant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oom</a:t>
            </a:r>
          </a:p>
        </p:txBody>
      </p:sp>
      <p:pic>
        <p:nvPicPr>
          <p:cNvPr id="6" name="Content Placeholder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69103" y="1115875"/>
            <a:ext cx="8415338" cy="4968875"/>
          </a:xfrm>
          <a:prstGeom prst="rect">
            <a:avLst/>
          </a:prstGeom>
        </p:spPr>
      </p:pic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8667179" y="5808525"/>
            <a:ext cx="25209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ahoma" panose="020B0604030504040204" pitchFamily="34" charset="0"/>
              </a:rPr>
              <a:t>Source: IPIECA/IOGP</a:t>
            </a:r>
          </a:p>
        </p:txBody>
      </p:sp>
    </p:spTree>
    <p:extLst>
      <p:ext uri="{BB962C8B-B14F-4D97-AF65-F5344CB8AC3E}">
        <p14:creationId xmlns:p14="http://schemas.microsoft.com/office/powerpoint/2010/main" val="225060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37513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Intrinsically Fire-Resistant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oom</a:t>
            </a:r>
          </a:p>
        </p:txBody>
      </p:sp>
      <p:pic>
        <p:nvPicPr>
          <p:cNvPr id="6" name="Content Placeholder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29224" y="963402"/>
            <a:ext cx="7431088" cy="5218113"/>
          </a:xfrm>
          <a:prstGeom prst="rect">
            <a:avLst/>
          </a:prstGeom>
        </p:spPr>
      </p:pic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8238173" y="5863188"/>
            <a:ext cx="1695291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ahoma" panose="020B0604030504040204" pitchFamily="34" charset="0"/>
              </a:rPr>
              <a:t>Source: IPIECA/IOGP</a:t>
            </a:r>
          </a:p>
        </p:txBody>
      </p:sp>
    </p:spTree>
    <p:extLst>
      <p:ext uri="{BB962C8B-B14F-4D97-AF65-F5344CB8AC3E}">
        <p14:creationId xmlns:p14="http://schemas.microsoft.com/office/powerpoint/2010/main" val="3763786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36599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ISB in Operation</a:t>
            </a:r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062" y="1153109"/>
            <a:ext cx="8397875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8302625" y="5713997"/>
            <a:ext cx="169176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FFFFFF"/>
                </a:solidFill>
                <a:latin typeface="Tahoma" panose="020B0604030504040204" pitchFamily="34" charset="0"/>
              </a:rPr>
              <a:t>Source: IPIECA/IOGP</a:t>
            </a:r>
          </a:p>
        </p:txBody>
      </p:sp>
    </p:spTree>
    <p:extLst>
      <p:ext uri="{BB962C8B-B14F-4D97-AF65-F5344CB8AC3E}">
        <p14:creationId xmlns:p14="http://schemas.microsoft.com/office/powerpoint/2010/main" val="419247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35684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Igniters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15568" y="1335024"/>
            <a:ext cx="9802368" cy="35844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algn="just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ease with which ignition will be reached depends on:</a:t>
            </a:r>
          </a:p>
          <a:p>
            <a:pPr marL="712788" lvl="1" indent="-355600" algn="just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concentration of hydrocarbon vapours</a:t>
            </a:r>
          </a:p>
          <a:p>
            <a:pPr marL="712788" lvl="1" indent="-355600" algn="just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oil type (flash point and auto-ignition temperature)</a:t>
            </a:r>
          </a:p>
          <a:p>
            <a:pPr marL="712788" lvl="1" indent="-355600" algn="just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 amount of weathering</a:t>
            </a:r>
          </a:p>
          <a:p>
            <a:pPr marL="712788" lvl="1" indent="-355600" algn="just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ability of an igniter to provide a source of heat for sufficient time to heat the vapours and bring them to ignition.</a:t>
            </a:r>
          </a:p>
        </p:txBody>
      </p:sp>
    </p:spTree>
    <p:extLst>
      <p:ext uri="{BB962C8B-B14F-4D97-AF65-F5344CB8AC3E}">
        <p14:creationId xmlns:p14="http://schemas.microsoft.com/office/powerpoint/2010/main" val="1916130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130175"/>
            <a:ext cx="1130198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Safe Distance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alculations</a:t>
            </a:r>
          </a:p>
        </p:txBody>
      </p:sp>
      <p:graphicFrame>
        <p:nvGraphicFramePr>
          <p:cNvPr id="8" name="Content Placeholder 3">
            <a:extLst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9973470"/>
              </p:ext>
            </p:extLst>
          </p:nvPr>
        </p:nvGraphicFramePr>
        <p:xfrm>
          <a:off x="1514412" y="981202"/>
          <a:ext cx="8856663" cy="4968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8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4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4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225">
                <a:tc>
                  <a:txBody>
                    <a:bodyPr/>
                    <a:lstStyle/>
                    <a:p>
                      <a:r>
                        <a:rPr lang="en-GB" sz="1800" dirty="0"/>
                        <a:t>Type and Area</a:t>
                      </a:r>
                    </a:p>
                  </a:txBody>
                  <a:tcPr marL="91437" marR="91437" marT="45717" marB="45717" anchor="ctr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Burn Area (Acres)</a:t>
                      </a:r>
                    </a:p>
                  </a:txBody>
                  <a:tcPr marL="91437" marR="91437" marT="45717" marB="45717" anchor="ctr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Safe Distance (km)</a:t>
                      </a:r>
                    </a:p>
                  </a:txBody>
                  <a:tcPr marL="91437" marR="91437" marT="45717" marB="45717" anchor="ctr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Safe distance (miles)</a:t>
                      </a:r>
                    </a:p>
                  </a:txBody>
                  <a:tcPr marL="91437" marR="91437" marT="45717" marB="4571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225">
                <a:tc gridSpan="4"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Crude</a:t>
                      </a:r>
                      <a:r>
                        <a:rPr lang="en-GB" sz="1800" baseline="0" dirty="0"/>
                        <a:t> Oil Burns</a:t>
                      </a:r>
                      <a:endParaRPr lang="en-GB" sz="1800" dirty="0"/>
                    </a:p>
                  </a:txBody>
                  <a:tcPr marL="91437" marR="91437" marT="45717" marB="45717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225">
                <a:tc>
                  <a:txBody>
                    <a:bodyPr/>
                    <a:lstStyle/>
                    <a:p>
                      <a:r>
                        <a:rPr lang="en-GB" sz="1800" dirty="0"/>
                        <a:t>Small Area (250</a:t>
                      </a:r>
                      <a:r>
                        <a:rPr lang="en-GB" sz="1800" baseline="0" dirty="0"/>
                        <a:t> m</a:t>
                      </a:r>
                      <a:r>
                        <a:rPr lang="en-GB" sz="1800" baseline="30000" dirty="0"/>
                        <a:t>3</a:t>
                      </a:r>
                      <a:r>
                        <a:rPr lang="en-GB" sz="1800" baseline="0" dirty="0"/>
                        <a:t>)</a:t>
                      </a:r>
                      <a:endParaRPr lang="en-GB" sz="1800" dirty="0"/>
                    </a:p>
                  </a:txBody>
                  <a:tcPr marL="91437" marR="91437" marT="45717" marB="45717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0.6</a:t>
                      </a:r>
                    </a:p>
                  </a:txBody>
                  <a:tcPr marL="91437" marR="91437" marT="45717" marB="45717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0.09</a:t>
                      </a:r>
                    </a:p>
                  </a:txBody>
                  <a:tcPr marL="91437" marR="91437" marT="45717" marB="45717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0.06</a:t>
                      </a:r>
                    </a:p>
                  </a:txBody>
                  <a:tcPr marL="91437" marR="91437" marT="45717" marB="45717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5950">
                <a:tc>
                  <a:txBody>
                    <a:bodyPr/>
                    <a:lstStyle/>
                    <a:p>
                      <a:r>
                        <a:rPr lang="en-GB" sz="1800" dirty="0"/>
                        <a:t>Medium Area (500</a:t>
                      </a:r>
                      <a:r>
                        <a:rPr lang="en-GB" sz="1800" baseline="0" dirty="0"/>
                        <a:t> m</a:t>
                      </a:r>
                      <a:r>
                        <a:rPr lang="en-GB" sz="1800" baseline="30000" dirty="0"/>
                        <a:t>3</a:t>
                      </a:r>
                      <a:r>
                        <a:rPr lang="en-GB" sz="1800" baseline="0" dirty="0"/>
                        <a:t>)</a:t>
                      </a:r>
                      <a:endParaRPr lang="en-GB" sz="1800" dirty="0"/>
                    </a:p>
                  </a:txBody>
                  <a:tcPr marL="91437" marR="91437" marT="45717" marB="45717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1.2</a:t>
                      </a:r>
                    </a:p>
                  </a:txBody>
                  <a:tcPr marL="91437" marR="91437" marT="45717" marB="45717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0.5</a:t>
                      </a:r>
                    </a:p>
                  </a:txBody>
                  <a:tcPr marL="91437" marR="91437" marT="45717" marB="45717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0.3</a:t>
                      </a:r>
                    </a:p>
                  </a:txBody>
                  <a:tcPr marL="91437" marR="91437" marT="45717" marB="45717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225">
                <a:tc>
                  <a:txBody>
                    <a:bodyPr/>
                    <a:lstStyle/>
                    <a:p>
                      <a:r>
                        <a:rPr lang="en-GB" sz="1800" dirty="0"/>
                        <a:t>Large Area (750</a:t>
                      </a:r>
                      <a:r>
                        <a:rPr lang="en-GB" sz="1800" baseline="0" dirty="0"/>
                        <a:t> m</a:t>
                      </a:r>
                      <a:r>
                        <a:rPr lang="en-GB" sz="1800" baseline="30000" dirty="0"/>
                        <a:t>3</a:t>
                      </a:r>
                      <a:r>
                        <a:rPr lang="en-GB" sz="1800" baseline="0" dirty="0"/>
                        <a:t>)</a:t>
                      </a:r>
                      <a:endParaRPr lang="en-GB" sz="1800" dirty="0"/>
                    </a:p>
                  </a:txBody>
                  <a:tcPr marL="91437" marR="91437" marT="45717" marB="45717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1.9</a:t>
                      </a:r>
                    </a:p>
                  </a:txBody>
                  <a:tcPr marL="91437" marR="91437" marT="45717" marB="45717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3.2</a:t>
                      </a:r>
                    </a:p>
                  </a:txBody>
                  <a:tcPr marL="91437" marR="91437" marT="45717" marB="45717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2</a:t>
                      </a:r>
                    </a:p>
                  </a:txBody>
                  <a:tcPr marL="91437" marR="91437" marT="45717" marB="45717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225">
                <a:tc gridSpan="4"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Diesel Burns</a:t>
                      </a:r>
                    </a:p>
                  </a:txBody>
                  <a:tcPr marL="91437" marR="91437" marT="45717" marB="45717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400">
                <a:tc>
                  <a:txBody>
                    <a:bodyPr/>
                    <a:lstStyle/>
                    <a:p>
                      <a:r>
                        <a:rPr lang="en-GB" sz="1800" dirty="0"/>
                        <a:t>Small Area (250</a:t>
                      </a:r>
                      <a:r>
                        <a:rPr lang="en-GB" sz="1800" baseline="0" dirty="0"/>
                        <a:t> m</a:t>
                      </a:r>
                      <a:r>
                        <a:rPr lang="en-GB" sz="1800" baseline="30000" dirty="0"/>
                        <a:t>3</a:t>
                      </a:r>
                      <a:r>
                        <a:rPr lang="en-GB" sz="1800" baseline="0" dirty="0"/>
                        <a:t>)</a:t>
                      </a:r>
                      <a:endParaRPr lang="en-GB" sz="1800" dirty="0"/>
                    </a:p>
                  </a:txBody>
                  <a:tcPr marL="91437" marR="91437" marT="45717" marB="45717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0.6</a:t>
                      </a:r>
                    </a:p>
                  </a:txBody>
                  <a:tcPr marL="91437" marR="91437" marT="45717" marB="45717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0.8</a:t>
                      </a:r>
                    </a:p>
                  </a:txBody>
                  <a:tcPr marL="91437" marR="91437" marT="45717" marB="45717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0.5</a:t>
                      </a:r>
                    </a:p>
                  </a:txBody>
                  <a:tcPr marL="91437" marR="91437" marT="45717" marB="45717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3400">
                <a:tc>
                  <a:txBody>
                    <a:bodyPr/>
                    <a:lstStyle/>
                    <a:p>
                      <a:r>
                        <a:rPr lang="en-GB" sz="1800" dirty="0"/>
                        <a:t>Large Area (500</a:t>
                      </a:r>
                      <a:r>
                        <a:rPr lang="en-GB" sz="1800" baseline="0" dirty="0"/>
                        <a:t> m</a:t>
                      </a:r>
                      <a:r>
                        <a:rPr lang="en-GB" sz="1800" baseline="30000" dirty="0"/>
                        <a:t>3</a:t>
                      </a:r>
                      <a:r>
                        <a:rPr lang="en-GB" sz="1800" baseline="0" dirty="0"/>
                        <a:t>)</a:t>
                      </a:r>
                      <a:endParaRPr lang="en-GB" sz="1800" dirty="0"/>
                    </a:p>
                  </a:txBody>
                  <a:tcPr marL="91437" marR="91437" marT="45717" marB="45717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1.2</a:t>
                      </a:r>
                    </a:p>
                  </a:txBody>
                  <a:tcPr marL="91437" marR="91437" marT="45717" marB="45717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20</a:t>
                      </a:r>
                    </a:p>
                  </a:txBody>
                  <a:tcPr marL="91437" marR="91437" marT="45717" marB="45717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12.4</a:t>
                      </a:r>
                    </a:p>
                  </a:txBody>
                  <a:tcPr marL="91437" marR="91437" marT="45717" marB="45717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40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26540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 Quality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onitoring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15568" y="1237235"/>
            <a:ext cx="10204704" cy="39748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this technique is to be considered then air quality monitoring needs to be put into place.</a:t>
            </a:r>
          </a:p>
          <a:p>
            <a:pPr algn="just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site monitoring is required for hazardous and flammable/explosion conditions. </a:t>
            </a:r>
          </a:p>
          <a:p>
            <a:pPr algn="just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Down-wind monitoring is required for public health concerns.</a:t>
            </a:r>
          </a:p>
          <a:p>
            <a:pPr algn="just"/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On-going weather monitoring and forecasting should be in place.</a:t>
            </a:r>
          </a:p>
        </p:txBody>
      </p:sp>
    </p:spTree>
    <p:extLst>
      <p:ext uri="{BB962C8B-B14F-4D97-AF65-F5344CB8AC3E}">
        <p14:creationId xmlns:p14="http://schemas.microsoft.com/office/powerpoint/2010/main" val="2861479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23797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 Quality </a:t>
            </a:r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onitoring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328" y="998035"/>
            <a:ext cx="5181600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333246" y="5171685"/>
            <a:ext cx="3095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GB" altLang="en-US" sz="1400" dirty="0">
                <a:solidFill>
                  <a:srgbClr val="000000"/>
                </a:solidFill>
                <a:latin typeface="Tahoma" panose="020B0604030504040204" pitchFamily="34" charset="0"/>
              </a:rPr>
              <a:t>Source: US EPA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0"/>
          <a:stretch>
            <a:fillRect/>
          </a:stretch>
        </p:blipFill>
        <p:spPr bwMode="auto">
          <a:xfrm>
            <a:off x="7070916" y="1015790"/>
            <a:ext cx="3554412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095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34770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ISB - NEBA</a:t>
            </a:r>
          </a:p>
        </p:txBody>
      </p:sp>
      <p:graphicFrame>
        <p:nvGraphicFramePr>
          <p:cNvPr id="6" name="Content Placeholder 3">
            <a:extLst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9939832"/>
              </p:ext>
            </p:extLst>
          </p:nvPr>
        </p:nvGraphicFramePr>
        <p:xfrm>
          <a:off x="1512397" y="961972"/>
          <a:ext cx="9413750" cy="49594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541">
                <a:tc>
                  <a:txBody>
                    <a:bodyPr/>
                    <a:lstStyle/>
                    <a:p>
                      <a:r>
                        <a:rPr lang="en-GB" sz="18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2017">
                <a:tc>
                  <a:txBody>
                    <a:bodyPr/>
                    <a:lstStyle/>
                    <a:p>
                      <a:r>
                        <a:rPr lang="en-GB" sz="1800" dirty="0"/>
                        <a:t>Can,</a:t>
                      </a:r>
                      <a:r>
                        <a:rPr lang="en-GB" sz="1800" baseline="0" dirty="0"/>
                        <a:t> under the right conditions and with the right equipment, quickly remove large amounts of oil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Ignition</a:t>
                      </a:r>
                      <a:r>
                        <a:rPr lang="en-GB" sz="1800" baseline="0" dirty="0"/>
                        <a:t> of weathered or emulsified oil can be difficult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412">
                <a:tc>
                  <a:txBody>
                    <a:bodyPr/>
                    <a:lstStyle/>
                    <a:p>
                      <a:r>
                        <a:rPr lang="en-GB" sz="1800" dirty="0"/>
                        <a:t>Can lessen recovery time and disposal chain for oily wastes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Generates smoke and soot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412">
                <a:tc>
                  <a:txBody>
                    <a:bodyPr/>
                    <a:lstStyle/>
                    <a:p>
                      <a:r>
                        <a:rPr lang="en-GB" sz="1800" dirty="0"/>
                        <a:t>Once ignited,</a:t>
                      </a:r>
                      <a:r>
                        <a:rPr lang="en-GB" sz="1800" baseline="0" dirty="0"/>
                        <a:t> most oils will burn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Has inherent, but manageable, safety risks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412">
                <a:tc>
                  <a:txBody>
                    <a:bodyPr/>
                    <a:lstStyle/>
                    <a:p>
                      <a:r>
                        <a:rPr lang="en-GB" sz="1800" dirty="0"/>
                        <a:t>Can be used in</a:t>
                      </a:r>
                      <a:r>
                        <a:rPr lang="en-GB" sz="1800" baseline="0" dirty="0"/>
                        <a:t> any water environment (marine, estuarine, freshwater)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Some residues</a:t>
                      </a:r>
                      <a:r>
                        <a:rPr lang="en-GB" sz="1800" baseline="0" dirty="0"/>
                        <a:t> can sink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41623">
                <a:tc>
                  <a:txBody>
                    <a:bodyPr/>
                    <a:lstStyle/>
                    <a:p>
                      <a:r>
                        <a:rPr lang="en-GB" sz="1800" dirty="0"/>
                        <a:t>Can be carried</a:t>
                      </a:r>
                      <a:r>
                        <a:rPr lang="en-GB" sz="1800" baseline="0" dirty="0"/>
                        <a:t> out at night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Fire booms required for burning</a:t>
                      </a:r>
                      <a:r>
                        <a:rPr lang="en-GB" sz="1800" baseline="0" dirty="0"/>
                        <a:t> of freshwater and marine oil spills are large pieces of equipment that are a challenge to rapidly transport</a:t>
                      </a:r>
                      <a:endParaRPr lang="en-GB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6768530" y="5962755"/>
            <a:ext cx="4253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400" dirty="0">
                <a:latin typeface="Tahoma" panose="020B0604030504040204" pitchFamily="34" charset="0"/>
              </a:rPr>
              <a:t>Source: ExxonMobil Oil Spill Response Field Manual</a:t>
            </a:r>
          </a:p>
        </p:txBody>
      </p:sp>
    </p:spTree>
    <p:extLst>
      <p:ext uri="{BB962C8B-B14F-4D97-AF65-F5344CB8AC3E}">
        <p14:creationId xmlns:p14="http://schemas.microsoft.com/office/powerpoint/2010/main" val="987120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37513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417320" y="1160187"/>
            <a:ext cx="962863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algn="just">
              <a:defRPr/>
            </a:pPr>
            <a:r>
              <a:rPr lang="en-GB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ISB may be a response option but depends on a number of key factors:</a:t>
            </a:r>
          </a:p>
          <a:p>
            <a:pPr marL="712788" lvl="1" indent="-355600" algn="just">
              <a:buFont typeface="Wingdings" panose="05000000000000000000" pitchFamily="2" charset="2"/>
              <a:buChar char="ü"/>
              <a:defRPr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oil type</a:t>
            </a:r>
          </a:p>
          <a:p>
            <a:pPr marL="712788" lvl="1" indent="-355600" algn="just">
              <a:buFont typeface="Wingdings" panose="05000000000000000000" pitchFamily="2" charset="2"/>
              <a:buChar char="ü"/>
              <a:defRPr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amount of weathering that has taken place</a:t>
            </a:r>
          </a:p>
          <a:p>
            <a:pPr marL="712788" lvl="1" indent="-355600" algn="just">
              <a:buFont typeface="Wingdings" panose="05000000000000000000" pitchFamily="2" charset="2"/>
              <a:buChar char="ü"/>
              <a:defRPr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current and forecasted weather conditions</a:t>
            </a:r>
          </a:p>
          <a:p>
            <a:pPr marL="712788" lvl="1" indent="-355600" algn="just">
              <a:buFont typeface="Wingdings" panose="05000000000000000000" pitchFamily="2" charset="2"/>
              <a:buChar char="ü"/>
              <a:defRPr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availability of equipment</a:t>
            </a:r>
          </a:p>
          <a:p>
            <a:pPr marL="712788" lvl="1" indent="-355600" algn="just">
              <a:buFont typeface="Wingdings" panose="05000000000000000000" pitchFamily="2" charset="2"/>
              <a:buChar char="ü"/>
              <a:defRPr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ability to carry out the operation safely</a:t>
            </a:r>
          </a:p>
          <a:p>
            <a:pPr marL="712788" lvl="1" indent="-355600" algn="just">
              <a:buFont typeface="Wingdings" panose="05000000000000000000" pitchFamily="2" charset="2"/>
              <a:buChar char="ü"/>
              <a:defRPr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safety of the responders and public</a:t>
            </a:r>
          </a:p>
          <a:p>
            <a:pPr marL="712788" lvl="1" indent="-355600" algn="just">
              <a:buFont typeface="Wingdings" panose="05000000000000000000" pitchFamily="2" charset="2"/>
              <a:buChar char="ü"/>
              <a:defRPr/>
            </a:pPr>
            <a:r>
              <a:rPr lang="en-GB" alt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NEBA considerations during planning phase</a:t>
            </a:r>
          </a:p>
          <a:p>
            <a:pPr marL="685800" indent="-328613" algn="just">
              <a:buFont typeface="Arial" panose="020B0604020202020204" pitchFamily="34" charset="0"/>
              <a:buNone/>
              <a:defRPr/>
            </a:pPr>
            <a:endParaRPr lang="en-GB" alt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460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56883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644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1685</TotalTime>
  <Words>1333</Words>
  <Application>Microsoft Office PowerPoint</Application>
  <PresentationFormat>Widescreen</PresentationFormat>
  <Paragraphs>186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MS PGothic</vt:lpstr>
      <vt:lpstr>Arial</vt:lpstr>
      <vt:lpstr>Calibri</vt:lpstr>
      <vt:lpstr>Calibri Light</vt:lpstr>
      <vt:lpstr>inherit</vt:lpstr>
      <vt:lpstr>Symbol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459</cp:revision>
  <dcterms:created xsi:type="dcterms:W3CDTF">2024-09-27T05:40:49Z</dcterms:created>
  <dcterms:modified xsi:type="dcterms:W3CDTF">2025-05-08T05:18:04Z</dcterms:modified>
</cp:coreProperties>
</file>
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555A-5A35-47AC-90DE-54164EB42B0B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99A2B-2DEA-46DC-A0A3-57D0D370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79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8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484632" y="1728216"/>
            <a:ext cx="11146536" cy="332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Assessment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457200" y="130175"/>
            <a:ext cx="113659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</a:p>
        </p:txBody>
      </p:sp>
      <p:sp>
        <p:nvSpPr>
          <p:cNvPr id="7" name="Rectangle 3">
            <a:extLst/>
          </p:cNvPr>
          <p:cNvSpPr txBox="1">
            <a:spLocks noChangeArrowheads="1"/>
          </p:cNvSpPr>
          <p:nvPr/>
        </p:nvSpPr>
        <p:spPr>
          <a:xfrm>
            <a:off x="1037208" y="1482280"/>
            <a:ext cx="10072751" cy="3062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Font typeface="Arial" charset="0"/>
              <a:buNone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Font typeface="Arial" charset="0"/>
              <a:buNone/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operational aspects of shoreline assessment and evaluation. </a:t>
            </a:r>
          </a:p>
          <a:p>
            <a:pPr algn="just">
              <a:buFont typeface="Arial" charset="0"/>
              <a:buChar char="•"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None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fr-FR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6878" y="130175"/>
            <a:ext cx="1123829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Assessment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817084" y="1376087"/>
            <a:ext cx="10557832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to make decisions on shoreline treatment and response operations, management requires real-time data on oiling conditions.  This is the purpose of shoreline assessment and of a </a:t>
            </a:r>
            <a:r>
              <a:rPr lang="en-GB" altLang="en-US" sz="32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</a:t>
            </a: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(Shoreline Clean-up Assessment Technique) team.</a:t>
            </a:r>
          </a:p>
          <a:p>
            <a:pPr algn="just"/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higher risk locations, baseline information for SCAT may be acquired during contingency planning.</a:t>
            </a: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7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2836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Assessment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rinciples</a:t>
            </a:r>
          </a:p>
        </p:txBody>
      </p:sp>
      <p:sp>
        <p:nvSpPr>
          <p:cNvPr id="6" name="Rectangle 3"/>
          <p:cNvSpPr txBox="1">
            <a:spLocks noRot="1"/>
          </p:cNvSpPr>
          <p:nvPr/>
        </p:nvSpPr>
        <p:spPr>
          <a:xfrm>
            <a:off x="1197864" y="1353312"/>
            <a:ext cx="9966960" cy="4096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oiled and non-oiled areas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location, amount and character of oil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operational and logistical factors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Establish shoreline treatment priorities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Establish treatment standards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 treatment methods</a:t>
            </a:r>
          </a:p>
          <a:p>
            <a:pPr marL="357188" indent="-357188" algn="just">
              <a:buClr>
                <a:schemeClr val="tx1"/>
              </a:buClr>
              <a:buSzPct val="80000"/>
              <a:buFontTx/>
              <a:buChar char="•"/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how proposed operations can prevent any additional damage</a:t>
            </a:r>
          </a:p>
        </p:txBody>
      </p:sp>
    </p:spTree>
    <p:extLst>
      <p:ext uri="{BB962C8B-B14F-4D97-AF65-F5344CB8AC3E}">
        <p14:creationId xmlns:p14="http://schemas.microsoft.com/office/powerpoint/2010/main" val="28528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457200" y="130175"/>
            <a:ext cx="11311128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 Survey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90194" y="979068"/>
            <a:ext cx="1075867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 reconnaissance using observations, photos, and video.</a:t>
            </a:r>
          </a:p>
          <a:p>
            <a:pPr algn="just"/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Provides an overall picture of the situation in a short amount of time.</a:t>
            </a:r>
          </a:p>
          <a:p>
            <a:pPr algn="just"/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Needs further “on the ground” assessment.</a:t>
            </a:r>
          </a:p>
          <a:p>
            <a:pPr algn="just">
              <a:buFontTx/>
              <a:buNone/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Tx/>
              <a:buNone/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/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buFontTx/>
              <a:buNone/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/>
            <a:endParaRPr lang="fr-FR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362" y="3198052"/>
            <a:ext cx="3956494" cy="296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7148893" y="5948225"/>
            <a:ext cx="8429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ITOPF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23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457200" y="130175"/>
            <a:ext cx="11228832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Ground Survey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 bwMode="auto">
          <a:xfrm>
            <a:off x="1179576" y="994287"/>
            <a:ext cx="10735056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Provides more detailed information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require a number of teams with differing skills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done in addition to continuing aerial surveys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eaLnBrk="1" hangingPunct="1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fr-FR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773" y="2909849"/>
            <a:ext cx="4318698" cy="32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7256209" y="5934731"/>
            <a:ext cx="809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OSRL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96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217" y="3076575"/>
            <a:ext cx="3668712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03"/>
          <p:cNvSpPr txBox="1">
            <a:spLocks/>
          </p:cNvSpPr>
          <p:nvPr/>
        </p:nvSpPr>
        <p:spPr bwMode="gray">
          <a:xfrm>
            <a:off x="457200" y="130175"/>
            <a:ext cx="11274552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Describe Coastal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onditions</a:t>
            </a:r>
          </a:p>
        </p:txBody>
      </p:sp>
      <p:sp>
        <p:nvSpPr>
          <p:cNvPr id="7" name="Rectangle 3">
            <a:extLst/>
          </p:cNvPr>
          <p:cNvSpPr txBox="1">
            <a:spLocks noChangeArrowheads="1"/>
          </p:cNvSpPr>
          <p:nvPr/>
        </p:nvSpPr>
        <p:spPr bwMode="auto">
          <a:xfrm>
            <a:off x="321818" y="950263"/>
            <a:ext cx="10778998" cy="41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characteristics of affected shore including load-bearing capacity.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activities take place in the backshore zone and this needs to be characterized.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7280085" y="3170428"/>
            <a:ext cx="8413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OSRL</a:t>
            </a:r>
            <a:endParaRPr lang="en-CA" alt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05" y="3059112"/>
            <a:ext cx="461962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464501" y="3076575"/>
            <a:ext cx="8413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: OSRL</a:t>
            </a:r>
            <a:endParaRPr lang="en-CA" alt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65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457200" y="130175"/>
            <a:ext cx="11301984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Describe Oiling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onditions</a:t>
            </a:r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2648204" y="1335977"/>
            <a:ext cx="7416800" cy="41211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oil distribution</a:t>
            </a: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oil thickness</a:t>
            </a: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character</a:t>
            </a: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Subsurface oil</a:t>
            </a:r>
          </a:p>
          <a:p>
            <a:pPr marL="342000" indent="-342000">
              <a:spcBef>
                <a:spcPts val="78"/>
              </a:spcBef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4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457200" y="130175"/>
            <a:ext cx="11347704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 Team</a:t>
            </a:r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713232" y="1180257"/>
            <a:ext cx="11000232" cy="4957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lvl="1" indent="-447675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Made up of representative stakeholders</a:t>
            </a:r>
          </a:p>
          <a:p>
            <a:pPr marL="996950" lvl="3" indent="-457200">
              <a:spcBef>
                <a:spcPts val="78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Governments, landowner, shipowner, spill response expert, beach supervisor/master.</a:t>
            </a: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Kept to a manageable size (three to five team members).</a:t>
            </a: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000" indent="-342000">
              <a:spcBef>
                <a:spcPts val="78"/>
              </a:spcBef>
              <a:buFont typeface="Arial" pitchFamily="34" charset="0"/>
              <a:buChar char="•"/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members consult on oiling conditions and proposed clean-up techniques for each segment and gain consensus to ensure an accurate unbiased view</a:t>
            </a: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288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Operations’ Role in SCAT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25296" y="1304038"/>
            <a:ext cx="10241280" cy="3915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role of Operations in SCAT is to:</a:t>
            </a:r>
          </a:p>
          <a:p>
            <a:pPr marL="539750" indent="-447675" algn="just">
              <a:buFont typeface="Arial" charset="0"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clean-up expertise</a:t>
            </a:r>
          </a:p>
          <a:p>
            <a:pPr marL="539750" indent="-447675" algn="just">
              <a:buFont typeface="Arial" charset="0"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 and agree recommendations on technically feasible    clean-up strategies including:</a:t>
            </a:r>
          </a:p>
          <a:p>
            <a:pPr marL="712788" lvl="1" indent="-255588" algn="just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 and logistical requirements/limitations</a:t>
            </a:r>
          </a:p>
          <a:p>
            <a:pPr marL="712788" lvl="1" indent="-255588" algn="just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treatment methods</a:t>
            </a:r>
          </a:p>
          <a:p>
            <a:pPr marL="712788" lvl="1" indent="-255588" algn="just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 format and frequency</a:t>
            </a:r>
          </a:p>
          <a:p>
            <a:pPr lvl="1" algn="just">
              <a:buFont typeface="Arial" charset="0"/>
              <a:buChar char="–"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7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200" y="130175"/>
            <a:ext cx="112014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569720" y="1592053"/>
            <a:ext cx="9540240" cy="39608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 teams are the “eyes” of Incident Command providing real-time data on oiling conditions.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 teams require Operations input.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 teams require logistical support.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8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Text Box 4">
            <a:extLst/>
          </p:cNvPr>
          <p:cNvSpPr txBox="1">
            <a:spLocks noChangeArrowheads="1"/>
          </p:cNvSpPr>
          <p:nvPr/>
        </p:nvSpPr>
        <p:spPr bwMode="auto">
          <a:xfrm>
            <a:off x="394716" y="2622423"/>
            <a:ext cx="114025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40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9899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508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485</cp:revision>
  <dcterms:created xsi:type="dcterms:W3CDTF">2024-09-27T05:40:49Z</dcterms:created>
  <dcterms:modified xsi:type="dcterms:W3CDTF">2024-11-28T09:30:45Z</dcterms:modified>
</cp:coreProperties>
</file>
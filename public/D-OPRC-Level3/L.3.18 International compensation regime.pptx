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6" r:id="rId2"/>
    <p:sldId id="273"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 id="305" r:id="rId35"/>
    <p:sldId id="306" r:id="rId36"/>
    <p:sldId id="307" r:id="rId37"/>
    <p:sldId id="308" r:id="rId38"/>
    <p:sldId id="309" r:id="rId39"/>
    <p:sldId id="310" r:id="rId40"/>
    <p:sldId id="311" r:id="rId41"/>
    <p:sldId id="312" r:id="rId42"/>
    <p:sldId id="313" r:id="rId43"/>
    <p:sldId id="314" r:id="rId44"/>
    <p:sldId id="315" r:id="rId45"/>
    <p:sldId id="316" r:id="rId46"/>
    <p:sldId id="317" r:id="rId47"/>
    <p:sldId id="318" r:id="rId48"/>
    <p:sldId id="319" r:id="rId49"/>
    <p:sldId id="320" r:id="rId50"/>
    <p:sldId id="321" r:id="rId51"/>
    <p:sldId id="322" r:id="rId52"/>
    <p:sldId id="323" r:id="rId53"/>
    <p:sldId id="264"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1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334B3B-33A6-4123-B5A1-4ED0CE9C898C}" type="datetimeFigureOut">
              <a:rPr lang="en-IN" smtClean="0"/>
              <a:t>05-06-2025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6EAAAD-8334-4BC1-B8AB-769355DEDA0A}" type="slidenum">
              <a:rPr lang="en-IN" smtClean="0"/>
              <a:t>‹#›</a:t>
            </a:fld>
            <a:endParaRPr lang="en-IN"/>
          </a:p>
        </p:txBody>
      </p:sp>
    </p:spTree>
    <p:extLst>
      <p:ext uri="{BB962C8B-B14F-4D97-AF65-F5344CB8AC3E}">
        <p14:creationId xmlns:p14="http://schemas.microsoft.com/office/powerpoint/2010/main" val="28731921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ＭＳ Ｐゴシック" panose="020B0600070205080204" pitchFamily="34" charset="-128"/>
              </a:defRPr>
            </a:lvl1pPr>
            <a:lvl2pPr marL="742950" indent="-285750" defTabSz="990600">
              <a:defRPr sz="2400">
                <a:solidFill>
                  <a:schemeClr val="tx1"/>
                </a:solidFill>
                <a:latin typeface="Tahoma" panose="020B0604030504040204" pitchFamily="34" charset="0"/>
                <a:ea typeface="ＭＳ Ｐゴシック" panose="020B0600070205080204" pitchFamily="34" charset="-128"/>
              </a:defRPr>
            </a:lvl2pPr>
            <a:lvl3pPr marL="1143000" indent="-228600" defTabSz="990600">
              <a:defRPr sz="2400">
                <a:solidFill>
                  <a:schemeClr val="tx1"/>
                </a:solidFill>
                <a:latin typeface="Tahoma" panose="020B0604030504040204" pitchFamily="34" charset="0"/>
                <a:ea typeface="ＭＳ Ｐゴシック" panose="020B0600070205080204" pitchFamily="34" charset="-128"/>
              </a:defRPr>
            </a:lvl3pPr>
            <a:lvl4pPr marL="1600200" indent="-228600" defTabSz="990600">
              <a:defRPr sz="2400">
                <a:solidFill>
                  <a:schemeClr val="tx1"/>
                </a:solidFill>
                <a:latin typeface="Tahoma" panose="020B0604030504040204" pitchFamily="34" charset="0"/>
                <a:ea typeface="ＭＳ Ｐゴシック" panose="020B0600070205080204" pitchFamily="34" charset="-128"/>
              </a:defRPr>
            </a:lvl4pPr>
            <a:lvl5pPr marL="2057400" indent="-228600" defTabSz="990600">
              <a:defRPr sz="2400">
                <a:solidFill>
                  <a:schemeClr val="tx1"/>
                </a:solidFill>
                <a:latin typeface="Tahoma" panose="020B0604030504040204" pitchFamily="34" charset="0"/>
                <a:ea typeface="ＭＳ Ｐゴシック" panose="020B0600070205080204" pitchFamily="34" charset="-128"/>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fld id="{8BFABDD1-0529-4D50-982D-AB37508CF9AD}" type="slidenum">
              <a:rPr lang="en-GB" altLang="en-US" sz="1300">
                <a:latin typeface="Arial" panose="020B0604020202020204" pitchFamily="34" charset="0"/>
              </a:rPr>
              <a:pPr/>
              <a:t>19</a:t>
            </a:fld>
            <a:endParaRPr lang="en-GB" altLang="en-US" sz="1300">
              <a:latin typeface="Arial" panose="020B0604020202020204" pitchFamily="34" charset="0"/>
            </a:endParaRPr>
          </a:p>
        </p:txBody>
      </p:sp>
      <p:sp>
        <p:nvSpPr>
          <p:cNvPr id="82947" name="Rectangle 2"/>
          <p:cNvSpPr txBox="1">
            <a:spLocks noGrp="1" noChangeArrowheads="1"/>
          </p:cNvSpPr>
          <p:nvPr/>
        </p:nvSpPr>
        <p:spPr bwMode="auto">
          <a:xfrm>
            <a:off x="0" y="0"/>
            <a:ext cx="41608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58" tIns="47379" rIns="94758" bIns="47379"/>
          <a:lstStyle>
            <a:lvl1pPr defTabSz="950913">
              <a:defRPr sz="2400">
                <a:solidFill>
                  <a:schemeClr val="tx1"/>
                </a:solidFill>
                <a:latin typeface="Tahoma" panose="020B0604030504040204" pitchFamily="34" charset="0"/>
                <a:ea typeface="ＭＳ Ｐゴシック" panose="020B0600070205080204" pitchFamily="34" charset="-128"/>
              </a:defRPr>
            </a:lvl1pPr>
            <a:lvl2pPr marL="742950" indent="-285750" defTabSz="950913">
              <a:defRPr sz="2400">
                <a:solidFill>
                  <a:schemeClr val="tx1"/>
                </a:solidFill>
                <a:latin typeface="Tahoma" panose="020B0604030504040204" pitchFamily="34" charset="0"/>
                <a:ea typeface="ＭＳ Ｐゴシック" panose="020B0600070205080204" pitchFamily="34" charset="-128"/>
              </a:defRPr>
            </a:lvl2pPr>
            <a:lvl3pPr marL="1143000" indent="-228600" defTabSz="950913">
              <a:defRPr sz="2400">
                <a:solidFill>
                  <a:schemeClr val="tx1"/>
                </a:solidFill>
                <a:latin typeface="Tahoma" panose="020B0604030504040204" pitchFamily="34" charset="0"/>
                <a:ea typeface="ＭＳ Ｐゴシック" panose="020B0600070205080204" pitchFamily="34" charset="-128"/>
              </a:defRPr>
            </a:lvl3pPr>
            <a:lvl4pPr marL="1600200" indent="-228600" defTabSz="950913">
              <a:defRPr sz="2400">
                <a:solidFill>
                  <a:schemeClr val="tx1"/>
                </a:solidFill>
                <a:latin typeface="Tahoma" panose="020B0604030504040204" pitchFamily="34" charset="0"/>
                <a:ea typeface="ＭＳ Ｐゴシック" panose="020B0600070205080204" pitchFamily="34" charset="-128"/>
              </a:defRPr>
            </a:lvl4pPr>
            <a:lvl5pPr marL="2057400" indent="-228600" defTabSz="950913">
              <a:defRPr sz="2400">
                <a:solidFill>
                  <a:schemeClr val="tx1"/>
                </a:solidFill>
                <a:latin typeface="Tahoma" panose="020B0604030504040204" pitchFamily="34" charset="0"/>
                <a:ea typeface="ＭＳ Ｐゴシック"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spcBef>
                <a:spcPct val="20000"/>
              </a:spcBef>
              <a:buClr>
                <a:srgbClr val="D60093"/>
              </a:buClr>
              <a:buFont typeface="CommonBullets" charset="0"/>
              <a:buChar char=","/>
            </a:pPr>
            <a:r>
              <a:rPr lang="en-US" altLang="en-US">
                <a:solidFill>
                  <a:srgbClr val="000099"/>
                </a:solidFill>
              </a:rPr>
              <a:t>Oil Spill Compensation System &amp; ITOPF</a:t>
            </a:r>
          </a:p>
        </p:txBody>
      </p:sp>
      <p:sp>
        <p:nvSpPr>
          <p:cNvPr id="82948" name="Rectangle 6"/>
          <p:cNvSpPr txBox="1">
            <a:spLocks noGrp="1" noChangeArrowheads="1"/>
          </p:cNvSpPr>
          <p:nvPr/>
        </p:nvSpPr>
        <p:spPr bwMode="auto">
          <a:xfrm>
            <a:off x="0" y="6946900"/>
            <a:ext cx="41608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58" tIns="47379" rIns="94758" bIns="47379"/>
          <a:lstStyle>
            <a:lvl1pPr defTabSz="950913">
              <a:defRPr sz="2400">
                <a:solidFill>
                  <a:schemeClr val="tx1"/>
                </a:solidFill>
                <a:latin typeface="Tahoma" panose="020B0604030504040204" pitchFamily="34" charset="0"/>
                <a:ea typeface="ＭＳ Ｐゴシック" panose="020B0600070205080204" pitchFamily="34" charset="-128"/>
              </a:defRPr>
            </a:lvl1pPr>
            <a:lvl2pPr marL="742950" indent="-285750" defTabSz="950913">
              <a:defRPr sz="2400">
                <a:solidFill>
                  <a:schemeClr val="tx1"/>
                </a:solidFill>
                <a:latin typeface="Tahoma" panose="020B0604030504040204" pitchFamily="34" charset="0"/>
                <a:ea typeface="ＭＳ Ｐゴシック" panose="020B0600070205080204" pitchFamily="34" charset="-128"/>
              </a:defRPr>
            </a:lvl2pPr>
            <a:lvl3pPr marL="1143000" indent="-228600" defTabSz="950913">
              <a:defRPr sz="2400">
                <a:solidFill>
                  <a:schemeClr val="tx1"/>
                </a:solidFill>
                <a:latin typeface="Tahoma" panose="020B0604030504040204" pitchFamily="34" charset="0"/>
                <a:ea typeface="ＭＳ Ｐゴシック" panose="020B0600070205080204" pitchFamily="34" charset="-128"/>
              </a:defRPr>
            </a:lvl3pPr>
            <a:lvl4pPr marL="1600200" indent="-228600" defTabSz="950913">
              <a:defRPr sz="2400">
                <a:solidFill>
                  <a:schemeClr val="tx1"/>
                </a:solidFill>
                <a:latin typeface="Tahoma" panose="020B0604030504040204" pitchFamily="34" charset="0"/>
                <a:ea typeface="ＭＳ Ｐゴシック" panose="020B0600070205080204" pitchFamily="34" charset="-128"/>
              </a:defRPr>
            </a:lvl4pPr>
            <a:lvl5pPr marL="2057400" indent="-228600" defTabSz="950913">
              <a:defRPr sz="2400">
                <a:solidFill>
                  <a:schemeClr val="tx1"/>
                </a:solidFill>
                <a:latin typeface="Tahoma" panose="020B0604030504040204" pitchFamily="34" charset="0"/>
                <a:ea typeface="ＭＳ Ｐゴシック"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spcBef>
                <a:spcPct val="20000"/>
              </a:spcBef>
              <a:buClr>
                <a:srgbClr val="D60093"/>
              </a:buClr>
              <a:buFont typeface="CommonBullets" charset="0"/>
              <a:buChar char=","/>
            </a:pPr>
            <a:r>
              <a:rPr lang="en-US" altLang="en-US">
                <a:solidFill>
                  <a:srgbClr val="000099"/>
                </a:solidFill>
              </a:rPr>
              <a:t>Mark Whittington, ITOPF Technical Adviser</a:t>
            </a:r>
          </a:p>
        </p:txBody>
      </p:sp>
      <p:sp>
        <p:nvSpPr>
          <p:cNvPr id="82949" name="Rectangle 7"/>
          <p:cNvSpPr txBox="1">
            <a:spLocks noGrp="1" noChangeArrowheads="1"/>
          </p:cNvSpPr>
          <p:nvPr/>
        </p:nvSpPr>
        <p:spPr bwMode="auto">
          <a:xfrm>
            <a:off x="5438775" y="6946900"/>
            <a:ext cx="41608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58" tIns="47379" rIns="94758" bIns="47379"/>
          <a:lstStyle>
            <a:lvl1pPr defTabSz="950913">
              <a:defRPr sz="2400">
                <a:solidFill>
                  <a:schemeClr val="tx1"/>
                </a:solidFill>
                <a:latin typeface="Tahoma" panose="020B0604030504040204" pitchFamily="34" charset="0"/>
                <a:ea typeface="ＭＳ Ｐゴシック" panose="020B0600070205080204" pitchFamily="34" charset="-128"/>
              </a:defRPr>
            </a:lvl1pPr>
            <a:lvl2pPr marL="742950" indent="-285750" defTabSz="950913">
              <a:defRPr sz="2400">
                <a:solidFill>
                  <a:schemeClr val="tx1"/>
                </a:solidFill>
                <a:latin typeface="Tahoma" panose="020B0604030504040204" pitchFamily="34" charset="0"/>
                <a:ea typeface="ＭＳ Ｐゴシック" panose="020B0600070205080204" pitchFamily="34" charset="-128"/>
              </a:defRPr>
            </a:lvl2pPr>
            <a:lvl3pPr marL="1143000" indent="-228600" defTabSz="950913">
              <a:defRPr sz="2400">
                <a:solidFill>
                  <a:schemeClr val="tx1"/>
                </a:solidFill>
                <a:latin typeface="Tahoma" panose="020B0604030504040204" pitchFamily="34" charset="0"/>
                <a:ea typeface="ＭＳ Ｐゴシック" panose="020B0600070205080204" pitchFamily="34" charset="-128"/>
              </a:defRPr>
            </a:lvl3pPr>
            <a:lvl4pPr marL="1600200" indent="-228600" defTabSz="950913">
              <a:defRPr sz="2400">
                <a:solidFill>
                  <a:schemeClr val="tx1"/>
                </a:solidFill>
                <a:latin typeface="Tahoma" panose="020B0604030504040204" pitchFamily="34" charset="0"/>
                <a:ea typeface="ＭＳ Ｐゴシック" panose="020B0600070205080204" pitchFamily="34" charset="-128"/>
              </a:defRPr>
            </a:lvl4pPr>
            <a:lvl5pPr marL="2057400" indent="-228600" defTabSz="950913">
              <a:defRPr sz="2400">
                <a:solidFill>
                  <a:schemeClr val="tx1"/>
                </a:solidFill>
                <a:latin typeface="Tahoma" panose="020B0604030504040204" pitchFamily="34" charset="0"/>
                <a:ea typeface="ＭＳ Ｐゴシック" panose="020B0600070205080204" pitchFamily="34" charset="-128"/>
              </a:defRPr>
            </a:lvl5pPr>
            <a:lvl6pPr marL="2514600" indent="-228600" defTabSz="950913"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defTabSz="950913"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defTabSz="950913"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defTabSz="950913"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spcBef>
                <a:spcPct val="20000"/>
              </a:spcBef>
              <a:buClr>
                <a:srgbClr val="D60093"/>
              </a:buClr>
              <a:buFont typeface="CommonBullets" charset="0"/>
              <a:buChar char=","/>
            </a:pPr>
            <a:fld id="{355CE42A-7BC1-48A6-9A10-37612ADFBB3B}" type="slidenum">
              <a:rPr lang="en-US" altLang="en-US">
                <a:solidFill>
                  <a:srgbClr val="000099"/>
                </a:solidFill>
              </a:rPr>
              <a:pPr>
                <a:spcBef>
                  <a:spcPct val="20000"/>
                </a:spcBef>
                <a:buClr>
                  <a:srgbClr val="D60093"/>
                </a:buClr>
                <a:buFont typeface="CommonBullets" charset="0"/>
                <a:buChar char=","/>
              </a:pPr>
              <a:t>19</a:t>
            </a:fld>
            <a:endParaRPr lang="en-US" altLang="en-US">
              <a:solidFill>
                <a:srgbClr val="000099"/>
              </a:solidFill>
            </a:endParaRPr>
          </a:p>
        </p:txBody>
      </p:sp>
      <p:sp>
        <p:nvSpPr>
          <p:cNvPr id="82950" name="Rectangle 2"/>
          <p:cNvSpPr>
            <a:spLocks noGrp="1" noRot="1" noChangeAspect="1" noChangeArrowheads="1" noTextEdit="1"/>
          </p:cNvSpPr>
          <p:nvPr>
            <p:ph type="sldImg"/>
          </p:nvPr>
        </p:nvSpPr>
        <p:spPr>
          <a:xfrm>
            <a:off x="2366963" y="549275"/>
            <a:ext cx="4873625" cy="2741613"/>
          </a:xfrm>
          <a:ln/>
        </p:spPr>
      </p:sp>
      <p:sp>
        <p:nvSpPr>
          <p:cNvPr id="82951" name="Rectangle 3"/>
          <p:cNvSpPr>
            <a:spLocks noGrp="1" noChangeArrowheads="1"/>
          </p:cNvSpPr>
          <p:nvPr>
            <p:ph type="body" idx="1"/>
          </p:nvPr>
        </p:nvSpPr>
        <p:spPr>
          <a:xfrm>
            <a:off x="1279525" y="3473450"/>
            <a:ext cx="7042150"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119" tIns="46232" rIns="94119" bIns="46232"/>
          <a:lstStyle/>
          <a:p>
            <a:r>
              <a:rPr lang="en-GB" altLang="en-US" b="1" smtClean="0">
                <a:latin typeface="Arial" panose="020B0604020202020204" pitchFamily="34" charset="0"/>
              </a:rPr>
              <a:t>TORREY CANYON (United Kingdom, 1967)</a:t>
            </a:r>
          </a:p>
          <a:p>
            <a:r>
              <a:rPr lang="en-GB" altLang="en-US" smtClean="0">
                <a:latin typeface="Arial" panose="020B0604020202020204" pitchFamily="34" charset="0"/>
              </a:rPr>
              <a:t> TORREY CANYON ran aground on Pollard Rock on the Seven Stones Reef, near Lands End, Cornwall on 18 March 1967. Thousands of tonnes of oil were soon spilling from the stricken vessel's ruptured tanks and during the next 12 days the entire cargo of approximately 119,000 tonnes of Kuwait crude oil was lost.</a:t>
            </a:r>
          </a:p>
          <a:p>
            <a:r>
              <a:rPr lang="en-GB" altLang="en-US" smtClean="0">
                <a:latin typeface="Arial" panose="020B0604020202020204" pitchFamily="34" charset="0"/>
              </a:rPr>
              <a:t>A wide variety of methods to mitigate the spill were tried. Burning the slick proved unsuccessful, and eventually the British Government gave orders for TORREY CANYON to be destroyed by aerial bombardment in the hope that all the oil still remaining on board would be burnt off. This operation was partially successful, but did not prevent escaping oil from polluting many parts of the south west of England, causing the deaths of thousands of seabirds and threatening the livelihoods of many local people in the forthcoming summer tourist season. Later the drifting oil polluted beaches and harbours in the Channel Islands and Brittany. </a:t>
            </a:r>
          </a:p>
          <a:p>
            <a:r>
              <a:rPr lang="en-GB" altLang="en-US" smtClean="0">
                <a:latin typeface="Arial" panose="020B0604020202020204" pitchFamily="34" charset="0"/>
              </a:rPr>
              <a:t>A distinguishing feature of the TORREY CANYON response operation was the excessive and indiscriminate use of early dispersants and solvent based cleaning agents, which caused considerable environmental damage. The dispersants were generally successful at their task of reducing the amount of oil arriving ashore and subsequently expediting onshore cleanup operations, but they were considerably more toxic than those used today and were applied in far greater concentrations, often being poured undiluted on slicks and beaches. Many of the detrimental impacts of the spill were later related to the high volume, high concentration and high toxicity of the dispersant and detergents used. </a:t>
            </a:r>
          </a:p>
          <a:p>
            <a:r>
              <a:rPr lang="en-GB" altLang="en-US" smtClean="0">
                <a:latin typeface="Arial" panose="020B0604020202020204" pitchFamily="34" charset="0"/>
              </a:rPr>
              <a:t>The TORREY CANYON was the first major tanker disaster to be brought to the notice of the general public due to enormous media coverage, and drew universal attention to the dangers of dispersants. The spill triggered the international Conventions, which form the basis for compensation for damage caused by tanker spills, and interim voluntary agreements to bridge the gap before the Conventions entered into force and became widely accepted. </a:t>
            </a:r>
          </a:p>
        </p:txBody>
      </p:sp>
    </p:spTree>
    <p:extLst>
      <p:ext uri="{BB962C8B-B14F-4D97-AF65-F5344CB8AC3E}">
        <p14:creationId xmlns:p14="http://schemas.microsoft.com/office/powerpoint/2010/main" val="1162400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ＭＳ Ｐゴシック" panose="020B0600070205080204" pitchFamily="34" charset="-128"/>
              </a:defRPr>
            </a:lvl1pPr>
            <a:lvl2pPr marL="742950" indent="-285750" defTabSz="990600">
              <a:defRPr sz="2400">
                <a:solidFill>
                  <a:schemeClr val="tx1"/>
                </a:solidFill>
                <a:latin typeface="Tahoma" panose="020B0604030504040204" pitchFamily="34" charset="0"/>
                <a:ea typeface="ＭＳ Ｐゴシック" panose="020B0600070205080204" pitchFamily="34" charset="-128"/>
              </a:defRPr>
            </a:lvl2pPr>
            <a:lvl3pPr marL="1143000" indent="-228600" defTabSz="990600">
              <a:defRPr sz="2400">
                <a:solidFill>
                  <a:schemeClr val="tx1"/>
                </a:solidFill>
                <a:latin typeface="Tahoma" panose="020B0604030504040204" pitchFamily="34" charset="0"/>
                <a:ea typeface="ＭＳ Ｐゴシック" panose="020B0600070205080204" pitchFamily="34" charset="-128"/>
              </a:defRPr>
            </a:lvl3pPr>
            <a:lvl4pPr marL="1600200" indent="-228600" defTabSz="990600">
              <a:defRPr sz="2400">
                <a:solidFill>
                  <a:schemeClr val="tx1"/>
                </a:solidFill>
                <a:latin typeface="Tahoma" panose="020B0604030504040204" pitchFamily="34" charset="0"/>
                <a:ea typeface="ＭＳ Ｐゴシック" panose="020B0600070205080204" pitchFamily="34" charset="-128"/>
              </a:defRPr>
            </a:lvl4pPr>
            <a:lvl5pPr marL="2057400" indent="-228600" defTabSz="990600">
              <a:defRPr sz="2400">
                <a:solidFill>
                  <a:schemeClr val="tx1"/>
                </a:solidFill>
                <a:latin typeface="Tahoma" panose="020B0604030504040204" pitchFamily="34" charset="0"/>
                <a:ea typeface="ＭＳ Ｐゴシック" panose="020B0600070205080204" pitchFamily="34" charset="-128"/>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fld id="{FEB33A08-D9B8-4D4C-9AB0-4BA793D0DFBB}" type="slidenum">
              <a:rPr lang="en-US" altLang="en-US" sz="1300">
                <a:latin typeface="Arial" panose="020B0604020202020204" pitchFamily="34" charset="0"/>
              </a:rPr>
              <a:pPr/>
              <a:t>24</a:t>
            </a:fld>
            <a:endParaRPr lang="en-US" altLang="en-US" sz="1300">
              <a:latin typeface="Arial" panose="020B0604020202020204" pitchFamily="34" charset="0"/>
            </a:endParaRPr>
          </a:p>
        </p:txBody>
      </p:sp>
      <p:sp>
        <p:nvSpPr>
          <p:cNvPr id="83971" name="Rectangle 7"/>
          <p:cNvSpPr txBox="1">
            <a:spLocks noGrp="1" noChangeArrowheads="1"/>
          </p:cNvSpPr>
          <p:nvPr/>
        </p:nvSpPr>
        <p:spPr bwMode="auto">
          <a:xfrm>
            <a:off x="5438775" y="6948488"/>
            <a:ext cx="41608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r" eaLnBrk="1" hangingPunct="1"/>
            <a:fld id="{B287DCA4-22F4-4BC6-AD13-D57C5711D9EA}" type="slidenum">
              <a:rPr lang="en-US" altLang="en-US" sz="1200"/>
              <a:pPr algn="r" eaLnBrk="1" hangingPunct="1"/>
              <a:t>24</a:t>
            </a:fld>
            <a:endParaRPr lang="en-US" altLang="en-US" sz="1200"/>
          </a:p>
        </p:txBody>
      </p:sp>
      <p:sp>
        <p:nvSpPr>
          <p:cNvPr id="83972" name="Rectangle 7"/>
          <p:cNvSpPr txBox="1">
            <a:spLocks noGrp="1" noChangeArrowheads="1"/>
          </p:cNvSpPr>
          <p:nvPr/>
        </p:nvSpPr>
        <p:spPr bwMode="auto">
          <a:xfrm>
            <a:off x="5438775" y="6948488"/>
            <a:ext cx="4160838"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768" tIns="47384" rIns="94768" bIns="47384" anchor="b"/>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r" eaLnBrk="1" hangingPunct="1"/>
            <a:fld id="{05AAA262-6A6F-4B08-B32A-7C665F6F616C}" type="slidenum">
              <a:rPr lang="en-GB" altLang="en-US" sz="1200"/>
              <a:pPr algn="r" eaLnBrk="1" hangingPunct="1"/>
              <a:t>24</a:t>
            </a:fld>
            <a:endParaRPr lang="en-GB" altLang="en-US" sz="1200"/>
          </a:p>
        </p:txBody>
      </p:sp>
      <p:sp>
        <p:nvSpPr>
          <p:cNvPr id="83973" name="Rectangle 2"/>
          <p:cNvSpPr>
            <a:spLocks noGrp="1" noRot="1" noChangeAspect="1" noChangeArrowheads="1" noTextEdit="1"/>
          </p:cNvSpPr>
          <p:nvPr>
            <p:ph type="sldImg"/>
          </p:nvPr>
        </p:nvSpPr>
        <p:spPr>
          <a:xfrm>
            <a:off x="2365375" y="549275"/>
            <a:ext cx="4872038" cy="2741613"/>
          </a:xfrm>
          <a:ln/>
        </p:spPr>
      </p:sp>
      <p:sp>
        <p:nvSpPr>
          <p:cNvPr id="83974" name="Rectangle 3"/>
          <p:cNvSpPr>
            <a:spLocks noGrp="1" noChangeArrowheads="1"/>
          </p:cNvSpPr>
          <p:nvPr>
            <p:ph type="body" idx="1"/>
          </p:nvPr>
        </p:nvSpPr>
        <p:spPr>
          <a:xfrm>
            <a:off x="1279525" y="3476625"/>
            <a:ext cx="7042150" cy="3289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en-US" smtClean="0">
              <a:latin typeface="Times New Roman" panose="02020603050405020304" pitchFamily="18" charset="0"/>
            </a:endParaRPr>
          </a:p>
        </p:txBody>
      </p:sp>
    </p:spTree>
    <p:extLst>
      <p:ext uri="{BB962C8B-B14F-4D97-AF65-F5344CB8AC3E}">
        <p14:creationId xmlns:p14="http://schemas.microsoft.com/office/powerpoint/2010/main" val="905239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ＭＳ Ｐゴシック" panose="020B0600070205080204" pitchFamily="34" charset="-128"/>
              </a:defRPr>
            </a:lvl1pPr>
            <a:lvl2pPr marL="742950" indent="-285750" defTabSz="990600">
              <a:defRPr sz="2400">
                <a:solidFill>
                  <a:schemeClr val="tx1"/>
                </a:solidFill>
                <a:latin typeface="Tahoma" panose="020B0604030504040204" pitchFamily="34" charset="0"/>
                <a:ea typeface="ＭＳ Ｐゴシック" panose="020B0600070205080204" pitchFamily="34" charset="-128"/>
              </a:defRPr>
            </a:lvl2pPr>
            <a:lvl3pPr marL="1143000" indent="-228600" defTabSz="990600">
              <a:defRPr sz="2400">
                <a:solidFill>
                  <a:schemeClr val="tx1"/>
                </a:solidFill>
                <a:latin typeface="Tahoma" panose="020B0604030504040204" pitchFamily="34" charset="0"/>
                <a:ea typeface="ＭＳ Ｐゴシック" panose="020B0600070205080204" pitchFamily="34" charset="-128"/>
              </a:defRPr>
            </a:lvl3pPr>
            <a:lvl4pPr marL="1600200" indent="-228600" defTabSz="990600">
              <a:defRPr sz="2400">
                <a:solidFill>
                  <a:schemeClr val="tx1"/>
                </a:solidFill>
                <a:latin typeface="Tahoma" panose="020B0604030504040204" pitchFamily="34" charset="0"/>
                <a:ea typeface="ＭＳ Ｐゴシック" panose="020B0600070205080204" pitchFamily="34" charset="-128"/>
              </a:defRPr>
            </a:lvl4pPr>
            <a:lvl5pPr marL="2057400" indent="-228600" defTabSz="990600">
              <a:defRPr sz="2400">
                <a:solidFill>
                  <a:schemeClr val="tx1"/>
                </a:solidFill>
                <a:latin typeface="Tahoma" panose="020B0604030504040204" pitchFamily="34" charset="0"/>
                <a:ea typeface="ＭＳ Ｐゴシック" panose="020B0600070205080204" pitchFamily="34" charset="-128"/>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fld id="{85C9AE30-5578-47FA-8969-DB4AE5E65D58}" type="slidenum">
              <a:rPr lang="en-GB" altLang="en-US" sz="1300">
                <a:latin typeface="Arial" panose="020B0604020202020204" pitchFamily="34" charset="0"/>
              </a:rPr>
              <a:pPr/>
              <a:t>30</a:t>
            </a:fld>
            <a:endParaRPr lang="en-GB" altLang="en-US" sz="1300">
              <a:latin typeface="Arial" panose="020B0604020202020204" pitchFamily="34" charset="0"/>
            </a:endParaRPr>
          </a:p>
        </p:txBody>
      </p:sp>
      <p:sp>
        <p:nvSpPr>
          <p:cNvPr id="84995" name="Rectangle 2"/>
          <p:cNvSpPr>
            <a:spLocks noGrp="1" noRot="1" noChangeAspect="1" noChangeArrowheads="1" noTextEdit="1"/>
          </p:cNvSpPr>
          <p:nvPr>
            <p:ph type="sldImg"/>
          </p:nvPr>
        </p:nvSpPr>
        <p:spPr>
          <a:xfrm>
            <a:off x="2363788" y="569913"/>
            <a:ext cx="4860925" cy="2735262"/>
          </a:xfrm>
          <a:ln/>
        </p:spPr>
      </p:sp>
      <p:sp>
        <p:nvSpPr>
          <p:cNvPr id="84996" name="Rectangle 3"/>
          <p:cNvSpPr>
            <a:spLocks noGrp="1" noChangeArrowheads="1"/>
          </p:cNvSpPr>
          <p:nvPr>
            <p:ph type="body" idx="1"/>
          </p:nvPr>
        </p:nvSpPr>
        <p:spPr>
          <a:xfrm>
            <a:off x="1282700" y="3475038"/>
            <a:ext cx="7021513" cy="3305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049985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ＭＳ Ｐゴシック" panose="020B0600070205080204" pitchFamily="34" charset="-128"/>
              </a:defRPr>
            </a:lvl1pPr>
            <a:lvl2pPr marL="742950" indent="-285750" defTabSz="990600">
              <a:defRPr sz="2400">
                <a:solidFill>
                  <a:schemeClr val="tx1"/>
                </a:solidFill>
                <a:latin typeface="Tahoma" panose="020B0604030504040204" pitchFamily="34" charset="0"/>
                <a:ea typeface="ＭＳ Ｐゴシック" panose="020B0600070205080204" pitchFamily="34" charset="-128"/>
              </a:defRPr>
            </a:lvl2pPr>
            <a:lvl3pPr marL="1143000" indent="-228600" defTabSz="990600">
              <a:defRPr sz="2400">
                <a:solidFill>
                  <a:schemeClr val="tx1"/>
                </a:solidFill>
                <a:latin typeface="Tahoma" panose="020B0604030504040204" pitchFamily="34" charset="0"/>
                <a:ea typeface="ＭＳ Ｐゴシック" panose="020B0600070205080204" pitchFamily="34" charset="-128"/>
              </a:defRPr>
            </a:lvl3pPr>
            <a:lvl4pPr marL="1600200" indent="-228600" defTabSz="990600">
              <a:defRPr sz="2400">
                <a:solidFill>
                  <a:schemeClr val="tx1"/>
                </a:solidFill>
                <a:latin typeface="Tahoma" panose="020B0604030504040204" pitchFamily="34" charset="0"/>
                <a:ea typeface="ＭＳ Ｐゴシック" panose="020B0600070205080204" pitchFamily="34" charset="-128"/>
              </a:defRPr>
            </a:lvl4pPr>
            <a:lvl5pPr marL="2057400" indent="-228600" defTabSz="990600">
              <a:defRPr sz="2400">
                <a:solidFill>
                  <a:schemeClr val="tx1"/>
                </a:solidFill>
                <a:latin typeface="Tahoma" panose="020B0604030504040204" pitchFamily="34" charset="0"/>
                <a:ea typeface="ＭＳ Ｐゴシック" panose="020B0600070205080204" pitchFamily="34" charset="-128"/>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fld id="{3661C923-3AA4-4FCB-9F5B-E08CB9CB726C}" type="slidenum">
              <a:rPr lang="en-GB" altLang="en-US" sz="1300">
                <a:latin typeface="Arial" panose="020B0604020202020204" pitchFamily="34" charset="0"/>
              </a:rPr>
              <a:pPr/>
              <a:t>31</a:t>
            </a:fld>
            <a:endParaRPr lang="en-GB" altLang="en-US" sz="1300">
              <a:latin typeface="Arial" panose="020B0604020202020204" pitchFamily="34" charset="0"/>
            </a:endParaRPr>
          </a:p>
        </p:txBody>
      </p:sp>
      <p:sp>
        <p:nvSpPr>
          <p:cNvPr id="86019" name="Rectangle 2"/>
          <p:cNvSpPr>
            <a:spLocks noGrp="1" noRot="1" noChangeAspect="1" noChangeArrowheads="1" noTextEdit="1"/>
          </p:cNvSpPr>
          <p:nvPr>
            <p:ph type="sldImg"/>
          </p:nvPr>
        </p:nvSpPr>
        <p:spPr>
          <a:xfrm>
            <a:off x="2365375" y="569913"/>
            <a:ext cx="4862513" cy="2735262"/>
          </a:xfrm>
          <a:ln/>
        </p:spPr>
      </p:sp>
      <p:sp>
        <p:nvSpPr>
          <p:cNvPr id="86020" name="Rectangle 3"/>
          <p:cNvSpPr>
            <a:spLocks noGrp="1" noChangeArrowheads="1"/>
          </p:cNvSpPr>
          <p:nvPr>
            <p:ph type="body" idx="1"/>
          </p:nvPr>
        </p:nvSpPr>
        <p:spPr>
          <a:xfrm>
            <a:off x="1282700" y="3475038"/>
            <a:ext cx="7021513" cy="3305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835927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ＭＳ Ｐゴシック" panose="020B0600070205080204" pitchFamily="34" charset="-128"/>
              </a:defRPr>
            </a:lvl1pPr>
            <a:lvl2pPr marL="742950" indent="-285750" defTabSz="990600">
              <a:defRPr sz="2400">
                <a:solidFill>
                  <a:schemeClr val="tx1"/>
                </a:solidFill>
                <a:latin typeface="Tahoma" panose="020B0604030504040204" pitchFamily="34" charset="0"/>
                <a:ea typeface="ＭＳ Ｐゴシック" panose="020B0600070205080204" pitchFamily="34" charset="-128"/>
              </a:defRPr>
            </a:lvl2pPr>
            <a:lvl3pPr marL="1143000" indent="-228600" defTabSz="990600">
              <a:defRPr sz="2400">
                <a:solidFill>
                  <a:schemeClr val="tx1"/>
                </a:solidFill>
                <a:latin typeface="Tahoma" panose="020B0604030504040204" pitchFamily="34" charset="0"/>
                <a:ea typeface="ＭＳ Ｐゴシック" panose="020B0600070205080204" pitchFamily="34" charset="-128"/>
              </a:defRPr>
            </a:lvl3pPr>
            <a:lvl4pPr marL="1600200" indent="-228600" defTabSz="990600">
              <a:defRPr sz="2400">
                <a:solidFill>
                  <a:schemeClr val="tx1"/>
                </a:solidFill>
                <a:latin typeface="Tahoma" panose="020B0604030504040204" pitchFamily="34" charset="0"/>
                <a:ea typeface="ＭＳ Ｐゴシック" panose="020B0600070205080204" pitchFamily="34" charset="-128"/>
              </a:defRPr>
            </a:lvl4pPr>
            <a:lvl5pPr marL="2057400" indent="-228600" defTabSz="990600">
              <a:defRPr sz="2400">
                <a:solidFill>
                  <a:schemeClr val="tx1"/>
                </a:solidFill>
                <a:latin typeface="Tahoma" panose="020B0604030504040204" pitchFamily="34" charset="0"/>
                <a:ea typeface="ＭＳ Ｐゴシック" panose="020B0600070205080204" pitchFamily="34" charset="-128"/>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fld id="{9DB5C337-3FCC-47E9-BFB7-744212905FBE}" type="slidenum">
              <a:rPr lang="en-GB" altLang="en-US" sz="1300">
                <a:latin typeface="Arial" panose="020B0604020202020204" pitchFamily="34" charset="0"/>
              </a:rPr>
              <a:pPr/>
              <a:t>32</a:t>
            </a:fld>
            <a:endParaRPr lang="en-GB" altLang="en-US" sz="1300">
              <a:latin typeface="Arial" panose="020B0604020202020204" pitchFamily="34" charset="0"/>
            </a:endParaRPr>
          </a:p>
        </p:txBody>
      </p:sp>
      <p:sp>
        <p:nvSpPr>
          <p:cNvPr id="87043" name="Rectangle 2"/>
          <p:cNvSpPr>
            <a:spLocks noGrp="1" noRot="1" noChangeAspect="1" noChangeArrowheads="1" noTextEdit="1"/>
          </p:cNvSpPr>
          <p:nvPr>
            <p:ph type="sldImg"/>
          </p:nvPr>
        </p:nvSpPr>
        <p:spPr>
          <a:xfrm>
            <a:off x="2365375" y="569913"/>
            <a:ext cx="4862513" cy="2735262"/>
          </a:xfrm>
          <a:ln/>
        </p:spPr>
      </p:sp>
      <p:sp>
        <p:nvSpPr>
          <p:cNvPr id="87044" name="Rectangle 3"/>
          <p:cNvSpPr>
            <a:spLocks noGrp="1" noChangeArrowheads="1"/>
          </p:cNvSpPr>
          <p:nvPr>
            <p:ph type="body" idx="1"/>
          </p:nvPr>
        </p:nvSpPr>
        <p:spPr>
          <a:xfrm>
            <a:off x="1282700" y="3475038"/>
            <a:ext cx="7021513" cy="3305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000320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ＭＳ Ｐゴシック" panose="020B0600070205080204" pitchFamily="34" charset="-128"/>
              </a:defRPr>
            </a:lvl1pPr>
            <a:lvl2pPr marL="742950" indent="-285750" defTabSz="990600">
              <a:defRPr sz="2400">
                <a:solidFill>
                  <a:schemeClr val="tx1"/>
                </a:solidFill>
                <a:latin typeface="Tahoma" panose="020B0604030504040204" pitchFamily="34" charset="0"/>
                <a:ea typeface="ＭＳ Ｐゴシック" panose="020B0600070205080204" pitchFamily="34" charset="-128"/>
              </a:defRPr>
            </a:lvl2pPr>
            <a:lvl3pPr marL="1143000" indent="-228600" defTabSz="990600">
              <a:defRPr sz="2400">
                <a:solidFill>
                  <a:schemeClr val="tx1"/>
                </a:solidFill>
                <a:latin typeface="Tahoma" panose="020B0604030504040204" pitchFamily="34" charset="0"/>
                <a:ea typeface="ＭＳ Ｐゴシック" panose="020B0600070205080204" pitchFamily="34" charset="-128"/>
              </a:defRPr>
            </a:lvl3pPr>
            <a:lvl4pPr marL="1600200" indent="-228600" defTabSz="990600">
              <a:defRPr sz="2400">
                <a:solidFill>
                  <a:schemeClr val="tx1"/>
                </a:solidFill>
                <a:latin typeface="Tahoma" panose="020B0604030504040204" pitchFamily="34" charset="0"/>
                <a:ea typeface="ＭＳ Ｐゴシック" panose="020B0600070205080204" pitchFamily="34" charset="-128"/>
              </a:defRPr>
            </a:lvl4pPr>
            <a:lvl5pPr marL="2057400" indent="-228600" defTabSz="990600">
              <a:defRPr sz="2400">
                <a:solidFill>
                  <a:schemeClr val="tx1"/>
                </a:solidFill>
                <a:latin typeface="Tahoma" panose="020B0604030504040204" pitchFamily="34" charset="0"/>
                <a:ea typeface="ＭＳ Ｐゴシック" panose="020B0600070205080204" pitchFamily="34" charset="-128"/>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fld id="{64EC44E3-20F0-4616-B69A-EE175228E563}" type="slidenum">
              <a:rPr lang="en-GB" altLang="en-US" sz="1300">
                <a:latin typeface="Arial" panose="020B0604020202020204" pitchFamily="34" charset="0"/>
              </a:rPr>
              <a:pPr/>
              <a:t>33</a:t>
            </a:fld>
            <a:endParaRPr lang="en-GB" altLang="en-US" sz="1300">
              <a:latin typeface="Arial" panose="020B0604020202020204" pitchFamily="34" charset="0"/>
            </a:endParaRPr>
          </a:p>
        </p:txBody>
      </p:sp>
      <p:sp>
        <p:nvSpPr>
          <p:cNvPr id="88067" name="Rectangle 2"/>
          <p:cNvSpPr>
            <a:spLocks noGrp="1" noRot="1" noChangeAspect="1" noChangeArrowheads="1" noTextEdit="1"/>
          </p:cNvSpPr>
          <p:nvPr>
            <p:ph type="sldImg"/>
          </p:nvPr>
        </p:nvSpPr>
        <p:spPr>
          <a:xfrm>
            <a:off x="2365375" y="569913"/>
            <a:ext cx="4862513" cy="2735262"/>
          </a:xfrm>
          <a:ln/>
        </p:spPr>
      </p:sp>
      <p:sp>
        <p:nvSpPr>
          <p:cNvPr id="88068" name="Rectangle 3"/>
          <p:cNvSpPr>
            <a:spLocks noGrp="1" noChangeArrowheads="1"/>
          </p:cNvSpPr>
          <p:nvPr>
            <p:ph type="body" idx="1"/>
          </p:nvPr>
        </p:nvSpPr>
        <p:spPr>
          <a:xfrm>
            <a:off x="1282700" y="3475038"/>
            <a:ext cx="7021513" cy="3305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83973" name="Footer Placeholder 4">
            <a:extLst/>
          </p:cNvPr>
          <p:cNvSpPr>
            <a:spLocks noGrp="1"/>
          </p:cNvSpPr>
          <p:nvPr>
            <p:ph type="ftr" sz="quarter" idx="4"/>
          </p:nvPr>
        </p:nvSpPr>
        <p:spPr/>
        <p:txBody>
          <a:bodyPr/>
          <a:lstStyle/>
          <a:p>
            <a:pPr>
              <a:defRPr/>
            </a:pPr>
            <a:r>
              <a:rPr lang="en-GB">
                <a:latin typeface="Arial" charset="0"/>
                <a:ea typeface="+mn-ea"/>
              </a:rPr>
              <a:t>Interspill 2009 Marseille, 12-14 May 2009</a:t>
            </a:r>
          </a:p>
        </p:txBody>
      </p:sp>
    </p:spTree>
    <p:extLst>
      <p:ext uri="{BB962C8B-B14F-4D97-AF65-F5344CB8AC3E}">
        <p14:creationId xmlns:p14="http://schemas.microsoft.com/office/powerpoint/2010/main" val="576809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ahoma" panose="020B0604030504040204" pitchFamily="34" charset="0"/>
                <a:ea typeface="ＭＳ Ｐゴシック" panose="020B0600070205080204" pitchFamily="34" charset="-128"/>
              </a:defRPr>
            </a:lvl1pPr>
            <a:lvl2pPr marL="742950" indent="-285750" defTabSz="990600">
              <a:defRPr sz="2400">
                <a:solidFill>
                  <a:schemeClr val="tx1"/>
                </a:solidFill>
                <a:latin typeface="Tahoma" panose="020B0604030504040204" pitchFamily="34" charset="0"/>
                <a:ea typeface="ＭＳ Ｐゴシック" panose="020B0600070205080204" pitchFamily="34" charset="-128"/>
              </a:defRPr>
            </a:lvl2pPr>
            <a:lvl3pPr marL="1143000" indent="-228600" defTabSz="990600">
              <a:defRPr sz="2400">
                <a:solidFill>
                  <a:schemeClr val="tx1"/>
                </a:solidFill>
                <a:latin typeface="Tahoma" panose="020B0604030504040204" pitchFamily="34" charset="0"/>
                <a:ea typeface="ＭＳ Ｐゴシック" panose="020B0600070205080204" pitchFamily="34" charset="-128"/>
              </a:defRPr>
            </a:lvl3pPr>
            <a:lvl4pPr marL="1600200" indent="-228600" defTabSz="990600">
              <a:defRPr sz="2400">
                <a:solidFill>
                  <a:schemeClr val="tx1"/>
                </a:solidFill>
                <a:latin typeface="Tahoma" panose="020B0604030504040204" pitchFamily="34" charset="0"/>
                <a:ea typeface="ＭＳ Ｐゴシック" panose="020B0600070205080204" pitchFamily="34" charset="-128"/>
              </a:defRPr>
            </a:lvl4pPr>
            <a:lvl5pPr marL="2057400" indent="-228600" defTabSz="990600">
              <a:defRPr sz="2400">
                <a:solidFill>
                  <a:schemeClr val="tx1"/>
                </a:solidFill>
                <a:latin typeface="Tahoma" panose="020B0604030504040204" pitchFamily="34" charset="0"/>
                <a:ea typeface="ＭＳ Ｐゴシック" panose="020B0600070205080204" pitchFamily="34" charset="-128"/>
              </a:defRPr>
            </a:lvl5pPr>
            <a:lvl6pPr marL="25146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defTabSz="990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fld id="{8ADD33EA-7F32-4963-A94B-FAC53E015617}" type="slidenum">
              <a:rPr lang="en-GB" altLang="en-US" sz="1300">
                <a:latin typeface="Arial" panose="020B0604020202020204" pitchFamily="34" charset="0"/>
              </a:rPr>
              <a:pPr/>
              <a:t>34</a:t>
            </a:fld>
            <a:endParaRPr lang="en-GB" altLang="en-US" sz="1300">
              <a:latin typeface="Arial" panose="020B0604020202020204" pitchFamily="34" charset="0"/>
            </a:endParaRPr>
          </a:p>
        </p:txBody>
      </p:sp>
      <p:sp>
        <p:nvSpPr>
          <p:cNvPr id="89091" name="Rectangle 2"/>
          <p:cNvSpPr>
            <a:spLocks noGrp="1" noRot="1" noChangeAspect="1" noChangeArrowheads="1" noTextEdit="1"/>
          </p:cNvSpPr>
          <p:nvPr>
            <p:ph type="sldImg"/>
          </p:nvPr>
        </p:nvSpPr>
        <p:spPr>
          <a:xfrm>
            <a:off x="2363788" y="569913"/>
            <a:ext cx="4860925" cy="2735262"/>
          </a:xfrm>
          <a:ln/>
        </p:spPr>
      </p:sp>
      <p:sp>
        <p:nvSpPr>
          <p:cNvPr id="89092" name="Rectangle 3"/>
          <p:cNvSpPr>
            <a:spLocks noGrp="1" noChangeArrowheads="1"/>
          </p:cNvSpPr>
          <p:nvPr>
            <p:ph type="body" idx="1"/>
          </p:nvPr>
        </p:nvSpPr>
        <p:spPr>
          <a:xfrm>
            <a:off x="1282700" y="3475038"/>
            <a:ext cx="7021513" cy="33051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
        <p:nvSpPr>
          <p:cNvPr id="78853" name="Footer Placeholder 4">
            <a:extLst/>
          </p:cNvPr>
          <p:cNvSpPr>
            <a:spLocks noGrp="1"/>
          </p:cNvSpPr>
          <p:nvPr>
            <p:ph type="ftr" sz="quarter" idx="4"/>
          </p:nvPr>
        </p:nvSpPr>
        <p:spPr/>
        <p:txBody>
          <a:bodyPr/>
          <a:lstStyle/>
          <a:p>
            <a:pPr>
              <a:defRPr/>
            </a:pPr>
            <a:r>
              <a:rPr lang="en-GB">
                <a:latin typeface="Arial" charset="0"/>
                <a:ea typeface="+mn-ea"/>
              </a:rPr>
              <a:t>Interspill 2009 Marseille, 12-14 May 2009</a:t>
            </a:r>
          </a:p>
        </p:txBody>
      </p:sp>
    </p:spTree>
    <p:extLst>
      <p:ext uri="{BB962C8B-B14F-4D97-AF65-F5344CB8AC3E}">
        <p14:creationId xmlns:p14="http://schemas.microsoft.com/office/powerpoint/2010/main" val="38537536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61843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3105895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2DD1F7B-0C96-49B7-BB03-29AB0B73B640}" type="datetimeFigureOut">
              <a:rPr lang="en-IN" smtClean="0"/>
              <a:t>05-06-2025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236282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2DD1F7B-0C96-49B7-BB03-29AB0B73B640}" type="datetimeFigureOut">
              <a:rPr lang="en-IN" smtClean="0"/>
              <a:t>05-06-2025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986750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2DD1F7B-0C96-49B7-BB03-29AB0B73B640}" type="datetimeFigureOut">
              <a:rPr lang="en-IN" smtClean="0"/>
              <a:t>05-06-2025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717587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2DD1F7B-0C96-49B7-BB03-29AB0B73B640}" type="datetimeFigureOut">
              <a:rPr lang="en-IN" smtClean="0"/>
              <a:t>05-06-2025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2046559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DD1F7B-0C96-49B7-BB03-29AB0B73B640}" type="datetimeFigureOut">
              <a:rPr lang="en-IN" smtClean="0"/>
              <a:t>05-06-2025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4287471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DD1F7B-0C96-49B7-BB03-29AB0B73B640}" type="datetimeFigureOut">
              <a:rPr lang="en-IN" smtClean="0"/>
              <a:t>05-06-2025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2100691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2DD1F7B-0C96-49B7-BB03-29AB0B73B640}" type="datetimeFigureOut">
              <a:rPr lang="en-IN" smtClean="0"/>
              <a:t>05-06-2025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1806775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635961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2DD1F7B-0C96-49B7-BB03-29AB0B73B640}" type="datetimeFigureOut">
              <a:rPr lang="en-IN" smtClean="0"/>
              <a:t>05-06-2025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9B83F58-AF5F-4FE2-9C7E-DA9D3F7CC1A5}" type="slidenum">
              <a:rPr lang="en-IN" smtClean="0"/>
              <a:t>‹#›</a:t>
            </a:fld>
            <a:endParaRPr lang="en-IN"/>
          </a:p>
        </p:txBody>
      </p:sp>
    </p:spTree>
    <p:extLst>
      <p:ext uri="{BB962C8B-B14F-4D97-AF65-F5344CB8AC3E}">
        <p14:creationId xmlns:p14="http://schemas.microsoft.com/office/powerpoint/2010/main" val="3697002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2"/>
            </a:gs>
            <a:gs pos="50000">
              <a:schemeClr val="accent2"/>
            </a:gs>
            <a:gs pos="100000">
              <a:schemeClr val="accent2"/>
            </a:gs>
          </a:gsLst>
          <a:lin ang="5400000" scaled="0"/>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DD1F7B-0C96-49B7-BB03-29AB0B73B640}" type="datetimeFigureOut">
              <a:rPr lang="en-IN" smtClean="0"/>
              <a:t>05-06-2025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B83F58-AF5F-4FE2-9C7E-DA9D3F7CC1A5}" type="slidenum">
              <a:rPr lang="en-IN" smtClean="0"/>
              <a:t>‹#›</a:t>
            </a:fld>
            <a:endParaRPr lang="en-IN"/>
          </a:p>
        </p:txBody>
      </p:sp>
    </p:spTree>
    <p:extLst>
      <p:ext uri="{BB962C8B-B14F-4D97-AF65-F5344CB8AC3E}">
        <p14:creationId xmlns:p14="http://schemas.microsoft.com/office/powerpoint/2010/main" val="34455102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133165" y="6378300"/>
            <a:ext cx="1193158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6" name="Rectangle 2"/>
          <p:cNvSpPr txBox="1">
            <a:spLocks/>
          </p:cNvSpPr>
          <p:nvPr/>
        </p:nvSpPr>
        <p:spPr>
          <a:xfrm>
            <a:off x="382435" y="1819656"/>
            <a:ext cx="11433048" cy="2782634"/>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ltLang="en-US" b="1" dirty="0" smtClean="0"/>
              <a:t/>
            </a:r>
            <a:br>
              <a:rPr lang="en-GB" altLang="en-US" b="1" dirty="0" smtClean="0"/>
            </a:br>
            <a:r>
              <a:rPr lang="en-GB" altLang="en-US" b="1" dirty="0" smtClean="0"/>
              <a:t>Lesson 3.18</a:t>
            </a:r>
            <a:br>
              <a:rPr lang="en-GB" altLang="en-US" b="1" dirty="0" smtClean="0"/>
            </a:br>
            <a:r>
              <a:rPr lang="en-GB" altLang="en-US" b="1" dirty="0" smtClean="0"/>
              <a:t>The International Compensation Regime</a:t>
            </a:r>
          </a:p>
        </p:txBody>
      </p:sp>
    </p:spTree>
    <p:extLst>
      <p:ext uri="{BB962C8B-B14F-4D97-AF65-F5344CB8AC3E}">
        <p14:creationId xmlns:p14="http://schemas.microsoft.com/office/powerpoint/2010/main" val="367483963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27650" name="Rectangle 2"/>
          <p:cNvSpPr>
            <a:spLocks noGrp="1"/>
          </p:cNvSpPr>
          <p:nvPr>
            <p:ph type="title"/>
          </p:nvPr>
        </p:nvSpPr>
        <p:spPr>
          <a:xfrm>
            <a:off x="1981200" y="130176"/>
            <a:ext cx="8229600" cy="561975"/>
          </a:xfrm>
        </p:spPr>
        <p:txBody>
          <a:bodyPr>
            <a:normAutofit fontScale="90000"/>
          </a:bodyPr>
          <a:lstStyle/>
          <a:p>
            <a:pPr algn="ctr" eaLnBrk="1" hangingPunct="1"/>
            <a:r>
              <a:rPr lang="en-US" altLang="en-US" b="1" dirty="0" smtClean="0"/>
              <a:t>Objective</a:t>
            </a:r>
          </a:p>
        </p:txBody>
      </p:sp>
      <p:sp>
        <p:nvSpPr>
          <p:cNvPr id="17411" name="Rectangle 3">
            <a:extLst/>
          </p:cNvPr>
          <p:cNvSpPr>
            <a:spLocks noGrp="1" noChangeArrowheads="1"/>
          </p:cNvSpPr>
          <p:nvPr>
            <p:ph type="body" idx="1"/>
          </p:nvPr>
        </p:nvSpPr>
        <p:spPr>
          <a:xfrm>
            <a:off x="831024" y="1193525"/>
            <a:ext cx="9712007" cy="5184775"/>
          </a:xfrm>
        </p:spPr>
        <p:txBody>
          <a:bodyPr>
            <a:normAutofit/>
          </a:bodyPr>
          <a:lstStyle/>
          <a:p>
            <a:pPr marL="0" indent="0">
              <a:buNone/>
              <a:defRPr/>
            </a:pPr>
            <a:r>
              <a:rPr lang="en-US" altLang="en-US" sz="3200" dirty="0"/>
              <a:t>To understand:</a:t>
            </a:r>
          </a:p>
          <a:p>
            <a:pPr>
              <a:defRPr/>
            </a:pPr>
            <a:r>
              <a:rPr lang="en-US" altLang="en-US" sz="3200" dirty="0"/>
              <a:t>the international compensation regimes;</a:t>
            </a:r>
          </a:p>
          <a:p>
            <a:pPr>
              <a:defRPr/>
            </a:pPr>
            <a:r>
              <a:rPr lang="en-US" altLang="en-US" sz="3200" dirty="0"/>
              <a:t>the rationale behind the systems;</a:t>
            </a:r>
          </a:p>
          <a:p>
            <a:pPr>
              <a:defRPr/>
            </a:pPr>
            <a:r>
              <a:rPr lang="en-US" altLang="en-US" sz="3200" dirty="0"/>
              <a:t>the advantages of ratification; and </a:t>
            </a:r>
          </a:p>
          <a:p>
            <a:pPr>
              <a:defRPr/>
            </a:pPr>
            <a:r>
              <a:rPr lang="en-US" altLang="en-US" sz="3200" dirty="0"/>
              <a:t>the amounts available.</a:t>
            </a:r>
            <a:endParaRPr lang="en-US" altLang="en-US" sz="3200" dirty="0">
              <a:latin typeface="Arial" panose="020B0604020202020204" pitchFamily="34" charset="0"/>
            </a:endParaRPr>
          </a:p>
          <a:p>
            <a:pPr marL="0" indent="0">
              <a:defRPr/>
            </a:pPr>
            <a:endParaRPr lang="en-US" altLang="en-US" sz="3200" dirty="0">
              <a:latin typeface="Arial" panose="020B0604020202020204" pitchFamily="34" charset="0"/>
            </a:endParaRPr>
          </a:p>
          <a:p>
            <a:pPr marL="0" indent="0">
              <a:defRPr/>
            </a:pPr>
            <a:endParaRPr lang="fr-FR" altLang="en-US" sz="3200" dirty="0">
              <a:latin typeface="Arial" panose="020B0604020202020204" pitchFamily="34" charset="0"/>
            </a:endParaRP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410523541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28674" name="Title 1"/>
          <p:cNvSpPr>
            <a:spLocks noGrp="1"/>
          </p:cNvSpPr>
          <p:nvPr>
            <p:ph type="title"/>
          </p:nvPr>
        </p:nvSpPr>
        <p:spPr>
          <a:xfrm>
            <a:off x="1389888" y="73026"/>
            <a:ext cx="9491472" cy="976313"/>
          </a:xfrm>
        </p:spPr>
        <p:txBody>
          <a:bodyPr>
            <a:normAutofit fontScale="90000"/>
          </a:bodyPr>
          <a:lstStyle/>
          <a:p>
            <a:pPr algn="ctr"/>
            <a:r>
              <a:rPr lang="en-GB" altLang="en-US" b="1" dirty="0" smtClean="0">
                <a:cs typeface="Arial" panose="020B0604020202020204" pitchFamily="34" charset="0"/>
              </a:rPr>
              <a:t>Compensation and Liability </a:t>
            </a:r>
            <a:r>
              <a:rPr lang="en-GB" altLang="en-US" b="1" dirty="0">
                <a:cs typeface="Arial" panose="020B0604020202020204" pitchFamily="34" charset="0"/>
              </a:rPr>
              <a:t>R</a:t>
            </a:r>
            <a:r>
              <a:rPr lang="en-GB" altLang="en-US" b="1" dirty="0" smtClean="0">
                <a:cs typeface="Arial" panose="020B0604020202020204" pitchFamily="34" charset="0"/>
              </a:rPr>
              <a:t>egimes </a:t>
            </a:r>
            <a:r>
              <a:rPr lang="en-GB" altLang="en-US" b="1" dirty="0" smtClean="0">
                <a:latin typeface="Arial" panose="020B0604020202020204" pitchFamily="34" charset="0"/>
                <a:cs typeface="Arial" panose="020B0604020202020204" pitchFamily="34" charset="0"/>
              </a:rPr>
              <a:t/>
            </a:r>
            <a:br>
              <a:rPr lang="en-GB" altLang="en-US" b="1" dirty="0" smtClean="0">
                <a:latin typeface="Arial" panose="020B0604020202020204" pitchFamily="34" charset="0"/>
                <a:cs typeface="Arial" panose="020B0604020202020204" pitchFamily="34" charset="0"/>
              </a:rPr>
            </a:br>
            <a:endParaRPr lang="en-GB" altLang="en-US" sz="2800" b="1" dirty="0">
              <a:latin typeface="Arial" panose="020B0604020202020204" pitchFamily="34" charset="0"/>
              <a:cs typeface="Arial" panose="020B0604020202020204" pitchFamily="34" charset="0"/>
            </a:endParaRPr>
          </a:p>
        </p:txBody>
      </p:sp>
      <p:sp>
        <p:nvSpPr>
          <p:cNvPr id="28675" name="Content Placeholder 2"/>
          <p:cNvSpPr>
            <a:spLocks noGrp="1"/>
          </p:cNvSpPr>
          <p:nvPr>
            <p:ph idx="1"/>
          </p:nvPr>
        </p:nvSpPr>
        <p:spPr>
          <a:xfrm>
            <a:off x="1043039" y="1122365"/>
            <a:ext cx="10094086" cy="4824412"/>
          </a:xfrm>
        </p:spPr>
        <p:txBody>
          <a:bodyPr/>
          <a:lstStyle/>
          <a:p>
            <a:r>
              <a:rPr lang="en-US" altLang="en-US" sz="3000" dirty="0">
                <a:cs typeface="Arial" panose="020B0604020202020204" pitchFamily="34" charset="0"/>
              </a:rPr>
              <a:t>National law governs liability and compensation in a particular country </a:t>
            </a:r>
          </a:p>
          <a:p>
            <a:r>
              <a:rPr lang="en-US" altLang="en-US" sz="3000" dirty="0">
                <a:cs typeface="Arial" panose="020B0604020202020204" pitchFamily="34" charset="0"/>
              </a:rPr>
              <a:t>National funds (USA, China, Canada)</a:t>
            </a:r>
          </a:p>
          <a:p>
            <a:r>
              <a:rPr lang="en-GB" altLang="en-US" sz="3000" dirty="0">
                <a:cs typeface="Arial" panose="020B0604020202020204" pitchFamily="34" charset="0"/>
              </a:rPr>
              <a:t>Limitation Convention 1976 or 1996 (LLMC)</a:t>
            </a:r>
          </a:p>
          <a:p>
            <a:r>
              <a:rPr lang="en-GB" altLang="en-US" sz="3000" dirty="0">
                <a:cs typeface="Arial" panose="020B0604020202020204" pitchFamily="34" charset="0"/>
              </a:rPr>
              <a:t>Bunkers Convention 2001</a:t>
            </a:r>
          </a:p>
          <a:p>
            <a:r>
              <a:rPr lang="en-GB" altLang="en-US" sz="3000" dirty="0">
                <a:cs typeface="Arial" panose="020B0604020202020204" pitchFamily="34" charset="0"/>
              </a:rPr>
              <a:t>Civil Liability Convention 1992  </a:t>
            </a:r>
          </a:p>
          <a:p>
            <a:r>
              <a:rPr lang="en-GB" altLang="en-US" sz="3000" dirty="0">
                <a:cs typeface="Arial" panose="020B0604020202020204" pitchFamily="34" charset="0"/>
              </a:rPr>
              <a:t>Fund Convention 1992  </a:t>
            </a:r>
          </a:p>
          <a:p>
            <a:r>
              <a:rPr lang="en-GB" altLang="en-US" sz="3000" dirty="0">
                <a:cs typeface="Arial" panose="020B0604020202020204" pitchFamily="34" charset="0"/>
              </a:rPr>
              <a:t>Supplementary Fund Convention 2002</a:t>
            </a:r>
          </a:p>
          <a:p>
            <a:r>
              <a:rPr lang="en-GB" altLang="en-US" sz="3000" dirty="0">
                <a:cs typeface="Arial" panose="020B0604020202020204" pitchFamily="34" charset="0"/>
              </a:rPr>
              <a:t>2010 HNS Convention</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277244900"/>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29698" name="Title 1"/>
          <p:cNvSpPr>
            <a:spLocks noGrp="1"/>
          </p:cNvSpPr>
          <p:nvPr>
            <p:ph type="title"/>
          </p:nvPr>
        </p:nvSpPr>
        <p:spPr>
          <a:xfrm>
            <a:off x="1774826" y="73026"/>
            <a:ext cx="8569325" cy="976313"/>
          </a:xfrm>
        </p:spPr>
        <p:txBody>
          <a:bodyPr>
            <a:normAutofit fontScale="90000"/>
          </a:bodyPr>
          <a:lstStyle/>
          <a:p>
            <a:pPr algn="ctr"/>
            <a:r>
              <a:rPr lang="en-GB" altLang="en-US" b="1" dirty="0" smtClean="0">
                <a:cs typeface="Arial" panose="020B0604020202020204" pitchFamily="34" charset="0"/>
              </a:rPr>
              <a:t>Polluter Pays </a:t>
            </a:r>
            <a:r>
              <a:rPr lang="en-GB" altLang="en-US" b="1" dirty="0">
                <a:cs typeface="Arial" panose="020B0604020202020204" pitchFamily="34" charset="0"/>
              </a:rPr>
              <a:t>P</a:t>
            </a:r>
            <a:r>
              <a:rPr lang="en-GB" altLang="en-US" b="1" dirty="0" smtClean="0">
                <a:cs typeface="Arial" panose="020B0604020202020204" pitchFamily="34" charset="0"/>
              </a:rPr>
              <a:t>rinciple </a:t>
            </a:r>
            <a:r>
              <a:rPr lang="en-GB" altLang="en-US" b="1" dirty="0" smtClean="0">
                <a:latin typeface="Arial" panose="020B0604020202020204" pitchFamily="34" charset="0"/>
                <a:cs typeface="Arial" panose="020B0604020202020204" pitchFamily="34" charset="0"/>
              </a:rPr>
              <a:t/>
            </a:r>
            <a:br>
              <a:rPr lang="en-GB" altLang="en-US" b="1" dirty="0" smtClean="0">
                <a:latin typeface="Arial" panose="020B0604020202020204" pitchFamily="34" charset="0"/>
                <a:cs typeface="Arial" panose="020B0604020202020204" pitchFamily="34" charset="0"/>
              </a:rPr>
            </a:br>
            <a:endParaRPr lang="en-GB" altLang="en-US" sz="2800" b="1" dirty="0">
              <a:latin typeface="Arial" panose="020B0604020202020204" pitchFamily="34" charset="0"/>
              <a:cs typeface="Arial" panose="020B0604020202020204" pitchFamily="34" charset="0"/>
            </a:endParaRPr>
          </a:p>
        </p:txBody>
      </p:sp>
      <p:sp>
        <p:nvSpPr>
          <p:cNvPr id="29699" name="Content Placeholder 2"/>
          <p:cNvSpPr>
            <a:spLocks noGrp="1"/>
          </p:cNvSpPr>
          <p:nvPr>
            <p:ph idx="1"/>
          </p:nvPr>
        </p:nvSpPr>
        <p:spPr>
          <a:xfrm>
            <a:off x="738124" y="1181706"/>
            <a:ext cx="10642728" cy="4824412"/>
          </a:xfrm>
        </p:spPr>
        <p:txBody>
          <a:bodyPr/>
          <a:lstStyle/>
          <a:p>
            <a:pPr algn="just"/>
            <a:r>
              <a:rPr lang="en-GB" altLang="en-US" dirty="0" smtClean="0"/>
              <a:t>The majority of countries around the world have adopted the </a:t>
            </a:r>
            <a:r>
              <a:rPr lang="en-GB" altLang="fr-FR" dirty="0" smtClean="0"/>
              <a:t>“</a:t>
            </a:r>
            <a:r>
              <a:rPr lang="en-GB" altLang="en-US" dirty="0" smtClean="0"/>
              <a:t>polluter pays principle</a:t>
            </a:r>
            <a:r>
              <a:rPr lang="en-GB" altLang="fr-FR" dirty="0" smtClean="0"/>
              <a:t>”</a:t>
            </a:r>
            <a:r>
              <a:rPr lang="en-GB" altLang="en-US" dirty="0" smtClean="0"/>
              <a:t> </a:t>
            </a:r>
          </a:p>
          <a:p>
            <a:pPr algn="just"/>
            <a:r>
              <a:rPr lang="en-GB" altLang="en-US" dirty="0" smtClean="0"/>
              <a:t>In the case of oil spills the costs can be thought of as </a:t>
            </a:r>
            <a:r>
              <a:rPr lang="en-GB" altLang="en-US" i="1" dirty="0" smtClean="0"/>
              <a:t>preparedness </a:t>
            </a:r>
            <a:r>
              <a:rPr lang="en-GB" altLang="en-US" dirty="0" smtClean="0"/>
              <a:t>and </a:t>
            </a:r>
            <a:r>
              <a:rPr lang="en-GB" altLang="en-US" i="1" dirty="0" smtClean="0"/>
              <a:t>response</a:t>
            </a:r>
            <a:r>
              <a:rPr lang="en-GB" altLang="en-US" dirty="0" smtClean="0"/>
              <a:t>,  </a:t>
            </a:r>
          </a:p>
          <a:p>
            <a:pPr algn="just"/>
            <a:r>
              <a:rPr lang="en-GB" altLang="en-US" dirty="0" smtClean="0"/>
              <a:t>The majority of countries worldwide fund the </a:t>
            </a:r>
            <a:r>
              <a:rPr lang="en-GB" altLang="en-US" i="1" dirty="0" smtClean="0"/>
              <a:t>preparedness</a:t>
            </a:r>
            <a:r>
              <a:rPr lang="en-GB" altLang="en-US" dirty="0" smtClean="0"/>
              <a:t> from general taxation, private sector or special fund</a:t>
            </a:r>
          </a:p>
          <a:p>
            <a:pPr algn="just"/>
            <a:r>
              <a:rPr lang="en-GB" altLang="en-US" dirty="0" smtClean="0"/>
              <a:t>Response costs are claimed from the insurer or international Fund</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939575337"/>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30722" name="Title 1"/>
          <p:cNvSpPr>
            <a:spLocks noGrp="1"/>
          </p:cNvSpPr>
          <p:nvPr>
            <p:ph type="title"/>
          </p:nvPr>
        </p:nvSpPr>
        <p:spPr>
          <a:xfrm>
            <a:off x="1981200" y="130176"/>
            <a:ext cx="8229600" cy="561975"/>
          </a:xfrm>
        </p:spPr>
        <p:txBody>
          <a:bodyPr>
            <a:normAutofit fontScale="90000"/>
          </a:bodyPr>
          <a:lstStyle/>
          <a:p>
            <a:pPr algn="ctr"/>
            <a:r>
              <a:rPr lang="en-GB" altLang="en-US" b="1" dirty="0" smtClean="0">
                <a:cs typeface="Arial" panose="020B0604020202020204" pitchFamily="34" charset="0"/>
              </a:rPr>
              <a:t>National laws</a:t>
            </a:r>
          </a:p>
        </p:txBody>
      </p:sp>
      <p:sp>
        <p:nvSpPr>
          <p:cNvPr id="30723" name="Content Placeholder 2"/>
          <p:cNvSpPr>
            <a:spLocks noGrp="1"/>
          </p:cNvSpPr>
          <p:nvPr>
            <p:ph idx="1"/>
          </p:nvPr>
        </p:nvSpPr>
        <p:spPr>
          <a:xfrm>
            <a:off x="453250" y="896794"/>
            <a:ext cx="11273664" cy="4967287"/>
          </a:xfrm>
        </p:spPr>
        <p:txBody>
          <a:bodyPr>
            <a:noAutofit/>
          </a:bodyPr>
          <a:lstStyle/>
          <a:p>
            <a:pPr algn="just"/>
            <a:r>
              <a:rPr lang="en-GB" altLang="en-US" sz="2400" dirty="0"/>
              <a:t>Variable rules and limits </a:t>
            </a:r>
          </a:p>
          <a:p>
            <a:pPr algn="just"/>
            <a:r>
              <a:rPr lang="en-GB" altLang="en-US" sz="2400" dirty="0"/>
              <a:t>Application dependent on national legal system </a:t>
            </a:r>
          </a:p>
          <a:p>
            <a:pPr algn="just"/>
            <a:r>
              <a:rPr lang="en-GB" altLang="en-US" sz="2400" dirty="0"/>
              <a:t>Compensation amounts and rules vary </a:t>
            </a:r>
          </a:p>
          <a:p>
            <a:pPr algn="just"/>
            <a:r>
              <a:rPr lang="en-GB" altLang="en-US" sz="2400" dirty="0"/>
              <a:t>Claims falling outside the international conventions may be covered by national law</a:t>
            </a:r>
          </a:p>
          <a:p>
            <a:pPr algn="just"/>
            <a:r>
              <a:rPr lang="en-US" altLang="en-US" sz="2400" dirty="0"/>
              <a:t>Examples of countries with national legislation designed to supplement the international conventions:</a:t>
            </a:r>
          </a:p>
          <a:p>
            <a:pPr lvl="1" algn="just"/>
            <a:r>
              <a:rPr lang="en-GB" altLang="en-US" dirty="0"/>
              <a:t>China: Domestic Pollution Fund to supplement international conventions (except Hong Kong, China)  </a:t>
            </a:r>
          </a:p>
          <a:p>
            <a:pPr lvl="1" algn="just"/>
            <a:r>
              <a:rPr lang="en-GB" altLang="en-US" dirty="0"/>
              <a:t>Canada: Ship-source oil pollution fund - supplements and complements international conventions </a:t>
            </a:r>
          </a:p>
          <a:p>
            <a:pPr algn="just"/>
            <a:r>
              <a:rPr lang="en-US" altLang="en-US" sz="2400" dirty="0"/>
              <a:t>Examples of national legislation governing liability and compensation where the international conventions have not been adopted:</a:t>
            </a:r>
            <a:endParaRPr lang="en-GB" altLang="en-US" sz="2400" dirty="0"/>
          </a:p>
          <a:p>
            <a:pPr lvl="1" algn="just"/>
            <a:r>
              <a:rPr lang="en-GB" altLang="en-US" dirty="0"/>
              <a:t>USA: Common Federal Law OPA 90/Variable States Laws</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4942837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31746"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International Conventions</a:t>
            </a:r>
          </a:p>
        </p:txBody>
      </p:sp>
      <p:sp>
        <p:nvSpPr>
          <p:cNvPr id="31747" name="Content Placeholder 2"/>
          <p:cNvSpPr>
            <a:spLocks noGrp="1"/>
          </p:cNvSpPr>
          <p:nvPr>
            <p:ph idx="1"/>
          </p:nvPr>
        </p:nvSpPr>
        <p:spPr>
          <a:xfrm>
            <a:off x="917004" y="1167300"/>
            <a:ext cx="10878756" cy="5329237"/>
          </a:xfrm>
        </p:spPr>
        <p:txBody>
          <a:bodyPr/>
          <a:lstStyle/>
          <a:p>
            <a:pPr algn="just"/>
            <a:r>
              <a:rPr lang="en-GB" altLang="en-US" dirty="0" smtClean="0"/>
              <a:t>Uniform application</a:t>
            </a:r>
          </a:p>
          <a:p>
            <a:pPr algn="just"/>
            <a:r>
              <a:rPr lang="en-GB" altLang="en-US" dirty="0" smtClean="0"/>
              <a:t>Provide compensation to victims of pollution damage </a:t>
            </a:r>
          </a:p>
          <a:p>
            <a:pPr algn="just"/>
            <a:r>
              <a:rPr lang="en-GB" altLang="en-US" dirty="0" smtClean="0"/>
              <a:t>Applies to damage caused on the territory, including the territorial sea, and in exclusive economic zones of member states .</a:t>
            </a:r>
          </a:p>
          <a:p>
            <a:pPr algn="just"/>
            <a:r>
              <a:rPr lang="en-GB" altLang="en-US" dirty="0" smtClean="0"/>
              <a:t>Strict (no fault) liability</a:t>
            </a:r>
          </a:p>
          <a:p>
            <a:pPr algn="just"/>
            <a:r>
              <a:rPr lang="en-GB" altLang="en-US" dirty="0" smtClean="0"/>
              <a:t>Right to limit broken only in a limited number of circumstances </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1997203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32770"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International Conventions</a:t>
            </a:r>
          </a:p>
        </p:txBody>
      </p:sp>
      <p:sp>
        <p:nvSpPr>
          <p:cNvPr id="32771" name="Content Placeholder 2"/>
          <p:cNvSpPr>
            <a:spLocks noGrp="1"/>
          </p:cNvSpPr>
          <p:nvPr>
            <p:ph idx="1"/>
          </p:nvPr>
        </p:nvSpPr>
        <p:spPr>
          <a:xfrm>
            <a:off x="738429" y="1399032"/>
            <a:ext cx="10703305" cy="2432304"/>
          </a:xfrm>
        </p:spPr>
        <p:txBody>
          <a:bodyPr/>
          <a:lstStyle/>
          <a:p>
            <a:r>
              <a:rPr lang="en-GB" altLang="en-US" dirty="0" smtClean="0"/>
              <a:t>Limitation of liability based on the size of the vessel under CLC 1992 and Bunkers 2001.</a:t>
            </a:r>
          </a:p>
          <a:p>
            <a:pPr algn="just"/>
            <a:r>
              <a:rPr lang="en-GB" altLang="en-US" dirty="0" smtClean="0"/>
              <a:t>Compensation through amicable settlements potentially avoiding court settlement </a:t>
            </a:r>
          </a:p>
          <a:p>
            <a:r>
              <a:rPr lang="en-GB" altLang="en-US" dirty="0" smtClean="0"/>
              <a:t>Equal treatment of claimants regardless of nationality</a:t>
            </a:r>
          </a:p>
          <a:p>
            <a:endParaRPr lang="en-GB" altLang="en-US" dirty="0" smtClean="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9912507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33794"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International Conventions</a:t>
            </a:r>
          </a:p>
        </p:txBody>
      </p:sp>
      <p:sp>
        <p:nvSpPr>
          <p:cNvPr id="33795" name="Content Placeholder 2"/>
          <p:cNvSpPr>
            <a:spLocks noGrp="1"/>
          </p:cNvSpPr>
          <p:nvPr>
            <p:ph idx="1"/>
          </p:nvPr>
        </p:nvSpPr>
        <p:spPr>
          <a:xfrm>
            <a:off x="836423" y="974595"/>
            <a:ext cx="10785601" cy="5329238"/>
          </a:xfrm>
        </p:spPr>
        <p:txBody>
          <a:bodyPr/>
          <a:lstStyle/>
          <a:p>
            <a:endParaRPr lang="en-GB" altLang="en-US" dirty="0" smtClean="0"/>
          </a:p>
          <a:p>
            <a:r>
              <a:rPr lang="en-GB" altLang="en-US" dirty="0" smtClean="0"/>
              <a:t>Maximum compensation available is fixed under the Convention to a sum of Special Drawing Rights </a:t>
            </a:r>
            <a:r>
              <a:rPr lang="en-GB" altLang="fr-FR" dirty="0" smtClean="0"/>
              <a:t>“</a:t>
            </a:r>
            <a:r>
              <a:rPr lang="en-GB" altLang="en-US" dirty="0" smtClean="0"/>
              <a:t>SDR</a:t>
            </a:r>
            <a:r>
              <a:rPr lang="en-GB" altLang="fr-FR" dirty="0" smtClean="0"/>
              <a:t>”</a:t>
            </a:r>
            <a:r>
              <a:rPr lang="en-GB" altLang="en-US" dirty="0" smtClean="0"/>
              <a:t>. </a:t>
            </a:r>
          </a:p>
          <a:p>
            <a:endParaRPr lang="en-GB" altLang="en-US" dirty="0" smtClean="0"/>
          </a:p>
          <a:p>
            <a:r>
              <a:rPr lang="en-GB" altLang="en-US" dirty="0" smtClean="0"/>
              <a:t>Ensures a consistent approach to compensation in every member state.  </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0513121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re 3"/>
          <p:cNvSpPr>
            <a:spLocks noGrp="1"/>
          </p:cNvSpPr>
          <p:nvPr>
            <p:ph type="ctrTitle"/>
          </p:nvPr>
        </p:nvSpPr>
        <p:spPr>
          <a:xfrm>
            <a:off x="2164080" y="2265363"/>
            <a:ext cx="7473696" cy="2387600"/>
          </a:xfrm>
        </p:spPr>
        <p:txBody>
          <a:bodyPr>
            <a:normAutofit/>
          </a:bodyPr>
          <a:lstStyle/>
          <a:p>
            <a:r>
              <a:rPr lang="en-GB" altLang="en-US" sz="4000" b="1" dirty="0" smtClean="0">
                <a:solidFill>
                  <a:srgbClr val="000000"/>
                </a:solidFill>
              </a:rPr>
              <a:t>Convention on Limitation of Liability for Maritime Claims </a:t>
            </a:r>
            <a:r>
              <a:rPr lang="en-GB" altLang="en-US" sz="4000" b="1" dirty="0">
                <a:solidFill>
                  <a:srgbClr val="000000"/>
                </a:solidFill>
              </a:rPr>
              <a:t>(LLMC 1976 and 1996) </a:t>
            </a:r>
            <a:r>
              <a:rPr lang="en-GB" altLang="en-US" sz="4000" b="1" dirty="0">
                <a:solidFill>
                  <a:srgbClr val="000000"/>
                </a:solidFill>
                <a:cs typeface="Arial" panose="020B0604020202020204" pitchFamily="34" charset="0"/>
              </a:rPr>
              <a:t/>
            </a:r>
            <a:br>
              <a:rPr lang="en-GB" altLang="en-US" sz="4000" b="1" dirty="0">
                <a:solidFill>
                  <a:srgbClr val="000000"/>
                </a:solidFill>
                <a:cs typeface="Arial" panose="020B0604020202020204" pitchFamily="34" charset="0"/>
              </a:rPr>
            </a:br>
            <a:endParaRPr lang="fr-FR" altLang="en-US" sz="4000" b="1" dirty="0">
              <a:solidFill>
                <a:srgbClr val="000000"/>
              </a:solidFill>
            </a:endParaRPr>
          </a:p>
        </p:txBody>
      </p:sp>
      <p:sp>
        <p:nvSpPr>
          <p:cNvPr id="3"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4" name="Rectangle 3"/>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51055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35842" name="Title 1"/>
          <p:cNvSpPr>
            <a:spLocks noGrp="1"/>
          </p:cNvSpPr>
          <p:nvPr>
            <p:ph type="title"/>
          </p:nvPr>
        </p:nvSpPr>
        <p:spPr>
          <a:xfrm>
            <a:off x="1078992" y="130176"/>
            <a:ext cx="9131808" cy="561975"/>
          </a:xfrm>
        </p:spPr>
        <p:txBody>
          <a:bodyPr>
            <a:normAutofit fontScale="90000"/>
          </a:bodyPr>
          <a:lstStyle/>
          <a:p>
            <a:pPr algn="ctr"/>
            <a:r>
              <a:rPr lang="en-GB" altLang="en-US" b="1" dirty="0" smtClean="0"/>
              <a:t/>
            </a:r>
            <a:br>
              <a:rPr lang="en-GB" altLang="en-US" b="1" dirty="0" smtClean="0"/>
            </a:br>
            <a:r>
              <a:rPr lang="en-GB" altLang="en-US" b="1" dirty="0" smtClean="0"/>
              <a:t>LLMC  </a:t>
            </a:r>
            <a:br>
              <a:rPr lang="en-GB" altLang="en-US" b="1" dirty="0" smtClean="0"/>
            </a:br>
            <a:endParaRPr lang="en-US" altLang="en-US" b="1" dirty="0" smtClean="0">
              <a:latin typeface="Arial" panose="020B0604020202020204" pitchFamily="34" charset="0"/>
              <a:cs typeface="Arial" panose="020B0604020202020204" pitchFamily="34" charset="0"/>
            </a:endParaRPr>
          </a:p>
        </p:txBody>
      </p:sp>
      <p:sp>
        <p:nvSpPr>
          <p:cNvPr id="35843" name="Subtitle 2"/>
          <p:cNvSpPr>
            <a:spLocks noGrp="1"/>
          </p:cNvSpPr>
          <p:nvPr>
            <p:ph idx="1"/>
          </p:nvPr>
        </p:nvSpPr>
        <p:spPr>
          <a:xfrm>
            <a:off x="631114" y="1223054"/>
            <a:ext cx="10515600" cy="4351338"/>
          </a:xfrm>
        </p:spPr>
        <p:txBody>
          <a:bodyPr>
            <a:normAutofit/>
          </a:bodyPr>
          <a:lstStyle/>
          <a:p>
            <a:pPr algn="just">
              <a:spcBef>
                <a:spcPct val="0"/>
              </a:spcBef>
            </a:pPr>
            <a:r>
              <a:rPr lang="en-GB" altLang="en-US" sz="3200" dirty="0" err="1" smtClean="0"/>
              <a:t>Shipowners</a:t>
            </a:r>
            <a:r>
              <a:rPr lang="en-GB" altLang="en-US" sz="3200" dirty="0" smtClean="0"/>
              <a:t> and </a:t>
            </a:r>
            <a:r>
              <a:rPr lang="en-GB" altLang="en-US" sz="3200" dirty="0" err="1" smtClean="0"/>
              <a:t>salvors</a:t>
            </a:r>
            <a:r>
              <a:rPr lang="en-GB" altLang="en-US" sz="3200" dirty="0" smtClean="0"/>
              <a:t> may limit their liability</a:t>
            </a:r>
          </a:p>
          <a:p>
            <a:pPr algn="just">
              <a:spcBef>
                <a:spcPct val="0"/>
              </a:spcBef>
            </a:pPr>
            <a:endParaRPr lang="en-GB" altLang="en-US" sz="3200" dirty="0" smtClean="0"/>
          </a:p>
          <a:p>
            <a:pPr algn="just">
              <a:spcBef>
                <a:spcPct val="0"/>
              </a:spcBef>
            </a:pPr>
            <a:r>
              <a:rPr lang="en-GB" altLang="en-US" sz="3200" dirty="0" smtClean="0"/>
              <a:t>Except if "it is proved that the loss resulted from his personal act or omission, committed with the intent to cause such a loss, or recklessly and with knowledge that such loss would probably result”</a:t>
            </a:r>
            <a:endParaRPr lang="en-GB" altLang="en-US" sz="3200" dirty="0" smtClean="0">
              <a:cs typeface="Arial" panose="020B0604020202020204" pitchFamily="34" charset="0"/>
            </a:endParaRP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6151313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36866" name="Title 1"/>
          <p:cNvSpPr>
            <a:spLocks noGrp="1"/>
          </p:cNvSpPr>
          <p:nvPr>
            <p:ph type="title"/>
          </p:nvPr>
        </p:nvSpPr>
        <p:spPr>
          <a:xfrm>
            <a:off x="1124712" y="130176"/>
            <a:ext cx="9086088" cy="561975"/>
          </a:xfrm>
        </p:spPr>
        <p:txBody>
          <a:bodyPr>
            <a:normAutofit fontScale="90000"/>
          </a:bodyPr>
          <a:lstStyle/>
          <a:p>
            <a:pPr algn="ctr"/>
            <a:r>
              <a:rPr lang="en-GB" altLang="en-US" b="1" dirty="0" smtClean="0"/>
              <a:t/>
            </a:r>
            <a:br>
              <a:rPr lang="en-GB" altLang="en-US" b="1" dirty="0" smtClean="0"/>
            </a:br>
            <a:r>
              <a:rPr lang="en-GB" altLang="en-US" b="1" dirty="0" smtClean="0"/>
              <a:t>LLMC  </a:t>
            </a:r>
            <a:br>
              <a:rPr lang="en-GB" altLang="en-US" b="1" dirty="0" smtClean="0"/>
            </a:br>
            <a:endParaRPr lang="en-US" altLang="en-US" b="1" dirty="0" smtClean="0">
              <a:latin typeface="Arial" panose="020B0604020202020204" pitchFamily="34" charset="0"/>
              <a:cs typeface="Arial" panose="020B0604020202020204" pitchFamily="34" charset="0"/>
            </a:endParaRPr>
          </a:p>
        </p:txBody>
      </p:sp>
      <p:sp>
        <p:nvSpPr>
          <p:cNvPr id="36867" name="Subtitle 2"/>
          <p:cNvSpPr>
            <a:spLocks noGrp="1"/>
          </p:cNvSpPr>
          <p:nvPr>
            <p:ph idx="1"/>
          </p:nvPr>
        </p:nvSpPr>
        <p:spPr>
          <a:xfrm>
            <a:off x="832282" y="1557338"/>
            <a:ext cx="10515600" cy="4351338"/>
          </a:xfrm>
        </p:spPr>
        <p:txBody>
          <a:bodyPr/>
          <a:lstStyle/>
          <a:p>
            <a:pPr>
              <a:spcBef>
                <a:spcPct val="0"/>
              </a:spcBef>
            </a:pPr>
            <a:r>
              <a:rPr lang="en-GB" altLang="en-US" dirty="0" smtClean="0">
                <a:cs typeface="Arial" panose="020B0604020202020204" pitchFamily="34" charset="0"/>
              </a:rPr>
              <a:t>The persons entitled to limit liability are:</a:t>
            </a:r>
          </a:p>
          <a:p>
            <a:pPr marL="914400" lvl="1" indent="-514350">
              <a:spcBef>
                <a:spcPct val="0"/>
              </a:spcBef>
              <a:buFont typeface="Calibri" panose="020F0502020204030204" pitchFamily="34" charset="0"/>
              <a:buAutoNum type="arabicParenR"/>
            </a:pPr>
            <a:r>
              <a:rPr lang="en-GB" altLang="en-US" dirty="0" err="1" smtClean="0">
                <a:cs typeface="Arial" panose="020B0604020202020204" pitchFamily="34" charset="0"/>
              </a:rPr>
              <a:t>shipowners</a:t>
            </a:r>
            <a:endParaRPr lang="en-GB" altLang="en-US" dirty="0" smtClean="0">
              <a:cs typeface="Arial" panose="020B0604020202020204" pitchFamily="34" charset="0"/>
            </a:endParaRPr>
          </a:p>
          <a:p>
            <a:pPr marL="914400" lvl="1" indent="-514350">
              <a:spcBef>
                <a:spcPct val="0"/>
              </a:spcBef>
              <a:buFont typeface="Calibri" panose="020F0502020204030204" pitchFamily="34" charset="0"/>
              <a:buAutoNum type="arabicParenR"/>
            </a:pPr>
            <a:r>
              <a:rPr lang="en-GB" altLang="en-US" dirty="0" smtClean="0">
                <a:cs typeface="Arial" panose="020B0604020202020204" pitchFamily="34" charset="0"/>
              </a:rPr>
              <a:t>charterers</a:t>
            </a:r>
          </a:p>
          <a:p>
            <a:pPr marL="914400" lvl="1" indent="-514350">
              <a:spcBef>
                <a:spcPct val="0"/>
              </a:spcBef>
              <a:buFont typeface="Calibri" panose="020F0502020204030204" pitchFamily="34" charset="0"/>
              <a:buAutoNum type="arabicParenR"/>
            </a:pPr>
            <a:r>
              <a:rPr lang="en-GB" altLang="en-US" dirty="0" smtClean="0">
                <a:cs typeface="Arial" panose="020B0604020202020204" pitchFamily="34" charset="0"/>
              </a:rPr>
              <a:t>managers</a:t>
            </a:r>
          </a:p>
          <a:p>
            <a:pPr marL="914400" lvl="1" indent="-514350">
              <a:spcBef>
                <a:spcPct val="0"/>
              </a:spcBef>
              <a:buFont typeface="Calibri" panose="020F0502020204030204" pitchFamily="34" charset="0"/>
              <a:buAutoNum type="arabicParenR"/>
            </a:pPr>
            <a:r>
              <a:rPr lang="en-GB" altLang="en-US" dirty="0" smtClean="0">
                <a:cs typeface="Arial" panose="020B0604020202020204" pitchFamily="34" charset="0"/>
              </a:rPr>
              <a:t>operators</a:t>
            </a:r>
          </a:p>
          <a:p>
            <a:pPr marL="914400" lvl="1" indent="-514350">
              <a:spcBef>
                <a:spcPct val="0"/>
              </a:spcBef>
              <a:buFont typeface="Calibri" panose="020F0502020204030204" pitchFamily="34" charset="0"/>
              <a:buAutoNum type="arabicParenR"/>
            </a:pPr>
            <a:r>
              <a:rPr lang="en-GB" altLang="en-US" dirty="0" err="1" smtClean="0">
                <a:cs typeface="Arial" panose="020B0604020202020204" pitchFamily="34" charset="0"/>
              </a:rPr>
              <a:t>salvors</a:t>
            </a:r>
            <a:endParaRPr lang="en-GB" altLang="en-US" dirty="0" smtClean="0">
              <a:cs typeface="Arial" panose="020B0604020202020204" pitchFamily="34" charset="0"/>
            </a:endParaRPr>
          </a:p>
          <a:p>
            <a:pPr marL="914400" lvl="1" indent="-514350">
              <a:spcBef>
                <a:spcPct val="0"/>
              </a:spcBef>
              <a:buFont typeface="Calibri" panose="020F0502020204030204" pitchFamily="34" charset="0"/>
              <a:buAutoNum type="arabicParenR"/>
            </a:pPr>
            <a:r>
              <a:rPr lang="en-GB" altLang="en-US" dirty="0" smtClean="0">
                <a:cs typeface="Arial" panose="020B0604020202020204" pitchFamily="34" charset="0"/>
              </a:rPr>
              <a:t>any person for whose act, neglect or default the parties identified in 1–5 are responsible employees</a:t>
            </a:r>
          </a:p>
          <a:p>
            <a:pPr marL="914400" lvl="1" indent="-514350">
              <a:spcBef>
                <a:spcPct val="0"/>
              </a:spcBef>
              <a:buFont typeface="Calibri" panose="020F0502020204030204" pitchFamily="34" charset="0"/>
              <a:buAutoNum type="arabicParenR"/>
            </a:pPr>
            <a:r>
              <a:rPr lang="en-GB" altLang="en-US" dirty="0" smtClean="0">
                <a:cs typeface="Arial" panose="020B0604020202020204" pitchFamily="34" charset="0"/>
              </a:rPr>
              <a:t>insurers of liability of the parties identified above</a:t>
            </a:r>
            <a:endParaRPr lang="en-US" altLang="en-US" dirty="0" smtClean="0">
              <a:cs typeface="Arial" panose="020B0604020202020204" pitchFamily="34" charset="0"/>
            </a:endParaRPr>
          </a:p>
        </p:txBody>
      </p:sp>
      <p:sp>
        <p:nvSpPr>
          <p:cNvPr id="36868" name="Rectangle 1"/>
          <p:cNvSpPr>
            <a:spLocks noChangeArrowheads="1"/>
          </p:cNvSpPr>
          <p:nvPr/>
        </p:nvSpPr>
        <p:spPr bwMode="auto">
          <a:xfrm>
            <a:off x="4948239" y="2082801"/>
            <a:ext cx="27717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r>
              <a:rPr lang="en-GB" altLang="en-US"/>
              <a:t>of a sea-going ship</a:t>
            </a:r>
          </a:p>
        </p:txBody>
      </p:sp>
      <p:sp>
        <p:nvSpPr>
          <p:cNvPr id="3" name="Right Brace 2">
            <a:extLst/>
          </p:cNvPr>
          <p:cNvSpPr/>
          <p:nvPr/>
        </p:nvSpPr>
        <p:spPr>
          <a:xfrm>
            <a:off x="4727575" y="1557338"/>
            <a:ext cx="215900" cy="151130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ctr">
              <a:defRPr/>
            </a:pPr>
            <a:endParaRPr lang="en-US" altLang="en-US">
              <a:latin typeface="Calibri" panose="020F0502020204030204" pitchFamily="34" charset="0"/>
            </a:endParaRPr>
          </a:p>
        </p:txBody>
      </p:sp>
      <p:sp>
        <p:nvSpPr>
          <p:cNvPr id="6"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190916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37890" name="Title 1"/>
          <p:cNvSpPr>
            <a:spLocks noGrp="1"/>
          </p:cNvSpPr>
          <p:nvPr>
            <p:ph type="title"/>
          </p:nvPr>
        </p:nvSpPr>
        <p:spPr>
          <a:xfrm>
            <a:off x="1627632" y="130176"/>
            <a:ext cx="8583168" cy="561975"/>
          </a:xfrm>
        </p:spPr>
        <p:txBody>
          <a:bodyPr>
            <a:normAutofit fontScale="90000"/>
          </a:bodyPr>
          <a:lstStyle/>
          <a:p>
            <a:pPr algn="ctr"/>
            <a:r>
              <a:rPr lang="en-GB" altLang="en-US" b="1" dirty="0" smtClean="0"/>
              <a:t>LLMC 1996 </a:t>
            </a:r>
          </a:p>
        </p:txBody>
      </p:sp>
      <p:sp>
        <p:nvSpPr>
          <p:cNvPr id="27651" name="Content Placeholder 2">
            <a:extLst/>
          </p:cNvPr>
          <p:cNvSpPr>
            <a:spLocks noGrp="1"/>
          </p:cNvSpPr>
          <p:nvPr>
            <p:ph idx="1"/>
          </p:nvPr>
        </p:nvSpPr>
        <p:spPr>
          <a:xfrm>
            <a:off x="746760" y="1072146"/>
            <a:ext cx="10802112" cy="5000625"/>
          </a:xfrm>
        </p:spPr>
        <p:txBody>
          <a:bodyPr>
            <a:normAutofit/>
          </a:bodyPr>
          <a:lstStyle/>
          <a:p>
            <a:pPr>
              <a:defRPr/>
            </a:pPr>
            <a:r>
              <a:rPr lang="en-GB" altLang="en-US" dirty="0"/>
              <a:t>The limit of liability for claims for loss of life or personal injury for ships not exceeding 2,000 gross tonnage is </a:t>
            </a:r>
            <a:r>
              <a:rPr lang="en-GB" altLang="en-US" b="1" dirty="0"/>
              <a:t>2 million SDR </a:t>
            </a:r>
          </a:p>
          <a:p>
            <a:pPr>
              <a:defRPr/>
            </a:pPr>
            <a:r>
              <a:rPr lang="en-GB" altLang="en-US" dirty="0"/>
              <a:t>For property claims for ships not exceeding 2,000 gross tonnage is </a:t>
            </a:r>
            <a:r>
              <a:rPr lang="en-GB" altLang="en-US" b="1" dirty="0"/>
              <a:t>1 million SDR </a:t>
            </a:r>
          </a:p>
          <a:p>
            <a:pPr marL="0" indent="0">
              <a:defRPr/>
            </a:pPr>
            <a:endParaRPr lang="en-GB" altLang="en-US" sz="1000" dirty="0"/>
          </a:p>
          <a:p>
            <a:pPr>
              <a:defRPr/>
            </a:pPr>
            <a:r>
              <a:rPr lang="en-GB" altLang="en-US" sz="2400" dirty="0"/>
              <a:t>For larger ships, </a:t>
            </a:r>
            <a:br>
              <a:rPr lang="en-GB" altLang="en-US" sz="2400" dirty="0"/>
            </a:br>
            <a:r>
              <a:rPr lang="en-GB" altLang="en-US" sz="2400" dirty="0"/>
              <a:t>* For each ton from 	2,001 to 30,000 tons, 	800 SDR </a:t>
            </a:r>
            <a:br>
              <a:rPr lang="en-GB" altLang="en-US" sz="2400" dirty="0"/>
            </a:br>
            <a:r>
              <a:rPr lang="en-GB" altLang="en-US" sz="2400" dirty="0"/>
              <a:t>* For each ton from 	30,001 to 70,000 tons, 600 SDR </a:t>
            </a:r>
            <a:br>
              <a:rPr lang="en-GB" altLang="en-US" sz="2400" dirty="0"/>
            </a:br>
            <a:r>
              <a:rPr lang="en-GB" altLang="en-US" sz="2400" dirty="0"/>
              <a:t>* For each ton 		in excess of 70,000 tons, 400 SDR</a:t>
            </a:r>
          </a:p>
          <a:p>
            <a:pPr marL="0" indent="0">
              <a:defRPr/>
            </a:pPr>
            <a:endParaRPr lang="en-GB" altLang="en-US" sz="1100" dirty="0"/>
          </a:p>
          <a:p>
            <a:pPr marL="0" indent="0">
              <a:buNone/>
              <a:defRPr/>
            </a:pPr>
            <a:r>
              <a:rPr lang="en-GB" altLang="en-US" sz="2400" dirty="0"/>
              <a:t>(example: 150,000 ton ship: 80,400,000 SDR) </a:t>
            </a:r>
            <a:br>
              <a:rPr lang="en-GB" altLang="en-US" sz="2400" dirty="0"/>
            </a:br>
            <a:endParaRPr lang="en-GB" altLang="en-US" sz="2400" dirty="0"/>
          </a:p>
          <a:p>
            <a:pPr marL="0" indent="0">
              <a:defRPr/>
            </a:pPr>
            <a:endParaRPr lang="en-GB" altLang="en-US" sz="2000" dirty="0"/>
          </a:p>
          <a:p>
            <a:pPr marL="0" indent="0">
              <a:buNone/>
              <a:defRPr/>
            </a:pPr>
            <a:endParaRPr lang="en-GB" altLang="en-US" sz="1800" dirty="0"/>
          </a:p>
          <a:p>
            <a:pPr marL="0" indent="0">
              <a:defRPr/>
            </a:pPr>
            <a:endParaRPr lang="en-GB" altLang="en-US" dirty="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6978982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38914" name="Titre 3"/>
          <p:cNvSpPr>
            <a:spLocks noGrp="1"/>
          </p:cNvSpPr>
          <p:nvPr>
            <p:ph type="ctrTitle"/>
          </p:nvPr>
        </p:nvSpPr>
        <p:spPr>
          <a:xfrm>
            <a:off x="599109" y="2378659"/>
            <a:ext cx="10634339" cy="2387600"/>
          </a:xfrm>
        </p:spPr>
        <p:txBody>
          <a:bodyPr>
            <a:normAutofit fontScale="90000"/>
          </a:bodyPr>
          <a:lstStyle/>
          <a:p>
            <a:r>
              <a:rPr lang="en-GB" altLang="en-US" sz="4000" b="1" dirty="0">
                <a:solidFill>
                  <a:srgbClr val="000000"/>
                </a:solidFill>
              </a:rPr>
              <a:t>International Convention on Civil Liability for </a:t>
            </a:r>
            <a:br>
              <a:rPr lang="en-GB" altLang="en-US" sz="4000" b="1" dirty="0">
                <a:solidFill>
                  <a:srgbClr val="000000"/>
                </a:solidFill>
              </a:rPr>
            </a:br>
            <a:r>
              <a:rPr lang="en-GB" altLang="en-US" sz="4000" b="1" dirty="0">
                <a:solidFill>
                  <a:srgbClr val="000000"/>
                </a:solidFill>
              </a:rPr>
              <a:t>Bunker Oil Pollution Damage, 2001</a:t>
            </a:r>
            <a:br>
              <a:rPr lang="en-GB" altLang="en-US" sz="4000" b="1" dirty="0">
                <a:solidFill>
                  <a:srgbClr val="000000"/>
                </a:solidFill>
              </a:rPr>
            </a:br>
            <a:r>
              <a:rPr lang="en-GB" altLang="en-US" sz="4000" b="1" dirty="0">
                <a:solidFill>
                  <a:srgbClr val="000000"/>
                </a:solidFill>
                <a:cs typeface="Arial" panose="020B0604020202020204" pitchFamily="34" charset="0"/>
              </a:rPr>
              <a:t/>
            </a:r>
            <a:br>
              <a:rPr lang="en-GB" altLang="en-US" sz="4000" b="1" dirty="0">
                <a:solidFill>
                  <a:srgbClr val="000000"/>
                </a:solidFill>
                <a:cs typeface="Arial" panose="020B0604020202020204" pitchFamily="34" charset="0"/>
              </a:rPr>
            </a:br>
            <a:endParaRPr lang="fr-FR" altLang="en-US" sz="4000" b="1" dirty="0">
              <a:solidFill>
                <a:srgbClr val="000000"/>
              </a:solidFill>
            </a:endParaRPr>
          </a:p>
        </p:txBody>
      </p:sp>
      <p:sp>
        <p:nvSpPr>
          <p:cNvPr id="3"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1482595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39938" name="Title 1"/>
          <p:cNvSpPr>
            <a:spLocks noGrp="1"/>
          </p:cNvSpPr>
          <p:nvPr>
            <p:ph type="title"/>
          </p:nvPr>
        </p:nvSpPr>
        <p:spPr>
          <a:xfrm>
            <a:off x="987552" y="303695"/>
            <a:ext cx="9701784" cy="511746"/>
          </a:xfrm>
        </p:spPr>
        <p:txBody>
          <a:bodyPr>
            <a:normAutofit fontScale="90000"/>
          </a:bodyPr>
          <a:lstStyle/>
          <a:p>
            <a:pPr algn="ctr"/>
            <a:r>
              <a:rPr lang="en-GB" altLang="en-US" b="1" dirty="0" smtClean="0"/>
              <a:t>Bunker Convention </a:t>
            </a:r>
            <a:br>
              <a:rPr lang="en-GB" altLang="en-US" b="1" dirty="0" smtClean="0"/>
            </a:br>
            <a:endParaRPr lang="en-GB" altLang="en-US" sz="3200" b="1" i="1" dirty="0"/>
          </a:p>
        </p:txBody>
      </p:sp>
      <p:sp>
        <p:nvSpPr>
          <p:cNvPr id="39939" name="Content Placeholder 2"/>
          <p:cNvSpPr>
            <a:spLocks noGrp="1"/>
          </p:cNvSpPr>
          <p:nvPr>
            <p:ph idx="1"/>
          </p:nvPr>
        </p:nvSpPr>
        <p:spPr>
          <a:xfrm>
            <a:off x="645274" y="1199875"/>
            <a:ext cx="10542144" cy="5360987"/>
          </a:xfrm>
        </p:spPr>
        <p:txBody>
          <a:bodyPr/>
          <a:lstStyle/>
          <a:p>
            <a:pPr algn="just"/>
            <a:r>
              <a:rPr lang="en-GB" altLang="en-US" dirty="0" smtClean="0"/>
              <a:t>To ensure that adequate, prompt, and effective compensation is available to persons who suffer damage caused by spills of oil carried as </a:t>
            </a:r>
            <a:r>
              <a:rPr lang="en-GB" altLang="en-US" u="sng" dirty="0" smtClean="0"/>
              <a:t>fuel</a:t>
            </a:r>
            <a:r>
              <a:rPr lang="en-GB" altLang="en-US" dirty="0" smtClean="0"/>
              <a:t> in ships</a:t>
            </a:r>
            <a:r>
              <a:rPr lang="en-GB" altLang="fr-FR" dirty="0" smtClean="0"/>
              <a:t>’</a:t>
            </a:r>
            <a:r>
              <a:rPr lang="en-GB" altLang="en-US" dirty="0" smtClean="0"/>
              <a:t> bunkers.</a:t>
            </a:r>
            <a:br>
              <a:rPr lang="en-GB" altLang="en-US" dirty="0" smtClean="0"/>
            </a:br>
            <a:endParaRPr lang="en-GB" altLang="en-US" dirty="0" smtClean="0"/>
          </a:p>
          <a:p>
            <a:pPr algn="just"/>
            <a:r>
              <a:rPr lang="en-GB" altLang="en-US" dirty="0" smtClean="0"/>
              <a:t>Applies to damage caused on the territory, including the territorial sea, and in exclusive economic zones of States Parties.</a:t>
            </a:r>
          </a:p>
          <a:p>
            <a:pPr algn="just"/>
            <a:endParaRPr lang="en-GB" altLang="en-US" sz="1800" dirty="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40092476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0962" name="Title 1"/>
          <p:cNvSpPr>
            <a:spLocks noGrp="1"/>
          </p:cNvSpPr>
          <p:nvPr>
            <p:ph type="title"/>
          </p:nvPr>
        </p:nvSpPr>
        <p:spPr>
          <a:xfrm>
            <a:off x="557784" y="58455"/>
            <a:ext cx="11247120" cy="850900"/>
          </a:xfrm>
        </p:spPr>
        <p:txBody>
          <a:bodyPr>
            <a:normAutofit/>
          </a:bodyPr>
          <a:lstStyle/>
          <a:p>
            <a:pPr algn="ctr"/>
            <a:r>
              <a:rPr lang="en-GB" altLang="en-US" b="1" dirty="0" smtClean="0"/>
              <a:t>Bunker Convention </a:t>
            </a:r>
            <a:endParaRPr lang="en-GB" altLang="en-US" sz="3200" b="1" i="1" dirty="0"/>
          </a:p>
        </p:txBody>
      </p:sp>
      <p:sp>
        <p:nvSpPr>
          <p:cNvPr id="40963" name="Content Placeholder 2"/>
          <p:cNvSpPr>
            <a:spLocks noGrp="1"/>
          </p:cNvSpPr>
          <p:nvPr>
            <p:ph idx="1"/>
          </p:nvPr>
        </p:nvSpPr>
        <p:spPr>
          <a:xfrm>
            <a:off x="485520" y="1091463"/>
            <a:ext cx="11026775" cy="5184775"/>
          </a:xfrm>
        </p:spPr>
        <p:txBody>
          <a:bodyPr/>
          <a:lstStyle/>
          <a:p>
            <a:pPr marL="0" indent="0" algn="just"/>
            <a:r>
              <a:rPr lang="en-GB" altLang="en-US" dirty="0" smtClean="0"/>
              <a:t> </a:t>
            </a:r>
            <a:r>
              <a:rPr lang="en-GB" altLang="fr-FR" dirty="0" smtClean="0"/>
              <a:t>“</a:t>
            </a:r>
            <a:r>
              <a:rPr lang="en-GB" altLang="ja-JP" dirty="0" smtClean="0"/>
              <a:t>Pollution damage</a:t>
            </a:r>
            <a:r>
              <a:rPr lang="en-GB" altLang="fr-FR" dirty="0" smtClean="0"/>
              <a:t>”</a:t>
            </a:r>
            <a:r>
              <a:rPr lang="en-GB" altLang="ja-JP" dirty="0" smtClean="0"/>
              <a:t> means</a:t>
            </a:r>
          </a:p>
          <a:p>
            <a:pPr marL="914400" lvl="1" indent="-514350" algn="just">
              <a:buFont typeface="Arial" panose="020B0604020202020204" pitchFamily="34" charset="0"/>
              <a:buAutoNum type="alphaLcParenBoth"/>
            </a:pPr>
            <a:r>
              <a:rPr lang="en-GB" altLang="en-US" dirty="0" smtClean="0"/>
              <a:t>loss or damage caused outside the ship by contamination resulting from the escape or discharge of bunker oil from the ship, wherever such escape or discharge may occur, provided that compensation for impairment of the environment other than loss of profit from such impairment shall be limited to costs of reasonable measures of reinstatement actually undertaken or to be undertaken; and</a:t>
            </a:r>
          </a:p>
          <a:p>
            <a:pPr marL="914400" lvl="1" indent="-514350" algn="just">
              <a:buFont typeface="Arial" panose="020B0604020202020204" pitchFamily="34" charset="0"/>
              <a:buAutoNum type="alphaLcParenBoth"/>
            </a:pPr>
            <a:r>
              <a:rPr lang="en-GB" altLang="en-US" dirty="0" smtClean="0"/>
              <a:t>the costs of preventive measures and further loss or damage caused by preventive measures.</a:t>
            </a:r>
          </a:p>
          <a:p>
            <a:pPr marL="0" indent="0" algn="just"/>
            <a:endParaRPr lang="en-GB" altLang="en-US" sz="1800" dirty="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0172951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1986" name="Title 1"/>
          <p:cNvSpPr>
            <a:spLocks noGrp="1"/>
          </p:cNvSpPr>
          <p:nvPr>
            <p:ph type="title"/>
          </p:nvPr>
        </p:nvSpPr>
        <p:spPr>
          <a:xfrm>
            <a:off x="1706880" y="90765"/>
            <a:ext cx="8229600" cy="850900"/>
          </a:xfrm>
        </p:spPr>
        <p:txBody>
          <a:bodyPr>
            <a:normAutofit fontScale="90000"/>
          </a:bodyPr>
          <a:lstStyle/>
          <a:p>
            <a:pPr algn="ctr"/>
            <a:r>
              <a:rPr lang="en-GB" altLang="en-US" b="1" dirty="0" smtClean="0"/>
              <a:t>Bunker Convention </a:t>
            </a:r>
            <a:br>
              <a:rPr lang="en-GB" altLang="en-US" b="1" dirty="0" smtClean="0"/>
            </a:br>
            <a:endParaRPr lang="en-GB" altLang="en-US" sz="3200" b="1" i="1" dirty="0"/>
          </a:p>
        </p:txBody>
      </p:sp>
      <p:sp>
        <p:nvSpPr>
          <p:cNvPr id="41987" name="Content Placeholder 2"/>
          <p:cNvSpPr>
            <a:spLocks noGrp="1"/>
          </p:cNvSpPr>
          <p:nvPr>
            <p:ph idx="1"/>
          </p:nvPr>
        </p:nvSpPr>
        <p:spPr>
          <a:xfrm>
            <a:off x="736714" y="1116712"/>
            <a:ext cx="10706735" cy="5360988"/>
          </a:xfrm>
        </p:spPr>
        <p:txBody>
          <a:bodyPr>
            <a:normAutofit/>
          </a:bodyPr>
          <a:lstStyle/>
          <a:p>
            <a:pPr marL="361950" indent="-361950" algn="just"/>
            <a:r>
              <a:rPr lang="en-GB" altLang="en-US" dirty="0"/>
              <a:t>Strict liability for </a:t>
            </a:r>
            <a:r>
              <a:rPr lang="en-GB" altLang="en-US" dirty="0" err="1"/>
              <a:t>shipowner</a:t>
            </a:r>
            <a:r>
              <a:rPr lang="en-GB" altLang="en-US" dirty="0"/>
              <a:t>.</a:t>
            </a:r>
          </a:p>
          <a:p>
            <a:pPr marL="361950" indent="-361950" algn="just"/>
            <a:r>
              <a:rPr lang="en-GB" altLang="en-US" dirty="0"/>
              <a:t>Applies to any hydrocarbon mineral oil/lubricating oil used/intended for operation or propulsion of a ship.</a:t>
            </a:r>
          </a:p>
          <a:p>
            <a:pPr marL="361950" indent="-361950" algn="just"/>
            <a:r>
              <a:rPr lang="en-GB" altLang="en-US" dirty="0" err="1"/>
              <a:t>Shipowner</a:t>
            </a:r>
            <a:r>
              <a:rPr lang="en-GB" altLang="en-US" dirty="0"/>
              <a:t> may limit liability under an applicable national law but cannot exceed that international regime, e.g. LLMC 1976 or 1996 as applicable. </a:t>
            </a:r>
          </a:p>
          <a:p>
            <a:pPr marL="361950" indent="-361950" algn="just"/>
            <a:r>
              <a:rPr lang="en-GB" altLang="en-US" dirty="0"/>
              <a:t>Owners of ships with g.r.t &gt; 1,000 tonnes must maintain insurance to cover liability for pollution damage </a:t>
            </a:r>
            <a:r>
              <a:rPr lang="en-GB" altLang="fr-FR" dirty="0"/>
              <a:t>“</a:t>
            </a:r>
            <a:r>
              <a:rPr lang="en-GB" altLang="en-US" dirty="0"/>
              <a:t>bunkers certificate</a:t>
            </a:r>
            <a:r>
              <a:rPr lang="en-GB" altLang="fr-FR" dirty="0"/>
              <a:t>”.</a:t>
            </a:r>
            <a:endParaRPr lang="en-GB" altLang="en-US" dirty="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432421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3010" name="Rectangle 2"/>
          <p:cNvSpPr>
            <a:spLocks noGrp="1"/>
          </p:cNvSpPr>
          <p:nvPr>
            <p:ph type="title"/>
          </p:nvPr>
        </p:nvSpPr>
        <p:spPr>
          <a:xfrm>
            <a:off x="2063750" y="112324"/>
            <a:ext cx="8229600" cy="561975"/>
          </a:xfrm>
        </p:spPr>
        <p:txBody>
          <a:bodyPr>
            <a:normAutofit fontScale="90000"/>
          </a:bodyPr>
          <a:lstStyle/>
          <a:p>
            <a:pPr algn="ctr" eaLnBrk="1" hangingPunct="1"/>
            <a:r>
              <a:rPr lang="en-GB" altLang="en-US" b="1" dirty="0" smtClean="0">
                <a:cs typeface="Arial" panose="020B0604020202020204" pitchFamily="34" charset="0"/>
              </a:rPr>
              <a:t>Insurers and P&amp;I Clubs </a:t>
            </a:r>
            <a:endParaRPr lang="en-GB" altLang="en-US" sz="3200" b="1" dirty="0">
              <a:cs typeface="Arial" panose="020B0604020202020204" pitchFamily="34" charset="0"/>
            </a:endParaRPr>
          </a:p>
        </p:txBody>
      </p:sp>
      <p:sp>
        <p:nvSpPr>
          <p:cNvPr id="43011" name="Rectangle 1"/>
          <p:cNvSpPr>
            <a:spLocks noChangeArrowheads="1"/>
          </p:cNvSpPr>
          <p:nvPr/>
        </p:nvSpPr>
        <p:spPr bwMode="auto">
          <a:xfrm>
            <a:off x="960883" y="1143954"/>
            <a:ext cx="10194797"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just" eaLnBrk="1" hangingPunct="1">
              <a:buFont typeface="Arial" panose="020B0604020202020204" pitchFamily="34" charset="0"/>
              <a:buChar char="•"/>
            </a:pPr>
            <a:r>
              <a:rPr lang="en-GB" altLang="en-US" sz="3200" dirty="0">
                <a:latin typeface="+mj-lt"/>
                <a:cs typeface="Arial" panose="020B0604020202020204" pitchFamily="34" charset="0"/>
              </a:rPr>
              <a:t>Compensation under 1992 CLC and Bunkers 2001 paid by the insurer of the vessel.</a:t>
            </a:r>
          </a:p>
          <a:p>
            <a:pPr algn="just" eaLnBrk="1" hangingPunct="1">
              <a:buFont typeface="Arial" panose="020B0604020202020204" pitchFamily="34" charset="0"/>
              <a:buChar char="•"/>
            </a:pPr>
            <a:r>
              <a:rPr lang="en-GB" altLang="en-US" sz="3200" dirty="0">
                <a:latin typeface="+mj-lt"/>
                <a:cs typeface="Arial" panose="020B0604020202020204" pitchFamily="34" charset="0"/>
              </a:rPr>
              <a:t>The insurer is usually a Protection and Indemnity (P&amp;I) Club. </a:t>
            </a:r>
          </a:p>
          <a:p>
            <a:pPr algn="just" eaLnBrk="1" hangingPunct="1">
              <a:buFont typeface="Arial" panose="020B0604020202020204" pitchFamily="34" charset="0"/>
              <a:buChar char="•"/>
            </a:pPr>
            <a:r>
              <a:rPr lang="en-GB" altLang="en-US" sz="3200" dirty="0">
                <a:latin typeface="+mj-lt"/>
                <a:cs typeface="Arial" panose="020B0604020202020204" pitchFamily="34" charset="0"/>
              </a:rPr>
              <a:t>P&amp;I Clubs insure a vessel’s third party liabilities on a mutual basis. </a:t>
            </a:r>
          </a:p>
          <a:p>
            <a:pPr algn="just" eaLnBrk="1" hangingPunct="1">
              <a:buFont typeface="Arial" panose="020B0604020202020204" pitchFamily="34" charset="0"/>
              <a:buChar char="•"/>
            </a:pPr>
            <a:r>
              <a:rPr lang="en-GB" altLang="en-US" sz="3200" dirty="0">
                <a:latin typeface="+mj-lt"/>
                <a:cs typeface="Arial" panose="020B0604020202020204" pitchFamily="34" charset="0"/>
              </a:rPr>
              <a:t>Costs are shared between </a:t>
            </a:r>
            <a:r>
              <a:rPr lang="en-GB" altLang="en-US" sz="3200" dirty="0" err="1">
                <a:latin typeface="+mj-lt"/>
                <a:cs typeface="Arial" panose="020B0604020202020204" pitchFamily="34" charset="0"/>
              </a:rPr>
              <a:t>shipowners</a:t>
            </a:r>
            <a:r>
              <a:rPr lang="en-GB" altLang="en-US" sz="3200" dirty="0">
                <a:latin typeface="+mj-lt"/>
                <a:cs typeface="Arial" panose="020B0604020202020204" pitchFamily="34" charset="0"/>
              </a:rPr>
              <a:t> in a Club and between Clubs that comprise the International Group of P&amp;I Clubs</a:t>
            </a:r>
            <a:endParaRPr lang="fr-FR" altLang="en-US" sz="3200" dirty="0">
              <a:latin typeface="+mj-lt"/>
              <a:cs typeface="Arial" panose="020B0604020202020204" pitchFamily="34" charset="0"/>
            </a:endParaRP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382890037"/>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re 1"/>
          <p:cNvSpPr>
            <a:spLocks noGrp="1"/>
          </p:cNvSpPr>
          <p:nvPr>
            <p:ph type="ctrTitle"/>
          </p:nvPr>
        </p:nvSpPr>
        <p:spPr>
          <a:xfrm>
            <a:off x="1853184" y="2569463"/>
            <a:ext cx="8497824" cy="1443419"/>
          </a:xfrm>
        </p:spPr>
        <p:txBody>
          <a:bodyPr>
            <a:normAutofit/>
          </a:bodyPr>
          <a:lstStyle/>
          <a:p>
            <a:r>
              <a:rPr lang="fr-FR" altLang="en-US" sz="4000" b="1" dirty="0" smtClean="0">
                <a:solidFill>
                  <a:schemeClr val="tx1"/>
                </a:solidFill>
              </a:rPr>
              <a:t>1992 Civil </a:t>
            </a:r>
            <a:r>
              <a:rPr lang="fr-FR" altLang="en-US" sz="4000" b="1" dirty="0" err="1" smtClean="0">
                <a:solidFill>
                  <a:schemeClr val="tx1"/>
                </a:solidFill>
              </a:rPr>
              <a:t>Liability</a:t>
            </a:r>
            <a:r>
              <a:rPr lang="fr-FR" altLang="en-US" sz="4000" b="1" dirty="0" smtClean="0">
                <a:solidFill>
                  <a:schemeClr val="tx1"/>
                </a:solidFill>
              </a:rPr>
              <a:t> and </a:t>
            </a:r>
            <a:r>
              <a:rPr lang="fr-FR" altLang="en-US" sz="4000" b="1" dirty="0" err="1" smtClean="0">
                <a:solidFill>
                  <a:schemeClr val="tx1"/>
                </a:solidFill>
              </a:rPr>
              <a:t>Fund</a:t>
            </a:r>
            <a:r>
              <a:rPr lang="fr-FR" altLang="en-US" sz="4000" b="1" dirty="0" smtClean="0">
                <a:solidFill>
                  <a:schemeClr val="tx1"/>
                </a:solidFill>
              </a:rPr>
              <a:t> Conventions </a:t>
            </a:r>
          </a:p>
        </p:txBody>
      </p:sp>
      <p:sp>
        <p:nvSpPr>
          <p:cNvPr id="3"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4" name="Rectangle 3"/>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239414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5058" name="Rectangle 3"/>
          <p:cNvSpPr>
            <a:spLocks noChangeArrowheads="1"/>
          </p:cNvSpPr>
          <p:nvPr/>
        </p:nvSpPr>
        <p:spPr bwMode="auto">
          <a:xfrm>
            <a:off x="1512887" y="1589"/>
            <a:ext cx="9191626" cy="6524625"/>
          </a:xfrm>
          <a:prstGeom prst="rect">
            <a:avLst/>
          </a:prstGeom>
          <a:solidFill>
            <a:schemeClr val="bg1">
              <a:alpha val="39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spcBef>
                <a:spcPct val="20000"/>
              </a:spcBef>
              <a:buClr>
                <a:srgbClr val="D60093"/>
              </a:buClr>
              <a:buFont typeface="CommonBullets" charset="0"/>
              <a:buChar char=","/>
            </a:pPr>
            <a:endParaRPr lang="fr-FR" altLang="en-US">
              <a:solidFill>
                <a:srgbClr val="000099"/>
              </a:solidFill>
            </a:endParaRPr>
          </a:p>
        </p:txBody>
      </p:sp>
      <p:pic>
        <p:nvPicPr>
          <p:cNvPr id="45059" name="Picture 2" descr="Torrey Cany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w="6350">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Rectangle 4">
            <a:extLst/>
          </p:cNvPr>
          <p:cNvSpPr>
            <a:spLocks noChangeArrowheads="1"/>
          </p:cNvSpPr>
          <p:nvPr/>
        </p:nvSpPr>
        <p:spPr bwMode="auto">
          <a:xfrm rot="16200000">
            <a:off x="-3245616" y="3245617"/>
            <a:ext cx="6858000" cy="366767"/>
          </a:xfrm>
          <a:prstGeom prst="rect">
            <a:avLst/>
          </a:prstGeom>
          <a:gradFill rotWithShape="1">
            <a:gsLst>
              <a:gs pos="0">
                <a:schemeClr val="bg1">
                  <a:gamma/>
                  <a:shade val="46275"/>
                  <a:invGamma/>
                </a:schemeClr>
              </a:gs>
              <a:gs pos="50000">
                <a:schemeClr val="bg1"/>
              </a:gs>
              <a:gs pos="100000">
                <a:schemeClr val="bg1">
                  <a:gamma/>
                  <a:shade val="46275"/>
                  <a:invGamma/>
                </a:schemeClr>
              </a:gs>
            </a:gsLst>
            <a:lin ang="0" scaled="1"/>
          </a:gradFill>
          <a:ln w="12700">
            <a:noFill/>
            <a:miter lim="800000"/>
            <a:headEnd type="none" w="sm" len="sm"/>
            <a:tailEnd type="none" w="sm" len="sm"/>
          </a:ln>
          <a:effectLst/>
        </p:spPr>
        <p:txBody>
          <a:bodyPr lIns="90488" tIns="44450" rIns="90488" bIns="44450">
            <a:spAutoFit/>
          </a:bodyPr>
          <a:lstStyle/>
          <a:p>
            <a:pPr algn="ctr">
              <a:spcBef>
                <a:spcPct val="20000"/>
              </a:spcBef>
              <a:buClr>
                <a:srgbClr val="D60093"/>
              </a:buClr>
              <a:buFont typeface="CommonBullets" pitchFamily="34" charset="2"/>
              <a:buNone/>
              <a:defRPr/>
            </a:pPr>
            <a:r>
              <a:rPr lang="en-GB" b="1" dirty="0" err="1">
                <a:solidFill>
                  <a:schemeClr val="tx2"/>
                </a:solidFill>
                <a:latin typeface="Arial" charset="0"/>
                <a:ea typeface="ＭＳ Ｐゴシック" charset="0"/>
                <a:cs typeface="ＭＳ Ｐゴシック" charset="0"/>
              </a:rPr>
              <a:t>Torrey</a:t>
            </a:r>
            <a:r>
              <a:rPr lang="en-GB" b="1" dirty="0">
                <a:solidFill>
                  <a:schemeClr val="tx2"/>
                </a:solidFill>
                <a:latin typeface="Arial" charset="0"/>
                <a:ea typeface="ＭＳ Ｐゴシック" charset="0"/>
                <a:cs typeface="ＭＳ Ｐゴシック" charset="0"/>
              </a:rPr>
              <a:t> Canyon, March 1967</a:t>
            </a:r>
          </a:p>
        </p:txBody>
      </p:sp>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690062218"/>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6082" name="Rectangle 2"/>
          <p:cNvSpPr>
            <a:spLocks noGrp="1"/>
          </p:cNvSpPr>
          <p:nvPr>
            <p:ph type="title"/>
          </p:nvPr>
        </p:nvSpPr>
        <p:spPr>
          <a:xfrm>
            <a:off x="1268411" y="59459"/>
            <a:ext cx="9369552" cy="647700"/>
          </a:xfrm>
        </p:spPr>
        <p:txBody>
          <a:bodyPr>
            <a:normAutofit fontScale="90000"/>
          </a:bodyPr>
          <a:lstStyle/>
          <a:p>
            <a:pPr algn="ctr" eaLnBrk="1" hangingPunct="1"/>
            <a:r>
              <a:rPr lang="en-GB" altLang="en-US" b="1" dirty="0" smtClean="0">
                <a:cs typeface="Arial" panose="020B0604020202020204" pitchFamily="34" charset="0"/>
              </a:rPr>
              <a:t>Civil Liability and Fund Conventions</a:t>
            </a:r>
          </a:p>
        </p:txBody>
      </p:sp>
      <p:sp>
        <p:nvSpPr>
          <p:cNvPr id="46083" name="Rectangle 3"/>
          <p:cNvSpPr>
            <a:spLocks noGrp="1"/>
          </p:cNvSpPr>
          <p:nvPr>
            <p:ph idx="1"/>
          </p:nvPr>
        </p:nvSpPr>
        <p:spPr>
          <a:xfrm>
            <a:off x="650112" y="1527875"/>
            <a:ext cx="10606151" cy="5616575"/>
          </a:xfrm>
        </p:spPr>
        <p:txBody>
          <a:bodyPr/>
          <a:lstStyle/>
          <a:p>
            <a:pPr eaLnBrk="1" hangingPunct="1"/>
            <a:r>
              <a:rPr lang="en-GB" altLang="en-US" dirty="0" err="1" smtClean="0"/>
              <a:t>Torry</a:t>
            </a:r>
            <a:r>
              <a:rPr lang="en-GB" altLang="en-US" dirty="0" smtClean="0"/>
              <a:t> Canyon incident in international waters affecting multiple states </a:t>
            </a:r>
          </a:p>
          <a:p>
            <a:pPr eaLnBrk="1" hangingPunct="1"/>
            <a:r>
              <a:rPr lang="en-GB" altLang="en-US" dirty="0" err="1" smtClean="0"/>
              <a:t>Shipowner</a:t>
            </a:r>
            <a:r>
              <a:rPr lang="en-GB" altLang="en-US" dirty="0" smtClean="0"/>
              <a:t> and operator not based in affected states and compensation difficult to obtain.</a:t>
            </a:r>
          </a:p>
          <a:p>
            <a:pPr eaLnBrk="1" hangingPunct="1"/>
            <a:r>
              <a:rPr lang="en-GB" altLang="en-US" dirty="0" smtClean="0"/>
              <a:t>Limited compensation recovered but only through prolonged legal process and arrest of other assets.</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54098471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7106" name="Rectangle 2"/>
          <p:cNvSpPr>
            <a:spLocks noGrp="1"/>
          </p:cNvSpPr>
          <p:nvPr>
            <p:ph type="title"/>
          </p:nvPr>
        </p:nvSpPr>
        <p:spPr>
          <a:xfrm>
            <a:off x="1060704" y="70041"/>
            <a:ext cx="9793224" cy="647700"/>
          </a:xfrm>
        </p:spPr>
        <p:txBody>
          <a:bodyPr>
            <a:normAutofit fontScale="90000"/>
          </a:bodyPr>
          <a:lstStyle/>
          <a:p>
            <a:pPr algn="ctr" eaLnBrk="1" hangingPunct="1"/>
            <a:r>
              <a:rPr lang="en-GB" altLang="en-US" b="1" dirty="0" smtClean="0">
                <a:cs typeface="Arial" panose="020B0604020202020204" pitchFamily="34" charset="0"/>
              </a:rPr>
              <a:t>Civil Liability and Fund Conventions</a:t>
            </a:r>
          </a:p>
        </p:txBody>
      </p:sp>
      <p:sp>
        <p:nvSpPr>
          <p:cNvPr id="47107" name="Rectangle 3"/>
          <p:cNvSpPr>
            <a:spLocks noGrp="1"/>
          </p:cNvSpPr>
          <p:nvPr>
            <p:ph idx="1"/>
          </p:nvPr>
        </p:nvSpPr>
        <p:spPr>
          <a:xfrm>
            <a:off x="650112" y="1471872"/>
            <a:ext cx="10423271" cy="2065589"/>
          </a:xfrm>
        </p:spPr>
        <p:txBody>
          <a:bodyPr/>
          <a:lstStyle/>
          <a:p>
            <a:pPr algn="just" eaLnBrk="1" hangingPunct="1"/>
            <a:r>
              <a:rPr lang="en-GB" altLang="en-US" dirty="0" smtClean="0"/>
              <a:t>Political motivation to develop a system applicable to all persistent oil spills which will ensure equal treatment of all victims regardless of nationality or status and through simply legal process.</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49557737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8130" name="Titre 2"/>
          <p:cNvSpPr>
            <a:spLocks noGrp="1"/>
          </p:cNvSpPr>
          <p:nvPr>
            <p:ph type="title"/>
          </p:nvPr>
        </p:nvSpPr>
        <p:spPr>
          <a:xfrm>
            <a:off x="1981200" y="130176"/>
            <a:ext cx="8229600" cy="561975"/>
          </a:xfrm>
        </p:spPr>
        <p:txBody>
          <a:bodyPr>
            <a:normAutofit fontScale="90000"/>
          </a:bodyPr>
          <a:lstStyle/>
          <a:p>
            <a:pPr algn="ctr"/>
            <a:r>
              <a:rPr lang="en-GB" altLang="en-US" b="1" dirty="0" smtClean="0"/>
              <a:t>The Three </a:t>
            </a:r>
            <a:r>
              <a:rPr lang="en-GB" altLang="en-US" b="1" dirty="0"/>
              <a:t>T</a:t>
            </a:r>
            <a:r>
              <a:rPr lang="en-GB" altLang="en-US" b="1" dirty="0" smtClean="0"/>
              <a:t>ier System</a:t>
            </a:r>
          </a:p>
        </p:txBody>
      </p:sp>
      <p:pic>
        <p:nvPicPr>
          <p:cNvPr id="48131" name="Picture 3" descr="Compensation Graph blue arr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767" y="896794"/>
            <a:ext cx="10293793" cy="5388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1163200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49154" name="Rectangle 2"/>
          <p:cNvSpPr>
            <a:spLocks noGrp="1"/>
          </p:cNvSpPr>
          <p:nvPr>
            <p:ph type="title"/>
          </p:nvPr>
        </p:nvSpPr>
        <p:spPr>
          <a:xfrm>
            <a:off x="1981200" y="130176"/>
            <a:ext cx="8229600" cy="561975"/>
          </a:xfrm>
        </p:spPr>
        <p:txBody>
          <a:bodyPr>
            <a:normAutofit fontScale="90000"/>
          </a:bodyPr>
          <a:lstStyle/>
          <a:p>
            <a:pPr algn="ctr" eaLnBrk="1" hangingPunct="1"/>
            <a:r>
              <a:rPr lang="en-GB" altLang="en-US" b="1" dirty="0" smtClean="0">
                <a:cs typeface="Arial" panose="020B0604020202020204" pitchFamily="34" charset="0"/>
              </a:rPr>
              <a:t>CLC and Fund 1992</a:t>
            </a:r>
          </a:p>
        </p:txBody>
      </p:sp>
      <p:sp>
        <p:nvSpPr>
          <p:cNvPr id="49155" name="Rectangle 3"/>
          <p:cNvSpPr>
            <a:spLocks noGrp="1"/>
          </p:cNvSpPr>
          <p:nvPr>
            <p:ph idx="1"/>
          </p:nvPr>
        </p:nvSpPr>
        <p:spPr>
          <a:xfrm>
            <a:off x="1368552" y="1057529"/>
            <a:ext cx="10515600" cy="4351338"/>
          </a:xfrm>
        </p:spPr>
        <p:txBody>
          <a:bodyPr/>
          <a:lstStyle/>
          <a:p>
            <a:pPr eaLnBrk="1" hangingPunct="1">
              <a:lnSpc>
                <a:spcPct val="90000"/>
              </a:lnSpc>
              <a:spcBef>
                <a:spcPct val="55000"/>
              </a:spcBef>
              <a:buClr>
                <a:schemeClr val="tx1"/>
              </a:buClr>
            </a:pPr>
            <a:r>
              <a:rPr lang="en-GB" altLang="en-US" dirty="0" smtClean="0"/>
              <a:t>Pollution damage</a:t>
            </a:r>
          </a:p>
          <a:p>
            <a:pPr eaLnBrk="1" hangingPunct="1">
              <a:lnSpc>
                <a:spcPct val="90000"/>
              </a:lnSpc>
              <a:spcBef>
                <a:spcPct val="55000"/>
              </a:spcBef>
              <a:buClr>
                <a:schemeClr val="tx1"/>
              </a:buClr>
            </a:pPr>
            <a:r>
              <a:rPr lang="en-GB" altLang="en-US" dirty="0" smtClean="0"/>
              <a:t>Spills of persistent oil from tankers</a:t>
            </a:r>
          </a:p>
          <a:p>
            <a:pPr eaLnBrk="1" hangingPunct="1">
              <a:lnSpc>
                <a:spcPct val="90000"/>
              </a:lnSpc>
              <a:spcBef>
                <a:spcPct val="55000"/>
              </a:spcBef>
              <a:buClr>
                <a:schemeClr val="tx1"/>
              </a:buClr>
            </a:pPr>
            <a:r>
              <a:rPr lang="en-GB" altLang="en-US" dirty="0" smtClean="0"/>
              <a:t>Territory, territorial waters and EEZ or equivalent</a:t>
            </a:r>
          </a:p>
          <a:p>
            <a:pPr eaLnBrk="1" hangingPunct="1">
              <a:lnSpc>
                <a:spcPct val="90000"/>
              </a:lnSpc>
              <a:spcBef>
                <a:spcPct val="55000"/>
              </a:spcBef>
              <a:buClr>
                <a:schemeClr val="tx1"/>
              </a:buClr>
            </a:pPr>
            <a:r>
              <a:rPr lang="en-GB" altLang="en-US" dirty="0" smtClean="0"/>
              <a:t>Preventive measures</a:t>
            </a:r>
          </a:p>
          <a:p>
            <a:pPr eaLnBrk="1" hangingPunct="1">
              <a:lnSpc>
                <a:spcPct val="90000"/>
              </a:lnSpc>
              <a:spcBef>
                <a:spcPct val="55000"/>
              </a:spcBef>
              <a:buClr>
                <a:schemeClr val="tx1"/>
              </a:buClr>
            </a:pPr>
            <a:r>
              <a:rPr lang="en-GB" altLang="en-US" dirty="0" smtClean="0"/>
              <a:t>Bunker spills from </a:t>
            </a:r>
            <a:r>
              <a:rPr lang="en-GB" altLang="en-US" dirty="0" err="1" smtClean="0"/>
              <a:t>unladen</a:t>
            </a:r>
            <a:r>
              <a:rPr lang="en-GB" altLang="en-US" dirty="0" smtClean="0"/>
              <a:t> tankers with residues of persistent cargo on board</a:t>
            </a:r>
          </a:p>
          <a:p>
            <a:pPr eaLnBrk="1" hangingPunct="1">
              <a:lnSpc>
                <a:spcPct val="90000"/>
              </a:lnSpc>
              <a:spcBef>
                <a:spcPct val="55000"/>
              </a:spcBef>
              <a:buClr>
                <a:schemeClr val="tx1"/>
              </a:buClr>
            </a:pPr>
            <a:r>
              <a:rPr lang="en-GB" altLang="en-US" dirty="0" smtClean="0"/>
              <a:t>“Mystery spills” from a tanker</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010441664"/>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964611" name="Rectangle 3">
            <a:extLst/>
          </p:cNvPr>
          <p:cNvSpPr>
            <a:spLocks noChangeArrowheads="1"/>
          </p:cNvSpPr>
          <p:nvPr/>
        </p:nvSpPr>
        <p:spPr bwMode="auto">
          <a:xfrm>
            <a:off x="2063750" y="1143001"/>
            <a:ext cx="8604250" cy="4784725"/>
          </a:xfrm>
          <a:prstGeom prst="rect">
            <a:avLst/>
          </a:prstGeom>
          <a:noFill/>
          <a:ln w="12700">
            <a:noFill/>
            <a:miter lim="800000"/>
            <a:headEnd/>
            <a:tailEnd/>
          </a:ln>
          <a:effectLst/>
        </p:spPr>
        <p:txBody>
          <a:bodyPr lIns="90488" tIns="44450" rIns="90488" bIns="44450"/>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eaLnBrk="1" hangingPunct="1">
              <a:spcAft>
                <a:spcPct val="30000"/>
              </a:spcAft>
              <a:buClr>
                <a:schemeClr val="accent2"/>
              </a:buClr>
              <a:buFont typeface="Wingdings" panose="05000000000000000000" pitchFamily="2" charset="2"/>
              <a:buChar char="S"/>
              <a:defRPr/>
            </a:pPr>
            <a:endParaRPr lang="en-US" altLang="en-US">
              <a:solidFill>
                <a:srgbClr val="FFFF00"/>
              </a:solidFill>
              <a:effectLst>
                <a:outerShdw blurRad="38100" dist="38100" dir="2700000" algn="tl">
                  <a:srgbClr val="C0C0C0"/>
                </a:outerShdw>
              </a:effectLst>
              <a:latin typeface="Arial" panose="020B0604020202020204" pitchFamily="34" charset="0"/>
            </a:endParaRPr>
          </a:p>
          <a:p>
            <a:pPr eaLnBrk="1" hangingPunct="1">
              <a:spcAft>
                <a:spcPct val="30000"/>
              </a:spcAft>
              <a:buClr>
                <a:schemeClr val="accent2"/>
              </a:buClr>
              <a:buFont typeface="Wingdings" panose="05000000000000000000" pitchFamily="2" charset="2"/>
              <a:buChar char="S"/>
              <a:defRPr/>
            </a:pPr>
            <a:endParaRPr lang="en-US" altLang="en-US">
              <a:solidFill>
                <a:srgbClr val="FFFF00"/>
              </a:solidFill>
              <a:effectLst>
                <a:outerShdw blurRad="38100" dist="38100" dir="2700000" algn="tl">
                  <a:srgbClr val="C0C0C0"/>
                </a:outerShdw>
              </a:effectLst>
            </a:endParaRPr>
          </a:p>
        </p:txBody>
      </p:sp>
      <p:sp>
        <p:nvSpPr>
          <p:cNvPr id="50179" name="Titre 1"/>
          <p:cNvSpPr>
            <a:spLocks noGrp="1"/>
          </p:cNvSpPr>
          <p:nvPr>
            <p:ph type="title"/>
          </p:nvPr>
        </p:nvSpPr>
        <p:spPr>
          <a:xfrm>
            <a:off x="1981200" y="130176"/>
            <a:ext cx="8229600" cy="561975"/>
          </a:xfrm>
        </p:spPr>
        <p:txBody>
          <a:bodyPr>
            <a:normAutofit fontScale="90000"/>
          </a:bodyPr>
          <a:lstStyle/>
          <a:p>
            <a:pPr algn="ctr"/>
            <a:r>
              <a:rPr lang="fr-FR" altLang="en-US" b="1" dirty="0" smtClean="0"/>
              <a:t>CLC 1992 – 1st </a:t>
            </a:r>
            <a:r>
              <a:rPr lang="fr-FR" altLang="en-US" b="1" dirty="0" err="1"/>
              <a:t>T</a:t>
            </a:r>
            <a:r>
              <a:rPr lang="fr-FR" altLang="en-US" b="1" dirty="0" err="1" smtClean="0"/>
              <a:t>ier</a:t>
            </a:r>
            <a:endParaRPr lang="fr-FR" altLang="en-US" b="1" dirty="0" smtClean="0"/>
          </a:p>
        </p:txBody>
      </p:sp>
      <p:sp>
        <p:nvSpPr>
          <p:cNvPr id="12295" name="Rectangle 7">
            <a:extLst/>
          </p:cNvPr>
          <p:cNvSpPr>
            <a:spLocks noGrp="1" noChangeArrowheads="1"/>
          </p:cNvSpPr>
          <p:nvPr>
            <p:ph idx="1"/>
          </p:nvPr>
        </p:nvSpPr>
        <p:spPr>
          <a:xfrm>
            <a:off x="1057910" y="963402"/>
            <a:ext cx="9796018" cy="5218113"/>
          </a:xfrm>
        </p:spPr>
        <p:txBody>
          <a:bodyPr/>
          <a:lstStyle/>
          <a:p>
            <a:pPr algn="just">
              <a:lnSpc>
                <a:spcPct val="80000"/>
              </a:lnSpc>
              <a:defRPr/>
            </a:pPr>
            <a:r>
              <a:rPr lang="en-US" altLang="en-US" dirty="0"/>
              <a:t>Strict Liability of registered </a:t>
            </a:r>
            <a:r>
              <a:rPr lang="en-US" altLang="en-US" dirty="0" err="1"/>
              <a:t>shipowner</a:t>
            </a:r>
            <a:endParaRPr lang="en-US" altLang="en-US" dirty="0"/>
          </a:p>
          <a:p>
            <a:pPr algn="just">
              <a:lnSpc>
                <a:spcPct val="80000"/>
              </a:lnSpc>
              <a:defRPr/>
            </a:pPr>
            <a:endParaRPr lang="en-US" altLang="en-US" dirty="0"/>
          </a:p>
          <a:p>
            <a:pPr algn="just">
              <a:lnSpc>
                <a:spcPct val="80000"/>
              </a:lnSpc>
              <a:defRPr/>
            </a:pPr>
            <a:r>
              <a:rPr lang="en-US" altLang="en-US" dirty="0"/>
              <a:t>Limitation of Liability (based on the gross tonnage)</a:t>
            </a:r>
          </a:p>
          <a:p>
            <a:pPr algn="just">
              <a:lnSpc>
                <a:spcPct val="80000"/>
              </a:lnSpc>
              <a:defRPr/>
            </a:pPr>
            <a:endParaRPr lang="en-US" altLang="en-US" dirty="0"/>
          </a:p>
          <a:p>
            <a:pPr algn="just">
              <a:lnSpc>
                <a:spcPct val="80000"/>
              </a:lnSpc>
              <a:defRPr/>
            </a:pPr>
            <a:r>
              <a:rPr lang="en-US" altLang="en-US" dirty="0" err="1"/>
              <a:t>Shipowners</a:t>
            </a:r>
            <a:r>
              <a:rPr lang="en-US" altLang="en-US" dirty="0"/>
              <a:t> may lose right of limitation </a:t>
            </a:r>
          </a:p>
          <a:p>
            <a:pPr algn="just">
              <a:lnSpc>
                <a:spcPct val="80000"/>
              </a:lnSpc>
              <a:defRPr/>
            </a:pPr>
            <a:endParaRPr lang="en-US" altLang="en-US" dirty="0"/>
          </a:p>
          <a:p>
            <a:pPr algn="just">
              <a:lnSpc>
                <a:spcPct val="80000"/>
              </a:lnSpc>
              <a:defRPr/>
            </a:pPr>
            <a:r>
              <a:rPr lang="en-US" altLang="en-US" dirty="0" err="1"/>
              <a:t>Shipowners</a:t>
            </a:r>
            <a:r>
              <a:rPr lang="en-US" altLang="en-US" dirty="0"/>
              <a:t> required to have compulsory third party insurance and certificate</a:t>
            </a:r>
          </a:p>
          <a:p>
            <a:pPr algn="just">
              <a:lnSpc>
                <a:spcPct val="80000"/>
              </a:lnSpc>
              <a:defRPr/>
            </a:pPr>
            <a:endParaRPr lang="en-US" altLang="en-US" dirty="0"/>
          </a:p>
          <a:p>
            <a:pPr algn="just">
              <a:lnSpc>
                <a:spcPct val="80000"/>
              </a:lnSpc>
              <a:defRPr/>
            </a:pPr>
            <a:r>
              <a:rPr lang="en-US" altLang="en-US" dirty="0"/>
              <a:t>Direct action against insurer of the ship</a:t>
            </a:r>
          </a:p>
          <a:p>
            <a:pPr algn="just">
              <a:lnSpc>
                <a:spcPct val="80000"/>
              </a:lnSpc>
              <a:defRPr/>
            </a:pPr>
            <a:endParaRPr lang="en-US" altLang="en-US" sz="2400" dirty="0">
              <a:solidFill>
                <a:srgbClr val="FFFF00"/>
              </a:solidFill>
              <a:effectLst>
                <a:outerShdw blurRad="38100" dist="38100" dir="2700000" algn="tl">
                  <a:srgbClr val="C0C0C0"/>
                </a:outerShdw>
              </a:effectLst>
            </a:endParaRPr>
          </a:p>
        </p:txBody>
      </p:sp>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656717917"/>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1202" name="Rectangle 2"/>
          <p:cNvSpPr>
            <a:spLocks noGrp="1"/>
          </p:cNvSpPr>
          <p:nvPr>
            <p:ph type="title"/>
          </p:nvPr>
        </p:nvSpPr>
        <p:spPr>
          <a:xfrm>
            <a:off x="475488" y="-12127"/>
            <a:ext cx="11018520" cy="778745"/>
          </a:xfrm>
        </p:spPr>
        <p:txBody>
          <a:bodyPr>
            <a:normAutofit/>
          </a:bodyPr>
          <a:lstStyle/>
          <a:p>
            <a:pPr algn="ctr" eaLnBrk="1" hangingPunct="1"/>
            <a:r>
              <a:rPr lang="en-US" altLang="en-US" b="1" dirty="0" smtClean="0">
                <a:cs typeface="Arial" panose="020B0604020202020204" pitchFamily="34" charset="0"/>
              </a:rPr>
              <a:t>Pollution Damage </a:t>
            </a:r>
            <a:endParaRPr lang="en-US" altLang="en-US" sz="3200" b="1" i="1" dirty="0">
              <a:latin typeface="Arial" panose="020B0604020202020204" pitchFamily="34" charset="0"/>
              <a:cs typeface="Arial" panose="020B0604020202020204" pitchFamily="34" charset="0"/>
            </a:endParaRPr>
          </a:p>
        </p:txBody>
      </p:sp>
      <p:sp>
        <p:nvSpPr>
          <p:cNvPr id="51203" name="Rectangle 3"/>
          <p:cNvSpPr>
            <a:spLocks noGrp="1"/>
          </p:cNvSpPr>
          <p:nvPr>
            <p:ph idx="1"/>
          </p:nvPr>
        </p:nvSpPr>
        <p:spPr>
          <a:xfrm>
            <a:off x="741427" y="1196976"/>
            <a:ext cx="10304525" cy="4395787"/>
          </a:xfrm>
        </p:spPr>
        <p:txBody>
          <a:bodyPr>
            <a:normAutofit/>
          </a:bodyPr>
          <a:lstStyle/>
          <a:p>
            <a:pPr marL="514350" indent="-514350" algn="just">
              <a:spcBef>
                <a:spcPct val="0"/>
              </a:spcBef>
              <a:buFont typeface="Calibri" panose="020F0502020204030204" pitchFamily="34" charset="0"/>
              <a:buAutoNum type="alphaLcPeriod"/>
            </a:pPr>
            <a:r>
              <a:rPr lang="en-US" altLang="en-US" dirty="0"/>
              <a:t>Loss or damage caused outside the ship by contamination resulting from the escape or discharge of oil from the ship, wherever such escape or discharge may occur, provided that compensation for impairment of the environment other than loss of profit from such impairment shall be limited to costs of reasonable measures of reinstatement actually undertaken or to be undertaken;</a:t>
            </a:r>
          </a:p>
          <a:p>
            <a:pPr marL="514350" indent="-514350" algn="just">
              <a:spcBef>
                <a:spcPct val="0"/>
              </a:spcBef>
              <a:buFont typeface="Calibri" panose="020F0502020204030204" pitchFamily="34" charset="0"/>
              <a:buAutoNum type="alphaLcPeriod"/>
            </a:pPr>
            <a:endParaRPr lang="en-US" altLang="en-US" dirty="0"/>
          </a:p>
          <a:p>
            <a:pPr marL="514350" indent="-514350" algn="just">
              <a:spcBef>
                <a:spcPct val="0"/>
              </a:spcBef>
              <a:buFont typeface="Calibri" panose="020F0502020204030204" pitchFamily="34" charset="0"/>
              <a:buAutoNum type="alphaLcPeriod"/>
            </a:pPr>
            <a:r>
              <a:rPr lang="en-US" altLang="en-US" dirty="0"/>
              <a:t>The costs of preventive measures and further loss or  damage caused by preventive measures.</a:t>
            </a:r>
          </a:p>
          <a:p>
            <a:pPr marL="514350" indent="-514350" algn="just">
              <a:buFont typeface="Calibri" panose="020F0502020204030204" pitchFamily="34" charset="0"/>
              <a:buAutoNum type="alphaLcPeriod"/>
            </a:pPr>
            <a:endParaRPr lang="en-US" altLang="en-US" sz="2400" dirty="0">
              <a:latin typeface="Arial" panose="020B0604020202020204" pitchFamily="34" charset="0"/>
            </a:endParaRPr>
          </a:p>
          <a:p>
            <a:pPr marL="514350" indent="-514350" algn="just">
              <a:buNone/>
            </a:pPr>
            <a:endParaRPr lang="en-US" altLang="en-US" sz="1400" dirty="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561564444"/>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Rectangle 7"/>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78850" name="Rectangle 2">
            <a:extLst/>
          </p:cNvPr>
          <p:cNvSpPr>
            <a:spLocks noGrp="1" noChangeArrowheads="1"/>
          </p:cNvSpPr>
          <p:nvPr>
            <p:ph type="title"/>
          </p:nvPr>
        </p:nvSpPr>
        <p:spPr>
          <a:xfrm>
            <a:off x="739775" y="49235"/>
            <a:ext cx="10515600" cy="668147"/>
          </a:xfrm>
        </p:spPr>
        <p:txBody>
          <a:bodyPr>
            <a:normAutofit fontScale="90000"/>
          </a:bodyPr>
          <a:lstStyle/>
          <a:p>
            <a:pPr algn="ctr" eaLnBrk="1" hangingPunct="1">
              <a:defRPr/>
            </a:pPr>
            <a:r>
              <a:rPr lang="en-US" b="1" dirty="0">
                <a:latin typeface="+mn-lt"/>
                <a:ea typeface="ＭＳ Ｐゴシック" charset="0"/>
              </a:rPr>
              <a:t>CLC 1992</a:t>
            </a:r>
          </a:p>
        </p:txBody>
      </p:sp>
      <p:sp>
        <p:nvSpPr>
          <p:cNvPr id="52227" name="Rectangle 3"/>
          <p:cNvSpPr>
            <a:spLocks noGrp="1"/>
          </p:cNvSpPr>
          <p:nvPr>
            <p:ph sz="half" idx="2"/>
          </p:nvPr>
        </p:nvSpPr>
        <p:spPr>
          <a:xfrm>
            <a:off x="858076" y="2111883"/>
            <a:ext cx="5157787" cy="3684588"/>
          </a:xfrm>
        </p:spPr>
        <p:txBody>
          <a:bodyPr/>
          <a:lstStyle/>
          <a:p>
            <a:pPr marL="0" indent="0">
              <a:buNone/>
            </a:pPr>
            <a:r>
              <a:rPr lang="en-GB" altLang="en-US" sz="3200" dirty="0">
                <a:solidFill>
                  <a:srgbClr val="000000"/>
                </a:solidFill>
              </a:rPr>
              <a:t>Any occurrence or series of occurrences having the same origin, which causes pollution damage or creates a grave and imminent threat of causing such damage</a:t>
            </a:r>
            <a:endParaRPr lang="en-US" altLang="en-US" sz="3200" dirty="0">
              <a:solidFill>
                <a:srgbClr val="000000"/>
              </a:solidFill>
            </a:endParaRPr>
          </a:p>
        </p:txBody>
      </p:sp>
      <p:sp>
        <p:nvSpPr>
          <p:cNvPr id="52228" name="Espace réservé du texte 5"/>
          <p:cNvSpPr>
            <a:spLocks noGrp="1"/>
          </p:cNvSpPr>
          <p:nvPr>
            <p:ph type="body" sz="quarter" idx="3"/>
          </p:nvPr>
        </p:nvSpPr>
        <p:spPr>
          <a:xfrm>
            <a:off x="6190488" y="1287971"/>
            <a:ext cx="5183188" cy="823912"/>
          </a:xfrm>
        </p:spPr>
        <p:txBody>
          <a:bodyPr>
            <a:normAutofit fontScale="92500" lnSpcReduction="10000"/>
          </a:bodyPr>
          <a:lstStyle/>
          <a:p>
            <a:r>
              <a:rPr lang="fr-FR" altLang="en-US" sz="3200"/>
              <a:t>Preventive measures Art I.7</a:t>
            </a:r>
          </a:p>
        </p:txBody>
      </p:sp>
      <p:sp>
        <p:nvSpPr>
          <p:cNvPr id="52229" name="Espace réservé du contenu 6"/>
          <p:cNvSpPr>
            <a:spLocks noGrp="1"/>
          </p:cNvSpPr>
          <p:nvPr>
            <p:ph sz="quarter" idx="4"/>
          </p:nvPr>
        </p:nvSpPr>
        <p:spPr>
          <a:xfrm>
            <a:off x="6190488" y="2111883"/>
            <a:ext cx="5183188" cy="3684588"/>
          </a:xfrm>
        </p:spPr>
        <p:txBody>
          <a:bodyPr/>
          <a:lstStyle/>
          <a:p>
            <a:pPr marL="0" indent="0">
              <a:buNone/>
            </a:pPr>
            <a:r>
              <a:rPr lang="en-US" altLang="en-US" sz="3200">
                <a:cs typeface="Arial" panose="020B0604020202020204" pitchFamily="34" charset="0"/>
              </a:rPr>
              <a:t>Any reasonable measures taken by any person after an incident has occurred to prevent or minimize pollution damage</a:t>
            </a:r>
            <a:endParaRPr lang="fr-FR" altLang="en-US" sz="3200"/>
          </a:p>
        </p:txBody>
      </p:sp>
      <p:sp>
        <p:nvSpPr>
          <p:cNvPr id="52230" name="Espace réservé du texte 7"/>
          <p:cNvSpPr>
            <a:spLocks noGrp="1"/>
          </p:cNvSpPr>
          <p:nvPr>
            <p:ph type="body" idx="1"/>
          </p:nvPr>
        </p:nvSpPr>
        <p:spPr>
          <a:xfrm>
            <a:off x="858076" y="1287971"/>
            <a:ext cx="5157787" cy="823912"/>
          </a:xfrm>
        </p:spPr>
        <p:txBody>
          <a:bodyPr>
            <a:normAutofit fontScale="85000" lnSpcReduction="20000"/>
          </a:bodyPr>
          <a:lstStyle/>
          <a:p>
            <a:r>
              <a:rPr lang="fr-FR" altLang="en-US" sz="3200"/>
              <a:t>Incident</a:t>
            </a:r>
          </a:p>
          <a:p>
            <a:r>
              <a:rPr lang="fr-FR" altLang="en-US" sz="3200"/>
              <a:t>Art I.8</a:t>
            </a:r>
          </a:p>
        </p:txBody>
      </p:sp>
      <p:sp>
        <p:nvSpPr>
          <p:cNvPr id="7"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04179190"/>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3250" name="Rectangle 2"/>
          <p:cNvSpPr>
            <a:spLocks noGrp="1"/>
          </p:cNvSpPr>
          <p:nvPr>
            <p:ph type="title"/>
          </p:nvPr>
        </p:nvSpPr>
        <p:spPr>
          <a:xfrm>
            <a:off x="1981200" y="130176"/>
            <a:ext cx="8229600" cy="561975"/>
          </a:xfrm>
        </p:spPr>
        <p:txBody>
          <a:bodyPr>
            <a:normAutofit fontScale="90000"/>
          </a:bodyPr>
          <a:lstStyle/>
          <a:p>
            <a:pPr algn="ctr" eaLnBrk="1" hangingPunct="1"/>
            <a:r>
              <a:rPr lang="en-GB" altLang="en-US" b="1" dirty="0" smtClean="0">
                <a:cs typeface="Arial" panose="020B0604020202020204" pitchFamily="34" charset="0"/>
              </a:rPr>
              <a:t>Right to limit </a:t>
            </a:r>
            <a:r>
              <a:rPr lang="en-GB" altLang="en-US" b="1" dirty="0" smtClean="0">
                <a:cs typeface="Arial" panose="020B0604020202020204" pitchFamily="34" charset="0"/>
              </a:rPr>
              <a:t>Liability</a:t>
            </a:r>
            <a:endParaRPr lang="en-GB" altLang="en-US" b="1" dirty="0" smtClean="0">
              <a:cs typeface="Arial" panose="020B0604020202020204" pitchFamily="34" charset="0"/>
            </a:endParaRPr>
          </a:p>
        </p:txBody>
      </p:sp>
      <p:sp>
        <p:nvSpPr>
          <p:cNvPr id="53251" name="Rectangle 3"/>
          <p:cNvSpPr>
            <a:spLocks noGrp="1"/>
          </p:cNvSpPr>
          <p:nvPr>
            <p:ph idx="1"/>
          </p:nvPr>
        </p:nvSpPr>
        <p:spPr>
          <a:xfrm>
            <a:off x="1059624" y="1508063"/>
            <a:ext cx="10269791" cy="2808287"/>
          </a:xfrm>
        </p:spPr>
        <p:txBody>
          <a:bodyPr/>
          <a:lstStyle/>
          <a:p>
            <a:pPr marL="0" indent="0" algn="just">
              <a:buNone/>
            </a:pPr>
            <a:r>
              <a:rPr lang="en-GB" altLang="en-US" dirty="0" err="1" smtClean="0"/>
              <a:t>Shipowner</a:t>
            </a:r>
            <a:r>
              <a:rPr lang="en-GB" altLang="en-US" dirty="0" smtClean="0"/>
              <a:t> loses this right if it is proved that the damage resulted from the owner</a:t>
            </a:r>
            <a:r>
              <a:rPr lang="en-GB" altLang="fr-FR" dirty="0" smtClean="0"/>
              <a:t>’</a:t>
            </a:r>
            <a:r>
              <a:rPr lang="en-GB" altLang="en-US" dirty="0" smtClean="0"/>
              <a:t>s personal act or omission, committed with the intent to cause damage or recklessly with the knowledge that such damage would probably result.</a:t>
            </a:r>
          </a:p>
          <a:p>
            <a:pPr marL="0" indent="0" algn="just">
              <a:buNone/>
            </a:pPr>
            <a:endParaRPr lang="en-GB" altLang="en-US" dirty="0"/>
          </a:p>
          <a:p>
            <a:pPr marL="0" indent="0" algn="just">
              <a:buNone/>
            </a:pPr>
            <a:endParaRPr lang="en-GB" altLang="en-US" dirty="0"/>
          </a:p>
          <a:p>
            <a:pPr marL="0" indent="0" algn="just">
              <a:buNone/>
            </a:pPr>
            <a:endParaRPr lang="en-GB" altLang="en-US" dirty="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717065843"/>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5"/>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4274" name="Rectangle 2"/>
          <p:cNvSpPr>
            <a:spLocks noGrp="1"/>
          </p:cNvSpPr>
          <p:nvPr>
            <p:ph type="title"/>
          </p:nvPr>
        </p:nvSpPr>
        <p:spPr>
          <a:xfrm>
            <a:off x="1981200" y="130176"/>
            <a:ext cx="8229600" cy="561975"/>
          </a:xfrm>
        </p:spPr>
        <p:txBody>
          <a:bodyPr>
            <a:normAutofit fontScale="90000"/>
          </a:bodyPr>
          <a:lstStyle/>
          <a:p>
            <a:pPr algn="ctr" eaLnBrk="1" hangingPunct="1"/>
            <a:r>
              <a:rPr lang="en-GB" altLang="en-US" b="1" dirty="0" smtClean="0">
                <a:cs typeface="Arial" panose="020B0604020202020204" pitchFamily="34" charset="0"/>
              </a:rPr>
              <a:t>Right to limit </a:t>
            </a:r>
            <a:r>
              <a:rPr lang="en-GB" altLang="en-US" b="1" dirty="0" smtClean="0">
                <a:cs typeface="Arial" panose="020B0604020202020204" pitchFamily="34" charset="0"/>
              </a:rPr>
              <a:t>Liability</a:t>
            </a:r>
            <a:endParaRPr lang="en-GB" altLang="en-US" b="1" dirty="0" smtClean="0">
              <a:cs typeface="Arial" panose="020B0604020202020204" pitchFamily="34" charset="0"/>
            </a:endParaRPr>
          </a:p>
        </p:txBody>
      </p:sp>
      <p:sp>
        <p:nvSpPr>
          <p:cNvPr id="46083" name="Rectangle 3">
            <a:extLst/>
          </p:cNvPr>
          <p:cNvSpPr>
            <a:spLocks noGrp="1" noChangeArrowheads="1"/>
          </p:cNvSpPr>
          <p:nvPr>
            <p:ph idx="1"/>
          </p:nvPr>
        </p:nvSpPr>
        <p:spPr>
          <a:xfrm>
            <a:off x="832282" y="1209805"/>
            <a:ext cx="10515600" cy="4351338"/>
          </a:xfrm>
        </p:spPr>
        <p:txBody>
          <a:bodyPr/>
          <a:lstStyle/>
          <a:p>
            <a:pPr marL="0" indent="0" algn="just">
              <a:buNone/>
              <a:defRPr/>
            </a:pPr>
            <a:r>
              <a:rPr lang="en-GB" altLang="en-US" dirty="0">
                <a:cs typeface="Arial" panose="020B0604020202020204" pitchFamily="34" charset="0"/>
              </a:rPr>
              <a:t>Shipowner exempt if damages:</a:t>
            </a:r>
          </a:p>
          <a:p>
            <a:pPr algn="just">
              <a:spcBef>
                <a:spcPct val="55000"/>
              </a:spcBef>
              <a:buClr>
                <a:schemeClr val="tx1"/>
              </a:buClr>
              <a:defRPr/>
            </a:pPr>
            <a:r>
              <a:rPr lang="en-GB" altLang="en-US" dirty="0"/>
              <a:t>Resulted from act of war, hostilities, civil war, insurrection, or a grave natural disaster</a:t>
            </a:r>
          </a:p>
          <a:p>
            <a:pPr algn="just">
              <a:spcBef>
                <a:spcPct val="55000"/>
              </a:spcBef>
              <a:buClr>
                <a:schemeClr val="tx1"/>
              </a:buClr>
              <a:defRPr/>
            </a:pPr>
            <a:r>
              <a:rPr lang="en-GB" altLang="en-US" dirty="0"/>
              <a:t>Wholly caused by an act or omission done with intent to cause damage by a third party</a:t>
            </a:r>
          </a:p>
          <a:p>
            <a:pPr algn="just">
              <a:spcBef>
                <a:spcPct val="55000"/>
              </a:spcBef>
              <a:buClr>
                <a:schemeClr val="tx1"/>
              </a:buClr>
              <a:defRPr/>
            </a:pPr>
            <a:r>
              <a:rPr lang="en-GB" altLang="en-US" dirty="0"/>
              <a:t>Wholly caused by negligence or other wrongful act of public authorities in maintaining navigational aids</a:t>
            </a:r>
          </a:p>
          <a:p>
            <a:pPr marL="0" indent="0" algn="just">
              <a:buNone/>
              <a:defRPr/>
            </a:pPr>
            <a:endParaRPr lang="en-GB" altLang="en-US" dirty="0"/>
          </a:p>
          <a:p>
            <a:pPr marL="0" indent="0" algn="just">
              <a:buNone/>
              <a:defRPr/>
            </a:pPr>
            <a:endParaRPr lang="en-GB" altLang="en-US" dirty="0"/>
          </a:p>
        </p:txBody>
      </p:sp>
      <p:sp>
        <p:nvSpPr>
          <p:cNvPr id="54276" name="Rectangle 2"/>
          <p:cNvSpPr>
            <a:spLocks noChangeArrowheads="1"/>
          </p:cNvSpPr>
          <p:nvPr/>
        </p:nvSpPr>
        <p:spPr bwMode="auto">
          <a:xfrm>
            <a:off x="-2184400" y="3933825"/>
            <a:ext cx="88931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eaLnBrk="1" hangingPunct="1">
              <a:spcBef>
                <a:spcPct val="55000"/>
              </a:spcBef>
              <a:buClr>
                <a:schemeClr val="tx1"/>
              </a:buClr>
            </a:pPr>
            <a:endParaRPr lang="en-US" altLang="en-US" sz="2800">
              <a:latin typeface="Calibri" panose="020F0502020204030204" pitchFamily="34" charset="0"/>
            </a:endParaRPr>
          </a:p>
        </p:txBody>
      </p:sp>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961081973"/>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5"/>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5298" name="Rectangle 2"/>
          <p:cNvSpPr>
            <a:spLocks noGrp="1"/>
          </p:cNvSpPr>
          <p:nvPr>
            <p:ph type="title"/>
          </p:nvPr>
        </p:nvSpPr>
        <p:spPr>
          <a:xfrm>
            <a:off x="1975282" y="102321"/>
            <a:ext cx="8229600" cy="561975"/>
          </a:xfrm>
        </p:spPr>
        <p:txBody>
          <a:bodyPr>
            <a:normAutofit fontScale="90000"/>
          </a:bodyPr>
          <a:lstStyle/>
          <a:p>
            <a:pPr algn="ctr" eaLnBrk="1" hangingPunct="1"/>
            <a:r>
              <a:rPr lang="en-GB" altLang="en-US" b="1" dirty="0" smtClean="0">
                <a:cs typeface="Arial" panose="020B0604020202020204" pitchFamily="34" charset="0"/>
              </a:rPr>
              <a:t>CLC 1992 </a:t>
            </a:r>
            <a:endParaRPr lang="en-GB" altLang="en-US" sz="3200" b="1" dirty="0">
              <a:cs typeface="Arial" panose="020B0604020202020204" pitchFamily="34" charset="0"/>
            </a:endParaRPr>
          </a:p>
        </p:txBody>
      </p:sp>
      <p:graphicFrame>
        <p:nvGraphicFramePr>
          <p:cNvPr id="245763" name="Group 3">
            <a:extLst/>
          </p:cNvPr>
          <p:cNvGraphicFramePr>
            <a:graphicFrameLocks noGrp="1"/>
          </p:cNvGraphicFramePr>
          <p:nvPr>
            <p:ph idx="1"/>
          </p:nvPr>
        </p:nvGraphicFramePr>
        <p:xfrm>
          <a:off x="1919288" y="2349501"/>
          <a:ext cx="8229600" cy="2136775"/>
        </p:xfrm>
        <a:graphic>
          <a:graphicData uri="http://schemas.openxmlformats.org/drawingml/2006/table">
            <a:tbl>
              <a:tblPr/>
              <a:tblGrid>
                <a:gridCol w="5899150">
                  <a:extLst>
                    <a:ext uri="{9D8B030D-6E8A-4147-A177-3AD203B41FA5}">
                      <a16:colId xmlns:a16="http://schemas.microsoft.com/office/drawing/2014/main" val="20000"/>
                    </a:ext>
                  </a:extLst>
                </a:gridCol>
                <a:gridCol w="2330450">
                  <a:extLst>
                    <a:ext uri="{9D8B030D-6E8A-4147-A177-3AD203B41FA5}">
                      <a16:colId xmlns:a16="http://schemas.microsoft.com/office/drawing/2014/main" val="20001"/>
                    </a:ext>
                  </a:extLst>
                </a:gridCol>
              </a:tblGrid>
              <a:tr h="576262">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altLang="en-US" sz="2400" b="1"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G.R.T.</a:t>
                      </a:r>
                    </a:p>
                  </a:txBody>
                  <a:tcPr marL="92482" marR="92482"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altLang="en-US" sz="24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SDR</a:t>
                      </a:r>
                    </a:p>
                  </a:txBody>
                  <a:tcPr marL="92482" marR="92482"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extLst>
                  <a:ext uri="{0D108BD9-81ED-4DB2-BD59-A6C34878D82A}">
                    <a16:rowId xmlns:a16="http://schemas.microsoft.com/office/drawing/2014/main" val="10000"/>
                  </a:ext>
                </a:extLst>
              </a:tr>
              <a:tr h="576262">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altLang="en-US" sz="24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sym typeface="Symbol" panose="05050102010706020507" pitchFamily="18" charset="2"/>
                        </a:rPr>
                        <a:t> 5000</a:t>
                      </a:r>
                      <a:r>
                        <a:rPr kumimoji="0" lang="es-ES_tradnl" altLang="en-US" sz="1700" b="1"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sym typeface="Symbol" panose="05050102010706020507" pitchFamily="18" charset="2"/>
                        </a:rPr>
                        <a:t> </a:t>
                      </a:r>
                      <a:endParaRPr kumimoji="0" lang="es-ES_tradnl" altLang="en-US" sz="1700" b="1"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a:txBody>
                  <a:tcPr marL="92482" marR="92482"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altLang="en-US" sz="2400" b="0"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4 510 000</a:t>
                      </a:r>
                    </a:p>
                  </a:txBody>
                  <a:tcPr marL="92482" marR="92482"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1"/>
                  </a:ext>
                </a:extLst>
              </a:tr>
              <a:tr h="503238">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altLang="en-US" sz="24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Per </a:t>
                      </a:r>
                      <a:r>
                        <a:rPr kumimoji="0" lang="en-GB" altLang="en-US" sz="24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additional</a:t>
                      </a:r>
                      <a:r>
                        <a:rPr kumimoji="0" lang="es-ES_tradnl" altLang="en-US" sz="24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rPr>
                        <a:t> GT </a:t>
                      </a:r>
                      <a:r>
                        <a:rPr kumimoji="0" lang="es-ES_tradnl" altLang="en-US" sz="24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sym typeface="Symbol" panose="05050102010706020507" pitchFamily="18" charset="2"/>
                        </a:rPr>
                        <a:t>up to 140 000</a:t>
                      </a:r>
                      <a:r>
                        <a:rPr kumimoji="0" lang="es-ES_tradnl" altLang="en-US" sz="1700" b="1"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sym typeface="Symbol" panose="05050102010706020507" pitchFamily="18" charset="2"/>
                        </a:rPr>
                        <a:t> </a:t>
                      </a:r>
                      <a:endParaRPr kumimoji="0" lang="es-ES_tradnl" altLang="en-US" sz="1700" b="1"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a:txBody>
                  <a:tcPr marL="92482" marR="92482"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altLang="en-US" sz="2400" b="0" i="0" u="none" strike="noStrike" cap="none" normalizeH="0" baseline="0" dirty="0" smtClean="0">
                          <a:ln>
                            <a:noFill/>
                          </a:ln>
                          <a:solidFill>
                            <a:schemeClr val="tx1"/>
                          </a:solidFill>
                          <a:effectLst/>
                          <a:latin typeface="Arial" panose="020B0604020202020204" pitchFamily="34" charset="0"/>
                          <a:ea typeface="ＭＳ Ｐゴシック" panose="020B0600070205080204" pitchFamily="34" charset="-128"/>
                        </a:rPr>
                        <a:t>631/</a:t>
                      </a:r>
                      <a:r>
                        <a:rPr kumimoji="0" lang="es-ES_tradnl" altLang="en-US" sz="2400" b="0" i="0" u="none" strike="noStrike" cap="none" normalizeH="0" baseline="0" dirty="0" err="1" smtClean="0">
                          <a:ln>
                            <a:noFill/>
                          </a:ln>
                          <a:solidFill>
                            <a:schemeClr val="tx1"/>
                          </a:solidFill>
                          <a:effectLst/>
                          <a:latin typeface="Arial" panose="020B0604020202020204" pitchFamily="34" charset="0"/>
                          <a:ea typeface="ＭＳ Ｐゴシック" panose="020B0600070205080204" pitchFamily="34" charset="-128"/>
                        </a:rPr>
                        <a:t>tonne</a:t>
                      </a:r>
                      <a:r>
                        <a:rPr kumimoji="0" lang="es-ES_tradnl" altLang="en-US" sz="2400" b="0" i="0" u="none" strike="noStrike" cap="none" normalizeH="0" baseline="0" dirty="0" smtClean="0">
                          <a:ln>
                            <a:noFill/>
                          </a:ln>
                          <a:solidFill>
                            <a:schemeClr val="tx1"/>
                          </a:solidFill>
                          <a:effectLst/>
                          <a:latin typeface="Arial" panose="020B0604020202020204" pitchFamily="34" charset="0"/>
                          <a:ea typeface="ＭＳ Ｐゴシック" panose="020B0600070205080204" pitchFamily="34" charset="-128"/>
                        </a:rPr>
                        <a:t> </a:t>
                      </a:r>
                      <a:endParaRPr kumimoji="0" lang="es-ES_tradnl"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endParaRPr>
                    </a:p>
                  </a:txBody>
                  <a:tcPr marL="92482" marR="92482"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2"/>
                  </a:ext>
                </a:extLst>
              </a:tr>
              <a:tr h="481013">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altLang="en-US" sz="24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sym typeface="Symbol" panose="05050102010706020507" pitchFamily="18" charset="2"/>
                        </a:rPr>
                        <a:t>GT  140 000</a:t>
                      </a:r>
                      <a:endParaRPr kumimoji="0" lang="es-ES_tradnl" altLang="en-US" sz="2400" b="1" i="0" u="none" strike="noStrike" cap="none" normalizeH="0" baseline="0">
                        <a:ln>
                          <a:noFill/>
                        </a:ln>
                        <a:solidFill>
                          <a:schemeClr val="tx1"/>
                        </a:solidFill>
                        <a:effectLst/>
                        <a:latin typeface="Arial" panose="020B0604020202020204" pitchFamily="34" charset="0"/>
                        <a:ea typeface="ＭＳ Ｐゴシック" panose="020B0600070205080204" pitchFamily="34" charset="-128"/>
                      </a:endParaRPr>
                    </a:p>
                  </a:txBody>
                  <a:tcPr marL="92482" marR="92482" marT="45712" marB="4571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C000"/>
                    </a:solidFill>
                  </a:tcPr>
                </a:tc>
                <a:tc>
                  <a:txBody>
                    <a:bodyPr/>
                    <a:lstStyle>
                      <a:lvl1pPr>
                        <a:spcBef>
                          <a:spcPct val="20000"/>
                        </a:spcBef>
                        <a:buFont typeface="Arial" panose="020B0604020202020204" pitchFamily="34" charset="0"/>
                        <a:defRPr sz="28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defRPr sz="24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defRPr sz="20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defRPr>
                          <a:solidFill>
                            <a:schemeClr val="tx1"/>
                          </a:solidFill>
                          <a:latin typeface="Calibri" panose="020F050202020403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s-ES_tradnl" altLang="en-US" sz="2400" b="0" i="0" u="none" strike="noStrike" cap="none" normalizeH="0" baseline="0" dirty="0">
                          <a:ln>
                            <a:noFill/>
                          </a:ln>
                          <a:solidFill>
                            <a:schemeClr val="tx1"/>
                          </a:solidFill>
                          <a:effectLst/>
                          <a:latin typeface="Arial" panose="020B0604020202020204" pitchFamily="34" charset="0"/>
                          <a:ea typeface="ＭＳ Ｐゴシック" panose="020B0600070205080204" pitchFamily="34" charset="-128"/>
                        </a:rPr>
                        <a:t>89 770 000</a:t>
                      </a:r>
                    </a:p>
                  </a:txBody>
                  <a:tcPr marL="92482" marR="92482" marT="45712" marB="45712"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3"/>
                  </a:ext>
                </a:extLst>
              </a:tr>
            </a:tbl>
          </a:graphicData>
        </a:graphic>
      </p:graphicFrame>
      <p:sp>
        <p:nvSpPr>
          <p:cNvPr id="55316" name="Rectangle 1"/>
          <p:cNvSpPr>
            <a:spLocks noChangeArrowheads="1"/>
          </p:cNvSpPr>
          <p:nvPr/>
        </p:nvSpPr>
        <p:spPr bwMode="auto">
          <a:xfrm>
            <a:off x="1847851" y="1052514"/>
            <a:ext cx="532729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eaLnBrk="1" hangingPunct="1"/>
            <a:r>
              <a:rPr lang="en-GB" altLang="en-US" sz="3200" dirty="0">
                <a:latin typeface="+mj-lt"/>
                <a:cs typeface="Arial" panose="020B0604020202020204" pitchFamily="34" charset="0"/>
              </a:rPr>
              <a:t>Limit of </a:t>
            </a:r>
            <a:r>
              <a:rPr lang="en-GB" altLang="en-US" sz="3200" dirty="0" err="1">
                <a:latin typeface="+mj-lt"/>
                <a:cs typeface="Arial" panose="020B0604020202020204" pitchFamily="34" charset="0"/>
              </a:rPr>
              <a:t>Shipowner</a:t>
            </a:r>
            <a:r>
              <a:rPr lang="en-GB" altLang="fr-FR" sz="3200" dirty="0" err="1">
                <a:latin typeface="+mj-lt"/>
                <a:cs typeface="Arial" panose="020B0604020202020204" pitchFamily="34" charset="0"/>
              </a:rPr>
              <a:t>’</a:t>
            </a:r>
            <a:r>
              <a:rPr lang="en-GB" altLang="en-US" sz="3200" dirty="0" err="1">
                <a:latin typeface="+mj-lt"/>
                <a:cs typeface="Arial" panose="020B0604020202020204" pitchFamily="34" charset="0"/>
              </a:rPr>
              <a:t>s</a:t>
            </a:r>
            <a:r>
              <a:rPr lang="en-GB" altLang="en-US" sz="3200" dirty="0">
                <a:latin typeface="+mj-lt"/>
                <a:cs typeface="Arial" panose="020B0604020202020204" pitchFamily="34" charset="0"/>
              </a:rPr>
              <a:t> Liability</a:t>
            </a:r>
            <a:endParaRPr lang="fr-FR" altLang="en-US" sz="3200" dirty="0">
              <a:latin typeface="+mj-lt"/>
              <a:cs typeface="Arial" panose="020B0604020202020204" pitchFamily="34" charset="0"/>
            </a:endParaRPr>
          </a:p>
        </p:txBody>
      </p:sp>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852508393"/>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6322" name="Rectangle 2"/>
          <p:cNvSpPr>
            <a:spLocks noGrp="1"/>
          </p:cNvSpPr>
          <p:nvPr>
            <p:ph type="title"/>
          </p:nvPr>
        </p:nvSpPr>
        <p:spPr>
          <a:xfrm>
            <a:off x="2135188" y="115888"/>
            <a:ext cx="7772400" cy="908050"/>
          </a:xfrm>
        </p:spPr>
        <p:txBody>
          <a:bodyPr>
            <a:normAutofit fontScale="90000"/>
          </a:bodyPr>
          <a:lstStyle/>
          <a:p>
            <a:pPr algn="ctr" eaLnBrk="1" hangingPunct="1"/>
            <a:r>
              <a:rPr lang="en-GB" altLang="en-US" sz="4000" b="1" dirty="0">
                <a:latin typeface="Arial" panose="020B0604020202020204" pitchFamily="34" charset="0"/>
                <a:cs typeface="Arial" panose="020B0604020202020204" pitchFamily="34" charset="0"/>
              </a:rPr>
              <a:t>1992 Fund </a:t>
            </a:r>
            <a:r>
              <a:rPr lang="en-GB" altLang="en-US" sz="4000" b="1" dirty="0" smtClean="0">
                <a:latin typeface="Arial" panose="020B0604020202020204" pitchFamily="34" charset="0"/>
                <a:cs typeface="Arial" panose="020B0604020202020204" pitchFamily="34" charset="0"/>
              </a:rPr>
              <a:t>Convention</a:t>
            </a:r>
            <a:r>
              <a:rPr lang="en-GB" altLang="en-US" sz="2800" b="1" dirty="0">
                <a:latin typeface="Arial" panose="020B0604020202020204" pitchFamily="34" charset="0"/>
                <a:cs typeface="Arial" panose="020B0604020202020204" pitchFamily="34" charset="0"/>
              </a:rPr>
              <a:t/>
            </a:r>
            <a:br>
              <a:rPr lang="en-GB" altLang="en-US" sz="2800" b="1" dirty="0">
                <a:latin typeface="Arial" panose="020B0604020202020204" pitchFamily="34" charset="0"/>
                <a:cs typeface="Arial" panose="020B0604020202020204" pitchFamily="34" charset="0"/>
              </a:rPr>
            </a:br>
            <a:endParaRPr lang="en-GB" altLang="en-US" sz="2400" b="1" dirty="0">
              <a:latin typeface="Arial" panose="020B0604020202020204" pitchFamily="34" charset="0"/>
              <a:cs typeface="Arial" panose="020B0604020202020204" pitchFamily="34" charset="0"/>
            </a:endParaRPr>
          </a:p>
        </p:txBody>
      </p:sp>
      <p:sp>
        <p:nvSpPr>
          <p:cNvPr id="56323" name="Rectangle 3"/>
          <p:cNvSpPr>
            <a:spLocks noGrp="1"/>
          </p:cNvSpPr>
          <p:nvPr>
            <p:ph idx="1"/>
          </p:nvPr>
        </p:nvSpPr>
        <p:spPr>
          <a:xfrm>
            <a:off x="763048" y="1275313"/>
            <a:ext cx="10516679" cy="5688013"/>
          </a:xfrm>
        </p:spPr>
        <p:txBody>
          <a:bodyPr/>
          <a:lstStyle/>
          <a:p>
            <a:pPr algn="just" eaLnBrk="1" hangingPunct="1"/>
            <a:r>
              <a:rPr lang="en-GB" altLang="en-US" dirty="0" smtClean="0"/>
              <a:t>Provides compensation for pollution damage to the extent that the compensation available under the 1992 CLC is inadequate</a:t>
            </a:r>
          </a:p>
          <a:p>
            <a:pPr algn="just" eaLnBrk="1" hangingPunct="1"/>
            <a:r>
              <a:rPr lang="en-GB" altLang="en-US" dirty="0" smtClean="0"/>
              <a:t>Creates an intergovernmental organization: the IOPC Fund </a:t>
            </a:r>
          </a:p>
          <a:p>
            <a:pPr algn="just" eaLnBrk="1" hangingPunct="1">
              <a:buClr>
                <a:schemeClr val="tx1"/>
              </a:buClr>
            </a:pPr>
            <a:r>
              <a:rPr lang="en-GB" altLang="en-US" dirty="0" smtClean="0"/>
              <a:t>Maximum compensation 203 million SDR, including amounts payable under 1992 CLC</a:t>
            </a:r>
          </a:p>
          <a:p>
            <a:pPr algn="just">
              <a:buClr>
                <a:schemeClr val="tx1"/>
              </a:buClr>
            </a:pPr>
            <a:r>
              <a:rPr lang="en-GB" altLang="en-US" dirty="0" smtClean="0"/>
              <a:t>Contributions to Fund payable by oil receivers in member States.</a:t>
            </a:r>
          </a:p>
          <a:p>
            <a:pPr algn="just" eaLnBrk="1" hangingPunct="1">
              <a:buClr>
                <a:schemeClr val="tx1"/>
              </a:buClr>
            </a:pPr>
            <a:endParaRPr lang="en-GB" altLang="en-US" dirty="0">
              <a:latin typeface="Arial" panose="020B0604020202020204" pitchFamily="34" charset="0"/>
            </a:endParaRP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950174046"/>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7346" name="Rectangle 2"/>
          <p:cNvSpPr>
            <a:spLocks noGrp="1"/>
          </p:cNvSpPr>
          <p:nvPr>
            <p:ph type="title"/>
          </p:nvPr>
        </p:nvSpPr>
        <p:spPr>
          <a:xfrm>
            <a:off x="1992313" y="404814"/>
            <a:ext cx="8229600" cy="561975"/>
          </a:xfrm>
        </p:spPr>
        <p:txBody>
          <a:bodyPr>
            <a:normAutofit fontScale="90000"/>
          </a:bodyPr>
          <a:lstStyle/>
          <a:p>
            <a:pPr algn="ctr"/>
            <a:r>
              <a:rPr lang="en-GB" altLang="en-US" b="1" dirty="0" smtClean="0">
                <a:cs typeface="Arial" panose="020B0604020202020204" pitchFamily="34" charset="0"/>
              </a:rPr>
              <a:t>1992 Fund Convention</a:t>
            </a:r>
            <a:r>
              <a:rPr lang="fr-FR" altLang="en-US" b="1" dirty="0" smtClean="0"/>
              <a:t/>
            </a:r>
            <a:br>
              <a:rPr lang="fr-FR" altLang="en-US" b="1" dirty="0" smtClean="0"/>
            </a:br>
            <a:endParaRPr lang="fr-FR" altLang="en-US" b="1" dirty="0" smtClean="0"/>
          </a:p>
        </p:txBody>
      </p:sp>
      <p:sp>
        <p:nvSpPr>
          <p:cNvPr id="50179" name="Rectangle 3">
            <a:extLst/>
          </p:cNvPr>
          <p:cNvSpPr>
            <a:spLocks noGrp="1" noChangeArrowheads="1"/>
          </p:cNvSpPr>
          <p:nvPr>
            <p:ph idx="1"/>
          </p:nvPr>
        </p:nvSpPr>
        <p:spPr>
          <a:xfrm>
            <a:off x="1580832" y="1096032"/>
            <a:ext cx="9849167" cy="4625975"/>
          </a:xfrm>
        </p:spPr>
        <p:txBody>
          <a:bodyPr/>
          <a:lstStyle/>
          <a:p>
            <a:pPr marL="0" indent="0">
              <a:spcBef>
                <a:spcPct val="55000"/>
              </a:spcBef>
              <a:buClr>
                <a:schemeClr val="tx1"/>
              </a:buClr>
              <a:buNone/>
              <a:defRPr/>
            </a:pPr>
            <a:r>
              <a:rPr lang="en-GB" altLang="en-US" dirty="0"/>
              <a:t>Applies if </a:t>
            </a:r>
          </a:p>
          <a:p>
            <a:pPr lvl="1">
              <a:spcBef>
                <a:spcPts val="650"/>
              </a:spcBef>
              <a:buClr>
                <a:schemeClr val="tx1"/>
              </a:buClr>
              <a:defRPr/>
            </a:pPr>
            <a:r>
              <a:rPr lang="en-GB" altLang="en-US" dirty="0"/>
              <a:t>Damage occurs in a member state </a:t>
            </a:r>
          </a:p>
          <a:p>
            <a:pPr lvl="1">
              <a:spcBef>
                <a:spcPts val="650"/>
              </a:spcBef>
              <a:buClr>
                <a:schemeClr val="tx1"/>
              </a:buClr>
              <a:defRPr/>
            </a:pPr>
            <a:r>
              <a:rPr lang="en-GB" altLang="en-US" dirty="0"/>
              <a:t>Shipowner exempt under 1992 CLC</a:t>
            </a:r>
          </a:p>
          <a:p>
            <a:pPr lvl="1">
              <a:spcBef>
                <a:spcPts val="650"/>
              </a:spcBef>
              <a:buClr>
                <a:schemeClr val="tx1"/>
              </a:buClr>
              <a:defRPr/>
            </a:pPr>
            <a:r>
              <a:rPr lang="en-GB" altLang="en-US" dirty="0"/>
              <a:t>Shipowner financially incapable of meeting obligations</a:t>
            </a:r>
          </a:p>
          <a:p>
            <a:pPr lvl="1">
              <a:spcBef>
                <a:spcPts val="650"/>
              </a:spcBef>
              <a:buClr>
                <a:schemeClr val="tx1"/>
              </a:buClr>
              <a:defRPr/>
            </a:pPr>
            <a:r>
              <a:rPr lang="en-GB" altLang="en-US" dirty="0"/>
              <a:t>Damage exceeds the shipowner</a:t>
            </a:r>
            <a:r>
              <a:rPr lang="en-GB" altLang="fr-FR" dirty="0"/>
              <a:t>’</a:t>
            </a:r>
            <a:r>
              <a:rPr lang="en-GB" altLang="en-US" dirty="0"/>
              <a:t>s liability</a:t>
            </a:r>
          </a:p>
          <a:p>
            <a:pPr eaLnBrk="1" hangingPunct="1">
              <a:spcBef>
                <a:spcPct val="55000"/>
              </a:spcBef>
              <a:buClr>
                <a:schemeClr val="tx1"/>
              </a:buClr>
              <a:buFontTx/>
              <a:buNone/>
              <a:defRPr/>
            </a:pPr>
            <a:r>
              <a:rPr lang="en-GB" altLang="en-US" dirty="0"/>
              <a:t>Does not apply if</a:t>
            </a:r>
          </a:p>
          <a:p>
            <a:pPr lvl="1">
              <a:spcBef>
                <a:spcPts val="650"/>
              </a:spcBef>
              <a:buClr>
                <a:schemeClr val="tx1"/>
              </a:buClr>
              <a:defRPr/>
            </a:pPr>
            <a:r>
              <a:rPr lang="en-US" altLang="en-US" dirty="0"/>
              <a:t>Damage caused by an act of war or spill from warship</a:t>
            </a:r>
            <a:r>
              <a:rPr lang="en-GB" altLang="en-US" dirty="0"/>
              <a:t> </a:t>
            </a:r>
          </a:p>
          <a:p>
            <a:pPr lvl="1">
              <a:spcBef>
                <a:spcPts val="650"/>
              </a:spcBef>
              <a:buClr>
                <a:schemeClr val="tx1"/>
              </a:buClr>
              <a:defRPr/>
            </a:pPr>
            <a:r>
              <a:rPr lang="en-US" altLang="en-US" dirty="0"/>
              <a:t>Claimant cannot prove oil originated from a “ship” as defined in the Conventions (“mystery spills”)</a:t>
            </a:r>
            <a:endParaRPr lang="en-GB" altLang="en-US" dirty="0"/>
          </a:p>
        </p:txBody>
      </p:sp>
      <p:sp>
        <p:nvSpPr>
          <p:cNvPr id="57348" name="Rectangle 1"/>
          <p:cNvSpPr>
            <a:spLocks noChangeArrowheads="1"/>
          </p:cNvSpPr>
          <p:nvPr/>
        </p:nvSpPr>
        <p:spPr bwMode="auto">
          <a:xfrm>
            <a:off x="1847850" y="908050"/>
            <a:ext cx="1841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eaLnBrk="1" hangingPunct="1"/>
            <a:endParaRPr lang="fr-FR" altLang="en-US" sz="3200">
              <a:latin typeface="Calibri" panose="020F0502020204030204" pitchFamily="34" charset="0"/>
            </a:endParaRPr>
          </a:p>
        </p:txBody>
      </p:sp>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106006909"/>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8370" name="Rectangle 2"/>
          <p:cNvSpPr>
            <a:spLocks noGrp="1"/>
          </p:cNvSpPr>
          <p:nvPr>
            <p:ph type="title"/>
          </p:nvPr>
        </p:nvSpPr>
        <p:spPr>
          <a:xfrm>
            <a:off x="1992313" y="404814"/>
            <a:ext cx="8229600" cy="561975"/>
          </a:xfrm>
        </p:spPr>
        <p:txBody>
          <a:bodyPr>
            <a:normAutofit fontScale="90000"/>
          </a:bodyPr>
          <a:lstStyle/>
          <a:p>
            <a:pPr algn="ctr"/>
            <a:r>
              <a:rPr lang="en-GB" altLang="en-US" b="1" dirty="0" smtClean="0">
                <a:cs typeface="Arial" panose="020B0604020202020204" pitchFamily="34" charset="0"/>
              </a:rPr>
              <a:t>1992 Fund Convention</a:t>
            </a:r>
            <a:r>
              <a:rPr lang="fr-FR" altLang="en-US" b="1" dirty="0" smtClean="0"/>
              <a:t/>
            </a:r>
            <a:br>
              <a:rPr lang="fr-FR" altLang="en-US" b="1" dirty="0" smtClean="0"/>
            </a:br>
            <a:endParaRPr lang="fr-FR" altLang="en-US" b="1" dirty="0" smtClean="0"/>
          </a:p>
        </p:txBody>
      </p:sp>
      <p:sp>
        <p:nvSpPr>
          <p:cNvPr id="49155" name="Rectangle 3">
            <a:extLst/>
          </p:cNvPr>
          <p:cNvSpPr>
            <a:spLocks noGrp="1" noChangeArrowheads="1"/>
          </p:cNvSpPr>
          <p:nvPr>
            <p:ph idx="1"/>
          </p:nvPr>
        </p:nvSpPr>
        <p:spPr>
          <a:xfrm>
            <a:off x="832282" y="1299742"/>
            <a:ext cx="10515600" cy="4351338"/>
          </a:xfrm>
        </p:spPr>
        <p:txBody>
          <a:bodyPr/>
          <a:lstStyle/>
          <a:p>
            <a:pPr marL="0" indent="0" algn="just">
              <a:spcBef>
                <a:spcPct val="55000"/>
              </a:spcBef>
              <a:buClr>
                <a:schemeClr val="tx1"/>
              </a:buClr>
              <a:buNone/>
              <a:defRPr/>
            </a:pPr>
            <a:r>
              <a:rPr lang="en-GB" altLang="en-US" dirty="0"/>
              <a:t>The International Oil Pollution Compensation Fund 1992 and the Supplementary Fund are administered by a secretariat based in London </a:t>
            </a:r>
          </a:p>
          <a:p>
            <a:pPr marL="0" indent="0" algn="just">
              <a:spcBef>
                <a:spcPct val="55000"/>
              </a:spcBef>
              <a:buClr>
                <a:schemeClr val="tx1"/>
              </a:buClr>
              <a:buNone/>
              <a:defRPr/>
            </a:pPr>
            <a:r>
              <a:rPr lang="en-GB" altLang="en-US" dirty="0"/>
              <a:t>The secretariat undertakes a number of activities, including:</a:t>
            </a:r>
          </a:p>
          <a:p>
            <a:pPr algn="just" eaLnBrk="1" hangingPunct="1">
              <a:spcBef>
                <a:spcPct val="55000"/>
              </a:spcBef>
              <a:buClr>
                <a:schemeClr val="tx1"/>
              </a:buClr>
              <a:defRPr/>
            </a:pPr>
            <a:r>
              <a:rPr lang="en-GB" altLang="en-US" dirty="0"/>
              <a:t>administering claims and making payments for reasonable losses</a:t>
            </a:r>
          </a:p>
          <a:p>
            <a:pPr algn="just" eaLnBrk="1" hangingPunct="1">
              <a:spcBef>
                <a:spcPct val="55000"/>
              </a:spcBef>
              <a:buClr>
                <a:schemeClr val="tx1"/>
              </a:buClr>
              <a:defRPr/>
            </a:pPr>
            <a:r>
              <a:rPr lang="en-GB" altLang="en-US" dirty="0"/>
              <a:t>levying contributions on receivers of oil in Member States</a:t>
            </a:r>
          </a:p>
          <a:p>
            <a:pPr marL="0" indent="0" algn="just">
              <a:spcBef>
                <a:spcPct val="55000"/>
              </a:spcBef>
              <a:buClr>
                <a:schemeClr val="tx1"/>
              </a:buClr>
              <a:buNone/>
              <a:defRPr/>
            </a:pPr>
            <a:endParaRPr lang="en-GB" altLang="en-US" dirty="0"/>
          </a:p>
        </p:txBody>
      </p:sp>
      <p:sp>
        <p:nvSpPr>
          <p:cNvPr id="58372" name="Rectangle 1"/>
          <p:cNvSpPr>
            <a:spLocks noChangeArrowheads="1"/>
          </p:cNvSpPr>
          <p:nvPr/>
        </p:nvSpPr>
        <p:spPr bwMode="auto">
          <a:xfrm>
            <a:off x="1847850" y="908050"/>
            <a:ext cx="18415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eaLnBrk="1" hangingPunct="1"/>
            <a:endParaRPr lang="fr-FR" altLang="en-US" sz="3200">
              <a:latin typeface="Calibri" panose="020F0502020204030204" pitchFamily="34" charset="0"/>
            </a:endParaRPr>
          </a:p>
        </p:txBody>
      </p:sp>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365795576"/>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59394" name="Rectangle 2"/>
          <p:cNvSpPr>
            <a:spLocks noGrp="1"/>
          </p:cNvSpPr>
          <p:nvPr>
            <p:ph type="title"/>
          </p:nvPr>
        </p:nvSpPr>
        <p:spPr>
          <a:xfrm>
            <a:off x="2208213" y="333375"/>
            <a:ext cx="7772400" cy="647700"/>
          </a:xfrm>
        </p:spPr>
        <p:txBody>
          <a:bodyPr>
            <a:normAutofit fontScale="90000"/>
          </a:bodyPr>
          <a:lstStyle/>
          <a:p>
            <a:pPr algn="ctr" eaLnBrk="1" hangingPunct="1"/>
            <a:r>
              <a:rPr lang="en-GB" altLang="en-US" b="1" dirty="0" smtClean="0">
                <a:cs typeface="Arial" panose="020B0604020202020204" pitchFamily="34" charset="0"/>
              </a:rPr>
              <a:t>3rd </a:t>
            </a:r>
            <a:r>
              <a:rPr lang="en-GB" altLang="en-US" b="1" dirty="0" smtClean="0">
                <a:cs typeface="Arial" panose="020B0604020202020204" pitchFamily="34" charset="0"/>
              </a:rPr>
              <a:t>TIER</a:t>
            </a:r>
            <a:br>
              <a:rPr lang="en-GB" altLang="en-US" b="1" dirty="0" smtClean="0">
                <a:cs typeface="Arial" panose="020B0604020202020204" pitchFamily="34" charset="0"/>
              </a:rPr>
            </a:br>
            <a:endParaRPr lang="en-GB" altLang="en-US" b="1" dirty="0" smtClean="0">
              <a:cs typeface="Arial" panose="020B0604020202020204" pitchFamily="34" charset="0"/>
            </a:endParaRPr>
          </a:p>
        </p:txBody>
      </p:sp>
      <p:sp>
        <p:nvSpPr>
          <p:cNvPr id="54275" name="Rectangle 3">
            <a:extLst/>
          </p:cNvPr>
          <p:cNvSpPr>
            <a:spLocks noGrp="1" noChangeArrowheads="1"/>
          </p:cNvSpPr>
          <p:nvPr>
            <p:ph idx="1"/>
          </p:nvPr>
        </p:nvSpPr>
        <p:spPr>
          <a:xfrm>
            <a:off x="1740154" y="1628776"/>
            <a:ext cx="9278366" cy="4824413"/>
          </a:xfrm>
        </p:spPr>
        <p:txBody>
          <a:bodyPr/>
          <a:lstStyle/>
          <a:p>
            <a:pPr algn="just" eaLnBrk="1" hangingPunct="1">
              <a:buClr>
                <a:schemeClr val="tx1"/>
              </a:buClr>
              <a:defRPr/>
            </a:pPr>
            <a:r>
              <a:rPr lang="en-GB" altLang="en-US" dirty="0"/>
              <a:t>Introduced following the Erika and Prestige incidents where claims submitted exceeded the maximum compensation available </a:t>
            </a:r>
          </a:p>
          <a:p>
            <a:pPr algn="just" eaLnBrk="1" hangingPunct="1">
              <a:buClr>
                <a:schemeClr val="tx1"/>
              </a:buClr>
              <a:defRPr/>
            </a:pPr>
            <a:r>
              <a:rPr lang="en-GB" altLang="en-US" dirty="0"/>
              <a:t>Maximum compensation 750 million SDR, including amounts payable under 1992 Conventions</a:t>
            </a:r>
          </a:p>
          <a:p>
            <a:pPr algn="just" eaLnBrk="1" hangingPunct="1">
              <a:buClr>
                <a:schemeClr val="tx1"/>
              </a:buClr>
              <a:defRPr/>
            </a:pPr>
            <a:r>
              <a:rPr lang="en-GB" altLang="en-US" dirty="0"/>
              <a:t>Contributions to Supplementary Fund payable by oil receivers in States Parties to Protocol (= identical to 1992 Fund)</a:t>
            </a:r>
          </a:p>
          <a:p>
            <a:pPr marL="0" indent="0" algn="just">
              <a:buClr>
                <a:schemeClr val="tx1"/>
              </a:buClr>
              <a:buFont typeface="Wingdings" panose="05000000000000000000" pitchFamily="2" charset="2"/>
              <a:buChar char="Ø"/>
              <a:defRPr/>
            </a:pPr>
            <a:endParaRPr lang="en-GB" altLang="en-US" sz="4000" dirty="0"/>
          </a:p>
          <a:p>
            <a:pPr marL="0" indent="0" algn="just">
              <a:buClr>
                <a:schemeClr val="tx1"/>
              </a:buClr>
              <a:buFont typeface="Wingdings" panose="05000000000000000000" pitchFamily="2" charset="2"/>
              <a:buChar char="Ø"/>
              <a:defRPr/>
            </a:pPr>
            <a:endParaRPr lang="en-GB" altLang="en-US" dirty="0">
              <a:latin typeface="Arial" panose="020B0604020202020204" pitchFamily="34" charset="0"/>
            </a:endParaRPr>
          </a:p>
        </p:txBody>
      </p:sp>
      <p:sp>
        <p:nvSpPr>
          <p:cNvPr id="59396" name="Rectangle 1"/>
          <p:cNvSpPr>
            <a:spLocks noChangeArrowheads="1"/>
          </p:cNvSpPr>
          <p:nvPr/>
        </p:nvSpPr>
        <p:spPr bwMode="auto">
          <a:xfrm>
            <a:off x="1524255" y="981075"/>
            <a:ext cx="618936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algn="just" eaLnBrk="1" hangingPunct="1"/>
            <a:r>
              <a:rPr lang="en-GB" altLang="en-US" sz="2800" dirty="0">
                <a:latin typeface="+mn-lt"/>
                <a:ea typeface="+mn-ea"/>
              </a:rPr>
              <a:t>SUPPLEMENTARY FUND 2003</a:t>
            </a:r>
            <a:endParaRPr lang="fr-FR" altLang="en-US" sz="2800" dirty="0">
              <a:latin typeface="+mn-lt"/>
              <a:ea typeface="+mn-ea"/>
            </a:endParaRPr>
          </a:p>
        </p:txBody>
      </p:sp>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194228093"/>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0418" name="Rectangle 2"/>
          <p:cNvSpPr>
            <a:spLocks noGrp="1"/>
          </p:cNvSpPr>
          <p:nvPr>
            <p:ph type="title"/>
          </p:nvPr>
        </p:nvSpPr>
        <p:spPr>
          <a:xfrm>
            <a:off x="1981200" y="130176"/>
            <a:ext cx="8229600" cy="561975"/>
          </a:xfrm>
        </p:spPr>
        <p:txBody>
          <a:bodyPr>
            <a:normAutofit fontScale="90000"/>
          </a:bodyPr>
          <a:lstStyle/>
          <a:p>
            <a:pPr algn="ctr" eaLnBrk="1" hangingPunct="1"/>
            <a:r>
              <a:rPr lang="en-GB" altLang="en-US" b="1" dirty="0" smtClean="0">
                <a:cs typeface="Arial" panose="020B0604020202020204" pitchFamily="34" charset="0"/>
              </a:rPr>
              <a:t>Who </a:t>
            </a:r>
            <a:r>
              <a:rPr lang="en-GB" altLang="en-US" b="1" dirty="0">
                <a:cs typeface="Arial" panose="020B0604020202020204" pitchFamily="34" charset="0"/>
              </a:rPr>
              <a:t>C</a:t>
            </a:r>
            <a:r>
              <a:rPr lang="en-GB" altLang="en-US" b="1" dirty="0" smtClean="0">
                <a:cs typeface="Arial" panose="020B0604020202020204" pitchFamily="34" charset="0"/>
              </a:rPr>
              <a:t>ontributes </a:t>
            </a:r>
            <a:r>
              <a:rPr lang="en-GB" altLang="en-US" b="1" dirty="0" smtClean="0">
                <a:cs typeface="Arial" panose="020B0604020202020204" pitchFamily="34" charset="0"/>
              </a:rPr>
              <a:t>to the Funds?</a:t>
            </a:r>
          </a:p>
        </p:txBody>
      </p:sp>
      <p:sp>
        <p:nvSpPr>
          <p:cNvPr id="60419" name="Rectangle 3"/>
          <p:cNvSpPr>
            <a:spLocks noGrp="1"/>
          </p:cNvSpPr>
          <p:nvPr>
            <p:ph idx="1"/>
          </p:nvPr>
        </p:nvSpPr>
        <p:spPr>
          <a:xfrm>
            <a:off x="832282" y="1523873"/>
            <a:ext cx="10515600" cy="4351338"/>
          </a:xfrm>
        </p:spPr>
        <p:txBody>
          <a:bodyPr/>
          <a:lstStyle/>
          <a:p>
            <a:pPr algn="just">
              <a:spcBef>
                <a:spcPct val="55000"/>
              </a:spcBef>
            </a:pPr>
            <a:r>
              <a:rPr lang="en-GB" altLang="en-US" dirty="0" smtClean="0"/>
              <a:t>Oil receivers pay, not governments</a:t>
            </a:r>
          </a:p>
          <a:p>
            <a:pPr algn="just">
              <a:spcBef>
                <a:spcPct val="55000"/>
              </a:spcBef>
            </a:pPr>
            <a:r>
              <a:rPr lang="en-GB" altLang="en-US" dirty="0" smtClean="0"/>
              <a:t>Person receiving &gt; 150 000 tons of contributing persistent oil (crude oil and heavy fuel oil)/year after sea transport</a:t>
            </a:r>
          </a:p>
          <a:p>
            <a:pPr algn="just" eaLnBrk="1" hangingPunct="1">
              <a:spcBef>
                <a:spcPct val="55000"/>
              </a:spcBef>
            </a:pPr>
            <a:r>
              <a:rPr lang="en-GB" altLang="en-US" dirty="0" smtClean="0"/>
              <a:t>Level of contributions levy decided by Fund Assembly based on compensation to be paid.</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4054389054"/>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1442" name="Titre 2"/>
          <p:cNvSpPr>
            <a:spLocks noGrp="1"/>
          </p:cNvSpPr>
          <p:nvPr>
            <p:ph type="title"/>
          </p:nvPr>
        </p:nvSpPr>
        <p:spPr>
          <a:xfrm>
            <a:off x="1981200" y="130176"/>
            <a:ext cx="8229600" cy="561975"/>
          </a:xfrm>
        </p:spPr>
        <p:txBody>
          <a:bodyPr>
            <a:normAutofit fontScale="90000"/>
          </a:bodyPr>
          <a:lstStyle/>
          <a:p>
            <a:pPr algn="ctr"/>
            <a:r>
              <a:rPr lang="fr-FR" altLang="en-US" b="1" dirty="0" smtClean="0"/>
              <a:t>The </a:t>
            </a:r>
            <a:r>
              <a:rPr lang="fr-FR" altLang="en-US" b="1" dirty="0" err="1" smtClean="0"/>
              <a:t>three</a:t>
            </a:r>
            <a:r>
              <a:rPr lang="fr-FR" altLang="en-US" b="1" dirty="0" smtClean="0"/>
              <a:t> </a:t>
            </a:r>
            <a:r>
              <a:rPr lang="fr-FR" altLang="en-US" b="1" dirty="0" err="1" smtClean="0"/>
              <a:t>tier</a:t>
            </a:r>
            <a:r>
              <a:rPr lang="fr-FR" altLang="en-US" b="1" dirty="0" smtClean="0"/>
              <a:t> </a:t>
            </a:r>
            <a:r>
              <a:rPr lang="fr-FR" altLang="en-US" b="1" dirty="0"/>
              <a:t>S</a:t>
            </a:r>
            <a:r>
              <a:rPr lang="fr-FR" altLang="en-US" b="1" dirty="0" smtClean="0"/>
              <a:t>ystem</a:t>
            </a:r>
            <a:endParaRPr lang="fr-FR" altLang="en-US" b="1" dirty="0" smtClean="0"/>
          </a:p>
        </p:txBody>
      </p:sp>
      <p:pic>
        <p:nvPicPr>
          <p:cNvPr id="61443" name="Picture 3" descr="Compensation Graph blue arr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423" y="873126"/>
            <a:ext cx="9284905" cy="5309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65163543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2466" name="Rectangle 2"/>
          <p:cNvSpPr>
            <a:spLocks noGrp="1"/>
          </p:cNvSpPr>
          <p:nvPr>
            <p:ph type="title"/>
          </p:nvPr>
        </p:nvSpPr>
        <p:spPr>
          <a:xfrm>
            <a:off x="1524000" y="17463"/>
            <a:ext cx="9144000" cy="842962"/>
          </a:xfrm>
        </p:spPr>
        <p:txBody>
          <a:bodyPr>
            <a:normAutofit fontScale="90000"/>
          </a:bodyPr>
          <a:lstStyle/>
          <a:p>
            <a:pPr algn="ctr" eaLnBrk="1" hangingPunct="1"/>
            <a:r>
              <a:rPr lang="en-GB" altLang="en-US" b="1" dirty="0" smtClean="0">
                <a:cs typeface="Arial" panose="020B0604020202020204" pitchFamily="34" charset="0"/>
              </a:rPr>
              <a:t>Admissibility of </a:t>
            </a:r>
            <a:r>
              <a:rPr lang="en-GB" altLang="en-US" b="1" dirty="0" smtClean="0">
                <a:cs typeface="Arial" panose="020B0604020202020204" pitchFamily="34" charset="0"/>
              </a:rPr>
              <a:t>Claims</a:t>
            </a:r>
            <a:r>
              <a:rPr lang="en-US" altLang="en-US" b="1" dirty="0" smtClean="0">
                <a:cs typeface="Arial" panose="020B0604020202020204" pitchFamily="34" charset="0"/>
              </a:rPr>
              <a:t> </a:t>
            </a:r>
            <a:r>
              <a:rPr lang="en-US" altLang="en-US" b="1" dirty="0" smtClean="0">
                <a:cs typeface="Arial" panose="020B0604020202020204" pitchFamily="34" charset="0"/>
                <a:sym typeface="Symbol" panose="05050102010706020507" pitchFamily="18" charset="2"/>
              </a:rPr>
              <a:t></a:t>
            </a:r>
            <a:r>
              <a:rPr lang="en-US" altLang="en-US" b="1" dirty="0" smtClean="0">
                <a:cs typeface="Arial" panose="020B0604020202020204" pitchFamily="34" charset="0"/>
              </a:rPr>
              <a:t> </a:t>
            </a:r>
            <a:r>
              <a:rPr lang="en-US" altLang="en-US" b="1" dirty="0">
                <a:cs typeface="Arial" panose="020B0604020202020204" pitchFamily="34" charset="0"/>
              </a:rPr>
              <a:t>P</a:t>
            </a:r>
            <a:r>
              <a:rPr lang="en-US" altLang="en-US" b="1" dirty="0" smtClean="0">
                <a:cs typeface="Arial" panose="020B0604020202020204" pitchFamily="34" charset="0"/>
              </a:rPr>
              <a:t>rinciples</a:t>
            </a:r>
            <a:endParaRPr lang="en-US" altLang="en-US" b="1" dirty="0" smtClean="0">
              <a:cs typeface="Arial" panose="020B0604020202020204" pitchFamily="34" charset="0"/>
            </a:endParaRPr>
          </a:p>
        </p:txBody>
      </p:sp>
      <p:sp>
        <p:nvSpPr>
          <p:cNvPr id="62467" name="Rectangle 3"/>
          <p:cNvSpPr>
            <a:spLocks noGrp="1"/>
          </p:cNvSpPr>
          <p:nvPr>
            <p:ph idx="1"/>
          </p:nvPr>
        </p:nvSpPr>
        <p:spPr>
          <a:xfrm>
            <a:off x="1084186" y="1139804"/>
            <a:ext cx="10011791" cy="5521325"/>
          </a:xfrm>
        </p:spPr>
        <p:txBody>
          <a:bodyPr/>
          <a:lstStyle/>
          <a:p>
            <a:pPr algn="just" eaLnBrk="1" hangingPunct="1">
              <a:spcBef>
                <a:spcPct val="55000"/>
              </a:spcBef>
            </a:pPr>
            <a:r>
              <a:rPr lang="en-US" altLang="en-US" dirty="0" smtClean="0"/>
              <a:t>No claims manual for Bunkers 2001 or CLC 1992.  </a:t>
            </a:r>
          </a:p>
          <a:p>
            <a:pPr algn="just" eaLnBrk="1" hangingPunct="1">
              <a:spcBef>
                <a:spcPct val="55000"/>
              </a:spcBef>
            </a:pPr>
            <a:r>
              <a:rPr lang="en-US" altLang="en-US" dirty="0" smtClean="0"/>
              <a:t>IOPC Funds claims manual is normally applied, being accepted as internationally agreed principles, but may be overruled by national courts.</a:t>
            </a:r>
          </a:p>
          <a:p>
            <a:pPr algn="just" eaLnBrk="1" hangingPunct="1">
              <a:spcBef>
                <a:spcPct val="55000"/>
              </a:spcBef>
            </a:pPr>
            <a:r>
              <a:rPr lang="en-US" altLang="en-US" dirty="0" err="1" smtClean="0"/>
              <a:t>Shipowners</a:t>
            </a:r>
            <a:r>
              <a:rPr lang="en-US" altLang="en-US" dirty="0" smtClean="0"/>
              <a:t>, P&amp;I Clubs and IOPC Funds all provide information, training and experts on site to advise governments, responders and claimants on admissibility and preparation of claims.</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161099772"/>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3490" name="Rectangle 2"/>
          <p:cNvSpPr>
            <a:spLocks noGrp="1"/>
          </p:cNvSpPr>
          <p:nvPr>
            <p:ph type="title"/>
          </p:nvPr>
        </p:nvSpPr>
        <p:spPr>
          <a:xfrm>
            <a:off x="1524000" y="23813"/>
            <a:ext cx="9144000" cy="842962"/>
          </a:xfrm>
        </p:spPr>
        <p:txBody>
          <a:bodyPr>
            <a:normAutofit fontScale="90000"/>
          </a:bodyPr>
          <a:lstStyle/>
          <a:p>
            <a:pPr algn="ctr" eaLnBrk="1" hangingPunct="1"/>
            <a:r>
              <a:rPr lang="en-GB" altLang="en-US" b="1" dirty="0" smtClean="0">
                <a:cs typeface="Arial" panose="020B0604020202020204" pitchFamily="34" charset="0"/>
              </a:rPr>
              <a:t>Admissibility of </a:t>
            </a:r>
            <a:r>
              <a:rPr lang="en-GB" altLang="en-US" b="1" dirty="0" smtClean="0">
                <a:cs typeface="Arial" panose="020B0604020202020204" pitchFamily="34" charset="0"/>
              </a:rPr>
              <a:t>Claims</a:t>
            </a:r>
            <a:r>
              <a:rPr lang="en-US" altLang="en-US" b="1" dirty="0" smtClean="0">
                <a:cs typeface="Arial" panose="020B0604020202020204" pitchFamily="34" charset="0"/>
              </a:rPr>
              <a:t> </a:t>
            </a:r>
            <a:r>
              <a:rPr lang="en-US" altLang="en-US" b="1" dirty="0" smtClean="0">
                <a:cs typeface="Arial" panose="020B0604020202020204" pitchFamily="34" charset="0"/>
                <a:sym typeface="Symbol" panose="05050102010706020507" pitchFamily="18" charset="2"/>
              </a:rPr>
              <a:t></a:t>
            </a:r>
            <a:r>
              <a:rPr lang="en-US" altLang="en-US" b="1" dirty="0" smtClean="0">
                <a:cs typeface="Arial" panose="020B0604020202020204" pitchFamily="34" charset="0"/>
              </a:rPr>
              <a:t> </a:t>
            </a:r>
            <a:r>
              <a:rPr lang="en-US" altLang="en-US" b="1" dirty="0">
                <a:cs typeface="Arial" panose="020B0604020202020204" pitchFamily="34" charset="0"/>
              </a:rPr>
              <a:t>P</a:t>
            </a:r>
            <a:r>
              <a:rPr lang="en-US" altLang="en-US" b="1" dirty="0" smtClean="0">
                <a:cs typeface="Arial" panose="020B0604020202020204" pitchFamily="34" charset="0"/>
              </a:rPr>
              <a:t>rinciples</a:t>
            </a:r>
            <a:endParaRPr lang="en-US" altLang="en-US" b="1" dirty="0" smtClean="0">
              <a:cs typeface="Arial" panose="020B0604020202020204" pitchFamily="34" charset="0"/>
            </a:endParaRPr>
          </a:p>
        </p:txBody>
      </p:sp>
      <p:sp>
        <p:nvSpPr>
          <p:cNvPr id="63491" name="Rectangle 3"/>
          <p:cNvSpPr>
            <a:spLocks noGrp="1"/>
          </p:cNvSpPr>
          <p:nvPr>
            <p:ph idx="1"/>
          </p:nvPr>
        </p:nvSpPr>
        <p:spPr>
          <a:xfrm>
            <a:off x="1153032" y="1043369"/>
            <a:ext cx="9810623" cy="4754562"/>
          </a:xfrm>
        </p:spPr>
        <p:txBody>
          <a:bodyPr/>
          <a:lstStyle/>
          <a:p>
            <a:pPr algn="just" eaLnBrk="1" hangingPunct="1">
              <a:spcBef>
                <a:spcPct val="55000"/>
              </a:spcBef>
            </a:pPr>
            <a:r>
              <a:rPr lang="en-US" altLang="en-US" dirty="0" smtClean="0"/>
              <a:t>Sufficiently close link of causation between the contamination and the loss</a:t>
            </a:r>
          </a:p>
          <a:p>
            <a:pPr algn="just" eaLnBrk="1" hangingPunct="1">
              <a:spcBef>
                <a:spcPct val="55000"/>
              </a:spcBef>
            </a:pPr>
            <a:r>
              <a:rPr lang="en-US" altLang="en-US" dirty="0" smtClean="0"/>
              <a:t>Claimant must prove loss or damage</a:t>
            </a:r>
          </a:p>
          <a:p>
            <a:pPr algn="just" eaLnBrk="1" hangingPunct="1">
              <a:spcBef>
                <a:spcPct val="55000"/>
              </a:spcBef>
            </a:pPr>
            <a:r>
              <a:rPr lang="en-US" altLang="en-US" dirty="0" smtClean="0"/>
              <a:t>Loss/damage must be economically quantifiable and actually suffered</a:t>
            </a:r>
          </a:p>
          <a:p>
            <a:pPr algn="just" eaLnBrk="1" hangingPunct="1">
              <a:spcBef>
                <a:spcPct val="55000"/>
              </a:spcBef>
            </a:pPr>
            <a:r>
              <a:rPr lang="en-US" altLang="en-US" dirty="0" smtClean="0"/>
              <a:t>Any expense must be for measures which are reasonable and justifiable</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368425913"/>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4514" name="Rectangle 2"/>
          <p:cNvSpPr>
            <a:spLocks noGrp="1"/>
          </p:cNvSpPr>
          <p:nvPr>
            <p:ph type="title"/>
          </p:nvPr>
        </p:nvSpPr>
        <p:spPr>
          <a:xfrm>
            <a:off x="1709928" y="130176"/>
            <a:ext cx="8979408" cy="561975"/>
          </a:xfrm>
        </p:spPr>
        <p:txBody>
          <a:bodyPr>
            <a:normAutofit fontScale="90000"/>
          </a:bodyPr>
          <a:lstStyle/>
          <a:p>
            <a:pPr algn="ctr" eaLnBrk="1" hangingPunct="1"/>
            <a:r>
              <a:rPr lang="en-GB" altLang="en-US" sz="2000" b="1" dirty="0"/>
              <a:t>    </a:t>
            </a:r>
            <a:r>
              <a:rPr lang="en-GB" altLang="en-US" b="1" dirty="0" smtClean="0"/>
              <a:t> </a:t>
            </a:r>
            <a:r>
              <a:rPr lang="en-GB" altLang="en-US" b="1" dirty="0" smtClean="0">
                <a:cs typeface="Arial" panose="020B0604020202020204" pitchFamily="34" charset="0"/>
              </a:rPr>
              <a:t>Main </a:t>
            </a:r>
            <a:r>
              <a:rPr lang="en-GB" altLang="en-US" b="1" dirty="0" smtClean="0">
                <a:cs typeface="Arial" panose="020B0604020202020204" pitchFamily="34" charset="0"/>
              </a:rPr>
              <a:t>Types </a:t>
            </a:r>
            <a:r>
              <a:rPr lang="en-GB" altLang="en-US" b="1" dirty="0" smtClean="0">
                <a:cs typeface="Arial" panose="020B0604020202020204" pitchFamily="34" charset="0"/>
              </a:rPr>
              <a:t>of </a:t>
            </a:r>
            <a:r>
              <a:rPr lang="en-GB" altLang="en-US" b="1" dirty="0">
                <a:cs typeface="Arial" panose="020B0604020202020204" pitchFamily="34" charset="0"/>
              </a:rPr>
              <a:t>C</a:t>
            </a:r>
            <a:r>
              <a:rPr lang="en-GB" altLang="en-US" b="1" dirty="0" smtClean="0">
                <a:cs typeface="Arial" panose="020B0604020202020204" pitchFamily="34" charset="0"/>
              </a:rPr>
              <a:t>laims</a:t>
            </a:r>
            <a:r>
              <a:rPr lang="en-GB" altLang="en-US" b="1" dirty="0" smtClean="0"/>
              <a:t>	</a:t>
            </a:r>
            <a:r>
              <a:rPr lang="en-GB" altLang="en-US" sz="2000" b="1" dirty="0"/>
              <a:t>	</a:t>
            </a:r>
          </a:p>
        </p:txBody>
      </p:sp>
      <p:sp>
        <p:nvSpPr>
          <p:cNvPr id="64515" name="Rectangle 3"/>
          <p:cNvSpPr>
            <a:spLocks noGrp="1"/>
          </p:cNvSpPr>
          <p:nvPr>
            <p:ph idx="1"/>
          </p:nvPr>
        </p:nvSpPr>
        <p:spPr>
          <a:xfrm>
            <a:off x="938784" y="1240409"/>
            <a:ext cx="10515600" cy="4351338"/>
          </a:xfrm>
        </p:spPr>
        <p:txBody>
          <a:bodyPr/>
          <a:lstStyle/>
          <a:p>
            <a:pPr algn="just" eaLnBrk="1" hangingPunct="1">
              <a:buClr>
                <a:schemeClr val="tx1"/>
              </a:buClr>
            </a:pPr>
            <a:r>
              <a:rPr lang="en-GB" altLang="en-US" dirty="0" smtClean="0"/>
              <a:t>Property damage</a:t>
            </a:r>
          </a:p>
          <a:p>
            <a:pPr algn="just" eaLnBrk="1" hangingPunct="1">
              <a:buClr>
                <a:schemeClr val="tx1"/>
              </a:buClr>
            </a:pPr>
            <a:r>
              <a:rPr lang="en-GB" altLang="en-US" dirty="0" smtClean="0"/>
              <a:t>Clean-up operations and preventive measures</a:t>
            </a:r>
          </a:p>
          <a:p>
            <a:pPr algn="just" eaLnBrk="1" hangingPunct="1">
              <a:buClr>
                <a:schemeClr val="tx1"/>
              </a:buClr>
            </a:pPr>
            <a:r>
              <a:rPr lang="en-GB" altLang="en-US" dirty="0" smtClean="0"/>
              <a:t>Losses in fishery, </a:t>
            </a:r>
            <a:r>
              <a:rPr lang="en-GB" altLang="en-US" dirty="0" err="1" smtClean="0"/>
              <a:t>mariculture</a:t>
            </a:r>
            <a:r>
              <a:rPr lang="en-GB" altLang="en-US" dirty="0" smtClean="0"/>
              <a:t> and tourism sectors</a:t>
            </a:r>
          </a:p>
          <a:p>
            <a:pPr algn="just" eaLnBrk="1" hangingPunct="1">
              <a:buClr>
                <a:schemeClr val="tx1"/>
              </a:buClr>
            </a:pPr>
            <a:r>
              <a:rPr lang="en-GB" altLang="en-US" dirty="0" smtClean="0"/>
              <a:t>Environmental damage (costs of reasonable measures of reinstatement)</a:t>
            </a:r>
          </a:p>
          <a:p>
            <a:pPr algn="just" eaLnBrk="1" hangingPunct="1">
              <a:buClr>
                <a:schemeClr val="tx1"/>
              </a:buClr>
            </a:pPr>
            <a:r>
              <a:rPr lang="en-GB" altLang="en-US" dirty="0" smtClean="0"/>
              <a:t>It is for the claimant to prove the loss </a:t>
            </a:r>
          </a:p>
          <a:p>
            <a:pPr algn="just" eaLnBrk="1" hangingPunct="1">
              <a:buClr>
                <a:schemeClr val="tx1"/>
              </a:buClr>
            </a:pPr>
            <a:r>
              <a:rPr lang="en-GB" altLang="en-US" dirty="0" smtClean="0"/>
              <a:t>Theoretical model and future losses are not considered </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704155977"/>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5538" name="Titre 1"/>
          <p:cNvSpPr>
            <a:spLocks noGrp="1"/>
          </p:cNvSpPr>
          <p:nvPr>
            <p:ph type="title"/>
          </p:nvPr>
        </p:nvSpPr>
        <p:spPr>
          <a:xfrm>
            <a:off x="1981200" y="130176"/>
            <a:ext cx="8229600" cy="561975"/>
          </a:xfrm>
        </p:spPr>
        <p:txBody>
          <a:bodyPr>
            <a:normAutofit fontScale="90000"/>
          </a:bodyPr>
          <a:lstStyle/>
          <a:p>
            <a:pPr algn="ctr"/>
            <a:r>
              <a:rPr lang="fr-FR" altLang="en-US" b="1" dirty="0" smtClean="0"/>
              <a:t>Time bar</a:t>
            </a:r>
          </a:p>
        </p:txBody>
      </p:sp>
      <p:sp>
        <p:nvSpPr>
          <p:cNvPr id="65539" name="Content Placeholder 2"/>
          <p:cNvSpPr>
            <a:spLocks noGrp="1"/>
          </p:cNvSpPr>
          <p:nvPr>
            <p:ph idx="1"/>
          </p:nvPr>
        </p:nvSpPr>
        <p:spPr>
          <a:xfrm>
            <a:off x="832282" y="1276985"/>
            <a:ext cx="10515600" cy="4351338"/>
          </a:xfrm>
        </p:spPr>
        <p:txBody>
          <a:bodyPr>
            <a:normAutofit/>
          </a:bodyPr>
          <a:lstStyle/>
          <a:p>
            <a:pPr>
              <a:buFontTx/>
              <a:buNone/>
            </a:pPr>
            <a:r>
              <a:rPr lang="en-GB" altLang="en-US" sz="3200" dirty="0" smtClean="0">
                <a:cs typeface="Arial" panose="020B0604020202020204" pitchFamily="34" charset="0"/>
              </a:rPr>
              <a:t>Article VIII </a:t>
            </a:r>
            <a:r>
              <a:rPr lang="en-GB" altLang="en-US" sz="3200" dirty="0" smtClean="0">
                <a:cs typeface="Arial" panose="020B0604020202020204" pitchFamily="34" charset="0"/>
                <a:sym typeface="Symbol" panose="05050102010706020507" pitchFamily="18" charset="2"/>
              </a:rPr>
              <a:t></a:t>
            </a:r>
            <a:r>
              <a:rPr lang="en-GB" altLang="en-US" sz="3200" dirty="0" smtClean="0">
                <a:cs typeface="Arial" panose="020B0604020202020204" pitchFamily="34" charset="0"/>
              </a:rPr>
              <a:t> 1992 CLC</a:t>
            </a:r>
          </a:p>
          <a:p>
            <a:pPr>
              <a:buFontTx/>
              <a:buNone/>
            </a:pPr>
            <a:endParaRPr lang="en-GB" altLang="en-US" sz="3200" b="1" u="sng" dirty="0" smtClean="0">
              <a:cs typeface="Arial" panose="020B0604020202020204" pitchFamily="34" charset="0"/>
            </a:endParaRPr>
          </a:p>
          <a:p>
            <a:pPr marL="733425" lvl="1">
              <a:spcBef>
                <a:spcPct val="0"/>
              </a:spcBef>
            </a:pPr>
            <a:r>
              <a:rPr lang="en-GB" altLang="en-US" sz="3200" dirty="0">
                <a:cs typeface="Arial" panose="020B0604020202020204" pitchFamily="34" charset="0"/>
              </a:rPr>
              <a:t>Rights of compensation shall be extinguished unless:</a:t>
            </a:r>
          </a:p>
          <a:p>
            <a:pPr marL="733425" lvl="1">
              <a:spcBef>
                <a:spcPct val="0"/>
              </a:spcBef>
            </a:pPr>
            <a:r>
              <a:rPr lang="en-GB" altLang="en-US" sz="3200" dirty="0">
                <a:cs typeface="Arial" panose="020B0604020202020204" pitchFamily="34" charset="0"/>
              </a:rPr>
              <a:t>An action is brought within </a:t>
            </a:r>
            <a:r>
              <a:rPr lang="en-GB" altLang="en-US" sz="3200" u="sng" dirty="0">
                <a:cs typeface="Arial" panose="020B0604020202020204" pitchFamily="34" charset="0"/>
              </a:rPr>
              <a:t>three years</a:t>
            </a:r>
            <a:r>
              <a:rPr lang="en-GB" altLang="en-US" sz="3200" dirty="0">
                <a:cs typeface="Arial" panose="020B0604020202020204" pitchFamily="34" charset="0"/>
              </a:rPr>
              <a:t> from the date when the </a:t>
            </a:r>
            <a:r>
              <a:rPr lang="en-GB" altLang="en-US" sz="3200" u="sng" dirty="0">
                <a:cs typeface="Arial" panose="020B0604020202020204" pitchFamily="34" charset="0"/>
              </a:rPr>
              <a:t>damage occurred</a:t>
            </a:r>
            <a:r>
              <a:rPr lang="en-GB" altLang="en-US" sz="3200" dirty="0">
                <a:cs typeface="Arial" panose="020B0604020202020204" pitchFamily="34" charset="0"/>
              </a:rPr>
              <a:t>.</a:t>
            </a:r>
          </a:p>
          <a:p>
            <a:pPr marL="733425" lvl="1">
              <a:spcBef>
                <a:spcPct val="0"/>
              </a:spcBef>
            </a:pPr>
            <a:r>
              <a:rPr lang="en-GB" altLang="en-US" sz="3200" dirty="0">
                <a:cs typeface="Arial" panose="020B0604020202020204" pitchFamily="34" charset="0"/>
              </a:rPr>
              <a:t>In no case shall an action be brought after </a:t>
            </a:r>
            <a:r>
              <a:rPr lang="en-GB" altLang="en-US" sz="3200" u="sng" dirty="0">
                <a:cs typeface="Arial" panose="020B0604020202020204" pitchFamily="34" charset="0"/>
              </a:rPr>
              <a:t>six years</a:t>
            </a:r>
            <a:r>
              <a:rPr lang="en-GB" altLang="en-US" sz="3200" dirty="0">
                <a:cs typeface="Arial" panose="020B0604020202020204" pitchFamily="34" charset="0"/>
              </a:rPr>
              <a:t> from the </a:t>
            </a:r>
            <a:r>
              <a:rPr lang="en-GB" altLang="en-US" sz="3200" u="sng" dirty="0">
                <a:cs typeface="Arial" panose="020B0604020202020204" pitchFamily="34" charset="0"/>
              </a:rPr>
              <a:t>date of the incident</a:t>
            </a:r>
            <a:r>
              <a:rPr lang="en-GB" altLang="en-US" sz="3200" dirty="0">
                <a:cs typeface="Arial" panose="020B0604020202020204" pitchFamily="34" charset="0"/>
              </a:rPr>
              <a:t>.</a:t>
            </a:r>
          </a:p>
          <a:p>
            <a:pPr>
              <a:spcBef>
                <a:spcPct val="0"/>
              </a:spcBef>
            </a:pPr>
            <a:endParaRPr lang="en-GB" altLang="en-US" sz="3200" dirty="0" smtClean="0">
              <a:cs typeface="Arial" panose="020B0604020202020204" pitchFamily="34" charset="0"/>
            </a:endParaRPr>
          </a:p>
          <a:p>
            <a:pPr>
              <a:spcBef>
                <a:spcPct val="0"/>
              </a:spcBef>
            </a:pPr>
            <a:endParaRPr lang="en-GB" altLang="en-US" sz="3200" dirty="0">
              <a:latin typeface="Arial" panose="020B0604020202020204" pitchFamily="34" charset="0"/>
              <a:cs typeface="Arial" panose="020B0604020202020204" pitchFamily="34" charset="0"/>
            </a:endParaRP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12575092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6562" name="Titre 1"/>
          <p:cNvSpPr>
            <a:spLocks noGrp="1"/>
          </p:cNvSpPr>
          <p:nvPr>
            <p:ph type="title"/>
          </p:nvPr>
        </p:nvSpPr>
        <p:spPr>
          <a:xfrm>
            <a:off x="1981200" y="130176"/>
            <a:ext cx="8229600" cy="561975"/>
          </a:xfrm>
        </p:spPr>
        <p:txBody>
          <a:bodyPr>
            <a:normAutofit fontScale="90000"/>
          </a:bodyPr>
          <a:lstStyle/>
          <a:p>
            <a:pPr algn="ctr"/>
            <a:r>
              <a:rPr lang="fr-FR" altLang="en-US" b="1" dirty="0" smtClean="0"/>
              <a:t>Time bar</a:t>
            </a:r>
          </a:p>
        </p:txBody>
      </p:sp>
      <p:sp>
        <p:nvSpPr>
          <p:cNvPr id="66563" name="Content Placeholder 2"/>
          <p:cNvSpPr>
            <a:spLocks noGrp="1"/>
          </p:cNvSpPr>
          <p:nvPr>
            <p:ph idx="1"/>
          </p:nvPr>
        </p:nvSpPr>
        <p:spPr>
          <a:xfrm>
            <a:off x="832282" y="1148969"/>
            <a:ext cx="10515600" cy="4351338"/>
          </a:xfrm>
        </p:spPr>
        <p:txBody>
          <a:bodyPr>
            <a:noAutofit/>
          </a:bodyPr>
          <a:lstStyle/>
          <a:p>
            <a:pPr marL="0" indent="0">
              <a:lnSpc>
                <a:spcPct val="80000"/>
              </a:lnSpc>
              <a:buNone/>
            </a:pPr>
            <a:r>
              <a:rPr lang="en-GB" altLang="en-US" sz="3200" dirty="0" smtClean="0">
                <a:cs typeface="Arial" panose="020B0604020202020204" pitchFamily="34" charset="0"/>
              </a:rPr>
              <a:t>Article 6 </a:t>
            </a:r>
            <a:r>
              <a:rPr lang="en-GB" altLang="en-US" sz="3200" dirty="0" smtClean="0">
                <a:cs typeface="Arial" panose="020B0604020202020204" pitchFamily="34" charset="0"/>
                <a:sym typeface="Symbol" panose="05050102010706020507" pitchFamily="18" charset="2"/>
              </a:rPr>
              <a:t></a:t>
            </a:r>
            <a:r>
              <a:rPr lang="en-GB" altLang="en-US" sz="3200" dirty="0" smtClean="0">
                <a:cs typeface="Arial" panose="020B0604020202020204" pitchFamily="34" charset="0"/>
              </a:rPr>
              <a:t> 1992 Fund Convention</a:t>
            </a:r>
          </a:p>
          <a:p>
            <a:pPr marL="0" indent="0">
              <a:lnSpc>
                <a:spcPct val="80000"/>
              </a:lnSpc>
              <a:buNone/>
            </a:pPr>
            <a:endParaRPr lang="en-GB" altLang="en-US" sz="3200" dirty="0" smtClean="0">
              <a:cs typeface="Arial" panose="020B0604020202020204" pitchFamily="34" charset="0"/>
            </a:endParaRPr>
          </a:p>
          <a:p>
            <a:pPr lvl="1">
              <a:lnSpc>
                <a:spcPct val="80000"/>
              </a:lnSpc>
              <a:buFont typeface="Arial" panose="020B0604020202020204" pitchFamily="34" charset="0"/>
              <a:buChar char="•"/>
            </a:pPr>
            <a:r>
              <a:rPr lang="en-GB" altLang="en-US" sz="3200" dirty="0"/>
              <a:t>Rights to compensation shall be extinguished unless:</a:t>
            </a:r>
          </a:p>
          <a:p>
            <a:pPr lvl="1">
              <a:lnSpc>
                <a:spcPct val="80000"/>
              </a:lnSpc>
              <a:buFont typeface="Arial" panose="020B0604020202020204" pitchFamily="34" charset="0"/>
              <a:buChar char="•"/>
            </a:pPr>
            <a:r>
              <a:rPr lang="en-GB" altLang="en-US" sz="3200" u="sng" dirty="0"/>
              <a:t>action</a:t>
            </a:r>
            <a:r>
              <a:rPr lang="en-GB" altLang="en-US" sz="3200" dirty="0"/>
              <a:t> is brought within </a:t>
            </a:r>
            <a:r>
              <a:rPr lang="en-GB" altLang="en-US" sz="3200" u="sng" dirty="0"/>
              <a:t>three years</a:t>
            </a:r>
            <a:r>
              <a:rPr lang="en-GB" altLang="en-US" sz="3200" dirty="0"/>
              <a:t> from </a:t>
            </a:r>
            <a:r>
              <a:rPr lang="en-GB" altLang="en-US" sz="3200" u="sng" dirty="0"/>
              <a:t>date of damage</a:t>
            </a:r>
            <a:r>
              <a:rPr lang="en-GB" altLang="en-US" sz="3200" dirty="0"/>
              <a:t>; or</a:t>
            </a:r>
          </a:p>
          <a:p>
            <a:pPr lvl="1">
              <a:lnSpc>
                <a:spcPct val="80000"/>
              </a:lnSpc>
              <a:buFont typeface="Arial" panose="020B0604020202020204" pitchFamily="34" charset="0"/>
              <a:buChar char="•"/>
            </a:pPr>
            <a:r>
              <a:rPr lang="en-GB" altLang="en-US" sz="3200" u="sng" dirty="0"/>
              <a:t>notification</a:t>
            </a:r>
            <a:r>
              <a:rPr lang="en-GB" altLang="en-US" sz="3200" dirty="0"/>
              <a:t> to 1992 Fund is made of a court action  against the </a:t>
            </a:r>
            <a:r>
              <a:rPr lang="en-GB" altLang="en-US" sz="3200" dirty="0" err="1"/>
              <a:t>shipowner</a:t>
            </a:r>
            <a:r>
              <a:rPr lang="en-GB" altLang="en-US" sz="3200" dirty="0"/>
              <a:t> or insurer within </a:t>
            </a:r>
            <a:r>
              <a:rPr lang="en-GB" altLang="en-US" sz="3200" u="sng" dirty="0"/>
              <a:t>three years</a:t>
            </a:r>
            <a:r>
              <a:rPr lang="en-GB" altLang="en-US" sz="3200" dirty="0"/>
              <a:t> of </a:t>
            </a:r>
            <a:r>
              <a:rPr lang="en-GB" altLang="en-US" sz="3200" u="sng" dirty="0"/>
              <a:t>damage;</a:t>
            </a:r>
            <a:endParaRPr lang="en-GB" altLang="en-US" sz="3200" dirty="0"/>
          </a:p>
          <a:p>
            <a:pPr lvl="1">
              <a:lnSpc>
                <a:spcPct val="80000"/>
              </a:lnSpc>
              <a:buFont typeface="Arial" panose="020B0604020202020204" pitchFamily="34" charset="0"/>
              <a:buChar char="•"/>
            </a:pPr>
            <a:r>
              <a:rPr lang="en-GB" altLang="en-US" sz="3200" dirty="0"/>
              <a:t>In no case shall an action be brought after </a:t>
            </a:r>
            <a:r>
              <a:rPr lang="en-GB" altLang="en-US" sz="3200" u="sng" dirty="0"/>
              <a:t>six years</a:t>
            </a:r>
            <a:r>
              <a:rPr lang="en-GB" altLang="en-US" sz="3200" dirty="0"/>
              <a:t> from the </a:t>
            </a:r>
            <a:r>
              <a:rPr lang="en-GB" altLang="en-US" sz="3200" u="sng" dirty="0"/>
              <a:t>date of the incident.</a:t>
            </a:r>
          </a:p>
          <a:p>
            <a:pPr lvl="1">
              <a:spcBef>
                <a:spcPct val="0"/>
              </a:spcBef>
            </a:pPr>
            <a:endParaRPr lang="en-GB" altLang="en-US" sz="3200" dirty="0">
              <a:cs typeface="Arial" panose="020B0604020202020204" pitchFamily="34" charset="0"/>
            </a:endParaRPr>
          </a:p>
          <a:p>
            <a:pPr marL="0" indent="0">
              <a:spcBef>
                <a:spcPct val="0"/>
              </a:spcBef>
            </a:pPr>
            <a:endParaRPr lang="en-GB" altLang="en-US" sz="3200" dirty="0">
              <a:latin typeface="Arial" panose="020B0604020202020204" pitchFamily="34" charset="0"/>
              <a:cs typeface="Arial" panose="020B0604020202020204" pitchFamily="34" charset="0"/>
            </a:endParaRPr>
          </a:p>
          <a:p>
            <a:pPr marL="0" indent="0">
              <a:spcBef>
                <a:spcPct val="0"/>
              </a:spcBef>
            </a:pPr>
            <a:endParaRPr lang="en-GB" altLang="en-US" sz="3200" dirty="0">
              <a:latin typeface="Arial" panose="020B0604020202020204" pitchFamily="34" charset="0"/>
              <a:cs typeface="Arial" panose="020B0604020202020204" pitchFamily="34" charset="0"/>
            </a:endParaRP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50150111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7586" name="Title 1"/>
          <p:cNvSpPr>
            <a:spLocks noGrp="1"/>
          </p:cNvSpPr>
          <p:nvPr>
            <p:ph type="title"/>
          </p:nvPr>
        </p:nvSpPr>
        <p:spPr>
          <a:xfrm>
            <a:off x="905256" y="130176"/>
            <a:ext cx="9912096" cy="561975"/>
          </a:xfrm>
        </p:spPr>
        <p:txBody>
          <a:bodyPr>
            <a:normAutofit fontScale="90000"/>
          </a:bodyPr>
          <a:lstStyle/>
          <a:p>
            <a:pPr algn="ctr"/>
            <a:r>
              <a:rPr lang="fr-FR" altLang="en-US" b="1" dirty="0" smtClean="0"/>
              <a:t>Maximum </a:t>
            </a:r>
            <a:r>
              <a:rPr lang="fr-FR" altLang="en-US" b="1" dirty="0" err="1"/>
              <a:t>L</a:t>
            </a:r>
            <a:r>
              <a:rPr lang="fr-FR" altLang="en-US" b="1" dirty="0" err="1" smtClean="0"/>
              <a:t>imits</a:t>
            </a:r>
            <a:r>
              <a:rPr lang="fr-FR" altLang="en-US" b="1" dirty="0" smtClean="0"/>
              <a:t> </a:t>
            </a:r>
            <a:r>
              <a:rPr lang="fr-FR" altLang="en-US" b="1" dirty="0" smtClean="0"/>
              <a:t>of </a:t>
            </a:r>
            <a:r>
              <a:rPr lang="fr-FR" altLang="en-US" b="1" dirty="0" smtClean="0"/>
              <a:t>Compensation</a:t>
            </a:r>
            <a:endParaRPr lang="fr-FR" altLang="en-US" b="1" dirty="0" smtClean="0"/>
          </a:p>
        </p:txBody>
      </p:sp>
      <p:sp>
        <p:nvSpPr>
          <p:cNvPr id="67587" name="TextBox 2"/>
          <p:cNvSpPr txBox="1">
            <a:spLocks noChangeArrowheads="1"/>
          </p:cNvSpPr>
          <p:nvPr/>
        </p:nvSpPr>
        <p:spPr bwMode="auto">
          <a:xfrm>
            <a:off x="1528763" y="6237288"/>
            <a:ext cx="2451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r>
              <a:rPr lang="en-GB" altLang="en-US" sz="2000">
                <a:solidFill>
                  <a:schemeClr val="bg1"/>
                </a:solidFill>
              </a:rPr>
              <a:t>Source: IOPC Funds</a:t>
            </a:r>
          </a:p>
        </p:txBody>
      </p:sp>
      <p:pic>
        <p:nvPicPr>
          <p:cNvPr id="6758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63750" y="908050"/>
            <a:ext cx="7302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55751179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8610"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HNS Convention</a:t>
            </a:r>
          </a:p>
        </p:txBody>
      </p:sp>
      <p:sp>
        <p:nvSpPr>
          <p:cNvPr id="68611" name="Content Placeholder 2"/>
          <p:cNvSpPr>
            <a:spLocks noGrp="1"/>
          </p:cNvSpPr>
          <p:nvPr>
            <p:ph idx="1"/>
          </p:nvPr>
        </p:nvSpPr>
        <p:spPr>
          <a:xfrm>
            <a:off x="832282" y="1267841"/>
            <a:ext cx="10515600" cy="4351338"/>
          </a:xfrm>
        </p:spPr>
        <p:txBody>
          <a:bodyPr/>
          <a:lstStyle/>
          <a:p>
            <a:r>
              <a:rPr lang="en-US" altLang="en-US" dirty="0"/>
              <a:t>The </a:t>
            </a:r>
            <a:r>
              <a:rPr lang="en-US" altLang="en-US" i="1" dirty="0"/>
              <a:t>International Convention on Liability and Compensation for Damage in Connection with the Carriage of Hazardous and Noxious Substances by Sea</a:t>
            </a:r>
            <a:r>
              <a:rPr lang="en-US" altLang="en-US" dirty="0"/>
              <a:t> (HNS Convention) was originally adopted at an International Conference organized by IMO in 1996</a:t>
            </a:r>
          </a:p>
          <a:p>
            <a:r>
              <a:rPr lang="en-US" altLang="en-US" dirty="0"/>
              <a:t>Amended by a Protocol in 2010</a:t>
            </a:r>
          </a:p>
          <a:p>
            <a:r>
              <a:rPr lang="en-US" altLang="en-US" dirty="0"/>
              <a:t>Not yet entered into force (as of May 2017)</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36052793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69634"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HNS Convention</a:t>
            </a:r>
          </a:p>
        </p:txBody>
      </p:sp>
      <p:sp>
        <p:nvSpPr>
          <p:cNvPr id="69635" name="Content Placeholder 2"/>
          <p:cNvSpPr>
            <a:spLocks noGrp="1"/>
          </p:cNvSpPr>
          <p:nvPr>
            <p:ph idx="1"/>
          </p:nvPr>
        </p:nvSpPr>
        <p:spPr>
          <a:xfrm>
            <a:off x="832282" y="1295273"/>
            <a:ext cx="10515600" cy="4351338"/>
          </a:xfrm>
        </p:spPr>
        <p:txBody>
          <a:bodyPr/>
          <a:lstStyle/>
          <a:p>
            <a:pPr algn="just"/>
            <a:r>
              <a:rPr lang="en-US" altLang="en-US" dirty="0"/>
              <a:t>To ensure adequate compensation is available for damage occurring as a result of the maritime transport of hazardous and noxious substances (HNS).</a:t>
            </a:r>
          </a:p>
          <a:p>
            <a:pPr algn="just"/>
            <a:r>
              <a:rPr lang="en-US" altLang="en-US" dirty="0"/>
              <a:t>The HNS Convention covers:</a:t>
            </a:r>
          </a:p>
          <a:p>
            <a:pPr lvl="1" indent="-420688" algn="just">
              <a:buFont typeface="Wingdings" panose="05000000000000000000" pitchFamily="2" charset="2"/>
              <a:buChar char="Ø"/>
            </a:pPr>
            <a:r>
              <a:rPr lang="en-US" altLang="en-US" dirty="0"/>
              <a:t>any damage in the territory or territorial sea of a State Party to the Convention;</a:t>
            </a:r>
          </a:p>
          <a:p>
            <a:pPr lvl="1" indent="-420688" algn="just">
              <a:buFont typeface="Wingdings" panose="05000000000000000000" pitchFamily="2" charset="2"/>
              <a:buChar char="Ø"/>
            </a:pPr>
            <a:r>
              <a:rPr lang="en-US" altLang="en-US" dirty="0"/>
              <a:t>pollution damage in the exclusive economic zone (EEZ), or equivalent area, of a Member State; and</a:t>
            </a:r>
          </a:p>
          <a:p>
            <a:pPr lvl="1" indent="-420688" algn="just">
              <a:buFont typeface="Wingdings" panose="05000000000000000000" pitchFamily="2" charset="2"/>
              <a:buChar char="Ø"/>
            </a:pPr>
            <a:r>
              <a:rPr lang="en-US" altLang="en-US" dirty="0"/>
              <a:t>damage (other than pollution damage) caused by HNS carried on board ships registered in the flag of the Member State outside the territorial sea of any State.</a:t>
            </a:r>
          </a:p>
          <a:p>
            <a:pPr algn="just"/>
            <a:endParaRPr lang="en-GB" altLang="en-US" dirty="0" smtClean="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77512389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70658"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HNS Convention</a:t>
            </a:r>
          </a:p>
        </p:txBody>
      </p:sp>
      <p:sp>
        <p:nvSpPr>
          <p:cNvPr id="70659" name="Content Placeholder 2"/>
          <p:cNvSpPr>
            <a:spLocks noGrp="1"/>
          </p:cNvSpPr>
          <p:nvPr>
            <p:ph idx="1"/>
          </p:nvPr>
        </p:nvSpPr>
        <p:spPr>
          <a:xfrm>
            <a:off x="902208" y="1222121"/>
            <a:ext cx="10515600" cy="4351338"/>
          </a:xfrm>
        </p:spPr>
        <p:txBody>
          <a:bodyPr>
            <a:normAutofit lnSpcReduction="10000"/>
          </a:bodyPr>
          <a:lstStyle/>
          <a:p>
            <a:pPr algn="just"/>
            <a:r>
              <a:rPr lang="en-US" altLang="en-US" dirty="0"/>
              <a:t>The following types of damage will be covered:</a:t>
            </a:r>
          </a:p>
          <a:p>
            <a:pPr lvl="1" indent="-420688" algn="just">
              <a:buFont typeface="Wingdings" panose="05000000000000000000" pitchFamily="2" charset="2"/>
              <a:buChar char="Ø"/>
            </a:pPr>
            <a:r>
              <a:rPr lang="en-US" altLang="en-US" dirty="0"/>
              <a:t>Loss of life or personal injury on board or outside the ship carrying the HNS;</a:t>
            </a:r>
          </a:p>
          <a:p>
            <a:pPr lvl="1" indent="-420688" algn="just">
              <a:buFont typeface="Wingdings" panose="05000000000000000000" pitchFamily="2" charset="2"/>
              <a:buChar char="Ø"/>
            </a:pPr>
            <a:r>
              <a:rPr lang="en-US" altLang="en-US" dirty="0"/>
              <a:t>Loss of or damage to property outside the ship;</a:t>
            </a:r>
          </a:p>
          <a:p>
            <a:pPr lvl="1" indent="-420688" algn="just">
              <a:buFont typeface="Wingdings" panose="05000000000000000000" pitchFamily="2" charset="2"/>
              <a:buChar char="Ø"/>
            </a:pPr>
            <a:r>
              <a:rPr lang="en-US" altLang="en-US" dirty="0"/>
              <a:t>Economic losses resulting from contamination, e.g. in the fishing, </a:t>
            </a:r>
            <a:r>
              <a:rPr lang="en-US" altLang="en-US" dirty="0" err="1"/>
              <a:t>mariculture</a:t>
            </a:r>
            <a:r>
              <a:rPr lang="en-US" altLang="en-US" dirty="0"/>
              <a:t> and tourism sectors;</a:t>
            </a:r>
          </a:p>
          <a:p>
            <a:pPr lvl="1" indent="-420688" algn="just">
              <a:buFont typeface="Wingdings" panose="05000000000000000000" pitchFamily="2" charset="2"/>
              <a:buChar char="Ø"/>
            </a:pPr>
            <a:r>
              <a:rPr lang="en-US" altLang="en-US" dirty="0"/>
              <a:t>Costs of preventive measures, e.g. clean-up operations at sea and onshore; and</a:t>
            </a:r>
          </a:p>
          <a:p>
            <a:pPr lvl="1" indent="-420688" algn="just">
              <a:buFont typeface="Wingdings" panose="05000000000000000000" pitchFamily="2" charset="2"/>
              <a:buChar char="Ø"/>
            </a:pPr>
            <a:r>
              <a:rPr lang="en-US" altLang="en-US" dirty="0"/>
              <a:t>Costs of reasonable measures of reinstatement of the environment.</a:t>
            </a:r>
          </a:p>
          <a:p>
            <a:pPr algn="just"/>
            <a:r>
              <a:rPr lang="en-US" altLang="en-US" dirty="0"/>
              <a:t>Claims under the HNS Convention will be assessed according to criteria that will be established by the Governments of the States Parties.</a:t>
            </a:r>
            <a:endParaRPr lang="en-GB" altLang="en-US" dirty="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51536778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71682" name="Title 1"/>
          <p:cNvSpPr>
            <a:spLocks noGrp="1"/>
          </p:cNvSpPr>
          <p:nvPr>
            <p:ph type="title"/>
          </p:nvPr>
        </p:nvSpPr>
        <p:spPr>
          <a:xfrm>
            <a:off x="1975282" y="164910"/>
            <a:ext cx="8229600" cy="850900"/>
          </a:xfrm>
        </p:spPr>
        <p:txBody>
          <a:bodyPr>
            <a:normAutofit fontScale="90000"/>
          </a:bodyPr>
          <a:lstStyle/>
          <a:p>
            <a:pPr algn="ctr"/>
            <a:r>
              <a:rPr lang="en-GB" altLang="en-US" b="1" dirty="0" smtClean="0"/>
              <a:t>HNS Convention </a:t>
            </a:r>
            <a:br>
              <a:rPr lang="en-GB" altLang="en-US" b="1" dirty="0" smtClean="0"/>
            </a:br>
            <a:endParaRPr lang="en-GB" altLang="en-US" sz="3200" b="1" i="1" dirty="0"/>
          </a:p>
        </p:txBody>
      </p:sp>
      <p:sp>
        <p:nvSpPr>
          <p:cNvPr id="31747" name="Content Placeholder 2">
            <a:extLst/>
          </p:cNvPr>
          <p:cNvSpPr>
            <a:spLocks noGrp="1"/>
          </p:cNvSpPr>
          <p:nvPr>
            <p:ph idx="1"/>
          </p:nvPr>
        </p:nvSpPr>
        <p:spPr>
          <a:xfrm>
            <a:off x="1043304" y="931528"/>
            <a:ext cx="9874632" cy="5360988"/>
          </a:xfrm>
        </p:spPr>
        <p:txBody>
          <a:bodyPr/>
          <a:lstStyle/>
          <a:p>
            <a:pPr marL="0" indent="0" algn="just">
              <a:buNone/>
              <a:defRPr/>
            </a:pPr>
            <a:r>
              <a:rPr lang="en-US" altLang="en-US" sz="3000" dirty="0">
                <a:ea typeface="MS PGothic" panose="020B0600070205080204" pitchFamily="34" charset="-128"/>
              </a:rPr>
              <a:t>Limitation for compensation</a:t>
            </a:r>
          </a:p>
          <a:p>
            <a:pPr marL="361950" indent="-361950" algn="just">
              <a:defRPr/>
            </a:pPr>
            <a:r>
              <a:rPr lang="en-GB" altLang="en-US" sz="2400" dirty="0">
                <a:ea typeface="MS PGothic" panose="020B0600070205080204" pitchFamily="34" charset="-128"/>
              </a:rPr>
              <a:t>Maximum 250 million SDR in compensation (including any amount paid by the shipowner and his/her insurer) will be available under the HNS Fund.</a:t>
            </a:r>
          </a:p>
          <a:p>
            <a:pPr marL="361950" indent="-361950" algn="just">
              <a:defRPr/>
            </a:pPr>
            <a:r>
              <a:rPr lang="en-GB" altLang="en-US" sz="2400" dirty="0">
                <a:ea typeface="MS PGothic" panose="020B0600070205080204" pitchFamily="34" charset="-128"/>
              </a:rPr>
              <a:t>Where damage is caused by HNS in bulk, the shipowner will normally be able to limit his/her financial liability to an amount between 10 million and 100 million SDR, depending on the gross tonnage of the ship.</a:t>
            </a:r>
          </a:p>
          <a:p>
            <a:pPr marL="361950" indent="-361950" algn="just">
              <a:defRPr/>
            </a:pPr>
            <a:r>
              <a:rPr lang="en-GB" altLang="en-US" sz="2400" dirty="0">
                <a:ea typeface="MS PGothic" panose="020B0600070205080204" pitchFamily="34" charset="-128"/>
              </a:rPr>
              <a:t>Where damage is caused by packaged HNS, the maximum liability for the shipowner is 115 million SDR.</a:t>
            </a:r>
          </a:p>
          <a:p>
            <a:pPr marL="361950" indent="-361950" algn="just">
              <a:defRPr/>
            </a:pPr>
            <a:r>
              <a:rPr lang="en-GB" altLang="en-US" sz="2400" dirty="0">
                <a:ea typeface="MS PGothic" panose="020B0600070205080204" pitchFamily="34" charset="-128"/>
              </a:rPr>
              <a:t>In any case, once the shipowner’s limit has been reached, the HNS Fund will step in with the additional tier of compensation.</a:t>
            </a:r>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9956817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72706"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HNS Convention</a:t>
            </a:r>
          </a:p>
        </p:txBody>
      </p:sp>
      <p:pic>
        <p:nvPicPr>
          <p:cNvPr id="72707"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879097"/>
            <a:ext cx="8018207" cy="5283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TextBox 3"/>
          <p:cNvSpPr txBox="1">
            <a:spLocks noChangeArrowheads="1"/>
          </p:cNvSpPr>
          <p:nvPr/>
        </p:nvSpPr>
        <p:spPr bwMode="auto">
          <a:xfrm>
            <a:off x="1524000" y="6237288"/>
            <a:ext cx="2452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r>
              <a:rPr lang="en-GB" altLang="en-US" sz="2000">
                <a:solidFill>
                  <a:schemeClr val="bg1"/>
                </a:solidFill>
              </a:rPr>
              <a:t>Source: IOPC Funds</a:t>
            </a:r>
          </a:p>
        </p:txBody>
      </p:sp>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11378165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73730" name="Title 1"/>
          <p:cNvSpPr>
            <a:spLocks noGrp="1"/>
          </p:cNvSpPr>
          <p:nvPr>
            <p:ph type="title"/>
          </p:nvPr>
        </p:nvSpPr>
        <p:spPr>
          <a:xfrm>
            <a:off x="1981200" y="130176"/>
            <a:ext cx="8229600" cy="561975"/>
          </a:xfrm>
        </p:spPr>
        <p:txBody>
          <a:bodyPr>
            <a:normAutofit fontScale="90000"/>
          </a:bodyPr>
          <a:lstStyle/>
          <a:p>
            <a:pPr algn="ctr"/>
            <a:r>
              <a:rPr lang="en-US" altLang="en-US" b="1" dirty="0" smtClean="0"/>
              <a:t>HNS Convention</a:t>
            </a:r>
            <a:endParaRPr lang="en-GB" altLang="en-US" b="1" dirty="0" smtClean="0"/>
          </a:p>
        </p:txBody>
      </p:sp>
      <p:sp>
        <p:nvSpPr>
          <p:cNvPr id="73731" name="Content Placeholder 2"/>
          <p:cNvSpPr>
            <a:spLocks noGrp="1"/>
          </p:cNvSpPr>
          <p:nvPr>
            <p:ph idx="1"/>
          </p:nvPr>
        </p:nvSpPr>
        <p:spPr>
          <a:xfrm>
            <a:off x="832282" y="1304417"/>
            <a:ext cx="10222814" cy="4351338"/>
          </a:xfrm>
        </p:spPr>
        <p:txBody>
          <a:bodyPr/>
          <a:lstStyle/>
          <a:p>
            <a:pPr algn="just"/>
            <a:r>
              <a:rPr lang="en-US" altLang="en-US" dirty="0" smtClean="0"/>
              <a:t>The </a:t>
            </a:r>
            <a:r>
              <a:rPr lang="en-US" altLang="en-US" dirty="0" err="1" smtClean="0"/>
              <a:t>shipowner</a:t>
            </a:r>
            <a:r>
              <a:rPr lang="en-US" altLang="en-US" dirty="0" smtClean="0"/>
              <a:t> will have strict liability for any damage caused by HNS, i.e. the </a:t>
            </a:r>
            <a:r>
              <a:rPr lang="en-US" altLang="en-US" dirty="0" err="1" smtClean="0"/>
              <a:t>shipowner</a:t>
            </a:r>
            <a:r>
              <a:rPr lang="en-US" altLang="en-US" dirty="0" smtClean="0"/>
              <a:t> will be liable even without fault on the part of the ship or its crew</a:t>
            </a:r>
            <a:r>
              <a:rPr lang="en-US" altLang="en-US" dirty="0" smtClean="0"/>
              <a:t>.</a:t>
            </a:r>
          </a:p>
          <a:p>
            <a:pPr marL="0" indent="0" algn="just">
              <a:buNone/>
            </a:pPr>
            <a:r>
              <a:rPr lang="en-US" altLang="en-US" dirty="0" smtClean="0"/>
              <a:t> </a:t>
            </a:r>
            <a:endParaRPr lang="en-US" altLang="en-US" dirty="0" smtClean="0"/>
          </a:p>
          <a:p>
            <a:pPr algn="just"/>
            <a:r>
              <a:rPr lang="en-US" altLang="en-US" dirty="0" smtClean="0"/>
              <a:t>The </a:t>
            </a:r>
            <a:r>
              <a:rPr lang="en-US" altLang="en-US" dirty="0" err="1" smtClean="0"/>
              <a:t>shipowner</a:t>
            </a:r>
            <a:r>
              <a:rPr lang="en-US" altLang="en-US" dirty="0" smtClean="0"/>
              <a:t> will be obliged to maintain insurance to cover his liabilities under the HNS Convention. This insurance will normally be provided by protection and indemnity (P&amp;I) insurers.</a:t>
            </a:r>
            <a:endParaRPr lang="en-GB" altLang="en-US" dirty="0" smtClean="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08275155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74754"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HNS Convention</a:t>
            </a:r>
          </a:p>
        </p:txBody>
      </p:sp>
      <p:sp>
        <p:nvSpPr>
          <p:cNvPr id="3" name="Content Placeholder 2">
            <a:extLst/>
          </p:cNvPr>
          <p:cNvSpPr>
            <a:spLocks noGrp="1"/>
          </p:cNvSpPr>
          <p:nvPr>
            <p:ph idx="1"/>
          </p:nvPr>
        </p:nvSpPr>
        <p:spPr>
          <a:xfrm>
            <a:off x="832282" y="1167257"/>
            <a:ext cx="10515600" cy="4351338"/>
          </a:xfrm>
        </p:spPr>
        <p:txBody>
          <a:bodyPr/>
          <a:lstStyle/>
          <a:p>
            <a:pPr marL="0" indent="0" algn="just">
              <a:buNone/>
              <a:defRPr/>
            </a:pPr>
            <a:r>
              <a:rPr lang="en-US" altLang="en-US" dirty="0"/>
              <a:t>The HNS Fund</a:t>
            </a:r>
          </a:p>
          <a:p>
            <a:pPr algn="just">
              <a:defRPr/>
            </a:pPr>
            <a:r>
              <a:rPr lang="en-US" altLang="en-US" sz="2400" dirty="0"/>
              <a:t>Will be established once the HNS Convention enters into force. States which ratify the 2010 HNS Protocol will become Members of the HNS Fund. </a:t>
            </a:r>
          </a:p>
          <a:p>
            <a:pPr algn="just">
              <a:defRPr/>
            </a:pPr>
            <a:r>
              <a:rPr lang="en-US" altLang="en-US" sz="2400" dirty="0"/>
              <a:t>Will provide the second tier of compensation and will be administered by a Secretariat and headed by a Director.</a:t>
            </a:r>
          </a:p>
          <a:p>
            <a:pPr algn="just">
              <a:defRPr/>
            </a:pPr>
            <a:r>
              <a:rPr lang="en-US" altLang="en-US" sz="2400" dirty="0"/>
              <a:t>Expected to function similarly to the IOPC Funds and will be governed by an Assembly composed of Government representatives from its Member States. </a:t>
            </a:r>
          </a:p>
          <a:p>
            <a:pPr algn="just">
              <a:defRPr/>
            </a:pPr>
            <a:r>
              <a:rPr lang="en-US" altLang="en-US" sz="2400" dirty="0"/>
              <a:t>Will also have a Committee to address claims for compensation, which will be similar to the IOPC Fund’s Executive Committee.</a:t>
            </a:r>
            <a:endParaRPr lang="en-GB" altLang="en-US" sz="2400" dirty="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330180138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a:xfrm>
            <a:off x="1981200" y="130176"/>
            <a:ext cx="8229600" cy="561975"/>
          </a:xfrm>
        </p:spPr>
        <p:txBody>
          <a:bodyPr>
            <a:normAutofit fontScale="90000"/>
          </a:bodyPr>
          <a:lstStyle/>
          <a:p>
            <a:r>
              <a:rPr lang="en-GB" altLang="en-US" smtClean="0"/>
              <a:t>HNS Convention</a:t>
            </a:r>
          </a:p>
        </p:txBody>
      </p:sp>
      <p:sp>
        <p:nvSpPr>
          <p:cNvPr id="3" name="Content Placeholder 2">
            <a:extLst/>
          </p:cNvPr>
          <p:cNvSpPr>
            <a:spLocks noGrp="1"/>
          </p:cNvSpPr>
          <p:nvPr>
            <p:ph idx="1"/>
          </p:nvPr>
        </p:nvSpPr>
        <p:spPr>
          <a:xfrm>
            <a:off x="832282" y="1158112"/>
            <a:ext cx="10515600" cy="4584319"/>
          </a:xfrm>
        </p:spPr>
        <p:txBody>
          <a:bodyPr>
            <a:normAutofit fontScale="92500" lnSpcReduction="10000"/>
          </a:bodyPr>
          <a:lstStyle/>
          <a:p>
            <a:pPr marL="0" indent="0">
              <a:buNone/>
              <a:defRPr/>
            </a:pPr>
            <a:r>
              <a:rPr lang="en-US" altLang="en-US" dirty="0"/>
              <a:t>How will the HNS Fund be financed?</a:t>
            </a:r>
          </a:p>
          <a:p>
            <a:pPr algn="just">
              <a:defRPr/>
            </a:pPr>
            <a:r>
              <a:rPr lang="en-US" altLang="en-US" sz="1900" dirty="0"/>
              <a:t>The HNS Fund will be financed by contributions paid by receivers of bulk HNS, or titleholders for LNG cargo in some cases, that have been transported by sea to the ports and terminals of Member States.</a:t>
            </a:r>
          </a:p>
          <a:p>
            <a:pPr algn="just">
              <a:defRPr/>
            </a:pPr>
            <a:r>
              <a:rPr lang="en-US" altLang="en-US" sz="1900" dirty="0"/>
              <a:t>The HNS Fund will have up to four accounts, with separate accounts for oil, LNG and LPG and a general account for bulk solids and other HNS. However, until the quantities of HNS received in all States Parties reach the established thresholds, as shown in the table on the next slide, all accounts will be managed out of the general account.</a:t>
            </a:r>
          </a:p>
          <a:p>
            <a:pPr algn="just">
              <a:defRPr/>
            </a:pPr>
            <a:r>
              <a:rPr lang="en-US" altLang="en-US" sz="1900" dirty="0"/>
              <a:t>Contributions by individual receivers to the separate accounts and sectors will be in proportion to the quantities of HNS received, provided that the quantities are above the established thresholds.</a:t>
            </a:r>
          </a:p>
          <a:p>
            <a:pPr algn="just">
              <a:defRPr/>
            </a:pPr>
            <a:r>
              <a:rPr lang="en-US" altLang="en-US" sz="1900" dirty="0"/>
              <a:t>Whereas the total contributions to the general account will be divided amongst the sectors, according to the level of claims in each sector, the separate accounts will only meet claims resulting from incidents involving the respective cargoes, i.e. there will be no cross-subsidization.</a:t>
            </a:r>
          </a:p>
          <a:p>
            <a:pPr algn="just">
              <a:defRPr/>
            </a:pPr>
            <a:r>
              <a:rPr lang="en-US" altLang="en-US" sz="1900" dirty="0"/>
              <a:t>As part of the changes agreed in the 2010 HNS Protocol, packaged goods will no longer be considered as contributing cargo to the HNS Fund. However, compensation for incidents involving packaged HNS will continue to be covered under the relevant account.</a:t>
            </a:r>
            <a:endParaRPr lang="en-GB" altLang="en-US" sz="1900" dirty="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6326578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76802"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HNS Convention</a:t>
            </a:r>
          </a:p>
        </p:txBody>
      </p:sp>
      <p:pic>
        <p:nvPicPr>
          <p:cNvPr id="7680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11364" y="1118362"/>
            <a:ext cx="8137525" cy="496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TextBox 3"/>
          <p:cNvSpPr txBox="1">
            <a:spLocks noChangeArrowheads="1"/>
          </p:cNvSpPr>
          <p:nvPr/>
        </p:nvSpPr>
        <p:spPr bwMode="auto">
          <a:xfrm>
            <a:off x="1524000" y="6237288"/>
            <a:ext cx="2452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ahoma" panose="020B0604030504040204" pitchFamily="34" charset="0"/>
                <a:ea typeface="ＭＳ Ｐゴシック" panose="020B0600070205080204" pitchFamily="34" charset="-128"/>
              </a:defRPr>
            </a:lvl1pPr>
            <a:lvl2pPr marL="742950" indent="-285750">
              <a:defRPr sz="2400">
                <a:solidFill>
                  <a:schemeClr val="tx1"/>
                </a:solidFill>
                <a:latin typeface="Tahoma" panose="020B0604030504040204" pitchFamily="34" charset="0"/>
                <a:ea typeface="ＭＳ Ｐゴシック" panose="020B0600070205080204" pitchFamily="34" charset="-128"/>
              </a:defRPr>
            </a:lvl2pPr>
            <a:lvl3pPr marL="1143000" indent="-228600">
              <a:defRPr sz="2400">
                <a:solidFill>
                  <a:schemeClr val="tx1"/>
                </a:solidFill>
                <a:latin typeface="Tahoma" panose="020B0604030504040204" pitchFamily="34" charset="0"/>
                <a:ea typeface="ＭＳ Ｐゴシック" panose="020B0600070205080204" pitchFamily="34" charset="-128"/>
              </a:defRPr>
            </a:lvl3pPr>
            <a:lvl4pPr marL="1600200" indent="-228600">
              <a:defRPr sz="2400">
                <a:solidFill>
                  <a:schemeClr val="tx1"/>
                </a:solidFill>
                <a:latin typeface="Tahoma" panose="020B0604030504040204" pitchFamily="34" charset="0"/>
                <a:ea typeface="ＭＳ Ｐゴシック" panose="020B0600070205080204" pitchFamily="34" charset="-128"/>
              </a:defRPr>
            </a:lvl4pPr>
            <a:lvl5pPr marL="2057400" indent="-22860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r>
              <a:rPr lang="en-GB" altLang="en-US" sz="2000">
                <a:solidFill>
                  <a:schemeClr val="bg1"/>
                </a:solidFill>
              </a:rPr>
              <a:t>Source: IOPC Funds</a:t>
            </a:r>
          </a:p>
        </p:txBody>
      </p:sp>
      <p:sp>
        <p:nvSpPr>
          <p:cNvPr id="5"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139577755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77826"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Conclusion</a:t>
            </a:r>
          </a:p>
        </p:txBody>
      </p:sp>
      <p:sp>
        <p:nvSpPr>
          <p:cNvPr id="77827" name="Content Placeholder 2"/>
          <p:cNvSpPr>
            <a:spLocks noGrp="1"/>
          </p:cNvSpPr>
          <p:nvPr>
            <p:ph idx="1"/>
          </p:nvPr>
        </p:nvSpPr>
        <p:spPr>
          <a:xfrm>
            <a:off x="832282" y="1396790"/>
            <a:ext cx="10515600" cy="4351338"/>
          </a:xfrm>
        </p:spPr>
        <p:txBody>
          <a:bodyPr/>
          <a:lstStyle/>
          <a:p>
            <a:pPr algn="just"/>
            <a:r>
              <a:rPr lang="en-GB" altLang="en-US" smtClean="0"/>
              <a:t>There are a number of national laws and international liability and compensation regimes which your country may have adopted.</a:t>
            </a:r>
          </a:p>
          <a:p>
            <a:pPr algn="just"/>
            <a:endParaRPr lang="en-GB" altLang="en-US" smtClean="0"/>
          </a:p>
          <a:p>
            <a:pPr algn="just"/>
            <a:r>
              <a:rPr lang="en-GB" altLang="en-US" smtClean="0"/>
              <a:t>The compensation available will depend on which Conventions have been ratified and are applicable to this incident and the vessel size and type. </a:t>
            </a:r>
          </a:p>
          <a:p>
            <a:pPr algn="just"/>
            <a:endParaRPr lang="en-GB" altLang="en-US" smtClean="0"/>
          </a:p>
          <a:p>
            <a:pPr algn="just"/>
            <a:endParaRPr lang="en-GB" altLang="en-US" smtClean="0"/>
          </a:p>
          <a:p>
            <a:pPr algn="just"/>
            <a:endParaRPr lang="en-GB" altLang="en-US" smtClean="0"/>
          </a:p>
          <a:p>
            <a:pPr algn="just"/>
            <a:endParaRPr lang="en-GB" altLang="en-US" smtClean="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277779451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
        <p:nvSpPr>
          <p:cNvPr id="78850" name="Title 1"/>
          <p:cNvSpPr>
            <a:spLocks noGrp="1"/>
          </p:cNvSpPr>
          <p:nvPr>
            <p:ph type="title"/>
          </p:nvPr>
        </p:nvSpPr>
        <p:spPr>
          <a:xfrm>
            <a:off x="1981200" y="130176"/>
            <a:ext cx="8229600" cy="561975"/>
          </a:xfrm>
        </p:spPr>
        <p:txBody>
          <a:bodyPr>
            <a:normAutofit fontScale="90000"/>
          </a:bodyPr>
          <a:lstStyle/>
          <a:p>
            <a:pPr algn="ctr"/>
            <a:r>
              <a:rPr lang="en-GB" altLang="en-US" b="1" dirty="0" smtClean="0"/>
              <a:t>Conclusion</a:t>
            </a:r>
          </a:p>
        </p:txBody>
      </p:sp>
      <p:sp>
        <p:nvSpPr>
          <p:cNvPr id="78851" name="Content Placeholder 2"/>
          <p:cNvSpPr>
            <a:spLocks noGrp="1"/>
          </p:cNvSpPr>
          <p:nvPr>
            <p:ph idx="1"/>
          </p:nvPr>
        </p:nvSpPr>
        <p:spPr>
          <a:xfrm>
            <a:off x="832282" y="1396790"/>
            <a:ext cx="10515600" cy="4351338"/>
          </a:xfrm>
        </p:spPr>
        <p:txBody>
          <a:bodyPr/>
          <a:lstStyle/>
          <a:p>
            <a:pPr algn="just"/>
            <a:r>
              <a:rPr lang="en-GB" altLang="en-US" dirty="0" smtClean="0"/>
              <a:t>In return for accepting strict liability which simplifies the compensation process the </a:t>
            </a:r>
            <a:r>
              <a:rPr lang="en-GB" altLang="en-US" dirty="0" err="1" smtClean="0"/>
              <a:t>shipowers</a:t>
            </a:r>
            <a:r>
              <a:rPr lang="en-GB" altLang="en-US" dirty="0" smtClean="0"/>
              <a:t> in most cases can limit liability to an agreed amount.  </a:t>
            </a:r>
          </a:p>
          <a:p>
            <a:pPr algn="just"/>
            <a:endParaRPr lang="en-GB" altLang="en-US" dirty="0" smtClean="0"/>
          </a:p>
          <a:p>
            <a:pPr algn="just"/>
            <a:r>
              <a:rPr lang="en-GB" altLang="en-US" dirty="0" smtClean="0"/>
              <a:t>Compensation is paid only for proven losses </a:t>
            </a:r>
          </a:p>
          <a:p>
            <a:pPr algn="just"/>
            <a:endParaRPr lang="en-GB" altLang="en-US" dirty="0" smtClean="0"/>
          </a:p>
          <a:p>
            <a:pPr algn="just"/>
            <a:endParaRPr lang="en-GB" altLang="en-US" dirty="0" smtClean="0"/>
          </a:p>
          <a:p>
            <a:pPr algn="just"/>
            <a:endParaRPr lang="en-GB" altLang="en-US" dirty="0" smtClean="0"/>
          </a:p>
          <a:p>
            <a:pPr algn="just"/>
            <a:endParaRPr lang="en-GB" altLang="en-US" dirty="0" smtClean="0"/>
          </a:p>
        </p:txBody>
      </p:sp>
      <p:sp>
        <p:nvSpPr>
          <p:cNvPr id="4" name="Footer Placeholder 4"/>
          <p:cNvSpPr txBox="1">
            <a:spLocks/>
          </p:cNvSpPr>
          <p:nvPr/>
        </p:nvSpPr>
        <p:spPr>
          <a:xfrm>
            <a:off x="142043" y="6378300"/>
            <a:ext cx="11896078"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Tree>
    <p:extLst>
      <p:ext uri="{BB962C8B-B14F-4D97-AF65-F5344CB8AC3E}">
        <p14:creationId xmlns:p14="http://schemas.microsoft.com/office/powerpoint/2010/main" val="40176815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txBox="1">
            <a:spLocks/>
          </p:cNvSpPr>
          <p:nvPr/>
        </p:nvSpPr>
        <p:spPr>
          <a:xfrm>
            <a:off x="0" y="6378300"/>
            <a:ext cx="12192000" cy="365125"/>
          </a:xfrm>
          <a:prstGeom prst="rect">
            <a:avLst/>
          </a:prstGeom>
          <a:solidFill>
            <a:schemeClr val="bg1"/>
          </a:solidFill>
          <a:ln>
            <a:solidFill>
              <a:schemeClr val="tx1"/>
            </a:solidFill>
          </a:ln>
        </p:spPr>
        <p:txBody>
          <a:bodyPr vert="horz" lIns="91440" tIns="45720" rIns="91440" bIns="45720" rtlCol="0" anchor="ctr"/>
          <a:lstStyle>
            <a:lvl1pPr marL="0" indent="0" algn="l" defTabSz="914400">
              <a:lnSpc>
                <a:spcPct val="100000"/>
              </a:lnSpc>
              <a:spcBef>
                <a:spcPts val="0"/>
              </a:spcBef>
              <a:spcAft>
                <a:spcPts val="0"/>
              </a:spcAft>
              <a:buNone/>
              <a:defRPr lang="en-US" sz="1800" b="0" i="0">
                <a:solidFill>
                  <a:schemeClr val="dk1"/>
                </a:solidFill>
                <a:latin typeface="Calibri"/>
              </a:defRPr>
            </a:lvl1pPr>
            <a:lvl2pPr marL="457200" indent="457200" algn="l" defTabSz="914400">
              <a:lnSpc>
                <a:spcPct val="100000"/>
              </a:lnSpc>
              <a:spcBef>
                <a:spcPts val="0"/>
              </a:spcBef>
              <a:spcAft>
                <a:spcPts val="0"/>
              </a:spcAft>
              <a:buNone/>
              <a:defRPr lang="en-US" sz="1800" b="0" i="0">
                <a:solidFill>
                  <a:schemeClr val="dk1"/>
                </a:solidFill>
                <a:latin typeface="Calibri"/>
              </a:defRPr>
            </a:lvl2pPr>
            <a:lvl3pPr marL="914400" indent="914400" algn="l" defTabSz="914400">
              <a:lnSpc>
                <a:spcPct val="100000"/>
              </a:lnSpc>
              <a:spcBef>
                <a:spcPts val="0"/>
              </a:spcBef>
              <a:spcAft>
                <a:spcPts val="0"/>
              </a:spcAft>
              <a:buNone/>
              <a:defRPr lang="en-US" sz="1800" b="0" i="0">
                <a:solidFill>
                  <a:schemeClr val="dk1"/>
                </a:solidFill>
                <a:latin typeface="Calibri"/>
              </a:defRPr>
            </a:lvl3pPr>
            <a:lvl4pPr marL="1371600" indent="1371600" algn="l" defTabSz="914400">
              <a:lnSpc>
                <a:spcPct val="100000"/>
              </a:lnSpc>
              <a:spcBef>
                <a:spcPts val="0"/>
              </a:spcBef>
              <a:spcAft>
                <a:spcPts val="0"/>
              </a:spcAft>
              <a:buNone/>
              <a:defRPr lang="en-US" sz="1800" b="0" i="0">
                <a:solidFill>
                  <a:schemeClr val="dk1"/>
                </a:solidFill>
                <a:latin typeface="Calibri"/>
              </a:defRPr>
            </a:lvl4pPr>
            <a:lvl5pPr marL="1828800" indent="1828800" algn="l" defTabSz="914400">
              <a:lnSpc>
                <a:spcPct val="100000"/>
              </a:lnSpc>
              <a:spcBef>
                <a:spcPts val="0"/>
              </a:spcBef>
              <a:spcAft>
                <a:spcPts val="0"/>
              </a:spcAft>
              <a:buNone/>
              <a:defRPr lang="en-US" sz="1800" b="0" i="0">
                <a:solidFill>
                  <a:schemeClr val="dk1"/>
                </a:solidFill>
                <a:latin typeface="Calibri"/>
              </a:defRPr>
            </a:lvl5pPr>
            <a:lvl6pPr>
              <a:defRPr lang="en-US" sz="1800"/>
            </a:lvl6pPr>
            <a:lvl7pPr>
              <a:defRPr lang="en-US" sz="1800"/>
            </a:lvl7pPr>
            <a:lvl8pPr>
              <a:defRPr lang="en-US" sz="1800"/>
            </a:lvl8pPr>
            <a:lvl9pPr>
              <a:defRPr lang="en-US" sz="1800"/>
            </a:lvl9pPr>
          </a:lstStyle>
          <a:p>
            <a:pPr algn="ctr"/>
            <a:r>
              <a:rPr lang="en-US" altLang="en-US" dirty="0">
                <a:latin typeface="inherit"/>
              </a:rPr>
              <a:t> </a:t>
            </a:r>
            <a:r>
              <a:rPr lang="en-US" altLang="en-US" i="1" dirty="0" smtClean="0">
                <a:solidFill>
                  <a:schemeClr val="tx1"/>
                </a:solidFill>
              </a:rPr>
              <a:t>CGPRT(W) </a:t>
            </a:r>
            <a:r>
              <a:rPr lang="en-US" altLang="en-US" i="1" dirty="0">
                <a:solidFill>
                  <a:schemeClr val="tx1"/>
                </a:solidFill>
              </a:rPr>
              <a:t>: </a:t>
            </a:r>
            <a:r>
              <a:rPr lang="en-US" altLang="en-US" i="1" dirty="0" smtClean="0">
                <a:solidFill>
                  <a:schemeClr val="tx1"/>
                </a:solidFill>
              </a:rPr>
              <a:t>Ensuring Clean Seas and Coasts in Western Region ……</a:t>
            </a:r>
            <a:endParaRPr lang="en-US" altLang="en-US" i="1" dirty="0">
              <a:solidFill>
                <a:schemeClr val="tx1"/>
              </a:solidFill>
            </a:endParaRPr>
          </a:p>
        </p:txBody>
      </p:sp>
      <p:sp>
        <p:nvSpPr>
          <p:cNvPr id="7" name="Rectangle 6"/>
          <p:cNvSpPr/>
          <p:nvPr/>
        </p:nvSpPr>
        <p:spPr>
          <a:xfrm>
            <a:off x="810490" y="2385956"/>
            <a:ext cx="10571019" cy="1938992"/>
          </a:xfrm>
          <a:prstGeom prst="rect">
            <a:avLst/>
          </a:prstGeom>
        </p:spPr>
        <p:txBody>
          <a:bodyPr wrap="square">
            <a:spAutoFit/>
          </a:bodyPr>
          <a:lstStyle/>
          <a:p>
            <a:pPr algn="ctr">
              <a:spcBef>
                <a:spcPct val="50000"/>
              </a:spcBef>
              <a:defRPr/>
            </a:pPr>
            <a:r>
              <a:rPr lang="en-US" altLang="en-US" sz="4000" b="1" dirty="0">
                <a:ln w="0"/>
                <a:latin typeface="Tahoma" panose="020B0604030504040204" pitchFamily="34" charset="0"/>
                <a:ea typeface="Tahoma" panose="020B0604030504040204" pitchFamily="34" charset="0"/>
                <a:cs typeface="Tahoma" panose="020B0604030504040204" pitchFamily="34" charset="0"/>
              </a:rPr>
              <a:t/>
            </a:r>
            <a:br>
              <a:rPr lang="en-US" altLang="en-US" sz="4000" b="1" dirty="0">
                <a:ln w="0"/>
                <a:latin typeface="Tahoma" panose="020B0604030504040204" pitchFamily="34" charset="0"/>
                <a:ea typeface="Tahoma" panose="020B0604030504040204" pitchFamily="34" charset="0"/>
                <a:cs typeface="Tahoma" panose="020B0604030504040204" pitchFamily="34" charset="0"/>
              </a:rPr>
            </a:br>
            <a:r>
              <a:rPr lang="en-GB" sz="4000" b="1" dirty="0">
                <a:ln w="0"/>
                <a:latin typeface="Tahoma" panose="020B0604030504040204" pitchFamily="34" charset="0"/>
                <a:ea typeface="Tahoma" panose="020B0604030504040204" pitchFamily="34" charset="0"/>
                <a:cs typeface="Tahoma" panose="020B0604030504040204" pitchFamily="34" charset="0"/>
              </a:rPr>
              <a:t>Any questions?</a:t>
            </a:r>
          </a:p>
          <a:p>
            <a:pPr lvl="1">
              <a:spcBef>
                <a:spcPct val="0"/>
              </a:spcBef>
            </a:pPr>
            <a:endParaRPr lang="en-GB" altLang="en-US" sz="4000" b="1" dirty="0">
              <a:ln w="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0" y="0"/>
            <a:ext cx="12192000" cy="766618"/>
          </a:xfrm>
          <a:prstGeom prst="rect">
            <a:avLst/>
          </a:prstGeom>
          <a:solidFill>
            <a:schemeClr val="bg1"/>
          </a:solidFill>
        </p:spPr>
        <p:style>
          <a:lnRef idx="1">
            <a:schemeClr val="accent5"/>
          </a:lnRef>
          <a:fillRef idx="3">
            <a:schemeClr val="accent5"/>
          </a:fillRef>
          <a:effectRef idx="2">
            <a:schemeClr val="accent5"/>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202832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Tahoma"/>
        <a:ea typeface=""/>
        <a:cs typeface="Tahoma"/>
      </a:majorFont>
      <a:minorFont>
        <a:latin typeface="Tahoma"/>
        <a:ea typeface=""/>
        <a:cs typeface="Taho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471</TotalTime>
  <Words>3802</Words>
  <Application>Microsoft Office PowerPoint</Application>
  <PresentationFormat>Widescreen</PresentationFormat>
  <Paragraphs>332</Paragraphs>
  <Slides>53</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53</vt:i4>
      </vt:variant>
    </vt:vector>
  </HeadingPairs>
  <TitlesOfParts>
    <vt:vector size="64" baseType="lpstr">
      <vt:lpstr>ＭＳ Ｐゴシック</vt:lpstr>
      <vt:lpstr>ＭＳ Ｐゴシック</vt:lpstr>
      <vt:lpstr>Arial</vt:lpstr>
      <vt:lpstr>Calibri</vt:lpstr>
      <vt:lpstr>CommonBullets</vt:lpstr>
      <vt:lpstr>inherit</vt:lpstr>
      <vt:lpstr>Symbol</vt:lpstr>
      <vt:lpstr>Tahoma</vt:lpstr>
      <vt:lpstr>Times New Roman</vt:lpstr>
      <vt:lpstr>Wingdings</vt:lpstr>
      <vt:lpstr>Office Theme</vt:lpstr>
      <vt:lpstr>PowerPoint Presentation</vt:lpstr>
      <vt:lpstr>Objective</vt:lpstr>
      <vt:lpstr>Compensation and Liability Regimes  </vt:lpstr>
      <vt:lpstr>Polluter Pays Principle  </vt:lpstr>
      <vt:lpstr>National laws</vt:lpstr>
      <vt:lpstr>International Conventions</vt:lpstr>
      <vt:lpstr>International Conventions</vt:lpstr>
      <vt:lpstr>International Conventions</vt:lpstr>
      <vt:lpstr>Convention on Limitation of Liability for Maritime Claims (LLMC 1976 and 1996)  </vt:lpstr>
      <vt:lpstr> LLMC   </vt:lpstr>
      <vt:lpstr> LLMC   </vt:lpstr>
      <vt:lpstr>LLMC 1996 </vt:lpstr>
      <vt:lpstr>International Convention on Civil Liability for  Bunker Oil Pollution Damage, 2001  </vt:lpstr>
      <vt:lpstr>Bunker Convention  </vt:lpstr>
      <vt:lpstr>Bunker Convention </vt:lpstr>
      <vt:lpstr>Bunker Convention  </vt:lpstr>
      <vt:lpstr>Insurers and P&amp;I Clubs </vt:lpstr>
      <vt:lpstr>1992 Civil Liability and Fund Conventions </vt:lpstr>
      <vt:lpstr>PowerPoint Presentation</vt:lpstr>
      <vt:lpstr>Civil Liability and Fund Conventions</vt:lpstr>
      <vt:lpstr>Civil Liability and Fund Conventions</vt:lpstr>
      <vt:lpstr>The Three Tier System</vt:lpstr>
      <vt:lpstr>CLC and Fund 1992</vt:lpstr>
      <vt:lpstr>CLC 1992 – 1st Tier</vt:lpstr>
      <vt:lpstr>Pollution Damage </vt:lpstr>
      <vt:lpstr>CLC 1992</vt:lpstr>
      <vt:lpstr>Right to limit Liability</vt:lpstr>
      <vt:lpstr>Right to limit Liability</vt:lpstr>
      <vt:lpstr>CLC 1992 </vt:lpstr>
      <vt:lpstr>1992 Fund Convention </vt:lpstr>
      <vt:lpstr>1992 Fund Convention </vt:lpstr>
      <vt:lpstr>1992 Fund Convention </vt:lpstr>
      <vt:lpstr>3rd TIER </vt:lpstr>
      <vt:lpstr>Who Contributes to the Funds?</vt:lpstr>
      <vt:lpstr>The three tier System</vt:lpstr>
      <vt:lpstr>Admissibility of Claims  Principles</vt:lpstr>
      <vt:lpstr>Admissibility of Claims  Principles</vt:lpstr>
      <vt:lpstr>     Main Types of Claims  </vt:lpstr>
      <vt:lpstr>Time bar</vt:lpstr>
      <vt:lpstr>Time bar</vt:lpstr>
      <vt:lpstr>Maximum Limits of Compensation</vt:lpstr>
      <vt:lpstr>HNS Convention</vt:lpstr>
      <vt:lpstr>HNS Convention</vt:lpstr>
      <vt:lpstr>HNS Convention</vt:lpstr>
      <vt:lpstr>HNS Convention  </vt:lpstr>
      <vt:lpstr>HNS Convention</vt:lpstr>
      <vt:lpstr>HNS Convention</vt:lpstr>
      <vt:lpstr>HNS Convention</vt:lpstr>
      <vt:lpstr>HNS Convention</vt:lpstr>
      <vt:lpstr>HNS Convention</vt:lpstr>
      <vt:lpstr>Conclusion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Syed, Mohammad Muktadar</dc:creator>
  <cp:lastModifiedBy>Sajith, Sadanandan </cp:lastModifiedBy>
  <cp:revision>158</cp:revision>
  <dcterms:created xsi:type="dcterms:W3CDTF">2024-09-27T05:40:49Z</dcterms:created>
  <dcterms:modified xsi:type="dcterms:W3CDTF">2025-06-05T05:24:39Z</dcterms:modified>
</cp:coreProperties>
</file>
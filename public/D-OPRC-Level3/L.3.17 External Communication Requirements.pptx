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26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C978A-5EEC-4502-81D9-3E8DD81E0DED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B824B7-FD35-47DE-9DF1-20602360D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192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8281709-E31B-426A-A2FE-9D397FF400ED}" type="slidenum">
              <a:rPr lang="en-GB" altLang="en-US" sz="1300" smtClean="0"/>
              <a:pPr>
                <a:spcBef>
                  <a:spcPct val="0"/>
                </a:spcBef>
              </a:pPr>
              <a:t>3</a:t>
            </a:fld>
            <a:endParaRPr lang="en-GB" altLang="en-US" sz="1300" smtClean="0"/>
          </a:p>
        </p:txBody>
      </p:sp>
      <p:sp>
        <p:nvSpPr>
          <p:cNvPr id="2048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205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AFFA1FA-90C9-4008-B1C2-1ECFFF26C5D2}" type="slidenum">
              <a:rPr lang="en-US" altLang="en-US" sz="1300" smtClean="0"/>
              <a:pPr>
                <a:spcBef>
                  <a:spcPct val="0"/>
                </a:spcBef>
              </a:pPr>
              <a:t>5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710285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7A66A27-397A-47DD-A579-935AB9E41B25}" type="slidenum">
              <a:rPr lang="en-US" altLang="en-US" sz="1300" smtClean="0"/>
              <a:pPr>
                <a:spcBef>
                  <a:spcPct val="0"/>
                </a:spcBef>
              </a:pPr>
              <a:t>7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273166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 noChangeArrowheads="1"/>
          </p:cNvSpPr>
          <p:nvPr/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A6EFCE4-3FCF-42D4-B5DF-F4DE198A609B}" type="slidenum">
              <a:rPr lang="en-US" altLang="en-US" sz="1300"/>
              <a:pPr algn="r" eaLnBrk="1" hangingPunct="1"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110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975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 noChangeArrowheads="1"/>
          </p:cNvSpPr>
          <p:nvPr/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B989D1C-EE73-4C1F-9BA3-DA79EEE01583}" type="slidenum">
              <a:rPr lang="en-US" altLang="en-US" sz="1300"/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 sz="13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110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237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 txBox="1">
            <a:spLocks noGrp="1" noChangeArrowheads="1"/>
          </p:cNvSpPr>
          <p:nvPr/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E134E3C-5F92-41D5-9A20-FD5CA08B612C}" type="slidenum">
              <a:rPr lang="en-US" altLang="en-US" sz="1300"/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110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568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 noChangeArrowheads="1"/>
          </p:cNvSpPr>
          <p:nvPr/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2BE24E6-7745-4613-87B6-F7A694B9E5A2}" type="slidenum">
              <a:rPr lang="en-US" altLang="en-US" sz="1300"/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 sz="13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110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215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 noChangeArrowheads="1"/>
          </p:cNvSpPr>
          <p:nvPr/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46BAF18-4966-4ABC-8A4D-A8DF14E95027}" type="slidenum">
              <a:rPr lang="en-US" altLang="en-US" sz="1300"/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 sz="13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110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6885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 noChangeArrowheads="1"/>
          </p:cNvSpPr>
          <p:nvPr/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6BF93D5-526F-49C9-8FBF-E0177C13414F}" type="slidenum">
              <a:rPr lang="en-US" altLang="en-US" sz="1300"/>
              <a:pPr algn="r" eaLnBrk="1" hangingPunct="1"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110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100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44713" y="333375"/>
            <a:ext cx="5316537" cy="2990850"/>
          </a:xfrm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9525" y="3489325"/>
            <a:ext cx="7051675" cy="32575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479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F8151B0-571E-40B0-A6DF-BAE6B14671FD}" type="slidenum">
              <a:rPr lang="en-US" altLang="en-US" sz="1300" smtClean="0"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US" altLang="en-US" sz="1300" smtClean="0">
              <a:cs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endParaRPr lang="en-US" altLang="en-US" sz="110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271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44713" y="333375"/>
            <a:ext cx="5316537" cy="2990850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9525" y="3489325"/>
            <a:ext cx="7051675" cy="32575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261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5549DC7-C67D-433D-B844-39678B09EC61}" type="slidenum">
              <a:rPr lang="en-US" altLang="en-US" sz="1300" smtClean="0"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US" altLang="en-US" sz="1300" smtClean="0">
              <a:cs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endParaRPr lang="en-US" altLang="en-US" sz="110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4064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439FBF7-CA14-4F3B-9B89-BC58B086C371}" type="slidenum">
              <a:rPr lang="en-US" altLang="en-US" sz="1300" smtClean="0"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US" altLang="en-US" sz="1300" smtClean="0">
              <a:cs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en-US" sz="110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7816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AF7DA25-29D8-42C6-933E-C7895B0C2041}" type="slidenum">
              <a:rPr lang="en-US" altLang="en-US" sz="1300" smtClean="0"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24</a:t>
            </a:fld>
            <a:endParaRPr lang="en-US" altLang="en-US" sz="1300" smtClean="0">
              <a:cs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en-US" sz="1100" dirty="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1695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18B0F75-610A-42E0-94A9-A0373F2586A1}" type="slidenum">
              <a:rPr lang="en-US" altLang="en-US" sz="1300" smtClean="0"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en-US" altLang="en-US" sz="1300" smtClean="0">
              <a:cs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110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752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B169D4A-B956-46B6-94F9-93BF2BA98A01}" type="slidenum">
              <a:rPr lang="en-US" altLang="en-US" sz="1300" smtClean="0"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26</a:t>
            </a:fld>
            <a:endParaRPr lang="en-US" altLang="en-US" sz="1300" smtClean="0">
              <a:cs typeface="Arial" panose="020B060402020202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21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4EDEB79-1F9B-4004-BC11-0963E3716EE7}" type="slidenum">
              <a:rPr lang="en-US" altLang="en-US" sz="1300" smtClean="0"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27</a:t>
            </a:fld>
            <a:endParaRPr lang="en-US" altLang="en-US" sz="1300" smtClean="0">
              <a:cs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110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2619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2562B15-842F-44CA-8296-1D8C6A79D1A3}" type="slidenum">
              <a:rPr lang="en-US" altLang="en-US" sz="1300" smtClean="0"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28</a:t>
            </a:fld>
            <a:endParaRPr lang="en-US" altLang="en-US" sz="1300" smtClean="0">
              <a:cs typeface="Arial" panose="020B0604020202020204" pitchFamily="3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endParaRPr lang="en-US" altLang="en-US" sz="110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4801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9D55630-8604-4793-9B0D-01E5A0B89562}" type="slidenum">
              <a:rPr lang="en-US" altLang="en-US" sz="1300" smtClean="0"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29</a:t>
            </a:fld>
            <a:endParaRPr lang="en-US" altLang="en-US" sz="1300" smtClean="0">
              <a:cs typeface="Arial" panose="020B060402020202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4407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 txBox="1">
            <a:spLocks noGrp="1" noChangeArrowheads="1"/>
          </p:cNvSpPr>
          <p:nvPr/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3210174-44D6-4615-943C-3B92B53E54FF}" type="slidenum">
              <a:rPr lang="en-US" altLang="en-US" sz="1300"/>
              <a:pPr algn="r" eaLnBrk="1" hangingPunct="1">
                <a:spcBef>
                  <a:spcPct val="0"/>
                </a:spcBef>
              </a:pPr>
              <a:t>30</a:t>
            </a:fld>
            <a:endParaRPr lang="en-US" altLang="en-US" sz="13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375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585127" y="2414016"/>
            <a:ext cx="11027664" cy="1371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Lesson 3.17</a:t>
            </a:r>
            <a:br>
              <a:rPr lang="en-GB" altLang="en-US" sz="4000" b="1" dirty="0" smtClean="0"/>
            </a:br>
            <a:r>
              <a:rPr lang="en-GB" altLang="en-US" sz="4000" b="1" dirty="0" smtClean="0"/>
              <a:t>External Communication Requirements </a:t>
            </a: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Objective </a:t>
            </a:r>
          </a:p>
        </p:txBody>
      </p:sp>
      <p:sp>
        <p:nvSpPr>
          <p:cNvPr id="25603" name="Content Placeholder 3">
            <a:extLst/>
          </p:cNvPr>
          <p:cNvSpPr>
            <a:spLocks noGrp="1"/>
          </p:cNvSpPr>
          <p:nvPr>
            <p:ph idx="1"/>
          </p:nvPr>
        </p:nvSpPr>
        <p:spPr>
          <a:xfrm>
            <a:off x="1059752" y="1456691"/>
            <a:ext cx="10406824" cy="2544286"/>
          </a:xfr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GB" dirty="0">
                <a:ea typeface="+mn-ea"/>
              </a:rPr>
              <a:t>To explore the various types of media and their requirements</a:t>
            </a:r>
          </a:p>
          <a:p>
            <a:pPr marL="0" indent="0">
              <a:buNone/>
              <a:defRPr/>
            </a:pPr>
            <a:r>
              <a:rPr lang="en-GB" dirty="0">
                <a:ea typeface="+mn-ea"/>
              </a:rPr>
              <a:t>To consider the need for a Media </a:t>
            </a:r>
            <a:r>
              <a:rPr lang="en-GB" dirty="0" smtClean="0">
                <a:ea typeface="+mn-ea"/>
              </a:rPr>
              <a:t>relations plan</a:t>
            </a:r>
            <a:endParaRPr lang="en-GB" dirty="0">
              <a:ea typeface="+mn-ea"/>
            </a:endParaRPr>
          </a:p>
          <a:p>
            <a:pPr marL="0" indent="0">
              <a:buNone/>
              <a:defRPr/>
            </a:pPr>
            <a:r>
              <a:rPr lang="en-GB" dirty="0">
                <a:ea typeface="+mn-ea"/>
              </a:rPr>
              <a:t>To consider how best to manage the media</a:t>
            </a:r>
          </a:p>
          <a:p>
            <a:pPr marL="0" indent="0">
              <a:buNone/>
              <a:defRPr/>
            </a:pPr>
            <a:r>
              <a:rPr lang="en-GB" dirty="0">
                <a:ea typeface="+mn-ea"/>
              </a:rPr>
              <a:t>To consider how to prepare for interviews</a:t>
            </a:r>
          </a:p>
          <a:p>
            <a:pPr marL="0" indent="0">
              <a:buNone/>
              <a:defRPr/>
            </a:pPr>
            <a:r>
              <a:rPr lang="en-GB" dirty="0">
                <a:ea typeface="+mn-ea"/>
              </a:rPr>
              <a:t>To consider how to prepare for news conferences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630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458" name="Rectangle 3"/>
          <p:cNvSpPr>
            <a:spLocks noGrp="1"/>
          </p:cNvSpPr>
          <p:nvPr>
            <p:ph idx="1"/>
          </p:nvPr>
        </p:nvSpPr>
        <p:spPr>
          <a:xfrm>
            <a:off x="1112520" y="993521"/>
            <a:ext cx="10515600" cy="4351338"/>
          </a:xfrm>
        </p:spPr>
        <p:txBody>
          <a:bodyPr>
            <a:noAutofit/>
          </a:bodyPr>
          <a:lstStyle/>
          <a:p>
            <a:pPr defTabSz="912813">
              <a:buNone/>
            </a:pPr>
            <a:r>
              <a:rPr lang="en-GB" altLang="en-US" sz="3200" b="1" dirty="0" smtClean="0"/>
              <a:t>Communications plan</a:t>
            </a:r>
          </a:p>
          <a:p>
            <a:pPr marL="355600" lvl="1" indent="-355600" defTabSz="912813"/>
            <a:r>
              <a:rPr lang="en-GB" altLang="en-US" sz="3200" dirty="0"/>
              <a:t>Response team</a:t>
            </a:r>
          </a:p>
          <a:p>
            <a:pPr marL="355600" lvl="1" indent="-355600" defTabSz="912813"/>
            <a:r>
              <a:rPr lang="en-GB" altLang="en-US" sz="3200" dirty="0"/>
              <a:t>Response community</a:t>
            </a:r>
          </a:p>
          <a:p>
            <a:pPr marL="355600" lvl="1" indent="-355600" defTabSz="912813"/>
            <a:r>
              <a:rPr lang="en-GB" altLang="en-US" sz="3200" dirty="0"/>
              <a:t>Senior administrators/Ministers</a:t>
            </a:r>
          </a:p>
          <a:p>
            <a:pPr marL="355600" lvl="1" indent="-355600" defTabSz="912813"/>
            <a:r>
              <a:rPr lang="en-GB" altLang="en-US" sz="3200" dirty="0"/>
              <a:t>Regional and international contacts</a:t>
            </a:r>
          </a:p>
          <a:p>
            <a:pPr defTabSz="912813">
              <a:buNone/>
            </a:pPr>
            <a:endParaRPr lang="en-GB" altLang="en-US" sz="3200" dirty="0" smtClean="0"/>
          </a:p>
          <a:p>
            <a:pPr defTabSz="912813">
              <a:buNone/>
            </a:pPr>
            <a:r>
              <a:rPr lang="en-GB" altLang="en-US" sz="3200" b="1" dirty="0" smtClean="0"/>
              <a:t>Media relations plan</a:t>
            </a:r>
            <a:r>
              <a:rPr lang="en-GB" altLang="en-US" sz="3200" dirty="0" smtClean="0"/>
              <a:t> </a:t>
            </a:r>
          </a:p>
          <a:p>
            <a:pPr defTabSz="912813"/>
            <a:r>
              <a:rPr lang="en-GB" altLang="en-US" sz="3200" dirty="0" smtClean="0"/>
              <a:t>Media</a:t>
            </a:r>
          </a:p>
          <a:p>
            <a:pPr defTabSz="912813"/>
            <a:r>
              <a:rPr lang="en-GB" altLang="en-US" sz="3200" dirty="0" smtClean="0"/>
              <a:t>Public</a:t>
            </a:r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defTabSz="912813"/>
            <a:r>
              <a:rPr lang="en-GB" altLang="en-US" b="1" dirty="0" smtClean="0"/>
              <a:t>Two Plans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7809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506" name="Oval 29"/>
          <p:cNvSpPr>
            <a:spLocks noChangeArrowheads="1"/>
          </p:cNvSpPr>
          <p:nvPr/>
        </p:nvSpPr>
        <p:spPr bwMode="auto">
          <a:xfrm>
            <a:off x="5334001" y="3092450"/>
            <a:ext cx="1381125" cy="1322388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l-GR" altLang="en-US" sz="2400">
              <a:latin typeface="Tahoma" panose="020B0604030504040204" pitchFamily="34" charset="0"/>
            </a:endParaRPr>
          </a:p>
        </p:txBody>
      </p:sp>
      <p:sp>
        <p:nvSpPr>
          <p:cNvPr id="21507" name="AutoShape 30"/>
          <p:cNvSpPr>
            <a:spLocks noChangeArrowheads="1"/>
          </p:cNvSpPr>
          <p:nvPr/>
        </p:nvSpPr>
        <p:spPr bwMode="auto">
          <a:xfrm rot="19287845">
            <a:off x="6618288" y="2746376"/>
            <a:ext cx="800100" cy="396875"/>
          </a:xfrm>
          <a:prstGeom prst="rightArrow">
            <a:avLst>
              <a:gd name="adj1" fmla="val 50000"/>
              <a:gd name="adj2" fmla="val 45845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l-GR" altLang="en-US" sz="2400">
              <a:latin typeface="Tahoma" panose="020B0604030504040204" pitchFamily="34" charset="0"/>
            </a:endParaRPr>
          </a:p>
        </p:txBody>
      </p:sp>
      <p:sp>
        <p:nvSpPr>
          <p:cNvPr id="21508" name="AutoShape 32"/>
          <p:cNvSpPr>
            <a:spLocks noChangeArrowheads="1"/>
          </p:cNvSpPr>
          <p:nvPr/>
        </p:nvSpPr>
        <p:spPr bwMode="auto">
          <a:xfrm rot="563117">
            <a:off x="6964363" y="3611564"/>
            <a:ext cx="800100" cy="396875"/>
          </a:xfrm>
          <a:prstGeom prst="rightArrow">
            <a:avLst>
              <a:gd name="adj1" fmla="val 50000"/>
              <a:gd name="adj2" fmla="val 45845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l-GR" altLang="en-US" sz="2400">
              <a:latin typeface="Tahoma" panose="020B0604030504040204" pitchFamily="34" charset="0"/>
            </a:endParaRPr>
          </a:p>
        </p:txBody>
      </p:sp>
      <p:sp>
        <p:nvSpPr>
          <p:cNvPr id="21509" name="AutoShape 34"/>
          <p:cNvSpPr>
            <a:spLocks noChangeArrowheads="1"/>
          </p:cNvSpPr>
          <p:nvPr/>
        </p:nvSpPr>
        <p:spPr bwMode="auto">
          <a:xfrm rot="16200000">
            <a:off x="5623720" y="2377282"/>
            <a:ext cx="727075" cy="436563"/>
          </a:xfrm>
          <a:prstGeom prst="rightArrow">
            <a:avLst>
              <a:gd name="adj1" fmla="val 50000"/>
              <a:gd name="adj2" fmla="val 45769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l-GR" altLang="en-US" sz="2400">
              <a:latin typeface="Tahoma" panose="020B0604030504040204" pitchFamily="34" charset="0"/>
            </a:endParaRPr>
          </a:p>
        </p:txBody>
      </p:sp>
      <p:sp>
        <p:nvSpPr>
          <p:cNvPr id="21510" name="AutoShape 35"/>
          <p:cNvSpPr>
            <a:spLocks noChangeArrowheads="1"/>
          </p:cNvSpPr>
          <p:nvPr/>
        </p:nvSpPr>
        <p:spPr bwMode="auto">
          <a:xfrm rot="13472052">
            <a:off x="4789488" y="2628901"/>
            <a:ext cx="800100" cy="396875"/>
          </a:xfrm>
          <a:prstGeom prst="rightArrow">
            <a:avLst>
              <a:gd name="adj1" fmla="val 50000"/>
              <a:gd name="adj2" fmla="val 45845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l-GR" altLang="en-US" sz="2400">
              <a:latin typeface="Tahoma" panose="020B0604030504040204" pitchFamily="34" charset="0"/>
            </a:endParaRPr>
          </a:p>
        </p:txBody>
      </p:sp>
      <p:sp>
        <p:nvSpPr>
          <p:cNvPr id="21511" name="AutoShape 36"/>
          <p:cNvSpPr>
            <a:spLocks noChangeArrowheads="1"/>
          </p:cNvSpPr>
          <p:nvPr/>
        </p:nvSpPr>
        <p:spPr bwMode="auto">
          <a:xfrm rot="11009792">
            <a:off x="4306888" y="3452814"/>
            <a:ext cx="800100" cy="396875"/>
          </a:xfrm>
          <a:prstGeom prst="rightArrow">
            <a:avLst>
              <a:gd name="adj1" fmla="val 50000"/>
              <a:gd name="adj2" fmla="val 45845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l-GR" altLang="en-US" sz="2400">
              <a:latin typeface="Tahoma" panose="020B0604030504040204" pitchFamily="34" charset="0"/>
            </a:endParaRPr>
          </a:p>
        </p:txBody>
      </p:sp>
      <p:sp>
        <p:nvSpPr>
          <p:cNvPr id="21512" name="AutoShape 37"/>
          <p:cNvSpPr>
            <a:spLocks noChangeArrowheads="1"/>
          </p:cNvSpPr>
          <p:nvPr/>
        </p:nvSpPr>
        <p:spPr bwMode="auto">
          <a:xfrm rot="8929750">
            <a:off x="4556125" y="4256089"/>
            <a:ext cx="800100" cy="396875"/>
          </a:xfrm>
          <a:prstGeom prst="rightArrow">
            <a:avLst>
              <a:gd name="adj1" fmla="val 50000"/>
              <a:gd name="adj2" fmla="val 45845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l-GR" altLang="en-US" sz="2400">
              <a:latin typeface="Tahoma" panose="020B0604030504040204" pitchFamily="34" charset="0"/>
            </a:endParaRPr>
          </a:p>
        </p:txBody>
      </p:sp>
      <p:pic>
        <p:nvPicPr>
          <p:cNvPr id="21513" name="Picture 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1106489"/>
            <a:ext cx="2046287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4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225" y="974725"/>
            <a:ext cx="2109788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5" name="21 - Εικόνα" descr="Clipboard0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38" y="5373688"/>
            <a:ext cx="1136650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6" name="Picture 2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150" y="4581525"/>
            <a:ext cx="1155700" cy="104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7" name="24 - Εικόνα" descr="broadcast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464" y="1173164"/>
            <a:ext cx="873125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8" name="AutoShape 32"/>
          <p:cNvSpPr>
            <a:spLocks noChangeArrowheads="1"/>
          </p:cNvSpPr>
          <p:nvPr/>
        </p:nvSpPr>
        <p:spPr bwMode="auto">
          <a:xfrm rot="5400000">
            <a:off x="5696745" y="4693445"/>
            <a:ext cx="727075" cy="436563"/>
          </a:xfrm>
          <a:prstGeom prst="rightArrow">
            <a:avLst>
              <a:gd name="adj1" fmla="val 50000"/>
              <a:gd name="adj2" fmla="val 45769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l-GR" altLang="en-US" sz="2400">
              <a:latin typeface="Tahoma" panose="020B0604030504040204" pitchFamily="34" charset="0"/>
            </a:endParaRPr>
          </a:p>
        </p:txBody>
      </p:sp>
      <p:sp>
        <p:nvSpPr>
          <p:cNvPr id="21519" name="AutoShape 32"/>
          <p:cNvSpPr>
            <a:spLocks noChangeArrowheads="1"/>
          </p:cNvSpPr>
          <p:nvPr/>
        </p:nvSpPr>
        <p:spPr bwMode="auto">
          <a:xfrm rot="2151920">
            <a:off x="6765925" y="4392614"/>
            <a:ext cx="800100" cy="396875"/>
          </a:xfrm>
          <a:prstGeom prst="rightArrow">
            <a:avLst>
              <a:gd name="adj1" fmla="val 50000"/>
              <a:gd name="adj2" fmla="val 45845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l-GR" altLang="en-US" sz="2400">
              <a:latin typeface="Tahoma" panose="020B0604030504040204" pitchFamily="34" charset="0"/>
            </a:endParaRPr>
          </a:p>
        </p:txBody>
      </p:sp>
      <p:sp>
        <p:nvSpPr>
          <p:cNvPr id="21520" name="Title 2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The Media</a:t>
            </a:r>
          </a:p>
        </p:txBody>
      </p:sp>
      <p:sp>
        <p:nvSpPr>
          <p:cNvPr id="21521" name="AutoShape 2" descr="https://encrypted-tbn1.gstatic.com/images?q=tbn:ANd9GcSY9wgFWSMGw2cuZPHKfMxLhrrSKTtyHzoqs0oQpz233UdiIkcp"/>
          <p:cNvSpPr>
            <a:spLocks noChangeAspect="1" noChangeArrowheads="1"/>
          </p:cNvSpPr>
          <p:nvPr/>
        </p:nvSpPr>
        <p:spPr bwMode="auto">
          <a:xfrm>
            <a:off x="1711326" y="-1576388"/>
            <a:ext cx="2143125" cy="2143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pic>
        <p:nvPicPr>
          <p:cNvPr id="21522" name="Picture 4" descr="http://3.bp.blogspot.com/-KNqO9JuXUN8/Ti2b1LHRquI/AAAAAAAAAIU/L6k8Wlzxj9k/s1600/logo_facebook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3068639"/>
            <a:ext cx="935038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23" name="AutoShape 6" descr="https://encrypted-tbn0.gstatic.com/images?q=tbn:ANd9GcQNS8bGyz04zU9pA4kQAJgXH5kZmSFkK34zjK-j1XqxLHYgbht_MA"/>
          <p:cNvSpPr>
            <a:spLocks noChangeAspect="1" noChangeArrowheads="1"/>
          </p:cNvSpPr>
          <p:nvPr/>
        </p:nvSpPr>
        <p:spPr bwMode="auto">
          <a:xfrm>
            <a:off x="1711326" y="-1576388"/>
            <a:ext cx="2581275" cy="1771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1524" name="AutoShape 8" descr="https://encrypted-tbn0.gstatic.com/images?q=tbn:ANd9GcQNS8bGyz04zU9pA4kQAJgXH5kZmSFkK34zjK-j1XqxLHYgbht_MA"/>
          <p:cNvSpPr>
            <a:spLocks noChangeAspect="1" noChangeArrowheads="1"/>
          </p:cNvSpPr>
          <p:nvPr/>
        </p:nvSpPr>
        <p:spPr bwMode="auto">
          <a:xfrm>
            <a:off x="1711326" y="-1576388"/>
            <a:ext cx="2581275" cy="1771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pic>
        <p:nvPicPr>
          <p:cNvPr id="21525" name="Picture 10" descr="http://t3.gstatic.com/images?q=tbn:ANd9GcSc_v2EjN4ahfxCz70OI0QvM1FLXxqKgR9tXMWlKYGFu0rSwLq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4" y="3141663"/>
            <a:ext cx="93662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26" name="AutoShape 12" descr="https://encrypted-tbn3.gstatic.com/images?q=tbn:ANd9GcRLtsA_3kLJ4yYaFDhVMvdXtrgd3mSPWE1du8gM25K1hTOQRAvUvA"/>
          <p:cNvSpPr>
            <a:spLocks noChangeAspect="1" noChangeArrowheads="1"/>
          </p:cNvSpPr>
          <p:nvPr/>
        </p:nvSpPr>
        <p:spPr bwMode="auto">
          <a:xfrm>
            <a:off x="1711325" y="-1584325"/>
            <a:ext cx="211455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pic>
        <p:nvPicPr>
          <p:cNvPr id="21527" name="Picture 16" descr="http://t3.gstatic.com/images?q=tbn:ANd9GcRLtsA_3kLJ4yYaFDhVMvdXtrgd3mSPWE1du8gM25K1hTOQRAvUv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888" y="4724400"/>
            <a:ext cx="1295400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8" name="26 - Εικόνα" descr="tvset.jp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563" y="3284538"/>
            <a:ext cx="914400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2750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Highly Visible</a:t>
            </a:r>
            <a:endParaRPr lang="en-US" altLang="en-US" b="1" dirty="0" smtClean="0"/>
          </a:p>
        </p:txBody>
      </p:sp>
      <p:pic>
        <p:nvPicPr>
          <p:cNvPr id="22531" name="Picture 3" descr="oil-beach-lebanon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2220" y="887202"/>
            <a:ext cx="4032250" cy="5370513"/>
          </a:xfrm>
        </p:spPr>
      </p:pic>
      <p:pic>
        <p:nvPicPr>
          <p:cNvPr id="22532" name="Picture 7" descr="http://www4.pictures.zimbio.com/gi/Eleven+People+Missing+After+Explosion+Offshore+4u55Qj3S000l.jpg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77219" y="896793"/>
            <a:ext cx="4920677" cy="5349385"/>
          </a:xfrm>
          <a:noFill/>
        </p:spPr>
      </p:pic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8052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Crisis – Good news?</a:t>
            </a: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920496" y="1240409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altLang="en-US" sz="3200" dirty="0" smtClean="0"/>
              <a:t>It </a:t>
            </a:r>
            <a:r>
              <a:rPr lang="en-GB" altLang="en-US" sz="3200" dirty="0" smtClean="0"/>
              <a:t>has a controversial flavour</a:t>
            </a:r>
          </a:p>
          <a:p>
            <a:pPr algn="just"/>
            <a:r>
              <a:rPr lang="en-GB" altLang="en-US" sz="3200" dirty="0" smtClean="0"/>
              <a:t>There is damage and a number of potential victims</a:t>
            </a:r>
          </a:p>
          <a:p>
            <a:pPr algn="just"/>
            <a:r>
              <a:rPr lang="en-GB" altLang="en-US" sz="3200" dirty="0" smtClean="0"/>
              <a:t>It evokes collective emotions and imagination</a:t>
            </a:r>
          </a:p>
          <a:p>
            <a:pPr algn="just"/>
            <a:r>
              <a:rPr lang="en-GB" altLang="en-US" sz="3200" dirty="0" smtClean="0"/>
              <a:t>It makes a good story</a:t>
            </a:r>
          </a:p>
          <a:p>
            <a:pPr algn="just"/>
            <a:r>
              <a:rPr lang="en-GB" altLang="en-US" sz="3200" dirty="0" smtClean="0"/>
              <a:t>Enhances or supports other stories</a:t>
            </a:r>
          </a:p>
          <a:p>
            <a:pPr algn="just"/>
            <a:r>
              <a:rPr lang="en-GB" altLang="en-US" sz="3200" dirty="0" smtClean="0"/>
              <a:t>There is always available space in the next issue of the newspaper, next TV or radio broadcast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6508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 vert="horz" lIns="75749" tIns="37874" rIns="75749" bIns="37874" rtlCol="0" anchor="t">
            <a:normAutofit fontScale="90000"/>
          </a:bodyPr>
          <a:lstStyle/>
          <a:p>
            <a:pPr algn="ctr"/>
            <a:r>
              <a:rPr lang="sv-SE" altLang="en-US" b="1" dirty="0" smtClean="0"/>
              <a:t>The Media</a:t>
            </a:r>
          </a:p>
        </p:txBody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>
          <a:xfrm>
            <a:off x="832282" y="1396790"/>
            <a:ext cx="10515600" cy="4351338"/>
          </a:xfrm>
        </p:spPr>
        <p:txBody>
          <a:bodyPr vert="horz" lIns="75749" tIns="37874" rIns="75749" bIns="37874" rtlCol="0">
            <a:normAutofit lnSpcReduction="10000"/>
          </a:bodyPr>
          <a:lstStyle/>
          <a:p>
            <a:pPr>
              <a:buFont typeface="Arial" panose="020B0604020202020204" pitchFamily="34" charset="0"/>
              <a:buNone/>
            </a:pPr>
            <a:r>
              <a:rPr lang="sv-SE" altLang="en-US" sz="2900" dirty="0"/>
              <a:t>The role of the media is to:</a:t>
            </a:r>
          </a:p>
          <a:p>
            <a:r>
              <a:rPr lang="sv-SE" altLang="en-US" sz="2900" dirty="0"/>
              <a:t>Inform</a:t>
            </a:r>
          </a:p>
          <a:p>
            <a:r>
              <a:rPr lang="sv-SE" altLang="en-US" sz="2900" dirty="0"/>
              <a:t>Comment</a:t>
            </a:r>
          </a:p>
          <a:p>
            <a:r>
              <a:rPr lang="sv-SE" altLang="en-US" sz="2900" dirty="0"/>
              <a:t>Scrutinize</a:t>
            </a:r>
          </a:p>
          <a:p>
            <a:r>
              <a:rPr lang="sv-SE" altLang="en-US" sz="2900" dirty="0"/>
              <a:t>Communicate</a:t>
            </a:r>
          </a:p>
          <a:p>
            <a:pPr>
              <a:buFont typeface="Arial" panose="020B0604020202020204" pitchFamily="34" charset="0"/>
              <a:buNone/>
            </a:pPr>
            <a:endParaRPr lang="sv-SE" altLang="en-US" sz="2900" dirty="0"/>
          </a:p>
          <a:p>
            <a:pPr>
              <a:buFont typeface="Arial" panose="020B0604020202020204" pitchFamily="34" charset="0"/>
              <a:buNone/>
            </a:pPr>
            <a:endParaRPr lang="sv-SE" altLang="en-US" sz="2900" dirty="0"/>
          </a:p>
          <a:p>
            <a:pPr>
              <a:buFont typeface="Arial" panose="020B0604020202020204" pitchFamily="34" charset="0"/>
              <a:buNone/>
            </a:pPr>
            <a:r>
              <a:rPr lang="sv-SE" altLang="en-US" sz="2900" dirty="0"/>
              <a:t>The media can </a:t>
            </a:r>
          </a:p>
          <a:p>
            <a:pPr>
              <a:buFont typeface="Arial" panose="020B0604020202020204" pitchFamily="34" charset="0"/>
              <a:buNone/>
            </a:pPr>
            <a:r>
              <a:rPr lang="sv-SE" altLang="en-US" sz="2900" dirty="0"/>
              <a:t>serve as a resource for information dissemination </a:t>
            </a:r>
          </a:p>
        </p:txBody>
      </p:sp>
      <p:pic>
        <p:nvPicPr>
          <p:cNvPr id="25604" name="Picture 5" descr="scan0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670" y="1385444"/>
            <a:ext cx="5507037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4264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650" name="Picture 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649" y="1676145"/>
            <a:ext cx="3960920" cy="2666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/>
              <a:t>Types of Media</a:t>
            </a:r>
          </a:p>
        </p:txBody>
      </p:sp>
      <p:sp>
        <p:nvSpPr>
          <p:cNvPr id="27652" name="Content Placeholder 25"/>
          <p:cNvSpPr>
            <a:spLocks noGrp="1"/>
          </p:cNvSpPr>
          <p:nvPr>
            <p:ph idx="1"/>
          </p:nvPr>
        </p:nvSpPr>
        <p:spPr>
          <a:xfrm>
            <a:off x="1125538" y="1085721"/>
            <a:ext cx="8229600" cy="52181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b="1" dirty="0" smtClean="0"/>
              <a:t>Print</a:t>
            </a:r>
          </a:p>
          <a:p>
            <a:pPr eaLnBrk="1" hangingPunct="1"/>
            <a:r>
              <a:rPr lang="en-GB" altLang="en-US" dirty="0" smtClean="0"/>
              <a:t>Daily, weekly, monthly</a:t>
            </a:r>
          </a:p>
          <a:p>
            <a:pPr eaLnBrk="1" hangingPunct="1"/>
            <a:r>
              <a:rPr lang="en-GB" altLang="en-US" dirty="0" smtClean="0"/>
              <a:t>Local, national or international</a:t>
            </a:r>
          </a:p>
          <a:p>
            <a:pPr eaLnBrk="1" hangingPunct="1"/>
            <a:r>
              <a:rPr lang="en-GB" altLang="en-US" dirty="0" smtClean="0"/>
              <a:t>In-depth reporting</a:t>
            </a:r>
          </a:p>
          <a:p>
            <a:pPr eaLnBrk="1" hangingPunct="1"/>
            <a:r>
              <a:rPr lang="en-GB" altLang="en-US" dirty="0" smtClean="0"/>
              <a:t>Require detailed information</a:t>
            </a:r>
          </a:p>
          <a:p>
            <a:pPr eaLnBrk="1" hangingPunct="1"/>
            <a:r>
              <a:rPr lang="en-GB" altLang="en-US" dirty="0" smtClean="0"/>
              <a:t>Require background information</a:t>
            </a:r>
          </a:p>
          <a:p>
            <a:pPr eaLnBrk="1" hangingPunct="1"/>
            <a:r>
              <a:rPr lang="en-GB" altLang="en-US" dirty="0" smtClean="0"/>
              <a:t>Use of graphics or pictures</a:t>
            </a:r>
          </a:p>
          <a:p>
            <a:pPr eaLnBrk="1" hangingPunct="1"/>
            <a:r>
              <a:rPr lang="en-GB" altLang="en-US" dirty="0" smtClean="0"/>
              <a:t>Must meet deadlines</a:t>
            </a:r>
          </a:p>
          <a:p>
            <a:pPr eaLnBrk="1" hangingPunct="1">
              <a:buFontTx/>
              <a:buNone/>
            </a:pPr>
            <a:endParaRPr lang="en-GB" altLang="en-US" dirty="0" smtClean="0"/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2504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698" name="Picture 24"/>
          <p:cNvPicPr>
            <a:picLocks noChangeAspect="1" noChangeArrowheads="1"/>
          </p:cNvPicPr>
          <p:nvPr/>
        </p:nvPicPr>
        <p:blipFill>
          <a:blip r:embed="rId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538" y="1397774"/>
            <a:ext cx="4344222" cy="3494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/>
              <a:t>Types of Media</a:t>
            </a:r>
          </a:p>
        </p:txBody>
      </p:sp>
      <p:sp>
        <p:nvSpPr>
          <p:cNvPr id="29700" name="Content Placeholder 25"/>
          <p:cNvSpPr>
            <a:spLocks noGrp="1"/>
          </p:cNvSpPr>
          <p:nvPr>
            <p:ph idx="1"/>
          </p:nvPr>
        </p:nvSpPr>
        <p:spPr>
          <a:xfrm>
            <a:off x="1023049" y="1286408"/>
            <a:ext cx="8229600" cy="52181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b="1" dirty="0" smtClean="0"/>
              <a:t>Television</a:t>
            </a:r>
          </a:p>
          <a:p>
            <a:pPr eaLnBrk="1" hangingPunct="1"/>
            <a:r>
              <a:rPr lang="en-GB" altLang="en-US" dirty="0" smtClean="0"/>
              <a:t>Rolling 24/7 coverage</a:t>
            </a:r>
          </a:p>
          <a:p>
            <a:pPr eaLnBrk="1" hangingPunct="1"/>
            <a:r>
              <a:rPr lang="en-GB" altLang="en-US" dirty="0" smtClean="0"/>
              <a:t>Local, national and international</a:t>
            </a:r>
          </a:p>
          <a:p>
            <a:pPr eaLnBrk="1" hangingPunct="1"/>
            <a:r>
              <a:rPr lang="en-GB" altLang="en-US" dirty="0" smtClean="0"/>
              <a:t>Message is very visual</a:t>
            </a:r>
          </a:p>
          <a:p>
            <a:pPr eaLnBrk="1" hangingPunct="1"/>
            <a:r>
              <a:rPr lang="en-GB" altLang="en-US" dirty="0" smtClean="0"/>
              <a:t>Information spots are very short</a:t>
            </a:r>
          </a:p>
          <a:p>
            <a:pPr eaLnBrk="1" hangingPunct="1"/>
            <a:r>
              <a:rPr lang="en-GB" altLang="en-US" dirty="0" smtClean="0"/>
              <a:t>Interviews</a:t>
            </a:r>
          </a:p>
          <a:p>
            <a:pPr eaLnBrk="1" hangingPunct="1"/>
            <a:r>
              <a:rPr lang="en-GB" altLang="en-US" dirty="0" smtClean="0"/>
              <a:t>News conferences</a:t>
            </a:r>
          </a:p>
          <a:p>
            <a:pPr eaLnBrk="1" hangingPunct="1">
              <a:buFontTx/>
              <a:buNone/>
            </a:pPr>
            <a:endParaRPr lang="en-GB" altLang="en-US" dirty="0" smtClean="0"/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2019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GB" altLang="en-US" b="1" dirty="0" smtClean="0"/>
              <a:t>Types of Media </a:t>
            </a:r>
            <a:endParaRPr lang="en-US" altLang="en-US" b="1" dirty="0" smtClean="0"/>
          </a:p>
        </p:txBody>
      </p:sp>
      <p:sp>
        <p:nvSpPr>
          <p:cNvPr id="31747" name="Content Placeholder 25"/>
          <p:cNvSpPr>
            <a:spLocks noGrp="1"/>
          </p:cNvSpPr>
          <p:nvPr>
            <p:ph idx="1"/>
          </p:nvPr>
        </p:nvSpPr>
        <p:spPr>
          <a:xfrm>
            <a:off x="832282" y="1105524"/>
            <a:ext cx="10515600" cy="4351338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GB" altLang="en-US" b="1" dirty="0" smtClean="0"/>
              <a:t>Radio</a:t>
            </a:r>
          </a:p>
          <a:p>
            <a:pPr eaLnBrk="1" hangingPunct="1"/>
            <a:r>
              <a:rPr lang="en-GB" altLang="en-US" dirty="0" smtClean="0"/>
              <a:t>Tight deadlines</a:t>
            </a:r>
          </a:p>
          <a:p>
            <a:pPr eaLnBrk="1" hangingPunct="1"/>
            <a:r>
              <a:rPr lang="en-GB" altLang="en-US" dirty="0" smtClean="0"/>
              <a:t>Hourly or half-hourly reports</a:t>
            </a:r>
          </a:p>
          <a:p>
            <a:pPr eaLnBrk="1" hangingPunct="1"/>
            <a:r>
              <a:rPr lang="en-GB" altLang="en-US" dirty="0" smtClean="0"/>
              <a:t>Frequent updates</a:t>
            </a:r>
          </a:p>
          <a:p>
            <a:pPr eaLnBrk="1" hangingPunct="1"/>
            <a:r>
              <a:rPr lang="en-GB" altLang="en-US" dirty="0" smtClean="0"/>
              <a:t>On the spot interviews</a:t>
            </a:r>
          </a:p>
          <a:p>
            <a:pPr eaLnBrk="1" hangingPunct="1"/>
            <a:r>
              <a:rPr lang="en-GB" altLang="en-US" dirty="0" smtClean="0"/>
              <a:t>Reports are brief</a:t>
            </a:r>
          </a:p>
          <a:p>
            <a:pPr eaLnBrk="1" hangingPunct="1"/>
            <a:r>
              <a:rPr lang="en-GB" altLang="en-US" dirty="0" smtClean="0"/>
              <a:t>Features only the most important facts</a:t>
            </a:r>
          </a:p>
          <a:p>
            <a:pPr eaLnBrk="1" hangingPunct="1"/>
            <a:r>
              <a:rPr lang="en-GB" altLang="en-US" dirty="0" smtClean="0"/>
              <a:t>Emphasis on what is happening now</a:t>
            </a:r>
          </a:p>
          <a:p>
            <a:pPr eaLnBrk="1" hangingPunct="1"/>
            <a:r>
              <a:rPr lang="en-GB" altLang="en-US" dirty="0" smtClean="0"/>
              <a:t>Includes live sounds</a:t>
            </a:r>
          </a:p>
        </p:txBody>
      </p:sp>
      <p:pic>
        <p:nvPicPr>
          <p:cNvPr id="31748" name="Picture 25"/>
          <p:cNvPicPr>
            <a:picLocks noChangeAspect="1" noChangeArrowheads="1"/>
          </p:cNvPicPr>
          <p:nvPr/>
        </p:nvPicPr>
        <p:blipFill>
          <a:blip r:embed="rId3">
            <a:lum brigh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7234" y="1806449"/>
            <a:ext cx="3984638" cy="27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2029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GB" altLang="en-US" b="1" dirty="0" smtClean="0"/>
              <a:t>Types of Media </a:t>
            </a:r>
            <a:endParaRPr lang="en-US" altLang="en-US" b="1" dirty="0" smtClean="0"/>
          </a:p>
        </p:txBody>
      </p:sp>
      <p:sp>
        <p:nvSpPr>
          <p:cNvPr id="33795" name="Content Placeholder 7"/>
          <p:cNvSpPr>
            <a:spLocks noGrp="1"/>
          </p:cNvSpPr>
          <p:nvPr>
            <p:ph idx="1"/>
          </p:nvPr>
        </p:nvSpPr>
        <p:spPr>
          <a:xfrm>
            <a:off x="591312" y="1180032"/>
            <a:ext cx="10515600" cy="4351338"/>
          </a:xfrm>
        </p:spPr>
        <p:txBody>
          <a:bodyPr/>
          <a:lstStyle/>
          <a:p>
            <a:pPr>
              <a:buClr>
                <a:srgbClr val="3366CC"/>
              </a:buClr>
              <a:buFont typeface="Arial" panose="020B0604020202020204" pitchFamily="34" charset="0"/>
              <a:buNone/>
            </a:pPr>
            <a:r>
              <a:rPr lang="en-GB" altLang="en-US" sz="3200" b="1" dirty="0" smtClean="0"/>
              <a:t>Internet</a:t>
            </a:r>
          </a:p>
          <a:p>
            <a:r>
              <a:rPr lang="en-GB" altLang="en-US" dirty="0" smtClean="0"/>
              <a:t>Social networks are a new phenomena</a:t>
            </a:r>
          </a:p>
          <a:p>
            <a:r>
              <a:rPr lang="en-GB" altLang="en-US" dirty="0" smtClean="0"/>
              <a:t>Communication strategies need to be reviewed </a:t>
            </a:r>
          </a:p>
          <a:p>
            <a:r>
              <a:rPr lang="en-GB" altLang="en-US" dirty="0" smtClean="0"/>
              <a:t>24/7 worldwide audience</a:t>
            </a:r>
          </a:p>
          <a:p>
            <a:r>
              <a:rPr lang="en-GB" altLang="en-US" dirty="0" smtClean="0"/>
              <a:t>Rapid reaction, comment, dialogue and comment from many sources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dirty="0"/>
              <a:t>Blogs and non-news outlets</a:t>
            </a:r>
          </a:p>
          <a:p>
            <a:endParaRPr lang="en-GB" altLang="en-US" dirty="0" smtClean="0"/>
          </a:p>
        </p:txBody>
      </p:sp>
      <p:sp>
        <p:nvSpPr>
          <p:cNvPr id="33796" name="Content Placeholder 25"/>
          <p:cNvSpPr>
            <a:spLocks/>
          </p:cNvSpPr>
          <p:nvPr/>
        </p:nvSpPr>
        <p:spPr bwMode="auto">
          <a:xfrm>
            <a:off x="263526" y="2565401"/>
            <a:ext cx="385127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Clr>
                <a:srgbClr val="3366CC"/>
              </a:buClr>
              <a:buFontTx/>
              <a:buNone/>
            </a:pPr>
            <a:endParaRPr lang="en-GB" altLang="en-US" sz="2400">
              <a:latin typeface="Tahoma" panose="020B0604030504040204" pitchFamily="34" charset="0"/>
            </a:endParaRPr>
          </a:p>
          <a:p>
            <a:pPr eaLnBrk="1" hangingPunct="1">
              <a:buClr>
                <a:srgbClr val="3366CC"/>
              </a:buClr>
              <a:buFontTx/>
              <a:buNone/>
            </a:pPr>
            <a:endParaRPr lang="en-GB" altLang="en-US" sz="2400">
              <a:latin typeface="Tahoma" panose="020B0604030504040204" pitchFamily="34" charset="0"/>
            </a:endParaRPr>
          </a:p>
        </p:txBody>
      </p:sp>
      <p:pic>
        <p:nvPicPr>
          <p:cNvPr id="33797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64" y="1310578"/>
            <a:ext cx="1155700" cy="104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4" descr="http://3.bp.blogspot.com/-KNqO9JuXUN8/Ti2b1LHRquI/AAAAAAAAAIU/L6k8Wlzxj9k/s1600/logo_facebook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0126" y="3902965"/>
            <a:ext cx="935038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9" name="Picture 10" descr="http://t3.gstatic.com/images?q=tbn:ANd9GcSc_v2EjN4ahfxCz70OI0QvM1FLXxqKgR9tXMWlKYGFu0rSwLq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0127" y="2607564"/>
            <a:ext cx="93662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8914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GB" altLang="en-US" b="1" dirty="0" smtClean="0"/>
              <a:t>Types of Media </a:t>
            </a:r>
            <a:endParaRPr lang="en-US" altLang="en-US" b="1" dirty="0" smtClean="0"/>
          </a:p>
        </p:txBody>
      </p:sp>
      <p:sp>
        <p:nvSpPr>
          <p:cNvPr id="35843" name="Content Placeholder 7"/>
          <p:cNvSpPr>
            <a:spLocks noGrp="1"/>
          </p:cNvSpPr>
          <p:nvPr>
            <p:ph idx="1"/>
          </p:nvPr>
        </p:nvSpPr>
        <p:spPr>
          <a:xfrm>
            <a:off x="1341120" y="1160187"/>
            <a:ext cx="8229600" cy="521811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Social media platforms/tools</a:t>
            </a:r>
          </a:p>
          <a:p>
            <a:r>
              <a:rPr lang="en-GB" altLang="en-US" dirty="0" smtClean="0"/>
              <a:t>Social networks 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dirty="0" smtClean="0"/>
              <a:t>Facebook, </a:t>
            </a:r>
            <a:r>
              <a:rPr lang="en-GB" altLang="en-US" dirty="0" err="1" smtClean="0"/>
              <a:t>MySpace</a:t>
            </a:r>
            <a:r>
              <a:rPr lang="en-GB" altLang="en-US" dirty="0" smtClean="0"/>
              <a:t>, Google+, etc.</a:t>
            </a:r>
          </a:p>
          <a:p>
            <a:r>
              <a:rPr lang="en-GB" altLang="en-US" dirty="0" smtClean="0"/>
              <a:t>Micro-blogs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dirty="0" smtClean="0"/>
              <a:t>Twitter, etc.</a:t>
            </a:r>
          </a:p>
          <a:p>
            <a:r>
              <a:rPr lang="en-GB" altLang="en-US" dirty="0" smtClean="0"/>
              <a:t>Blogs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dirty="0" smtClean="0"/>
              <a:t>WordPress, </a:t>
            </a:r>
            <a:r>
              <a:rPr lang="en-GB" altLang="en-US" dirty="0" err="1" smtClean="0"/>
              <a:t>Blogspot</a:t>
            </a:r>
            <a:r>
              <a:rPr lang="en-GB" altLang="en-US" dirty="0" smtClean="0"/>
              <a:t>, etc.</a:t>
            </a:r>
          </a:p>
          <a:p>
            <a:r>
              <a:rPr lang="en-GB" altLang="en-US" dirty="0" smtClean="0"/>
              <a:t>Audio, video and image sharing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dirty="0" smtClean="0"/>
              <a:t>YouTube, Flickr, Instagram, etc.</a:t>
            </a:r>
          </a:p>
        </p:txBody>
      </p:sp>
      <p:sp>
        <p:nvSpPr>
          <p:cNvPr id="35844" name="Content Placeholder 25"/>
          <p:cNvSpPr>
            <a:spLocks/>
          </p:cNvSpPr>
          <p:nvPr/>
        </p:nvSpPr>
        <p:spPr bwMode="auto">
          <a:xfrm>
            <a:off x="263526" y="2565401"/>
            <a:ext cx="385127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Clr>
                <a:srgbClr val="3366CC"/>
              </a:buClr>
              <a:buFontTx/>
              <a:buNone/>
            </a:pPr>
            <a:endParaRPr lang="en-GB" altLang="en-US" sz="2400">
              <a:latin typeface="Tahoma" panose="020B0604030504040204" pitchFamily="34" charset="0"/>
            </a:endParaRPr>
          </a:p>
          <a:p>
            <a:pPr eaLnBrk="1" hangingPunct="1">
              <a:buClr>
                <a:srgbClr val="3366CC"/>
              </a:buClr>
              <a:buFontTx/>
              <a:buNone/>
            </a:pPr>
            <a:endParaRPr lang="en-GB" altLang="en-US" sz="2400">
              <a:latin typeface="Tahoma" panose="020B0604030504040204" pitchFamily="34" charset="0"/>
            </a:endParaRPr>
          </a:p>
        </p:txBody>
      </p:sp>
      <p:pic>
        <p:nvPicPr>
          <p:cNvPr id="35845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8" y="1484314"/>
            <a:ext cx="1155700" cy="104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4" descr="http://3.bp.blogspot.com/-KNqO9JuXUN8/Ti2b1LHRquI/AAAAAAAAAIU/L6k8Wlzxj9k/s1600/logo_facebook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550" y="4076701"/>
            <a:ext cx="935038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7" name="Picture 10" descr="http://t3.gstatic.com/images?q=tbn:ANd9GcSc_v2EjN4ahfxCz70OI0QvM1FLXxqKgR9tXMWlKYGFu0rSwLq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551" y="2781300"/>
            <a:ext cx="93662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8245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GB" altLang="en-US" b="1" dirty="0" smtClean="0"/>
              <a:t>Types of Media </a:t>
            </a:r>
            <a:endParaRPr lang="en-US" altLang="en-US" b="1" dirty="0" smtClean="0"/>
          </a:p>
        </p:txBody>
      </p:sp>
      <p:sp>
        <p:nvSpPr>
          <p:cNvPr id="37891" name="Content Placeholder 7"/>
          <p:cNvSpPr>
            <a:spLocks noGrp="1"/>
          </p:cNvSpPr>
          <p:nvPr>
            <p:ph idx="1"/>
          </p:nvPr>
        </p:nvSpPr>
        <p:spPr>
          <a:xfrm>
            <a:off x="832282" y="1396790"/>
            <a:ext cx="10515600" cy="4351338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Social media platforms/Tools (cont’d)</a:t>
            </a:r>
          </a:p>
          <a:p>
            <a:r>
              <a:rPr lang="en-GB" altLang="en-US" dirty="0" smtClean="0"/>
              <a:t>Crowd-based platforms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dirty="0" err="1" smtClean="0"/>
              <a:t>Crowdmap</a:t>
            </a:r>
            <a:r>
              <a:rPr lang="en-GB" altLang="en-US" dirty="0" smtClean="0"/>
              <a:t>, </a:t>
            </a:r>
            <a:r>
              <a:rPr lang="en-GB" altLang="en-US" dirty="0" err="1" smtClean="0"/>
              <a:t>etc</a:t>
            </a:r>
            <a:endParaRPr lang="en-GB" altLang="en-US" dirty="0" smtClean="0"/>
          </a:p>
          <a:p>
            <a:r>
              <a:rPr lang="en-GB" altLang="en-US" dirty="0" smtClean="0"/>
              <a:t>Social media dashboards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dirty="0" err="1" smtClean="0"/>
              <a:t>Tweetdeck</a:t>
            </a:r>
            <a:r>
              <a:rPr lang="en-GB" altLang="en-US" dirty="0" smtClean="0"/>
              <a:t>, </a:t>
            </a:r>
            <a:r>
              <a:rPr lang="en-GB" altLang="en-US" dirty="0" err="1" smtClean="0"/>
              <a:t>Hootsuite</a:t>
            </a:r>
            <a:r>
              <a:rPr lang="en-GB" altLang="en-US" dirty="0" smtClean="0"/>
              <a:t>, </a:t>
            </a:r>
            <a:r>
              <a:rPr lang="en-GB" altLang="en-US" dirty="0" err="1" smtClean="0"/>
              <a:t>Addictomatic</a:t>
            </a:r>
            <a:r>
              <a:rPr lang="en-GB" altLang="en-US" dirty="0" smtClean="0"/>
              <a:t>, etc.</a:t>
            </a:r>
          </a:p>
          <a:p>
            <a:r>
              <a:rPr lang="en-GB" altLang="en-US" dirty="0" smtClean="0"/>
              <a:t>Social book marking sites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dirty="0" smtClean="0"/>
              <a:t>Delicious, </a:t>
            </a:r>
            <a:r>
              <a:rPr lang="en-GB" altLang="en-US" dirty="0" err="1" smtClean="0"/>
              <a:t>StumbleUpon</a:t>
            </a:r>
            <a:r>
              <a:rPr lang="en-GB" altLang="en-US" dirty="0" smtClean="0"/>
              <a:t>, etc.</a:t>
            </a:r>
          </a:p>
          <a:p>
            <a:endParaRPr lang="en-GB" altLang="en-US" dirty="0" smtClean="0"/>
          </a:p>
        </p:txBody>
      </p:sp>
      <p:sp>
        <p:nvSpPr>
          <p:cNvPr id="37892" name="Content Placeholder 25"/>
          <p:cNvSpPr>
            <a:spLocks/>
          </p:cNvSpPr>
          <p:nvPr/>
        </p:nvSpPr>
        <p:spPr bwMode="auto">
          <a:xfrm>
            <a:off x="263526" y="2565401"/>
            <a:ext cx="385127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Clr>
                <a:srgbClr val="3366CC"/>
              </a:buClr>
              <a:buFontTx/>
              <a:buNone/>
            </a:pPr>
            <a:endParaRPr lang="en-GB" altLang="en-US" sz="2400">
              <a:latin typeface="Tahoma" panose="020B0604030504040204" pitchFamily="34" charset="0"/>
            </a:endParaRPr>
          </a:p>
          <a:p>
            <a:pPr eaLnBrk="1" hangingPunct="1">
              <a:buClr>
                <a:srgbClr val="3366CC"/>
              </a:buClr>
              <a:buFontTx/>
              <a:buNone/>
            </a:pPr>
            <a:endParaRPr lang="en-GB" altLang="en-US" sz="2400">
              <a:latin typeface="Tahoma" panose="020B0604030504040204" pitchFamily="34" charset="0"/>
            </a:endParaRPr>
          </a:p>
        </p:txBody>
      </p:sp>
      <p:pic>
        <p:nvPicPr>
          <p:cNvPr id="37893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8" y="1484314"/>
            <a:ext cx="1155700" cy="104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4" descr="http://3.bp.blogspot.com/-KNqO9JuXUN8/Ti2b1LHRquI/AAAAAAAAAIU/L6k8Wlzxj9k/s1600/logo_facebook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550" y="4076701"/>
            <a:ext cx="935038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10" descr="http://t3.gstatic.com/images?q=tbn:ANd9GcSc_v2EjN4ahfxCz70OI0QvM1FLXxqKgR9tXMWlKYGFu0rSwLq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551" y="2781300"/>
            <a:ext cx="93662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5923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defTabSz="989013"/>
            <a:r>
              <a:rPr lang="en-GB" altLang="en-US" b="1" dirty="0" smtClean="0"/>
              <a:t>Managing the Media</a:t>
            </a:r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1476801" y="1066673"/>
            <a:ext cx="7347159" cy="4351338"/>
          </a:xfrm>
        </p:spPr>
        <p:txBody>
          <a:bodyPr/>
          <a:lstStyle/>
          <a:p>
            <a:pPr marL="371475" indent="-371475" defTabSz="989013">
              <a:lnSpc>
                <a:spcPct val="110000"/>
              </a:lnSpc>
              <a:spcBef>
                <a:spcPct val="50000"/>
              </a:spcBef>
              <a:buNone/>
            </a:pPr>
            <a:r>
              <a:rPr lang="en-GB" altLang="en-US" dirty="0" smtClean="0"/>
              <a:t>Media training</a:t>
            </a:r>
          </a:p>
          <a:p>
            <a:pPr marL="371475" indent="-371475" defTabSz="989013">
              <a:lnSpc>
                <a:spcPct val="110000"/>
              </a:lnSpc>
              <a:spcBef>
                <a:spcPct val="50000"/>
              </a:spcBef>
              <a:buNone/>
            </a:pPr>
            <a:r>
              <a:rPr lang="en-GB" altLang="en-US" dirty="0" smtClean="0"/>
              <a:t>Credible and caring spokesperson</a:t>
            </a:r>
          </a:p>
          <a:p>
            <a:pPr marL="371475" indent="-371475" defTabSz="989013">
              <a:lnSpc>
                <a:spcPct val="110000"/>
              </a:lnSpc>
              <a:spcBef>
                <a:spcPct val="50000"/>
              </a:spcBef>
              <a:buNone/>
            </a:pPr>
            <a:r>
              <a:rPr lang="en-GB" altLang="en-US" dirty="0" smtClean="0"/>
              <a:t>Awareness of media requirements – tools</a:t>
            </a:r>
          </a:p>
          <a:p>
            <a:pPr marL="371475" indent="-371475" defTabSz="989013">
              <a:lnSpc>
                <a:spcPct val="110000"/>
              </a:lnSpc>
              <a:spcBef>
                <a:spcPct val="50000"/>
              </a:spcBef>
              <a:buNone/>
            </a:pPr>
            <a:r>
              <a:rPr lang="en-GB" altLang="en-US" dirty="0" smtClean="0"/>
              <a:t>Sufficient staff to meet media’</a:t>
            </a:r>
            <a:r>
              <a:rPr lang="en-GB" altLang="ja-JP" dirty="0" smtClean="0"/>
              <a:t>s expectations</a:t>
            </a:r>
          </a:p>
          <a:p>
            <a:pPr marL="371475" indent="-371475" defTabSz="989013">
              <a:lnSpc>
                <a:spcPct val="110000"/>
              </a:lnSpc>
              <a:spcBef>
                <a:spcPct val="50000"/>
              </a:spcBef>
              <a:buNone/>
            </a:pPr>
            <a:r>
              <a:rPr lang="en-GB" altLang="en-US" dirty="0" smtClean="0"/>
              <a:t>Preparation is key – plan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4837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 vert="horz" lIns="75749" tIns="37874" rIns="75749" bIns="37874" rtlCol="0" anchor="t">
            <a:normAutofit fontScale="90000"/>
          </a:bodyPr>
          <a:lstStyle/>
          <a:p>
            <a:pPr algn="ctr"/>
            <a:r>
              <a:rPr lang="sv-SE" altLang="en-US" b="1" dirty="0" smtClean="0"/>
              <a:t>The Media at the Scene</a:t>
            </a: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1176528" y="1286129"/>
            <a:ext cx="10207752" cy="4351338"/>
          </a:xfrm>
        </p:spPr>
        <p:txBody>
          <a:bodyPr vert="horz" lIns="75749" tIns="37874" rIns="75749" bIns="37874" rtlCol="0"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sv-SE" altLang="en-US" sz="3200" b="1" dirty="0" smtClean="0"/>
              <a:t>Positive aspects</a:t>
            </a:r>
            <a:endParaRPr lang="sv-SE" altLang="en-US" sz="3200" dirty="0" smtClean="0"/>
          </a:p>
          <a:p>
            <a:r>
              <a:rPr lang="sv-SE" altLang="en-US" sz="3200" dirty="0" smtClean="0"/>
              <a:t>counteract rumours spreading</a:t>
            </a:r>
          </a:p>
          <a:p>
            <a:r>
              <a:rPr lang="sv-SE" altLang="en-US" sz="3200" dirty="0" smtClean="0"/>
              <a:t>convey information that can ease public fear/anxiety</a:t>
            </a:r>
          </a:p>
          <a:p>
            <a:r>
              <a:rPr lang="sv-SE" altLang="en-US" sz="3200" dirty="0" smtClean="0"/>
              <a:t>follow the event, explain and examine the circumstances and responsibilities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730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 vert="horz" lIns="75749" tIns="37874" rIns="75749" bIns="37874" rtlCol="0" anchor="t">
            <a:normAutofit fontScale="90000"/>
          </a:bodyPr>
          <a:lstStyle/>
          <a:p>
            <a:pPr algn="ctr"/>
            <a:r>
              <a:rPr lang="sv-SE" altLang="en-US" b="1" dirty="0" smtClean="0"/>
              <a:t>The Media at the Scene</a:t>
            </a:r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910095" y="1249553"/>
            <a:ext cx="10359974" cy="4351338"/>
          </a:xfrm>
        </p:spPr>
        <p:txBody>
          <a:bodyPr vert="horz" lIns="75749" tIns="37874" rIns="75749" bIns="37874" rtlCol="0">
            <a:normAutofit/>
          </a:bodyPr>
          <a:lstStyle/>
          <a:p>
            <a:pPr algn="just">
              <a:lnSpc>
                <a:spcPct val="80000"/>
              </a:lnSpc>
              <a:buFontTx/>
              <a:buNone/>
            </a:pPr>
            <a:r>
              <a:rPr lang="sv-SE" altLang="en-US" sz="3200" b="1" dirty="0" smtClean="0"/>
              <a:t>Negative aspects</a:t>
            </a:r>
          </a:p>
          <a:p>
            <a:pPr algn="just"/>
            <a:r>
              <a:rPr lang="sv-SE" altLang="en-US" dirty="0" smtClean="0"/>
              <a:t>the competitive nature of making news can affect the judgement of the reporters, breaking codes of ethics </a:t>
            </a:r>
          </a:p>
          <a:p>
            <a:pPr algn="just"/>
            <a:r>
              <a:rPr lang="sv-SE" altLang="en-US" dirty="0" smtClean="0"/>
              <a:t>can make the operation more difficult</a:t>
            </a:r>
          </a:p>
          <a:p>
            <a:pPr algn="just"/>
            <a:r>
              <a:rPr lang="sv-SE" altLang="en-US" dirty="0" smtClean="0"/>
              <a:t>need to provide access with time and H&amp;S issues </a:t>
            </a:r>
          </a:p>
          <a:p>
            <a:pPr algn="just"/>
            <a:r>
              <a:rPr lang="sv-SE" altLang="en-US" dirty="0" smtClean="0"/>
              <a:t>media unawareness/ignorance can lead to an unprofessional way of working and behaving in the field</a:t>
            </a:r>
          </a:p>
          <a:p>
            <a:pPr algn="just">
              <a:lnSpc>
                <a:spcPct val="80000"/>
              </a:lnSpc>
            </a:pPr>
            <a:endParaRPr lang="sv-SE" altLang="en-US" dirty="0" smtClean="0"/>
          </a:p>
          <a:p>
            <a:pPr algn="just">
              <a:lnSpc>
                <a:spcPct val="80000"/>
              </a:lnSpc>
            </a:pPr>
            <a:endParaRPr lang="sv-SE" altLang="en-US" sz="1200" dirty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9418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GB" altLang="en-US" b="1" dirty="0" smtClean="0"/>
              <a:t>Managing the Media</a:t>
            </a:r>
            <a:endParaRPr lang="en-US" altLang="en-US" b="1" dirty="0" smtClean="0"/>
          </a:p>
        </p:txBody>
      </p:sp>
      <p:sp>
        <p:nvSpPr>
          <p:cNvPr id="44035" name="Content Placeholder 12"/>
          <p:cNvSpPr>
            <a:spLocks noGrp="1"/>
          </p:cNvSpPr>
          <p:nvPr>
            <p:ph idx="1"/>
          </p:nvPr>
        </p:nvSpPr>
        <p:spPr>
          <a:xfrm>
            <a:off x="832282" y="1341439"/>
            <a:ext cx="10515600" cy="4351338"/>
          </a:xfrm>
        </p:spPr>
        <p:txBody>
          <a:bodyPr/>
          <a:lstStyle/>
          <a:p>
            <a:r>
              <a:rPr lang="en-GB" altLang="en-US" dirty="0" smtClean="0"/>
              <a:t>Effectiveness of the media during an incident</a:t>
            </a:r>
          </a:p>
          <a:p>
            <a:r>
              <a:rPr lang="en-GB" altLang="en-US" dirty="0" smtClean="0"/>
              <a:t>Unfolding nature of information</a:t>
            </a:r>
          </a:p>
          <a:p>
            <a:r>
              <a:rPr lang="en-GB" altLang="en-US" dirty="0" smtClean="0"/>
              <a:t>Size of the media contingent</a:t>
            </a:r>
          </a:p>
          <a:p>
            <a:r>
              <a:rPr lang="en-GB" altLang="en-US" dirty="0" smtClean="0"/>
              <a:t>Briefings/updates</a:t>
            </a:r>
          </a:p>
          <a:p>
            <a:r>
              <a:rPr lang="en-GB" altLang="en-US" dirty="0" smtClean="0"/>
              <a:t>Press releases</a:t>
            </a:r>
          </a:p>
          <a:p>
            <a:r>
              <a:rPr lang="en-GB" altLang="en-US" dirty="0" smtClean="0"/>
              <a:t>Additional tools</a:t>
            </a:r>
          </a:p>
          <a:p>
            <a:r>
              <a:rPr lang="en-GB" altLang="en-US" dirty="0" smtClean="0"/>
              <a:t>Media facilities</a:t>
            </a:r>
          </a:p>
          <a:p>
            <a:r>
              <a:rPr lang="en-GB" altLang="en-US" dirty="0" smtClean="0"/>
              <a:t>Media tours/escort</a:t>
            </a:r>
          </a:p>
        </p:txBody>
      </p:sp>
      <p:pic>
        <p:nvPicPr>
          <p:cNvPr id="44036" name="Picture 12"/>
          <p:cNvPicPr>
            <a:picLocks noChangeAspect="1" noChangeArrowheads="1"/>
          </p:cNvPicPr>
          <p:nvPr/>
        </p:nvPicPr>
        <p:blipFill>
          <a:blip r:embed="rId3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388" y="1341439"/>
            <a:ext cx="1979612" cy="445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2844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Public Communications </a:t>
            </a:r>
            <a:r>
              <a:rPr lang="en-GB" altLang="en-US" b="1" dirty="0"/>
              <a:t>P</a:t>
            </a:r>
            <a:r>
              <a:rPr lang="en-GB" altLang="en-US" b="1" dirty="0" smtClean="0"/>
              <a:t>lan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902208" y="1378329"/>
            <a:ext cx="10189464" cy="2937640"/>
          </a:xfrm>
        </p:spPr>
        <p:txBody>
          <a:bodyPr/>
          <a:lstStyle/>
          <a:p>
            <a:pPr marL="0" indent="0" algn="just">
              <a:buNone/>
            </a:pPr>
            <a:r>
              <a:rPr lang="en-GB" altLang="en-US" dirty="0" smtClean="0"/>
              <a:t>Objective:</a:t>
            </a:r>
          </a:p>
          <a:p>
            <a:pPr marL="0" indent="0" algn="just">
              <a:buNone/>
            </a:pPr>
            <a:r>
              <a:rPr lang="en-GB" altLang="en-US" dirty="0" smtClean="0"/>
              <a:t>To quickly assemble a structured team to support and advise the organization’</a:t>
            </a:r>
            <a:r>
              <a:rPr lang="en-GB" altLang="ja-JP" dirty="0" smtClean="0"/>
              <a:t>s emergency response leader with the management of information, for the purpose of warning and informing the public and managing public perception as part of the wider incident response.</a:t>
            </a:r>
          </a:p>
          <a:p>
            <a:pPr marL="0" indent="0" algn="just">
              <a:buNone/>
            </a:pPr>
            <a:endParaRPr lang="en-GB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6202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106" name="Content Placeholder 1"/>
          <p:cNvSpPr>
            <a:spLocks noGrp="1"/>
          </p:cNvSpPr>
          <p:nvPr>
            <p:ph idx="1"/>
          </p:nvPr>
        </p:nvSpPr>
        <p:spPr>
          <a:xfrm>
            <a:off x="838200" y="1143682"/>
            <a:ext cx="10143744" cy="5486400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None/>
            </a:pPr>
            <a:r>
              <a:rPr lang="en-GB" altLang="en-US" b="1" dirty="0" smtClean="0"/>
              <a:t>The public communications plan should detail 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n-GB" altLang="en-US" b="1" dirty="0" smtClean="0"/>
              <a:t>initial actions for the different roles in such as: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GB" altLang="en-US" dirty="0" smtClean="0"/>
          </a:p>
          <a:p>
            <a:pPr marL="0" indent="0" algn="just">
              <a:spcBef>
                <a:spcPct val="0"/>
              </a:spcBef>
              <a:buNone/>
            </a:pPr>
            <a:r>
              <a:rPr lang="en-GB" altLang="en-US" dirty="0" smtClean="0"/>
              <a:t>An agreed process for releasing media information which includes an agreed definition of </a:t>
            </a:r>
            <a:r>
              <a:rPr lang="ja-JP" altLang="en-GB" dirty="0" smtClean="0"/>
              <a:t>“</a:t>
            </a:r>
            <a:r>
              <a:rPr lang="en-GB" altLang="ja-JP" dirty="0" smtClean="0"/>
              <a:t>non-contentious</a:t>
            </a:r>
            <a:r>
              <a:rPr lang="ja-JP" altLang="en-GB" dirty="0" smtClean="0"/>
              <a:t>”</a:t>
            </a:r>
            <a:r>
              <a:rPr lang="en-GB" altLang="ja-JP" dirty="0" smtClean="0"/>
              <a:t> messaging 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GB" altLang="en-US" dirty="0" smtClean="0"/>
          </a:p>
          <a:p>
            <a:pPr marL="0" indent="0" algn="just">
              <a:spcBef>
                <a:spcPct val="0"/>
              </a:spcBef>
              <a:buNone/>
            </a:pPr>
            <a:r>
              <a:rPr lang="en-GB" altLang="en-US" dirty="0" smtClean="0"/>
              <a:t>An agreed </a:t>
            </a:r>
            <a:r>
              <a:rPr lang="ja-JP" altLang="en-GB" dirty="0" smtClean="0"/>
              <a:t>“</a:t>
            </a:r>
            <a:r>
              <a:rPr lang="en-GB" altLang="ja-JP" dirty="0" smtClean="0"/>
              <a:t>initial statement</a:t>
            </a:r>
            <a:r>
              <a:rPr lang="ja-JP" altLang="en-GB" dirty="0" smtClean="0"/>
              <a:t>”</a:t>
            </a:r>
            <a:r>
              <a:rPr lang="en-GB" altLang="ja-JP" dirty="0" smtClean="0"/>
              <a:t> (not </a:t>
            </a:r>
            <a:r>
              <a:rPr lang="ja-JP" altLang="en-GB" dirty="0" smtClean="0"/>
              <a:t>“</a:t>
            </a:r>
            <a:r>
              <a:rPr lang="en-GB" altLang="ja-JP" dirty="0" smtClean="0"/>
              <a:t>holding statement</a:t>
            </a:r>
            <a:r>
              <a:rPr lang="ja-JP" altLang="en-GB" dirty="0" smtClean="0"/>
              <a:t>”</a:t>
            </a:r>
            <a:r>
              <a:rPr lang="en-GB" altLang="ja-JP" dirty="0" smtClean="0"/>
              <a:t> – </a:t>
            </a:r>
            <a:r>
              <a:rPr lang="ja-JP" altLang="en-GB" dirty="0" smtClean="0"/>
              <a:t>“</a:t>
            </a:r>
            <a:r>
              <a:rPr lang="en-GB" altLang="ja-JP" dirty="0" smtClean="0"/>
              <a:t>initial</a:t>
            </a:r>
            <a:r>
              <a:rPr lang="ja-JP" altLang="en-GB" dirty="0" smtClean="0"/>
              <a:t>”</a:t>
            </a:r>
            <a:r>
              <a:rPr lang="en-GB" altLang="ja-JP" dirty="0" smtClean="0"/>
              <a:t> infers first of many, </a:t>
            </a:r>
            <a:r>
              <a:rPr lang="ja-JP" altLang="en-GB" dirty="0" smtClean="0"/>
              <a:t>“</a:t>
            </a:r>
            <a:r>
              <a:rPr lang="en-GB" altLang="ja-JP" dirty="0" smtClean="0"/>
              <a:t>holding</a:t>
            </a:r>
            <a:r>
              <a:rPr lang="ja-JP" altLang="en-GB" dirty="0" smtClean="0"/>
              <a:t>”</a:t>
            </a:r>
            <a:r>
              <a:rPr lang="en-GB" altLang="ja-JP" dirty="0" smtClean="0"/>
              <a:t> infers you have something to hide)</a:t>
            </a:r>
            <a:endParaRPr lang="en-GB" altLang="en-US" dirty="0" smtClean="0"/>
          </a:p>
        </p:txBody>
      </p:sp>
      <p:sp>
        <p:nvSpPr>
          <p:cNvPr id="3" name="Title 2">
            <a:extLst/>
          </p:cNvPr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GB" sz="4000" b="1" dirty="0">
                <a:latin typeface="+mn-lt"/>
                <a:cs typeface="Arial" pitchFamily="34" charset="0"/>
              </a:rPr>
              <a:t>Public C</a:t>
            </a:r>
            <a:r>
              <a:rPr lang="en-GB" sz="4000" b="1" dirty="0" smtClean="0">
                <a:latin typeface="+mn-lt"/>
                <a:cs typeface="Arial" pitchFamily="34" charset="0"/>
              </a:rPr>
              <a:t>ommunications </a:t>
            </a:r>
            <a:r>
              <a:rPr lang="en-GB" sz="4000" b="1" dirty="0">
                <a:latin typeface="+mn-lt"/>
                <a:cs typeface="Arial" pitchFamily="34" charset="0"/>
              </a:rPr>
              <a:t>P</a:t>
            </a:r>
            <a:r>
              <a:rPr lang="en-GB" sz="4000" b="1" dirty="0" smtClean="0">
                <a:latin typeface="+mn-lt"/>
                <a:cs typeface="Arial" pitchFamily="34" charset="0"/>
              </a:rPr>
              <a:t>lan</a:t>
            </a:r>
            <a:endParaRPr lang="en-GB" sz="4000" b="1" dirty="0">
              <a:latin typeface="+mn-lt"/>
              <a:cs typeface="Arial" pitchFamily="34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8132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8130" name="Picture 3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726" y="93663"/>
            <a:ext cx="9185275" cy="664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4767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154" name="Rectangle 2"/>
          <p:cNvSpPr>
            <a:spLocks noGrp="1"/>
          </p:cNvSpPr>
          <p:nvPr>
            <p:ph type="title"/>
          </p:nvPr>
        </p:nvSpPr>
        <p:spPr>
          <a:xfrm>
            <a:off x="1981200" y="84455"/>
            <a:ext cx="8229600" cy="644980"/>
          </a:xfrm>
          <a:noFill/>
        </p:spPr>
        <p:txBody>
          <a:bodyPr vert="horz" lIns="44048" tIns="17619" rIns="44048" bIns="17619" rtlCol="0" anchor="t">
            <a:spAutoFit/>
          </a:bodyPr>
          <a:lstStyle/>
          <a:p>
            <a:pPr algn="ctr" defTabSz="989013"/>
            <a:r>
              <a:rPr lang="en-GB" altLang="en-US" b="1" dirty="0" smtClean="0"/>
              <a:t>News Releases</a:t>
            </a:r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1240536" y="1176401"/>
            <a:ext cx="10515600" cy="4351338"/>
          </a:xfrm>
        </p:spPr>
        <p:txBody>
          <a:bodyPr vert="horz" lIns="83692" tIns="41112" rIns="83692" bIns="41112" rtlCol="0">
            <a:normAutofit lnSpcReduction="10000"/>
          </a:bodyPr>
          <a:lstStyle/>
          <a:p>
            <a:pPr marL="371475" indent="-371475" defTabSz="989013">
              <a:lnSpc>
                <a:spcPct val="110000"/>
              </a:lnSpc>
              <a:spcBef>
                <a:spcPct val="40000"/>
              </a:spcBef>
            </a:pPr>
            <a:r>
              <a:rPr lang="en-US" altLang="en-US" dirty="0" smtClean="0"/>
              <a:t>Use simple, clear language</a:t>
            </a:r>
            <a:r>
              <a:rPr lang="en-GB" altLang="en-US" dirty="0" smtClean="0"/>
              <a:t> </a:t>
            </a:r>
          </a:p>
          <a:p>
            <a:pPr marL="371475" indent="-371475" defTabSz="989013">
              <a:lnSpc>
                <a:spcPct val="110000"/>
              </a:lnSpc>
              <a:spcBef>
                <a:spcPct val="40000"/>
              </a:spcBef>
            </a:pPr>
            <a:r>
              <a:rPr lang="en-GB" altLang="en-US" dirty="0" smtClean="0"/>
              <a:t>Stick to facts</a:t>
            </a:r>
          </a:p>
          <a:p>
            <a:pPr marL="371475" indent="-371475" defTabSz="989013">
              <a:lnSpc>
                <a:spcPct val="110000"/>
              </a:lnSpc>
              <a:spcBef>
                <a:spcPct val="40000"/>
              </a:spcBef>
            </a:pPr>
            <a:r>
              <a:rPr lang="en-GB" altLang="en-US" dirty="0" smtClean="0"/>
              <a:t>Do NOT speculate</a:t>
            </a:r>
          </a:p>
          <a:p>
            <a:pPr marL="371475" indent="-371475" defTabSz="989013">
              <a:lnSpc>
                <a:spcPct val="110000"/>
              </a:lnSpc>
              <a:spcBef>
                <a:spcPct val="40000"/>
              </a:spcBef>
            </a:pPr>
            <a:r>
              <a:rPr lang="en-US" altLang="en-US" dirty="0" smtClean="0"/>
              <a:t>Express regret, if appropriate</a:t>
            </a:r>
          </a:p>
          <a:p>
            <a:pPr marL="371475" indent="-371475" defTabSz="989013">
              <a:lnSpc>
                <a:spcPct val="110000"/>
              </a:lnSpc>
              <a:spcBef>
                <a:spcPct val="40000"/>
              </a:spcBef>
            </a:pPr>
            <a:r>
              <a:rPr lang="en-GB" altLang="en-US" dirty="0" smtClean="0"/>
              <a:t>Emphasize positive points</a:t>
            </a:r>
          </a:p>
          <a:p>
            <a:pPr marL="371475" indent="-371475" defTabSz="989013">
              <a:lnSpc>
                <a:spcPct val="110000"/>
              </a:lnSpc>
              <a:spcBef>
                <a:spcPct val="40000"/>
              </a:spcBef>
            </a:pPr>
            <a:r>
              <a:rPr lang="en-GB" altLang="en-US" dirty="0" smtClean="0"/>
              <a:t>Understandable language – no jargon!</a:t>
            </a:r>
          </a:p>
          <a:p>
            <a:pPr marL="371475" indent="-371475" defTabSz="989013">
              <a:lnSpc>
                <a:spcPct val="110000"/>
              </a:lnSpc>
              <a:spcBef>
                <a:spcPct val="40000"/>
              </a:spcBef>
            </a:pPr>
            <a:r>
              <a:rPr lang="en-GB" altLang="en-US" dirty="0" smtClean="0"/>
              <a:t>Identify media focal point and contact details</a:t>
            </a:r>
          </a:p>
          <a:p>
            <a:pPr marL="803275" lvl="1" indent="-309563" defTabSz="989013"/>
            <a:endParaRPr lang="en-US" altLang="en-US" dirty="0"/>
          </a:p>
          <a:p>
            <a:pPr marL="803275" lvl="1" indent="-309563" defTabSz="989013"/>
            <a:endParaRPr lang="en-GB" altLang="en-US" b="1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2701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20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GB" altLang="en-US" b="1" dirty="0" smtClean="0"/>
              <a:t>Media Interviews</a:t>
            </a:r>
            <a:endParaRPr lang="en-US" altLang="en-US" b="1" dirty="0" smtClean="0"/>
          </a:p>
        </p:txBody>
      </p:sp>
      <p:sp>
        <p:nvSpPr>
          <p:cNvPr id="51203" name="Content Placeholder 11"/>
          <p:cNvSpPr>
            <a:spLocks noGrp="1"/>
          </p:cNvSpPr>
          <p:nvPr>
            <p:ph idx="1"/>
          </p:nvPr>
        </p:nvSpPr>
        <p:spPr>
          <a:xfrm>
            <a:off x="832282" y="896794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GB" altLang="en-US" sz="3200" b="1" dirty="0" smtClean="0"/>
              <a:t>Key elements</a:t>
            </a:r>
          </a:p>
          <a:p>
            <a:pPr>
              <a:lnSpc>
                <a:spcPct val="120000"/>
              </a:lnSpc>
            </a:pPr>
            <a:r>
              <a:rPr lang="en-GB" altLang="en-US" dirty="0" smtClean="0"/>
              <a:t>Preparation</a:t>
            </a:r>
          </a:p>
          <a:p>
            <a:pPr>
              <a:lnSpc>
                <a:spcPct val="120000"/>
              </a:lnSpc>
            </a:pPr>
            <a:r>
              <a:rPr lang="en-GB" altLang="en-US" dirty="0" smtClean="0"/>
              <a:t>Positioning statement</a:t>
            </a:r>
          </a:p>
          <a:p>
            <a:pPr>
              <a:lnSpc>
                <a:spcPct val="120000"/>
              </a:lnSpc>
            </a:pPr>
            <a:r>
              <a:rPr lang="en-GB" altLang="en-US" dirty="0" smtClean="0"/>
              <a:t>Use of quotes and sound bites</a:t>
            </a:r>
          </a:p>
          <a:p>
            <a:pPr>
              <a:lnSpc>
                <a:spcPct val="120000"/>
              </a:lnSpc>
            </a:pPr>
            <a:r>
              <a:rPr lang="en-GB" altLang="en-US" dirty="0" smtClean="0"/>
              <a:t>On the record/off the record</a:t>
            </a:r>
          </a:p>
          <a:p>
            <a:pPr>
              <a:lnSpc>
                <a:spcPct val="120000"/>
              </a:lnSpc>
            </a:pPr>
            <a:r>
              <a:rPr lang="en-GB" altLang="en-US" dirty="0" smtClean="0"/>
              <a:t>Handling difficult questions</a:t>
            </a:r>
          </a:p>
          <a:p>
            <a:pPr>
              <a:lnSpc>
                <a:spcPct val="120000"/>
              </a:lnSpc>
            </a:pPr>
            <a:r>
              <a:rPr lang="en-GB" altLang="en-US" dirty="0" smtClean="0"/>
              <a:t>Looking and acting the part</a:t>
            </a:r>
          </a:p>
        </p:txBody>
      </p:sp>
      <p:pic>
        <p:nvPicPr>
          <p:cNvPr id="51204" name="Picture 18"/>
          <p:cNvPicPr>
            <a:picLocks noChangeAspect="1" noChangeArrowheads="1"/>
          </p:cNvPicPr>
          <p:nvPr/>
        </p:nvPicPr>
        <p:blipFill>
          <a:blip r:embed="rId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4208" y="766618"/>
            <a:ext cx="2907792" cy="6020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4488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325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6617"/>
            <a:ext cx="12192000" cy="5784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1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GB" altLang="en-US" b="1" dirty="0" smtClean="0"/>
              <a:t>One-to-one interviews</a:t>
            </a:r>
            <a:endParaRPr lang="en-US" altLang="en-US" b="1" dirty="0" smtClean="0"/>
          </a:p>
        </p:txBody>
      </p:sp>
      <p:sp>
        <p:nvSpPr>
          <p:cNvPr id="53252" name="Content Placeholder 7"/>
          <p:cNvSpPr>
            <a:spLocks noGrp="1"/>
          </p:cNvSpPr>
          <p:nvPr>
            <p:ph idx="1"/>
          </p:nvPr>
        </p:nvSpPr>
        <p:spPr>
          <a:xfrm>
            <a:off x="832282" y="1267841"/>
            <a:ext cx="10515600" cy="4351338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dirty="0" smtClean="0"/>
              <a:t>Generally fall into two categories</a:t>
            </a:r>
          </a:p>
          <a:p>
            <a:pPr>
              <a:buFontTx/>
              <a:buNone/>
            </a:pPr>
            <a:endParaRPr lang="en-GB" altLang="en-US" dirty="0" smtClean="0"/>
          </a:p>
          <a:p>
            <a:r>
              <a:rPr lang="en-GB" altLang="en-US" dirty="0" smtClean="0"/>
              <a:t> On the spot/stand up interviews</a:t>
            </a:r>
          </a:p>
          <a:p>
            <a:pPr>
              <a:buFontTx/>
              <a:buNone/>
            </a:pPr>
            <a:endParaRPr lang="en-GB" altLang="en-US" dirty="0" smtClean="0"/>
          </a:p>
          <a:p>
            <a:r>
              <a:rPr lang="en-GB" altLang="en-US" dirty="0" smtClean="0"/>
              <a:t> Pre-arranged personal interviews</a:t>
            </a:r>
          </a:p>
          <a:p>
            <a:pPr>
              <a:buFontTx/>
              <a:buNone/>
            </a:pPr>
            <a:endParaRPr lang="en-GB" altLang="en-US" dirty="0" smtClean="0"/>
          </a:p>
          <a:p>
            <a:endParaRPr lang="en-GB" altLang="en-US" dirty="0" smtClean="0"/>
          </a:p>
          <a:p>
            <a:endParaRPr lang="en-GB" altLang="en-US" dirty="0" smtClean="0"/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7274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5298" name="Picture 11"/>
          <p:cNvPicPr>
            <a:picLocks noChangeAspect="1" noChangeArrowheads="1"/>
          </p:cNvPicPr>
          <p:nvPr/>
        </p:nvPicPr>
        <p:blipFill>
          <a:blip r:embed="rId3">
            <a:lum bright="54000" contrast="-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82" b="9151"/>
          <a:stretch>
            <a:fillRect/>
          </a:stretch>
        </p:blipFill>
        <p:spPr bwMode="auto">
          <a:xfrm>
            <a:off x="0" y="766618"/>
            <a:ext cx="12192000" cy="6091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9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GB" altLang="en-US" b="1" dirty="0" smtClean="0"/>
              <a:t>News conferences</a:t>
            </a:r>
            <a:endParaRPr lang="en-US" altLang="en-US" b="1" dirty="0" smtClean="0"/>
          </a:p>
        </p:txBody>
      </p:sp>
      <p:sp>
        <p:nvSpPr>
          <p:cNvPr id="55300" name="Content Placeholder 10"/>
          <p:cNvSpPr>
            <a:spLocks noGrp="1"/>
          </p:cNvSpPr>
          <p:nvPr>
            <p:ph idx="1"/>
          </p:nvPr>
        </p:nvSpPr>
        <p:spPr>
          <a:xfrm>
            <a:off x="929640" y="1231265"/>
            <a:ext cx="10515600" cy="4351338"/>
          </a:xfrm>
        </p:spPr>
        <p:txBody>
          <a:bodyPr>
            <a:normAutofit lnSpcReduction="10000"/>
          </a:bodyPr>
          <a:lstStyle/>
          <a:p>
            <a:pPr marL="381000" indent="-381000">
              <a:buNone/>
            </a:pPr>
            <a:r>
              <a:rPr lang="en-GB" altLang="en-US" b="1" dirty="0" smtClean="0"/>
              <a:t>Key points</a:t>
            </a:r>
          </a:p>
          <a:p>
            <a:pPr marL="381000" indent="-381000"/>
            <a:r>
              <a:rPr lang="en-GB" altLang="en-US" dirty="0" smtClean="0"/>
              <a:t>Is everyone ready?</a:t>
            </a:r>
          </a:p>
          <a:p>
            <a:pPr marL="381000" indent="-381000"/>
            <a:r>
              <a:rPr lang="en-GB" altLang="en-US" dirty="0" smtClean="0"/>
              <a:t>Hand out a statement</a:t>
            </a:r>
          </a:p>
          <a:p>
            <a:pPr marL="381000" indent="-381000"/>
            <a:r>
              <a:rPr lang="en-GB" altLang="en-US" dirty="0" smtClean="0"/>
              <a:t>Tape yourself</a:t>
            </a:r>
          </a:p>
          <a:p>
            <a:pPr marL="381000" indent="-381000"/>
            <a:r>
              <a:rPr lang="en-GB" altLang="en-US" dirty="0" smtClean="0"/>
              <a:t>Keep track of names and organizations</a:t>
            </a:r>
          </a:p>
          <a:p>
            <a:pPr marL="381000" indent="-381000"/>
            <a:r>
              <a:rPr lang="en-GB" altLang="en-US" dirty="0" smtClean="0"/>
              <a:t>Say if you don’</a:t>
            </a:r>
            <a:r>
              <a:rPr lang="en-GB" altLang="ja-JP" dirty="0" smtClean="0"/>
              <a:t>t have an answer</a:t>
            </a:r>
          </a:p>
          <a:p>
            <a:pPr marL="381000" indent="-381000"/>
            <a:r>
              <a:rPr lang="en-GB" altLang="en-US" dirty="0" smtClean="0"/>
              <a:t>Be punctual</a:t>
            </a:r>
          </a:p>
          <a:p>
            <a:pPr marL="381000" indent="-381000"/>
            <a:r>
              <a:rPr lang="en-GB" altLang="en-US" dirty="0" smtClean="0"/>
              <a:t>If you promise to provide further information ensure you provide it</a:t>
            </a:r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830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34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GB" altLang="en-US" b="1" dirty="0" smtClean="0"/>
              <a:t>Common Questions</a:t>
            </a:r>
            <a:endParaRPr lang="en-US" altLang="en-US" b="1" dirty="0" smtClean="0"/>
          </a:p>
        </p:txBody>
      </p:sp>
      <p:sp>
        <p:nvSpPr>
          <p:cNvPr id="57347" name="Content Placeholder 19"/>
          <p:cNvSpPr>
            <a:spLocks noGrp="1"/>
          </p:cNvSpPr>
          <p:nvPr>
            <p:ph idx="1"/>
          </p:nvPr>
        </p:nvSpPr>
        <p:spPr>
          <a:xfrm>
            <a:off x="1636954" y="1112393"/>
            <a:ext cx="10515600" cy="4351338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altLang="en-US" dirty="0" smtClean="0"/>
              <a:t>What happened?</a:t>
            </a:r>
          </a:p>
          <a:p>
            <a:pPr>
              <a:spcBef>
                <a:spcPts val="600"/>
              </a:spcBef>
            </a:pPr>
            <a:r>
              <a:rPr lang="en-GB" altLang="en-US" dirty="0" smtClean="0"/>
              <a:t>How did it happen?</a:t>
            </a:r>
          </a:p>
          <a:p>
            <a:pPr>
              <a:spcBef>
                <a:spcPts val="600"/>
              </a:spcBef>
            </a:pPr>
            <a:r>
              <a:rPr lang="en-GB" altLang="en-US" dirty="0" smtClean="0"/>
              <a:t>When, where, why did it happen?</a:t>
            </a:r>
          </a:p>
          <a:p>
            <a:pPr>
              <a:spcBef>
                <a:spcPts val="600"/>
              </a:spcBef>
            </a:pPr>
            <a:r>
              <a:rPr lang="en-GB" altLang="en-US" dirty="0" smtClean="0"/>
              <a:t>Who is involved?</a:t>
            </a:r>
          </a:p>
          <a:p>
            <a:pPr>
              <a:spcBef>
                <a:spcPts val="600"/>
              </a:spcBef>
            </a:pPr>
            <a:r>
              <a:rPr lang="en-GB" altLang="en-US" dirty="0" smtClean="0"/>
              <a:t>What caused it?</a:t>
            </a:r>
          </a:p>
          <a:p>
            <a:pPr>
              <a:spcBef>
                <a:spcPts val="600"/>
              </a:spcBef>
            </a:pPr>
            <a:r>
              <a:rPr lang="en-GB" altLang="en-US" dirty="0" smtClean="0"/>
              <a:t>What is being done about it?</a:t>
            </a:r>
          </a:p>
          <a:p>
            <a:pPr>
              <a:spcBef>
                <a:spcPts val="600"/>
              </a:spcBef>
            </a:pPr>
            <a:r>
              <a:rPr lang="en-GB" altLang="en-US" dirty="0" smtClean="0"/>
              <a:t>Who is to blame?</a:t>
            </a:r>
          </a:p>
          <a:p>
            <a:pPr>
              <a:spcBef>
                <a:spcPts val="600"/>
              </a:spcBef>
            </a:pPr>
            <a:r>
              <a:rPr lang="en-GB" altLang="en-US" dirty="0" smtClean="0"/>
              <a:t>Who is responsible/liable?</a:t>
            </a:r>
          </a:p>
          <a:p>
            <a:pPr>
              <a:spcBef>
                <a:spcPts val="600"/>
              </a:spcBef>
            </a:pPr>
            <a:r>
              <a:rPr lang="en-GB" altLang="en-US" dirty="0" smtClean="0"/>
              <a:t>Who is going to pay the clean-up costs?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3235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394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GB" altLang="en-US" b="1" dirty="0" smtClean="0"/>
              <a:t>Common Questions</a:t>
            </a:r>
            <a:endParaRPr lang="en-US" altLang="en-US" b="1" dirty="0" smtClean="0"/>
          </a:p>
        </p:txBody>
      </p:sp>
      <p:sp>
        <p:nvSpPr>
          <p:cNvPr id="59395" name="Content Placeholder 19"/>
          <p:cNvSpPr>
            <a:spLocks noGrp="1"/>
          </p:cNvSpPr>
          <p:nvPr>
            <p:ph idx="1"/>
          </p:nvPr>
        </p:nvSpPr>
        <p:spPr>
          <a:xfrm>
            <a:off x="1450848" y="126784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altLang="en-US" dirty="0" smtClean="0"/>
              <a:t>What operations are going on?</a:t>
            </a:r>
          </a:p>
          <a:p>
            <a:r>
              <a:rPr lang="en-GB" altLang="en-US" dirty="0" smtClean="0"/>
              <a:t>Has it happened before?</a:t>
            </a:r>
          </a:p>
          <a:p>
            <a:r>
              <a:rPr lang="en-GB" altLang="en-US" dirty="0" smtClean="0"/>
              <a:t>Was it preventable?</a:t>
            </a:r>
          </a:p>
          <a:p>
            <a:r>
              <a:rPr lang="en-GB" altLang="en-US" dirty="0" smtClean="0"/>
              <a:t>Are there any witnesses?</a:t>
            </a:r>
          </a:p>
          <a:p>
            <a:r>
              <a:rPr lang="en-GB" altLang="en-US" dirty="0" smtClean="0"/>
              <a:t>What is the impact?</a:t>
            </a:r>
          </a:p>
          <a:p>
            <a:r>
              <a:rPr lang="en-GB" altLang="en-US" dirty="0" smtClean="0"/>
              <a:t>What are the health and safety risks?</a:t>
            </a:r>
          </a:p>
          <a:p>
            <a:r>
              <a:rPr lang="en-GB" altLang="en-US" dirty="0" smtClean="0"/>
              <a:t>Is anyone injured?</a:t>
            </a:r>
          </a:p>
          <a:p>
            <a:r>
              <a:rPr lang="en-GB" altLang="en-US" dirty="0" smtClean="0"/>
              <a:t>Do we need to evacuate?</a:t>
            </a:r>
          </a:p>
          <a:p>
            <a:r>
              <a:rPr lang="en-GB" altLang="en-US" dirty="0" smtClean="0"/>
              <a:t>How much will it cost?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3759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442" name="Title 4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News Conference – Do</a:t>
            </a:r>
          </a:p>
        </p:txBody>
      </p:sp>
      <p:sp>
        <p:nvSpPr>
          <p:cNvPr id="61443" name="Content Placeholder 17"/>
          <p:cNvSpPr>
            <a:spLocks noGrp="1"/>
          </p:cNvSpPr>
          <p:nvPr>
            <p:ph idx="1"/>
          </p:nvPr>
        </p:nvSpPr>
        <p:spPr>
          <a:xfrm>
            <a:off x="966216" y="1203833"/>
            <a:ext cx="10515600" cy="4351338"/>
          </a:xfrm>
        </p:spPr>
        <p:txBody>
          <a:bodyPr/>
          <a:lstStyle/>
          <a:p>
            <a:pPr marL="381000" indent="-381000" algn="just">
              <a:spcBef>
                <a:spcPct val="30000"/>
              </a:spcBef>
            </a:pPr>
            <a:r>
              <a:rPr lang="en-US" altLang="en-US" dirty="0" smtClean="0"/>
              <a:t>Establish positive relations with the media</a:t>
            </a:r>
          </a:p>
          <a:p>
            <a:pPr marL="381000" indent="-381000" algn="just"/>
            <a:r>
              <a:rPr lang="en-GB" altLang="en-US" dirty="0" smtClean="0"/>
              <a:t>Be prepared</a:t>
            </a:r>
          </a:p>
          <a:p>
            <a:pPr marL="381000" indent="-381000" algn="just">
              <a:spcBef>
                <a:spcPct val="30000"/>
              </a:spcBef>
            </a:pPr>
            <a:r>
              <a:rPr lang="en-US" altLang="en-US" dirty="0" smtClean="0"/>
              <a:t>Stick to your area of expertise</a:t>
            </a:r>
          </a:p>
          <a:p>
            <a:pPr marL="381000" indent="-381000" algn="just">
              <a:spcBef>
                <a:spcPct val="30000"/>
              </a:spcBef>
            </a:pPr>
            <a:r>
              <a:rPr lang="en-US" altLang="en-US" dirty="0" smtClean="0"/>
              <a:t>If you don</a:t>
            </a:r>
            <a:r>
              <a:rPr lang="en-US" altLang="fr-FR" dirty="0" smtClean="0"/>
              <a:t>’</a:t>
            </a:r>
            <a:r>
              <a:rPr lang="en-US" altLang="en-US" dirty="0" smtClean="0"/>
              <a:t>t know… say you don</a:t>
            </a:r>
            <a:r>
              <a:rPr lang="en-US" altLang="fr-FR" dirty="0" smtClean="0"/>
              <a:t>’</a:t>
            </a:r>
            <a:r>
              <a:rPr lang="en-US" altLang="en-US" dirty="0" smtClean="0"/>
              <a:t>t know, but will find out.</a:t>
            </a:r>
          </a:p>
          <a:p>
            <a:pPr marL="381000" indent="-381000" algn="just">
              <a:spcBef>
                <a:spcPct val="30000"/>
              </a:spcBef>
            </a:pPr>
            <a:r>
              <a:rPr lang="en-US" altLang="en-US" dirty="0" smtClean="0"/>
              <a:t>Anticipate the questions you</a:t>
            </a:r>
            <a:r>
              <a:rPr lang="en-US" altLang="fr-FR" dirty="0" smtClean="0"/>
              <a:t>’</a:t>
            </a:r>
            <a:r>
              <a:rPr lang="en-US" altLang="en-US" dirty="0" smtClean="0"/>
              <a:t>ll be asked and prepare your answers beforehand</a:t>
            </a:r>
          </a:p>
          <a:p>
            <a:pPr marL="381000" indent="-381000" algn="just">
              <a:spcBef>
                <a:spcPct val="30000"/>
              </a:spcBef>
            </a:pPr>
            <a:r>
              <a:rPr lang="en-US" altLang="en-US" dirty="0" smtClean="0"/>
              <a:t>State the important facts at the beginning</a:t>
            </a:r>
          </a:p>
          <a:p>
            <a:pPr marL="381000" indent="-381000" algn="just">
              <a:spcBef>
                <a:spcPct val="30000"/>
              </a:spcBef>
            </a:pPr>
            <a:r>
              <a:rPr lang="en-US" altLang="en-US" dirty="0" smtClean="0"/>
              <a:t>Be helpful, friendly, and courteous</a:t>
            </a:r>
          </a:p>
          <a:p>
            <a:pPr marL="381000" indent="-381000" algn="just"/>
            <a:endParaRPr lang="en-GB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6980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490" name="Title 4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News Conference – Do</a:t>
            </a:r>
          </a:p>
        </p:txBody>
      </p:sp>
      <p:sp>
        <p:nvSpPr>
          <p:cNvPr id="63491" name="Content Placeholder 17"/>
          <p:cNvSpPr>
            <a:spLocks noGrp="1"/>
          </p:cNvSpPr>
          <p:nvPr>
            <p:ph idx="1"/>
          </p:nvPr>
        </p:nvSpPr>
        <p:spPr>
          <a:xfrm>
            <a:off x="1898904" y="1194689"/>
            <a:ext cx="7473696" cy="4351338"/>
          </a:xfrm>
        </p:spPr>
        <p:txBody>
          <a:bodyPr/>
          <a:lstStyle/>
          <a:p>
            <a:pPr marL="381000" indent="-381000" algn="just"/>
            <a:r>
              <a:rPr lang="en-US" altLang="en-US" dirty="0" smtClean="0"/>
              <a:t>Be clear, concise, factual in your responses.</a:t>
            </a:r>
          </a:p>
          <a:p>
            <a:pPr marL="381000" indent="-381000" algn="just"/>
            <a:r>
              <a:rPr lang="en-GB" altLang="en-US" dirty="0" smtClean="0"/>
              <a:t>Put the story in context.</a:t>
            </a:r>
          </a:p>
          <a:p>
            <a:pPr marL="381000" indent="-381000" algn="just"/>
            <a:r>
              <a:rPr lang="en-GB" altLang="en-US" dirty="0" smtClean="0"/>
              <a:t>Ask for questions to be repeated if you </a:t>
            </a:r>
            <a:br>
              <a:rPr lang="en-GB" altLang="en-US" dirty="0" smtClean="0"/>
            </a:br>
            <a:r>
              <a:rPr lang="en-GB" altLang="en-US" dirty="0" smtClean="0"/>
              <a:t>don’</a:t>
            </a:r>
            <a:r>
              <a:rPr lang="en-GB" altLang="ja-JP" dirty="0" smtClean="0"/>
              <a:t>t understand them.</a:t>
            </a:r>
          </a:p>
          <a:p>
            <a:pPr marL="381000" indent="-381000" algn="just"/>
            <a:r>
              <a:rPr lang="en-US" altLang="en-US" dirty="0" smtClean="0"/>
              <a:t>Define the problem.</a:t>
            </a:r>
          </a:p>
          <a:p>
            <a:pPr marL="381000" indent="-381000" algn="just"/>
            <a:r>
              <a:rPr lang="en-US" altLang="en-US" dirty="0" smtClean="0"/>
              <a:t>Keep your message brief and to the point.</a:t>
            </a:r>
          </a:p>
          <a:p>
            <a:pPr marL="381000" indent="-381000" algn="just"/>
            <a:r>
              <a:rPr lang="en-US" altLang="en-US" dirty="0" smtClean="0"/>
              <a:t>Tell the truth, don</a:t>
            </a:r>
            <a:r>
              <a:rPr lang="en-US" altLang="fr-FR" dirty="0" smtClean="0"/>
              <a:t>’</a:t>
            </a:r>
            <a:r>
              <a:rPr lang="en-US" altLang="en-US" dirty="0" smtClean="0"/>
              <a:t>t hide bad news.</a:t>
            </a:r>
          </a:p>
          <a:p>
            <a:pPr marL="381000" indent="-381000" algn="just"/>
            <a:r>
              <a:rPr lang="en-GB" altLang="en-US" dirty="0" smtClean="0"/>
              <a:t>Stick to your message and return to </a:t>
            </a:r>
            <a:br>
              <a:rPr lang="en-GB" altLang="en-US" dirty="0" smtClean="0"/>
            </a:br>
            <a:r>
              <a:rPr lang="en-GB" altLang="en-US" dirty="0" smtClean="0"/>
              <a:t>it whenever you can.</a:t>
            </a:r>
            <a:endParaRPr lang="en-US" altLang="en-US" dirty="0" smtClean="0"/>
          </a:p>
          <a:p>
            <a:pPr marL="381000" indent="-381000" algn="just">
              <a:lnSpc>
                <a:spcPct val="150000"/>
              </a:lnSpc>
            </a:pPr>
            <a:endParaRPr lang="en-US" altLang="en-US" dirty="0" smtClean="0"/>
          </a:p>
          <a:p>
            <a:pPr marL="381000" indent="-381000" algn="just">
              <a:lnSpc>
                <a:spcPct val="150000"/>
              </a:lnSpc>
            </a:pPr>
            <a:endParaRPr lang="en-GB" altLang="en-US" dirty="0" smtClean="0"/>
          </a:p>
          <a:p>
            <a:pPr marL="381000" indent="-381000" algn="just"/>
            <a:endParaRPr lang="en-GB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0329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538" name="Rectangle 23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  <a:noFill/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/>
              <a:t>News Conference – Do not</a:t>
            </a:r>
          </a:p>
        </p:txBody>
      </p:sp>
      <p:sp>
        <p:nvSpPr>
          <p:cNvPr id="65539" name="Content Placeholder 11"/>
          <p:cNvSpPr>
            <a:spLocks noGrp="1"/>
          </p:cNvSpPr>
          <p:nvPr>
            <p:ph idx="1"/>
          </p:nvPr>
        </p:nvSpPr>
        <p:spPr>
          <a:xfrm>
            <a:off x="1297102" y="1160187"/>
            <a:ext cx="9823703" cy="5218113"/>
          </a:xfrm>
        </p:spPr>
        <p:txBody>
          <a:bodyPr/>
          <a:lstStyle/>
          <a:p>
            <a:pPr>
              <a:spcBef>
                <a:spcPct val="40000"/>
              </a:spcBef>
            </a:pPr>
            <a:r>
              <a:rPr lang="en-US" altLang="en-US" dirty="0" smtClean="0"/>
              <a:t>Give more than is needed.</a:t>
            </a:r>
          </a:p>
          <a:p>
            <a:pPr>
              <a:spcBef>
                <a:spcPct val="40000"/>
              </a:spcBef>
            </a:pPr>
            <a:r>
              <a:rPr lang="en-US" altLang="en-US" dirty="0" smtClean="0"/>
              <a:t>Speculate, make predictions or give opinions. Stick to the facts as they are known.</a:t>
            </a:r>
          </a:p>
          <a:p>
            <a:pPr>
              <a:spcBef>
                <a:spcPct val="40000"/>
              </a:spcBef>
            </a:pPr>
            <a:r>
              <a:rPr lang="en-GB" altLang="en-US" dirty="0" smtClean="0"/>
              <a:t>Lie or be evasive.</a:t>
            </a:r>
          </a:p>
          <a:p>
            <a:pPr>
              <a:spcBef>
                <a:spcPct val="40000"/>
              </a:spcBef>
            </a:pPr>
            <a:r>
              <a:rPr lang="en-US" altLang="en-US" dirty="0" smtClean="0"/>
              <a:t>Go </a:t>
            </a:r>
            <a:r>
              <a:rPr lang="en-US" altLang="fr-FR" dirty="0" smtClean="0"/>
              <a:t>“</a:t>
            </a:r>
            <a:r>
              <a:rPr lang="en-US" altLang="en-US" dirty="0" smtClean="0"/>
              <a:t>off the record.</a:t>
            </a:r>
            <a:r>
              <a:rPr lang="en-US" altLang="fr-FR" dirty="0" smtClean="0"/>
              <a:t>”</a:t>
            </a:r>
            <a:r>
              <a:rPr lang="en-US" altLang="en-US" dirty="0" smtClean="0"/>
              <a:t> If you say it, expect to see or hear it.</a:t>
            </a:r>
          </a:p>
          <a:p>
            <a:pPr>
              <a:spcBef>
                <a:spcPct val="40000"/>
              </a:spcBef>
            </a:pPr>
            <a:r>
              <a:rPr lang="en-US" altLang="en-US" dirty="0" smtClean="0"/>
              <a:t>Respond to an inquiry if it is not your expertise. Recommend a proper source, if possible.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4813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586" name="Rectangle 23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  <a:noFill/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/>
              <a:t>News Conference – Do not</a:t>
            </a:r>
          </a:p>
        </p:txBody>
      </p:sp>
      <p:sp>
        <p:nvSpPr>
          <p:cNvPr id="67587" name="Content Placeholder 11"/>
          <p:cNvSpPr>
            <a:spLocks noGrp="1"/>
          </p:cNvSpPr>
          <p:nvPr>
            <p:ph idx="1"/>
          </p:nvPr>
        </p:nvSpPr>
        <p:spPr>
          <a:xfrm>
            <a:off x="1390066" y="1396790"/>
            <a:ext cx="10515600" cy="4351338"/>
          </a:xfrm>
        </p:spPr>
        <p:txBody>
          <a:bodyPr/>
          <a:lstStyle/>
          <a:p>
            <a:pPr>
              <a:spcBef>
                <a:spcPct val="40000"/>
              </a:spcBef>
            </a:pPr>
            <a:r>
              <a:rPr lang="en-US" altLang="en-US" dirty="0" smtClean="0"/>
              <a:t>Be sarcastic.</a:t>
            </a:r>
          </a:p>
          <a:p>
            <a:pPr>
              <a:spcBef>
                <a:spcPct val="40000"/>
              </a:spcBef>
            </a:pPr>
            <a:r>
              <a:rPr lang="en-US" altLang="en-US" dirty="0" smtClean="0"/>
              <a:t>Argue with a reporter.</a:t>
            </a:r>
          </a:p>
          <a:p>
            <a:pPr>
              <a:spcBef>
                <a:spcPct val="40000"/>
              </a:spcBef>
            </a:pPr>
            <a:r>
              <a:rPr lang="en-US" altLang="en-US" dirty="0" smtClean="0"/>
              <a:t>Lose your cool.</a:t>
            </a:r>
          </a:p>
          <a:p>
            <a:pPr>
              <a:spcBef>
                <a:spcPct val="40000"/>
              </a:spcBef>
            </a:pPr>
            <a:r>
              <a:rPr lang="en-US" altLang="en-US" dirty="0" smtClean="0"/>
              <a:t>Jump at media questions. Take your time and think before answering.</a:t>
            </a:r>
          </a:p>
          <a:p>
            <a:pPr>
              <a:spcBef>
                <a:spcPct val="40000"/>
              </a:spcBef>
            </a:pPr>
            <a:r>
              <a:rPr lang="en-US" altLang="en-US" dirty="0" smtClean="0"/>
              <a:t>Let the reporter lead you. 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730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634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Summary </a:t>
            </a:r>
          </a:p>
        </p:txBody>
      </p:sp>
      <p:sp>
        <p:nvSpPr>
          <p:cNvPr id="25603" name="Content Placeholder 3">
            <a:extLst/>
          </p:cNvPr>
          <p:cNvSpPr>
            <a:spLocks noGrp="1"/>
          </p:cNvSpPr>
          <p:nvPr>
            <p:ph idx="1"/>
          </p:nvPr>
        </p:nvSpPr>
        <p:spPr>
          <a:xfrm>
            <a:off x="995744" y="1429259"/>
            <a:ext cx="9583864" cy="3115725"/>
          </a:xfr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GB" sz="3200" dirty="0">
                <a:ea typeface="+mn-ea"/>
              </a:rPr>
              <a:t>In this lesson we have considered:</a:t>
            </a:r>
          </a:p>
          <a:p>
            <a:pPr>
              <a:defRPr/>
            </a:pPr>
            <a:r>
              <a:rPr lang="en-GB" dirty="0">
                <a:ea typeface="+mn-ea"/>
              </a:rPr>
              <a:t>the various types of media and their requirements</a:t>
            </a:r>
          </a:p>
          <a:p>
            <a:pPr>
              <a:defRPr/>
            </a:pPr>
            <a:r>
              <a:rPr lang="en-GB" dirty="0">
                <a:ea typeface="+mn-ea"/>
              </a:rPr>
              <a:t>the need for a Media </a:t>
            </a:r>
            <a:r>
              <a:rPr lang="en-GB" dirty="0" smtClean="0">
                <a:ea typeface="+mn-ea"/>
              </a:rPr>
              <a:t>relations plan</a:t>
            </a:r>
            <a:endParaRPr lang="en-GB" dirty="0">
              <a:ea typeface="+mn-ea"/>
            </a:endParaRPr>
          </a:p>
          <a:p>
            <a:pPr>
              <a:defRPr/>
            </a:pPr>
            <a:r>
              <a:rPr lang="en-GB" dirty="0">
                <a:ea typeface="+mn-ea"/>
              </a:rPr>
              <a:t>how best to manage the media</a:t>
            </a:r>
          </a:p>
          <a:p>
            <a:pPr>
              <a:defRPr/>
            </a:pPr>
            <a:r>
              <a:rPr lang="en-GB" dirty="0">
                <a:ea typeface="+mn-ea"/>
              </a:rPr>
              <a:t>how to prepare for interviews</a:t>
            </a:r>
          </a:p>
          <a:p>
            <a:pPr>
              <a:defRPr/>
            </a:pPr>
            <a:r>
              <a:rPr lang="en-GB" dirty="0">
                <a:ea typeface="+mn-ea"/>
              </a:rPr>
              <a:t>how to prepare for news conferences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30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1530</Words>
  <Application>Microsoft Office PowerPoint</Application>
  <PresentationFormat>Widescreen</PresentationFormat>
  <Paragraphs>264</Paragraphs>
  <Slides>32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MS PGothic</vt:lpstr>
      <vt:lpstr>Arial</vt:lpstr>
      <vt:lpstr>Calibri</vt:lpstr>
      <vt:lpstr>inherit</vt:lpstr>
      <vt:lpstr>Tahoma</vt:lpstr>
      <vt:lpstr>Wingdings</vt:lpstr>
      <vt:lpstr>Office Theme</vt:lpstr>
      <vt:lpstr>PowerPoint Presentation</vt:lpstr>
      <vt:lpstr>Objective </vt:lpstr>
      <vt:lpstr>Two Plans</vt:lpstr>
      <vt:lpstr>The Media</vt:lpstr>
      <vt:lpstr>Highly Visible</vt:lpstr>
      <vt:lpstr>Crisis – Good news?</vt:lpstr>
      <vt:lpstr>The Media</vt:lpstr>
      <vt:lpstr>Types of Media</vt:lpstr>
      <vt:lpstr>Types of Media</vt:lpstr>
      <vt:lpstr>Types of Media </vt:lpstr>
      <vt:lpstr>Types of Media </vt:lpstr>
      <vt:lpstr>Types of Media </vt:lpstr>
      <vt:lpstr>Types of Media </vt:lpstr>
      <vt:lpstr>Managing the Media</vt:lpstr>
      <vt:lpstr>The Media at the Scene</vt:lpstr>
      <vt:lpstr>The Media at the Scene</vt:lpstr>
      <vt:lpstr>Managing the Media</vt:lpstr>
      <vt:lpstr>Public Communications Plan</vt:lpstr>
      <vt:lpstr>Public Communications Plan</vt:lpstr>
      <vt:lpstr>PowerPoint Presentation</vt:lpstr>
      <vt:lpstr>News Releases</vt:lpstr>
      <vt:lpstr>Media Interviews</vt:lpstr>
      <vt:lpstr>One-to-one interviews</vt:lpstr>
      <vt:lpstr>News conferences</vt:lpstr>
      <vt:lpstr>Common Questions</vt:lpstr>
      <vt:lpstr>Common Questions</vt:lpstr>
      <vt:lpstr>News Conference – Do</vt:lpstr>
      <vt:lpstr>News Conference – Do</vt:lpstr>
      <vt:lpstr>News Conference – Do not</vt:lpstr>
      <vt:lpstr>News Conference – Do not</vt:lpstr>
      <vt:lpstr>Summary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141</cp:revision>
  <dcterms:created xsi:type="dcterms:W3CDTF">2024-09-27T05:40:49Z</dcterms:created>
  <dcterms:modified xsi:type="dcterms:W3CDTF">2025-06-04T09:41:34Z</dcterms:modified>
</cp:coreProperties>
</file>
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26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810512" y="2478024"/>
            <a:ext cx="8439823" cy="13624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Lesson 3.3</a:t>
            </a:r>
            <a:br>
              <a:rPr lang="en-GB" altLang="en-US" b="1" dirty="0" smtClean="0"/>
            </a:br>
            <a:r>
              <a:rPr lang="en-GB" altLang="en-US" sz="4000" b="1" dirty="0" smtClean="0"/>
              <a:t>Oil Spill Response Preparedness</a:t>
            </a:r>
            <a:endParaRPr lang="en-GB" alt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16736" y="49724"/>
            <a:ext cx="93268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Objective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88720" y="1463830"/>
            <a:ext cx="932688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To understand the requirements of the OPRC Convention.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To understand how to prepare to respond.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To understand the need for an efficient contingency planning system.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85800" y="13767"/>
            <a:ext cx="107533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Introduction</a:t>
            </a:r>
            <a:endParaRPr lang="en-GB" altLang="en-US" b="1" dirty="0" smtClean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014984" y="1145794"/>
            <a:ext cx="10424160" cy="409240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altLang="en-US" dirty="0" smtClean="0"/>
              <a:t>This lesson will cover:</a:t>
            </a:r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>
              <a:buFont typeface="Arial" panose="020B0604020202020204" pitchFamily="34" charset="0"/>
              <a:buNone/>
            </a:pPr>
            <a:r>
              <a:rPr lang="en-GB" altLang="en-US" dirty="0" smtClean="0"/>
              <a:t>An understanding of the cause and frequency of oil spills</a:t>
            </a:r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>
              <a:buFont typeface="Arial" panose="020B0604020202020204" pitchFamily="34" charset="0"/>
              <a:buNone/>
            </a:pPr>
            <a:r>
              <a:rPr lang="en-GB" altLang="en-US" dirty="0" smtClean="0"/>
              <a:t>The need for preparedness planning</a:t>
            </a:r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>
              <a:buFont typeface="Arial" panose="020B0604020202020204" pitchFamily="34" charset="0"/>
              <a:buNone/>
            </a:pPr>
            <a:r>
              <a:rPr lang="en-GB" altLang="en-US" dirty="0" smtClean="0"/>
              <a:t>The format and contents of an efficient contingency plan system</a:t>
            </a:r>
          </a:p>
          <a:p>
            <a:pPr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52728" y="0"/>
            <a:ext cx="99486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Background Risk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115746" y="1342749"/>
            <a:ext cx="99486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Marine traffic presents the risk of marine oil pollution from:</a:t>
            </a:r>
          </a:p>
          <a:p>
            <a:pPr marL="355600" indent="-355600" algn="just">
              <a:buFont typeface="Arial" charset="0"/>
              <a:buChar char="•"/>
              <a:defRPr/>
            </a:pPr>
            <a:r>
              <a:rPr lang="en-GB" dirty="0" smtClean="0"/>
              <a:t>Collisions</a:t>
            </a:r>
          </a:p>
          <a:p>
            <a:pPr marL="355600" indent="-355600" algn="just">
              <a:buFont typeface="Arial" charset="0"/>
              <a:buChar char="•"/>
              <a:defRPr/>
            </a:pPr>
            <a:r>
              <a:rPr lang="en-GB" dirty="0" smtClean="0"/>
              <a:t>Groundings</a:t>
            </a:r>
          </a:p>
          <a:p>
            <a:pPr marL="355600" indent="-355600" algn="just">
              <a:buFont typeface="Arial" charset="0"/>
              <a:buChar char="•"/>
              <a:defRPr/>
            </a:pPr>
            <a:r>
              <a:rPr lang="en-GB" dirty="0" smtClean="0"/>
              <a:t>Transfer of oil cargo and bunkers</a:t>
            </a:r>
          </a:p>
          <a:p>
            <a:pPr marL="355600" indent="-355600" algn="just">
              <a:buFont typeface="Arial" charset="0"/>
              <a:buChar char="•"/>
              <a:defRPr/>
            </a:pPr>
            <a:r>
              <a:rPr lang="en-GB" dirty="0" smtClean="0"/>
              <a:t>Other marine accidents</a:t>
            </a: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/>
              <a:t>Petroleum exploration and production provides further risk of pollution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43584" y="9144"/>
            <a:ext cx="95189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Background Risk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40664" y="1160187"/>
            <a:ext cx="105338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 smtClean="0"/>
              <a:t>Such pollution can threaten a wide range of resources:</a:t>
            </a:r>
          </a:p>
          <a:p>
            <a:pPr marL="0" indent="0"/>
            <a:r>
              <a:rPr lang="en-GB" altLang="en-US" dirty="0" smtClean="0"/>
              <a:t>Ecological (e.g. sea-birds, wetlands)</a:t>
            </a:r>
          </a:p>
          <a:p>
            <a:pPr marL="0" indent="0"/>
            <a:r>
              <a:rPr lang="en-GB" altLang="en-US" dirty="0" smtClean="0"/>
              <a:t>Socio-economic (e.g. fisheries, tourism)</a:t>
            </a:r>
          </a:p>
          <a:p>
            <a:pPr marL="0" indent="0"/>
            <a:r>
              <a:rPr lang="en-GB" altLang="en-US" dirty="0" smtClean="0"/>
              <a:t>Archaeological/cultural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dirty="0" smtClean="0"/>
              <a:t>The response to such pollution requires careful </a:t>
            </a:r>
            <a:r>
              <a:rPr lang="en-GB" altLang="en-US" u="sng" dirty="0" smtClean="0"/>
              <a:t>advance</a:t>
            </a:r>
            <a:r>
              <a:rPr lang="en-GB" altLang="en-US" dirty="0" smtClean="0"/>
              <a:t> planning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24712" y="130175"/>
            <a:ext cx="98298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Background Risk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868858" y="963402"/>
            <a:ext cx="1044244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charset="0"/>
              <a:buNone/>
              <a:defRPr/>
            </a:pPr>
            <a:r>
              <a:rPr lang="en-GB" dirty="0" smtClean="0"/>
              <a:t>Shipping transports 90% of global trade </a:t>
            </a:r>
          </a:p>
          <a:p>
            <a:pPr marL="355600" indent="-355600" algn="just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dirty="0" smtClean="0"/>
              <a:t>a very powerful and positive force</a:t>
            </a:r>
          </a:p>
          <a:p>
            <a:pPr marL="355600" indent="-355600" algn="just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dirty="0" smtClean="0"/>
              <a:t>making a major contribution to global trade and prosperity </a:t>
            </a:r>
          </a:p>
          <a:p>
            <a:pPr marL="355600" indent="-355600" algn="just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GB" dirty="0" smtClean="0"/>
              <a:t>a relatively small negative impact on the global environment</a:t>
            </a:r>
          </a:p>
          <a:p>
            <a:pPr marL="355600" indent="-355600" algn="just">
              <a:lnSpc>
                <a:spcPct val="100000"/>
              </a:lnSpc>
              <a:buFont typeface="Arial" charset="0"/>
              <a:buChar char="•"/>
              <a:defRPr/>
            </a:pPr>
            <a:r>
              <a:rPr lang="en-GB" dirty="0" smtClean="0"/>
              <a:t>statistically, the least environmentally damaging mode of transport, when its productive value is taken into consideration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98526" y="0"/>
            <a:ext cx="111831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Crude Oil </a:t>
            </a:r>
            <a:r>
              <a:rPr lang="en-GB" altLang="en-US" b="1" dirty="0"/>
              <a:t>S</a:t>
            </a:r>
            <a:r>
              <a:rPr lang="en-GB" altLang="en-US" b="1" dirty="0" smtClean="0"/>
              <a:t>eaborne </a:t>
            </a:r>
            <a:r>
              <a:rPr lang="en-GB" altLang="en-US" b="1" dirty="0"/>
              <a:t>T</a:t>
            </a:r>
            <a:r>
              <a:rPr lang="en-GB" altLang="en-US" b="1" dirty="0" smtClean="0"/>
              <a:t>rade </a:t>
            </a:r>
            <a:r>
              <a:rPr lang="en-GB" altLang="en-US" b="1" dirty="0" smtClean="0">
                <a:sym typeface="Symbol" panose="05050102010706020507" pitchFamily="18" charset="2"/>
              </a:rPr>
              <a:t></a:t>
            </a:r>
            <a:r>
              <a:rPr lang="en-GB" altLang="en-US" b="1" dirty="0" smtClean="0"/>
              <a:t> 1973</a:t>
            </a:r>
            <a:endParaRPr lang="en-GB" altLang="en-US" b="1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174" y="836613"/>
            <a:ext cx="7316788" cy="547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9243949" y="2997200"/>
            <a:ext cx="15478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Source: Fearnley’</a:t>
            </a:r>
            <a:r>
              <a:rPr lang="en-GB" altLang="ja-JP" sz="2400"/>
              <a:t>s</a:t>
            </a:r>
            <a:endParaRPr lang="en-GB" altLang="en-US" sz="2400"/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4830" y="0"/>
            <a:ext cx="108905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Crude Oil </a:t>
            </a:r>
            <a:r>
              <a:rPr lang="en-GB" altLang="en-US" b="1" dirty="0"/>
              <a:t>S</a:t>
            </a:r>
            <a:r>
              <a:rPr lang="en-GB" altLang="en-US" b="1" dirty="0" smtClean="0"/>
              <a:t>eaborne </a:t>
            </a:r>
            <a:r>
              <a:rPr lang="en-GB" altLang="en-US" b="1" dirty="0"/>
              <a:t>T</a:t>
            </a:r>
            <a:r>
              <a:rPr lang="en-GB" altLang="en-US" b="1" dirty="0" smtClean="0"/>
              <a:t>rade </a:t>
            </a:r>
            <a:r>
              <a:rPr lang="en-GB" altLang="en-US" b="1" dirty="0" smtClean="0">
                <a:sym typeface="Symbol" panose="05050102010706020507" pitchFamily="18" charset="2"/>
              </a:rPr>
              <a:t></a:t>
            </a:r>
            <a:r>
              <a:rPr lang="en-GB" altLang="en-US" b="1" dirty="0" smtClean="0"/>
              <a:t> 2002</a:t>
            </a:r>
            <a:endParaRPr lang="en-GB" altLang="en-US" b="1" dirty="0" smtClean="0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9435973" y="2997200"/>
            <a:ext cx="15478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/>
              <a:t>Source: Fearnley</a:t>
            </a:r>
            <a:r>
              <a:rPr lang="ja-JP" altLang="en-GB" sz="2400"/>
              <a:t>’</a:t>
            </a:r>
            <a:r>
              <a:rPr lang="en-GB" altLang="ja-JP" sz="2400"/>
              <a:t>s</a:t>
            </a:r>
            <a:endParaRPr lang="en-GB" altLang="en-US" sz="240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173" y="833438"/>
            <a:ext cx="7316788" cy="547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9496" y="130175"/>
            <a:ext cx="110185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International Seaborne </a:t>
            </a:r>
            <a:r>
              <a:rPr lang="en-US" altLang="en-US" sz="4000" b="1" dirty="0"/>
              <a:t>T</a:t>
            </a:r>
            <a:r>
              <a:rPr lang="en-US" altLang="en-US" sz="4000" b="1" dirty="0" smtClean="0"/>
              <a:t>rade</a:t>
            </a:r>
            <a:endParaRPr lang="en-US" altLang="en-US" sz="4000" b="1" dirty="0" smtClean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4345087"/>
              </p:ext>
            </p:extLst>
          </p:nvPr>
        </p:nvGraphicFramePr>
        <p:xfrm>
          <a:off x="2052320" y="857250"/>
          <a:ext cx="8331200" cy="531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Chart" r:id="rId3" imgW="8340051" imgH="5328366" progId="Excel.Chart.8">
                  <p:embed/>
                </p:oleObj>
              </mc:Choice>
              <mc:Fallback>
                <p:oleObj name="Chart" r:id="rId3" imgW="8340051" imgH="5328366" progId="Excel.Chart.8">
                  <p:embed/>
                  <p:pic>
                    <p:nvPicPr>
                      <p:cNvPr id="23555" name="Content Placeholder 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320" y="857250"/>
                        <a:ext cx="8331200" cy="531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1"/>
          <p:cNvSpPr txBox="1">
            <a:spLocks noChangeArrowheads="1"/>
          </p:cNvSpPr>
          <p:nvPr/>
        </p:nvSpPr>
        <p:spPr bwMode="auto">
          <a:xfrm rot="16200000">
            <a:off x="-179705" y="3321051"/>
            <a:ext cx="35274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000">
                <a:solidFill>
                  <a:srgbClr val="000000"/>
                </a:solidFill>
              </a:rPr>
              <a:t>Million of tons loaded</a:t>
            </a:r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466344" y="60180"/>
            <a:ext cx="11183112" cy="7064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Seaborne Oil </a:t>
            </a:r>
            <a:r>
              <a:rPr lang="en-GB" altLang="en-US" sz="4000" b="1" dirty="0"/>
              <a:t>T</a:t>
            </a:r>
            <a:r>
              <a:rPr lang="en-GB" altLang="en-US" sz="4000" b="1" dirty="0" smtClean="0"/>
              <a:t>rade and Oil </a:t>
            </a:r>
            <a:r>
              <a:rPr lang="en-GB" altLang="en-US" sz="4000" b="1" dirty="0"/>
              <a:t>S</a:t>
            </a:r>
            <a:r>
              <a:rPr lang="en-GB" altLang="en-US" sz="4000" b="1" dirty="0" smtClean="0"/>
              <a:t>pills</a:t>
            </a:r>
            <a:endParaRPr lang="en-GB" altLang="en-US" sz="2800" b="1" dirty="0" smtClean="0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321" y="911224"/>
            <a:ext cx="8229663" cy="5382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359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66344" y="8659"/>
            <a:ext cx="11430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Large spills (&gt; 700 tonnes) as a percentage of those recorded from 1970 to 2017 per decade</a:t>
            </a:r>
            <a:endParaRPr lang="en-GB" altLang="en-US" sz="2400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07" y="936625"/>
            <a:ext cx="7635875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600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88" y="896793"/>
            <a:ext cx="8275383" cy="526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01368" y="130175"/>
            <a:ext cx="89336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400" b="1" dirty="0" smtClean="0"/>
              <a:t>Number of large spills (&gt; 700 tonnes) from 1970 to 2017</a:t>
            </a:r>
            <a:endParaRPr lang="en-GB" alt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295307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A picture containing indoor, text&#10;&#10;Description generated with very high confidenc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31"/>
          <a:stretch>
            <a:fillRect/>
          </a:stretch>
        </p:blipFill>
        <p:spPr bwMode="auto">
          <a:xfrm>
            <a:off x="1481328" y="765175"/>
            <a:ext cx="91440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6"/>
          <p:cNvSpPr txBox="1">
            <a:spLocks/>
          </p:cNvSpPr>
          <p:nvPr/>
        </p:nvSpPr>
        <p:spPr>
          <a:xfrm>
            <a:off x="722376" y="39826"/>
            <a:ext cx="10753344" cy="6492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Location of Major </a:t>
            </a:r>
            <a:r>
              <a:rPr lang="en-US" altLang="en-US" b="1" dirty="0"/>
              <a:t>S</a:t>
            </a:r>
            <a:r>
              <a:rPr lang="en-US" altLang="en-US" b="1" dirty="0" smtClean="0"/>
              <a:t>pills</a:t>
            </a:r>
            <a:endParaRPr lang="en-GB" altLang="en-US" b="1" dirty="0" smtClean="0"/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2740216" y="836613"/>
            <a:ext cx="6337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      ITOPF tanker spill statistics 1970</a:t>
            </a:r>
            <a:r>
              <a:rPr lang="en-GB" altLang="en-US" sz="240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GB" altLang="en-US" sz="2400">
                <a:solidFill>
                  <a:srgbClr val="FF0000"/>
                </a:solidFill>
                <a:latin typeface="Tahoma" panose="020B0604030504040204" pitchFamily="34" charset="0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339900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57400" y="20566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sz="2400" b="1" dirty="0" smtClean="0"/>
              <a:t>Number of medium spills (7 – 700 tonnes) and large </a:t>
            </a:r>
            <a:br>
              <a:rPr lang="en-GB" altLang="en-US" sz="2400" b="1" dirty="0" smtClean="0"/>
            </a:br>
            <a:r>
              <a:rPr lang="en-GB" altLang="en-US" sz="2400" b="1" dirty="0" smtClean="0"/>
              <a:t>(&gt; 700 tonnes) spills per decade from 1970 to 2017 </a:t>
            </a:r>
            <a:endParaRPr lang="en-GB" altLang="en-US" sz="2400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363" y="960438"/>
            <a:ext cx="755967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86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32192" y="20566"/>
            <a:ext cx="805525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Oil spilt per decade as a percentage of the total spilt between 1970 and 2017 </a:t>
            </a:r>
            <a:endParaRPr lang="en-GB" altLang="en-US" sz="2400" b="1" dirty="0" smtClean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192" y="911687"/>
            <a:ext cx="8618815" cy="5282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004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5648" y="38692"/>
            <a:ext cx="811072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Quantities of oil spilt &gt; 7 tonnes (rounded to nearest thousand), 1970 - 2017</a:t>
            </a:r>
            <a:endParaRPr lang="en-GB" altLang="en-US" sz="2400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435" y="896793"/>
            <a:ext cx="8040941" cy="52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183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32866" y="18978"/>
            <a:ext cx="103144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Spills &gt; 7 tonnes per decade showing the influence of a relatively small number of comparatively large spills on the overall figure </a:t>
            </a:r>
            <a:endParaRPr lang="en-GB" altLang="en-US" sz="2400" b="1" dirty="0" smtClean="0"/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279" y="874967"/>
            <a:ext cx="8591705" cy="541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296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32866" y="-13621"/>
            <a:ext cx="103144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Incidence of spills &lt; 7 tonnes by operation at time of incident and primary cause of spill, 1970 to 2017</a:t>
            </a:r>
            <a:endParaRPr lang="en-GB" altLang="en-US" sz="2400" b="1" dirty="0" smtClean="0"/>
          </a:p>
        </p:txBody>
      </p:sp>
      <p:pic>
        <p:nvPicPr>
          <p:cNvPr id="6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64" y="1031746"/>
            <a:ext cx="10525049" cy="498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90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85800" y="27920"/>
            <a:ext cx="1061618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Incidence of spills 7–700 tonnes by operation at time of incident and primary cause of spill, 1970 to 2017</a:t>
            </a:r>
            <a:endParaRPr lang="en-GB" altLang="en-US" sz="2400" b="1" dirty="0" smtClean="0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1079183"/>
            <a:ext cx="11076508" cy="500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39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50392" y="22153"/>
            <a:ext cx="106344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2400" b="1" dirty="0" smtClean="0"/>
              <a:t>Incidence of spills &gt; 700 tonnes by operation at time of incident and primary cause of spill, 1970 to 2017</a:t>
            </a:r>
            <a:endParaRPr lang="en-GB" altLang="en-US" sz="2400" b="1" dirty="0" smtClean="0"/>
          </a:p>
        </p:txBody>
      </p:sp>
      <p:pic>
        <p:nvPicPr>
          <p:cNvPr id="6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330" y="919526"/>
            <a:ext cx="9628454" cy="5276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943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30300"/>
            <a:ext cx="97200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IMO Treaty Instruments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5568" y="977625"/>
            <a:ext cx="10158984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GB" altLang="en-US" dirty="0" smtClean="0"/>
              <a:t>IMO has adopted 51 treaty instruments</a:t>
            </a:r>
            <a:r>
              <a:rPr lang="en-GB" altLang="en-US" baseline="30000" dirty="0" smtClean="0"/>
              <a:t>1</a:t>
            </a:r>
            <a:r>
              <a:rPr lang="en-GB" altLang="en-US" dirty="0" smtClean="0"/>
              <a:t> </a:t>
            </a:r>
          </a:p>
          <a:p>
            <a:pPr algn="just"/>
            <a:r>
              <a:rPr lang="en-GB" altLang="en-US" dirty="0" smtClean="0"/>
              <a:t>23 are directly environment-related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algn="just">
              <a:buFont typeface="Arial" panose="020B0604020202020204" pitchFamily="34" charset="0"/>
              <a:buNone/>
            </a:pPr>
            <a:r>
              <a:rPr lang="en-GB" altLang="en-US" dirty="0" smtClean="0"/>
              <a:t>Key amongst these is the OPRC Convention </a:t>
            </a:r>
          </a:p>
          <a:p>
            <a:pPr marL="361950" lvl="1" indent="-361950" algn="just">
              <a:buClr>
                <a:schemeClr val="tx1"/>
              </a:buClr>
            </a:pPr>
            <a:r>
              <a:rPr lang="en-GB" altLang="en-US" sz="2800" dirty="0" smtClean="0"/>
              <a:t>Global framework for international cooperation in combating major incidents or threat of marine pollution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algn="just">
              <a:buFont typeface="Arial" panose="020B0604020202020204" pitchFamily="34" charset="0"/>
              <a:buNone/>
            </a:pPr>
            <a:r>
              <a:rPr lang="en-GB" altLang="en-US" dirty="0" smtClean="0"/>
              <a:t>Note 1: As at February 2013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3534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79576" y="130175"/>
            <a:ext cx="100766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OPRC Convention </a:t>
            </a:r>
            <a:r>
              <a:rPr lang="en-GB" altLang="en-US" b="1" dirty="0" smtClean="0">
                <a:sym typeface="Symbol" panose="05050102010706020507" pitchFamily="18" charset="2"/>
              </a:rPr>
              <a:t></a:t>
            </a:r>
            <a:r>
              <a:rPr lang="en-GB" altLang="en-US" b="1" dirty="0" smtClean="0"/>
              <a:t> Benefits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41832" y="1365251"/>
            <a:ext cx="10552176" cy="30238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Benefits to signatories include:</a:t>
            </a:r>
          </a:p>
          <a:p>
            <a:pPr marL="0" indent="0" algn="just"/>
            <a:r>
              <a:rPr lang="en-GB" altLang="en-US" dirty="0" smtClean="0"/>
              <a:t>Access to an international platform for cooperation and mutual assistance and a mechanism for establishing cooperative arrangements with other Parties</a:t>
            </a:r>
          </a:p>
          <a:p>
            <a:pPr marL="0" indent="0" algn="just"/>
            <a:r>
              <a:rPr lang="en-GB" altLang="en-US" dirty="0" smtClean="0"/>
              <a:t>A means for urgently accessing relevant technical assistance and response resources in the event of an incident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4162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54480" y="47879"/>
            <a:ext cx="9144000" cy="635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OPRC Convention – Benefits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9536" y="1388469"/>
            <a:ext cx="10360152" cy="31195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Benefits to signatories include:</a:t>
            </a:r>
          </a:p>
          <a:p>
            <a:pPr marL="0" indent="0" algn="just"/>
            <a:r>
              <a:rPr lang="en-GB" altLang="en-US" dirty="0" smtClean="0"/>
              <a:t>A framework for the development of national and regional capacity to prepare for, and respond to, incidents</a:t>
            </a:r>
          </a:p>
          <a:p>
            <a:pPr marL="0" indent="0" algn="just"/>
            <a:endParaRPr lang="en-GB" altLang="en-US" dirty="0" smtClean="0"/>
          </a:p>
          <a:p>
            <a:pPr marL="0" indent="0" algn="just"/>
            <a:r>
              <a:rPr lang="en-GB" altLang="en-US" dirty="0" smtClean="0"/>
              <a:t>Participation in a network for the exchange of new research and development information, best practices and practical experiences in response.</a:t>
            </a:r>
            <a:br>
              <a:rPr lang="en-GB" altLang="en-US" dirty="0" smtClean="0"/>
            </a:b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830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98448" y="49724"/>
            <a:ext cx="99578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General IMO benefits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772846" y="1160187"/>
            <a:ext cx="106344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In addition all member States can: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 </a:t>
            </a:r>
          </a:p>
          <a:p>
            <a:pPr algn="just">
              <a:defRPr/>
            </a:pPr>
            <a:r>
              <a:rPr lang="en-GB" altLang="en-US" dirty="0" smtClean="0"/>
              <a:t>Access training and support for developing the essential preparedness and response structures and legislation, at national and regional levels</a:t>
            </a:r>
          </a:p>
          <a:p>
            <a:pPr algn="just">
              <a:defRPr/>
            </a:pPr>
            <a:endParaRPr lang="en-GB" altLang="en-US" dirty="0" smtClean="0"/>
          </a:p>
          <a:p>
            <a:pPr algn="just">
              <a:defRPr/>
            </a:pPr>
            <a:r>
              <a:rPr lang="en-GB" altLang="en-US" dirty="0" smtClean="0"/>
              <a:t>through IMO's Integrated Technical Cooperation Programme</a:t>
            </a:r>
            <a:br>
              <a:rPr lang="en-GB" altLang="en-US" dirty="0" smtClean="0"/>
            </a:b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9896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530352" y="1978"/>
            <a:ext cx="11082528" cy="683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 OPRC Convention – Key Articles </a:t>
            </a:r>
            <a:endParaRPr lang="en-GB" altLang="en-US" b="1" dirty="0" smtClean="0"/>
          </a:p>
        </p:txBody>
      </p:sp>
      <p:graphicFrame>
        <p:nvGraphicFramePr>
          <p:cNvPr id="6" name="Table 5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054092"/>
              </p:ext>
            </p:extLst>
          </p:nvPr>
        </p:nvGraphicFramePr>
        <p:xfrm>
          <a:off x="1251014" y="984441"/>
          <a:ext cx="9685210" cy="512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7941">
                <a:tc>
                  <a:txBody>
                    <a:bodyPr/>
                    <a:lstStyle/>
                    <a:p>
                      <a:r>
                        <a:rPr lang="en-GB" sz="3200" dirty="0"/>
                        <a:t>Article</a:t>
                      </a:r>
                    </a:p>
                  </a:txBody>
                  <a:tcPr marL="91435" marR="91435" marT="45727" marB="45727"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Description</a:t>
                      </a:r>
                    </a:p>
                  </a:txBody>
                  <a:tcPr marL="91435" marR="91435"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819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3</a:t>
                      </a:r>
                    </a:p>
                  </a:txBody>
                  <a:tcPr marL="91435" marR="91435" marT="45727" marB="45727"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Oil pollution emergency plans</a:t>
                      </a:r>
                    </a:p>
                  </a:txBody>
                  <a:tcPr marL="91435" marR="91435"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75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4</a:t>
                      </a:r>
                    </a:p>
                  </a:txBody>
                  <a:tcPr marL="91435" marR="91435" marT="45727" marB="45727"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Oil pollution</a:t>
                      </a:r>
                      <a:r>
                        <a:rPr lang="en-GB" sz="3200" baseline="0" dirty="0"/>
                        <a:t> reporting procedures</a:t>
                      </a:r>
                      <a:endParaRPr lang="en-GB" sz="3200" dirty="0"/>
                    </a:p>
                  </a:txBody>
                  <a:tcPr marL="91435" marR="91435"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941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5</a:t>
                      </a:r>
                    </a:p>
                  </a:txBody>
                  <a:tcPr marL="91435" marR="91435" marT="45727" marB="45727"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Action on receiving an oil pollution report</a:t>
                      </a:r>
                    </a:p>
                  </a:txBody>
                  <a:tcPr marL="91435" marR="91435"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8087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6</a:t>
                      </a:r>
                    </a:p>
                  </a:txBody>
                  <a:tcPr marL="91435" marR="91435" marT="45727" marB="45727"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National and Regional</a:t>
                      </a:r>
                      <a:r>
                        <a:rPr lang="en-GB" sz="3200" baseline="0" dirty="0"/>
                        <a:t> systems  for preparedness and response</a:t>
                      </a:r>
                      <a:endParaRPr lang="en-GB" sz="3200" dirty="0"/>
                    </a:p>
                  </a:txBody>
                  <a:tcPr marL="91435" marR="91435" marT="45727" marB="4572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8087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7</a:t>
                      </a:r>
                    </a:p>
                  </a:txBody>
                  <a:tcPr marL="91435" marR="91435" marT="45727" marB="45727"/>
                </a:tc>
                <a:tc>
                  <a:txBody>
                    <a:bodyPr/>
                    <a:lstStyle/>
                    <a:p>
                      <a:r>
                        <a:rPr lang="en-GB" sz="3200" dirty="0"/>
                        <a:t>International cooperation in pollution response</a:t>
                      </a:r>
                    </a:p>
                  </a:txBody>
                  <a:tcPr marL="91435" marR="91435" marT="45727" marB="4572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2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/>
          </p:cNvPr>
          <p:cNvSpPr txBox="1">
            <a:spLocks noChangeArrowheads="1"/>
          </p:cNvSpPr>
          <p:nvPr/>
        </p:nvSpPr>
        <p:spPr>
          <a:xfrm>
            <a:off x="607314" y="1257256"/>
            <a:ext cx="10703814" cy="50387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363">
              <a:buFontTx/>
              <a:buNone/>
              <a:defRPr/>
            </a:pPr>
            <a:r>
              <a:rPr lang="en-GB" dirty="0" smtClean="0"/>
              <a:t>National system for responding </a:t>
            </a:r>
            <a:r>
              <a:rPr lang="en-GB" b="1" u="sng" dirty="0" smtClean="0"/>
              <a:t>promptly</a:t>
            </a:r>
            <a:r>
              <a:rPr lang="en-GB" b="1" dirty="0" smtClean="0"/>
              <a:t> </a:t>
            </a:r>
            <a:r>
              <a:rPr lang="en-GB" dirty="0" smtClean="0"/>
              <a:t>and</a:t>
            </a:r>
            <a:r>
              <a:rPr lang="en-GB" b="1" dirty="0" smtClean="0"/>
              <a:t> </a:t>
            </a:r>
            <a:r>
              <a:rPr lang="en-GB" b="1" u="sng" dirty="0" smtClean="0"/>
              <a:t>effectively</a:t>
            </a:r>
            <a:r>
              <a:rPr lang="en-GB" dirty="0" smtClean="0"/>
              <a:t> to oil pollution incidents:</a:t>
            </a:r>
          </a:p>
          <a:p>
            <a:pPr marL="720725" indent="-368300" algn="just" defTabSz="914363">
              <a:defRPr/>
            </a:pPr>
            <a:r>
              <a:rPr lang="en-GB" dirty="0" smtClean="0"/>
              <a:t>A national contingency plan</a:t>
            </a:r>
          </a:p>
          <a:p>
            <a:pPr marL="720725" indent="-368300" algn="just" defTabSz="914363">
              <a:defRPr/>
            </a:pPr>
            <a:r>
              <a:rPr lang="en-GB" dirty="0" smtClean="0"/>
              <a:t>Designated national authorities:</a:t>
            </a:r>
          </a:p>
          <a:p>
            <a:pPr marL="1250442" lvl="2" indent="-457200" algn="just" defTabSz="914363">
              <a:spcBef>
                <a:spcPts val="324"/>
              </a:spcBef>
              <a:buFont typeface="Wingdings" panose="05000000000000000000" pitchFamily="2" charset="2"/>
              <a:buChar char="Ø"/>
              <a:defRPr/>
            </a:pPr>
            <a:r>
              <a:rPr lang="en-GB" sz="3200" dirty="0" smtClean="0"/>
              <a:t>Responsible for preparedness and response</a:t>
            </a:r>
          </a:p>
          <a:p>
            <a:pPr marL="1250442" lvl="2" indent="-457200" algn="just" defTabSz="914363">
              <a:spcBef>
                <a:spcPts val="324"/>
              </a:spcBef>
              <a:buFont typeface="Wingdings" panose="05000000000000000000" pitchFamily="2" charset="2"/>
              <a:buChar char="Ø"/>
              <a:defRPr/>
            </a:pPr>
            <a:r>
              <a:rPr lang="en-GB" sz="3200" dirty="0" smtClean="0"/>
              <a:t>Operational contact point(s)</a:t>
            </a:r>
          </a:p>
          <a:p>
            <a:pPr marL="1250442" lvl="2" indent="-457200" algn="just" defTabSz="914363">
              <a:spcBef>
                <a:spcPts val="324"/>
              </a:spcBef>
              <a:buFont typeface="Wingdings" panose="05000000000000000000" pitchFamily="2" charset="2"/>
              <a:buChar char="Ø"/>
              <a:defRPr/>
            </a:pPr>
            <a:r>
              <a:rPr lang="en-GB" sz="3200" dirty="0" smtClean="0"/>
              <a:t>Requesting and rendering assistance</a:t>
            </a:r>
            <a:endParaRPr lang="en-GB" sz="3200" dirty="0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193113" y="30884"/>
            <a:ext cx="971509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OPRC: Obligations of Parties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83797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/>
          </p:cNvPr>
          <p:cNvSpPr txBox="1">
            <a:spLocks noChangeArrowheads="1"/>
          </p:cNvSpPr>
          <p:nvPr/>
        </p:nvSpPr>
        <p:spPr>
          <a:xfrm>
            <a:off x="978408" y="1160187"/>
            <a:ext cx="9848088" cy="5218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363">
              <a:buFontTx/>
              <a:buNone/>
              <a:defRPr/>
            </a:pPr>
            <a:r>
              <a:rPr lang="en-GB" dirty="0" smtClean="0"/>
              <a:t>Establish individually or through bilateral or multilateral cooperation and, as appropriate, in cooperation with the oil and shipping industries, port authorities and any other relevant entities:</a:t>
            </a:r>
          </a:p>
          <a:p>
            <a:pPr marL="720725" indent="-368300" algn="just" defTabSz="914363">
              <a:defRPr/>
            </a:pPr>
            <a:r>
              <a:rPr lang="en-GB" dirty="0" smtClean="0"/>
              <a:t>minimum level of pre-positioned equipment    </a:t>
            </a:r>
            <a:r>
              <a:rPr lang="en-GB" u="sng" dirty="0" smtClean="0"/>
              <a:t>commensurate with risk</a:t>
            </a:r>
          </a:p>
          <a:p>
            <a:pPr marL="720725" indent="-368300" algn="just" defTabSz="914363">
              <a:defRPr/>
            </a:pPr>
            <a:r>
              <a:rPr lang="en-GB" dirty="0" smtClean="0"/>
              <a:t>programme of exercises and training</a:t>
            </a:r>
          </a:p>
          <a:p>
            <a:pPr marL="720725" indent="-368300" algn="just" defTabSz="914363">
              <a:defRPr/>
            </a:pPr>
            <a:r>
              <a:rPr lang="en-GB" dirty="0" smtClean="0"/>
              <a:t>plans and communications capabilities</a:t>
            </a:r>
          </a:p>
          <a:p>
            <a:pPr marL="720725" indent="-368300" algn="just" defTabSz="914363">
              <a:defRPr/>
            </a:pPr>
            <a:r>
              <a:rPr lang="en-GB" dirty="0" smtClean="0"/>
              <a:t>mechanism for coordinating response</a:t>
            </a:r>
            <a:endParaRPr lang="en-GB" dirty="0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389888" y="66167"/>
            <a:ext cx="95189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OPRC: Obligations of Parties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63064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/>
          </p:cNvPr>
          <p:cNvSpPr txBox="1">
            <a:spLocks noChangeArrowheads="1"/>
          </p:cNvSpPr>
          <p:nvPr/>
        </p:nvSpPr>
        <p:spPr>
          <a:xfrm>
            <a:off x="958120" y="1203115"/>
            <a:ext cx="10275760" cy="4738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2813">
              <a:buFontTx/>
              <a:buNone/>
              <a:defRPr/>
            </a:pPr>
            <a:r>
              <a:rPr lang="en-GB" altLang="en-US" dirty="0" smtClean="0"/>
              <a:t> </a:t>
            </a:r>
            <a:r>
              <a:rPr lang="ja-JP" altLang="en-GB" dirty="0" smtClean="0"/>
              <a:t>“</a:t>
            </a:r>
            <a:r>
              <a:rPr lang="en-GB" altLang="ja-JP" dirty="0" smtClean="0"/>
              <a:t>Local</a:t>
            </a:r>
            <a:r>
              <a:rPr lang="ja-JP" altLang="en-GB" dirty="0" smtClean="0"/>
              <a:t>”</a:t>
            </a:r>
            <a:r>
              <a:rPr lang="en-GB" altLang="ja-JP" dirty="0" smtClean="0"/>
              <a:t> (oil) pollution emergency plans to be coordinated with national system for:</a:t>
            </a:r>
          </a:p>
          <a:p>
            <a:pPr defTabSz="912813">
              <a:defRPr/>
            </a:pPr>
            <a:r>
              <a:rPr lang="en-GB" altLang="en-US" dirty="0" smtClean="0"/>
              <a:t> operators of offshore units</a:t>
            </a:r>
          </a:p>
          <a:p>
            <a:pPr defTabSz="912813">
              <a:defRPr/>
            </a:pPr>
            <a:r>
              <a:rPr lang="en-GB" altLang="en-US" dirty="0" smtClean="0"/>
              <a:t> appropriate sea ports</a:t>
            </a:r>
          </a:p>
          <a:p>
            <a:pPr defTabSz="912813">
              <a:defRPr/>
            </a:pPr>
            <a:r>
              <a:rPr lang="en-GB" altLang="en-US" dirty="0" smtClean="0"/>
              <a:t> appropriate oil handling facilities</a:t>
            </a:r>
          </a:p>
          <a:p>
            <a:pPr marL="0" indent="0" algn="ctr" defTabSz="912813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+</a:t>
            </a:r>
          </a:p>
          <a:p>
            <a:pPr defTabSz="912813">
              <a:defRPr/>
            </a:pPr>
            <a:r>
              <a:rPr lang="en-GB" altLang="en-US" dirty="0" smtClean="0"/>
              <a:t> flag ships of the Contracting Party </a:t>
            </a:r>
          </a:p>
          <a:p>
            <a:pPr marL="0" indent="0" defTabSz="912813">
              <a:buFont typeface="Arial" panose="020B0604020202020204" pitchFamily="34" charset="0"/>
              <a:buNone/>
              <a:defRPr/>
            </a:pPr>
            <a:r>
              <a:rPr lang="en-GB" altLang="en-US" sz="2400" dirty="0" smtClean="0"/>
              <a:t>			(also MARPOL requirement)</a:t>
            </a:r>
            <a:endParaRPr lang="en-GB" altLang="en-US" dirty="0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777240" y="-1588"/>
            <a:ext cx="10615660" cy="8382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OPRC: Pollution Emergency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lans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44839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16152" y="49724"/>
            <a:ext cx="99486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OPRC: Reporting Requirements</a:t>
            </a:r>
            <a:endParaRPr lang="en-GB" altLang="en-US" b="1" dirty="0" smtClean="0"/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841248" y="1005268"/>
            <a:ext cx="10323576" cy="5218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363">
              <a:spcAft>
                <a:spcPts val="1200"/>
              </a:spcAft>
              <a:buFontTx/>
              <a:buNone/>
              <a:defRPr/>
            </a:pPr>
            <a:r>
              <a:rPr lang="en-GB" dirty="0" smtClean="0"/>
              <a:t>To establish pollution reporting procedures for:</a:t>
            </a:r>
          </a:p>
          <a:p>
            <a:pPr marL="720725" indent="-368300" algn="just" defTabSz="914363">
              <a:spcAft>
                <a:spcPts val="1200"/>
              </a:spcAft>
              <a:buFont typeface="Arial" charset="0"/>
              <a:buChar char="•"/>
              <a:defRPr/>
            </a:pPr>
            <a:r>
              <a:rPr lang="en-GB" dirty="0" smtClean="0"/>
              <a:t>discharges from their </a:t>
            </a:r>
            <a:r>
              <a:rPr lang="en-GB" b="1" i="1" u="sng" dirty="0" smtClean="0"/>
              <a:t>own</a:t>
            </a:r>
            <a:r>
              <a:rPr lang="en-GB" dirty="0" smtClean="0"/>
              <a:t> activities</a:t>
            </a:r>
          </a:p>
          <a:p>
            <a:pPr marL="720725" indent="-368300" algn="just" defTabSz="914363">
              <a:spcAft>
                <a:spcPts val="1200"/>
              </a:spcAft>
              <a:buFont typeface="Arial" charset="0"/>
              <a:buChar char="•"/>
              <a:defRPr/>
            </a:pPr>
            <a:r>
              <a:rPr lang="en-GB" b="1" i="1" u="sng" dirty="0" smtClean="0"/>
              <a:t>any</a:t>
            </a:r>
            <a:r>
              <a:rPr lang="en-GB" dirty="0" smtClean="0"/>
              <a:t> observed event at sea involving the discharge of pollution </a:t>
            </a:r>
          </a:p>
          <a:p>
            <a:pPr marL="720725" indent="-368300" algn="just" defTabSz="914363">
              <a:spcAft>
                <a:spcPts val="1200"/>
              </a:spcAft>
              <a:buFont typeface="Arial" charset="0"/>
              <a:buChar char="•"/>
              <a:defRPr/>
            </a:pPr>
            <a:r>
              <a:rPr lang="en-GB" dirty="0" smtClean="0"/>
              <a:t>reporting obligations on:</a:t>
            </a:r>
          </a:p>
          <a:p>
            <a:pPr marL="720725" lvl="1" indent="-368300" algn="just" defTabSz="914363">
              <a:spcBef>
                <a:spcPts val="324"/>
              </a:spcBef>
              <a:spcAft>
                <a:spcPts val="1200"/>
              </a:spcAft>
              <a:buFont typeface="Arial" charset="0"/>
              <a:buNone/>
              <a:defRPr/>
            </a:pPr>
            <a:r>
              <a:rPr lang="en-GB" sz="3200" dirty="0" smtClean="0"/>
              <a:t>	flag ships, offshore units, sea ports, oil handling facilities, maritime inspection vessels or aircraft, civil aircraft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4906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771906" y="1409425"/>
            <a:ext cx="10722102" cy="31808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>
              <a:spcAft>
                <a:spcPts val="1200"/>
              </a:spcAft>
              <a:buFontTx/>
              <a:buNone/>
            </a:pPr>
            <a:r>
              <a:rPr lang="en-GB" altLang="en-US" dirty="0" smtClean="0"/>
              <a:t>Obligation of Contracting Parties to: </a:t>
            </a:r>
          </a:p>
          <a:p>
            <a:pPr algn="just" defTabSz="912813">
              <a:spcAft>
                <a:spcPts val="1200"/>
              </a:spcAft>
            </a:pPr>
            <a:r>
              <a:rPr lang="en-GB" altLang="en-US" dirty="0" smtClean="0"/>
              <a:t>Assess nature, extent and possible consequences of incident</a:t>
            </a:r>
          </a:p>
          <a:p>
            <a:pPr algn="just" defTabSz="912813">
              <a:spcAft>
                <a:spcPts val="1200"/>
              </a:spcAft>
            </a:pPr>
            <a:r>
              <a:rPr lang="en-GB" altLang="en-US" dirty="0" smtClean="0"/>
              <a:t>Inform all States whose interests may be affected </a:t>
            </a:r>
          </a:p>
          <a:p>
            <a:pPr algn="just" defTabSz="912813">
              <a:spcAft>
                <a:spcPts val="1200"/>
              </a:spcAft>
            </a:pPr>
            <a:r>
              <a:rPr lang="en-GB" altLang="en-US" dirty="0" smtClean="0"/>
              <a:t>Provide assistance if requested by another Party </a:t>
            </a:r>
            <a:r>
              <a:rPr lang="en-GB" altLang="en-US" u="sng" dirty="0" smtClean="0"/>
              <a:t>subject to capabilities and availability of relevant resources</a:t>
            </a:r>
            <a:r>
              <a:rPr lang="en-GB" altLang="en-US" dirty="0" smtClean="0"/>
              <a:t> </a:t>
            </a:r>
            <a:r>
              <a:rPr lang="en-GB" altLang="en-US" i="1" dirty="0" smtClean="0"/>
              <a:t> </a:t>
            </a:r>
            <a:endParaRPr lang="en-GB" altLang="en-US" dirty="0" smtClean="0"/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371599" y="84455"/>
            <a:ext cx="971745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b="1" dirty="0" smtClean="0"/>
              <a:t>OPRC: International Obligations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84174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61287" y="0"/>
            <a:ext cx="1010215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Purpose of a Contingency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</a:t>
            </a:r>
            <a:endParaRPr lang="en-GB" altLang="en-US" b="1" dirty="0" smtClean="0"/>
          </a:p>
        </p:txBody>
      </p:sp>
      <p:sp>
        <p:nvSpPr>
          <p:cNvPr id="6" name="Content Placeholder 6">
            <a:extLst/>
          </p:cNvPr>
          <p:cNvSpPr txBox="1">
            <a:spLocks/>
          </p:cNvSpPr>
          <p:nvPr/>
        </p:nvSpPr>
        <p:spPr>
          <a:xfrm>
            <a:off x="815784" y="1328674"/>
            <a:ext cx="10447654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ja-JP" altLang="en-GB" dirty="0" smtClean="0"/>
              <a:t>“</a:t>
            </a:r>
            <a:r>
              <a:rPr lang="en-GB" altLang="ja-JP" dirty="0" smtClean="0"/>
              <a:t>A predetermined sequence of communications and actions which can be quickly initiated to cope with an event of possible but uncertain occurrence</a:t>
            </a:r>
            <a:r>
              <a:rPr lang="ja-JP" altLang="en-GB" dirty="0" smtClean="0"/>
              <a:t>”</a:t>
            </a:r>
            <a:endParaRPr lang="en-GB" altLang="ja-JP" dirty="0" smtClean="0"/>
          </a:p>
          <a:p>
            <a:pPr algn="just">
              <a:defRPr/>
            </a:pPr>
            <a:r>
              <a:rPr lang="en-GB" altLang="en-US" dirty="0" smtClean="0"/>
              <a:t>Provide a framework to respond to an oil spill or potential spill</a:t>
            </a:r>
          </a:p>
          <a:p>
            <a:pPr algn="just">
              <a:defRPr/>
            </a:pPr>
            <a:r>
              <a:rPr lang="en-GB" altLang="en-US" dirty="0" smtClean="0"/>
              <a:t>Ensure that broad consensus has been achieved on response measures, prior to the incident</a:t>
            </a:r>
          </a:p>
          <a:p>
            <a:pPr algn="just">
              <a:defRPr/>
            </a:pPr>
            <a:r>
              <a:rPr lang="en-GB" altLang="en-US" dirty="0" smtClean="0"/>
              <a:t>Meet or set legislative requirements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072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12648" y="0"/>
            <a:ext cx="10762488" cy="67665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Hierarchy of Contingency </a:t>
            </a:r>
            <a:r>
              <a:rPr lang="en-GB" altLang="en-US" b="1" dirty="0"/>
              <a:t>P</a:t>
            </a:r>
            <a:r>
              <a:rPr lang="en-GB" altLang="en-US" b="1" dirty="0" smtClean="0"/>
              <a:t>lans</a:t>
            </a:r>
            <a:endParaRPr lang="en-GB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28116" y="1127506"/>
            <a:ext cx="10131552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en-GB" altLang="en-US" dirty="0" smtClean="0"/>
              <a:t>Preparation of detailed and specific plans</a:t>
            </a:r>
          </a:p>
          <a:p>
            <a:pPr algn="just">
              <a:lnSpc>
                <a:spcPct val="150000"/>
              </a:lnSpc>
            </a:pPr>
            <a:r>
              <a:rPr lang="en-GB" altLang="en-US" dirty="0" smtClean="0"/>
              <a:t>International level – bilateral or regional</a:t>
            </a:r>
          </a:p>
          <a:p>
            <a:pPr algn="just">
              <a:lnSpc>
                <a:spcPct val="150000"/>
              </a:lnSpc>
            </a:pPr>
            <a:r>
              <a:rPr lang="en-GB" altLang="en-US" dirty="0" smtClean="0"/>
              <a:t>National level – the strategic plan</a:t>
            </a:r>
          </a:p>
          <a:p>
            <a:pPr algn="just">
              <a:lnSpc>
                <a:spcPct val="150000"/>
              </a:lnSpc>
            </a:pPr>
            <a:r>
              <a:rPr lang="en-GB" altLang="en-US" dirty="0" smtClean="0"/>
              <a:t>Local level – the operational plans</a:t>
            </a:r>
          </a:p>
          <a:p>
            <a:pPr lvl="1" indent="-503238" algn="just">
              <a:buFont typeface="Wingdings" panose="05000000000000000000" pitchFamily="2" charset="2"/>
              <a:buChar char="Ø"/>
            </a:pPr>
            <a:r>
              <a:rPr lang="en-GB" altLang="en-US" sz="3200" dirty="0" smtClean="0"/>
              <a:t>Ports, oil handling installations, offshore units, vessels</a:t>
            </a:r>
          </a:p>
          <a:p>
            <a:pPr algn="just">
              <a:buFontTx/>
              <a:buNone/>
            </a:pPr>
            <a:r>
              <a:rPr lang="en-GB" altLang="en-US" dirty="0" smtClean="0"/>
              <a:t>Plans to be coordinated under a national system</a:t>
            </a:r>
          </a:p>
          <a:p>
            <a:pPr algn="just">
              <a:buFontTx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2792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79576" y="49724"/>
            <a:ext cx="98115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Exercises</a:t>
            </a:r>
            <a:endParaRPr lang="en-US" alt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41832" y="1251309"/>
            <a:ext cx="1067104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OPRC Article 6(2) also requires each party to establish:</a:t>
            </a:r>
          </a:p>
          <a:p>
            <a:pPr marL="0" indent="0" algn="just"/>
            <a:r>
              <a:rPr lang="en-GB" altLang="en-US" i="1" dirty="0" smtClean="0"/>
              <a:t>a programme of exercises for oil pollution response organizations and training of relevant personnel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GB" altLang="en-US" i="1" u="sng" dirty="0" smtClean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GB" altLang="en-US" dirty="0" smtClean="0"/>
              <a:t>This should include the exercising of all components of your contingency plans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67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86968" y="763588"/>
            <a:ext cx="9747504" cy="2665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>
                <a:latin typeface="+mj-lt"/>
              </a:rPr>
              <a:t>Purpose to test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latin typeface="+mj-lt"/>
              </a:rPr>
              <a:t>the plan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latin typeface="+mj-lt"/>
              </a:rPr>
              <a:t>the equipment</a:t>
            </a:r>
          </a:p>
          <a:p>
            <a:pPr lvl="1" indent="-420688" algn="just">
              <a:buFont typeface="Wingdings" panose="05000000000000000000" pitchFamily="2" charset="2"/>
              <a:buChar char="Ø"/>
            </a:pPr>
            <a:r>
              <a:rPr lang="en-GB" altLang="en-US" sz="2800" dirty="0" smtClean="0">
                <a:latin typeface="+mj-lt"/>
              </a:rPr>
              <a:t>the capabilities of the response team and the resources available to them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GB" altLang="en-US" sz="2800" dirty="0" smtClean="0">
                <a:latin typeface="+mj-lt"/>
              </a:rPr>
              <a:t>	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GB" altLang="en-US" sz="2800" dirty="0" smtClean="0">
              <a:latin typeface="+mj-lt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86968" y="66167"/>
            <a:ext cx="97475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Exercises</a:t>
            </a:r>
            <a:endParaRPr lang="en-US" altLang="en-US" b="1" dirty="0" smtClean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86968" y="3213100"/>
            <a:ext cx="9747504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/>
            <a:r>
              <a:rPr lang="en-GB" altLang="en-US" sz="2800" dirty="0">
                <a:latin typeface="+mj-lt"/>
              </a:rPr>
              <a:t>Guiding principles</a:t>
            </a:r>
          </a:p>
          <a:p>
            <a:pPr lvl="1" indent="-385763" algn="just">
              <a:buFont typeface="Wingdings" panose="05000000000000000000" pitchFamily="2" charset="2"/>
              <a:buChar char="Ø"/>
            </a:pPr>
            <a:r>
              <a:rPr lang="en-GB" altLang="en-US" dirty="0">
                <a:latin typeface="+mj-lt"/>
              </a:rPr>
              <a:t>Ensure support for the activity at all levels of management</a:t>
            </a:r>
          </a:p>
          <a:p>
            <a:pPr lvl="1" indent="-385763" algn="just">
              <a:buFont typeface="Wingdings" panose="05000000000000000000" pitchFamily="2" charset="2"/>
              <a:buChar char="Ø"/>
            </a:pPr>
            <a:r>
              <a:rPr lang="en-GB" altLang="en-US" dirty="0">
                <a:latin typeface="+mj-lt"/>
              </a:rPr>
              <a:t>Set clear, realistic and measurable objectives</a:t>
            </a:r>
          </a:p>
          <a:p>
            <a:pPr lvl="1" indent="-385763" algn="just">
              <a:buFont typeface="Wingdings" panose="05000000000000000000" pitchFamily="2" charset="2"/>
              <a:buChar char="Ø"/>
            </a:pPr>
            <a:r>
              <a:rPr lang="en-GB" altLang="en-US" dirty="0">
                <a:latin typeface="+mj-lt"/>
              </a:rPr>
              <a:t>Evaluating the exercise effectively is as important as conducting it effectively</a:t>
            </a:r>
          </a:p>
          <a:p>
            <a:pPr lvl="1" algn="just">
              <a:buFont typeface="Arial" panose="020B0604020202020204" pitchFamily="34" charset="0"/>
              <a:buNone/>
            </a:pPr>
            <a:r>
              <a:rPr lang="en-GB" altLang="en-US" dirty="0">
                <a:latin typeface="+mj-lt"/>
              </a:rPr>
              <a:t>	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GB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47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0744" y="47879"/>
            <a:ext cx="97292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Exercises</a:t>
            </a:r>
            <a:endParaRPr lang="en-US" altLang="en-US" b="1" dirty="0" smtClean="0">
              <a:solidFill>
                <a:srgbClr val="FF0000"/>
              </a:solidFill>
            </a:endParaRP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886968" y="963402"/>
            <a:ext cx="1061618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sz="2200" dirty="0" smtClean="0"/>
              <a:t>These exercises can include:</a:t>
            </a:r>
          </a:p>
          <a:p>
            <a:pPr algn="just">
              <a:defRPr/>
            </a:pPr>
            <a:r>
              <a:rPr lang="en-GB" altLang="en-US" sz="2200" dirty="0" smtClean="0"/>
              <a:t>Notification exercise</a:t>
            </a:r>
          </a:p>
          <a:p>
            <a:pPr marL="1103313" lvl="1" indent="-342900" algn="just">
              <a:defRPr/>
            </a:pPr>
            <a:r>
              <a:rPr lang="en-GB" altLang="en-US" sz="2200" dirty="0" smtClean="0"/>
              <a:t>test the procedures to alert and call out the response teams via telephone or other means</a:t>
            </a:r>
          </a:p>
          <a:p>
            <a:pPr algn="just">
              <a:defRPr/>
            </a:pPr>
            <a:r>
              <a:rPr lang="en-GB" altLang="en-US" sz="2200" dirty="0" smtClean="0"/>
              <a:t>Table-top exercise</a:t>
            </a:r>
          </a:p>
          <a:p>
            <a:pPr marL="1103313" lvl="1" indent="-342900" algn="just">
              <a:defRPr/>
            </a:pPr>
            <a:r>
              <a:rPr lang="en-GB" altLang="en-US" sz="2200" dirty="0" smtClean="0"/>
              <a:t>interactively discuss a simulated scenario among members of a response team without involving the mobilization of personnel and equipment</a:t>
            </a:r>
          </a:p>
          <a:p>
            <a:pPr algn="just">
              <a:defRPr/>
            </a:pPr>
            <a:r>
              <a:rPr lang="en-GB" altLang="en-US" sz="2200" dirty="0" smtClean="0"/>
              <a:t>Equipment deployment exercise</a:t>
            </a:r>
          </a:p>
          <a:p>
            <a:pPr marL="1103313" lvl="1" indent="-342900" algn="just">
              <a:defRPr/>
            </a:pPr>
            <a:r>
              <a:rPr lang="en-GB" altLang="en-US" sz="2200" dirty="0" smtClean="0"/>
              <a:t>exercise deployment of oil spill response equipment at particular locations in response to an oil spill scenario</a:t>
            </a:r>
          </a:p>
          <a:p>
            <a:pPr algn="just">
              <a:defRPr/>
            </a:pPr>
            <a:r>
              <a:rPr lang="en-GB" altLang="en-US" sz="2200" dirty="0" smtClean="0"/>
              <a:t>Incident management exercise</a:t>
            </a:r>
          </a:p>
          <a:p>
            <a:pPr marL="1122363" lvl="1" indent="-361950" algn="just">
              <a:defRPr/>
            </a:pPr>
            <a:r>
              <a:rPr lang="en-GB" altLang="en-US" sz="2200" dirty="0" smtClean="0"/>
              <a:t>simulate several different aspects of an oil spill incident with third parties who would actually be involved in a real emergency to test and train a whole response team</a:t>
            </a:r>
          </a:p>
          <a:p>
            <a:pPr marL="1122363" lvl="1" indent="-361950" algn="just">
              <a:defRPr/>
            </a:pPr>
            <a:endParaRPr lang="en-GB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78583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34440" y="66167"/>
            <a:ext cx="96012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Training</a:t>
            </a:r>
            <a:endParaRPr lang="en-US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88136" y="1342749"/>
            <a:ext cx="102229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OPRC Article 6(2) also requires each party to establish:</a:t>
            </a:r>
          </a:p>
          <a:p>
            <a:pPr algn="just">
              <a:defRPr/>
            </a:pPr>
            <a:r>
              <a:rPr lang="en-GB" altLang="en-US" i="1" dirty="0" smtClean="0"/>
              <a:t>a programme of exercises for oil pollution response organizations and training of relevant personnel.</a:t>
            </a:r>
            <a:endParaRPr lang="en-GB" altLang="en-US" i="1" u="sng" dirty="0" smtClean="0"/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GB" altLang="en-US" dirty="0" smtClean="0"/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sz="2400" dirty="0" smtClean="0"/>
              <a:t>This should include theoretical training at the appropriate level and include practical equipment deployment, as required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altLang="en-US" sz="2400" dirty="0" smtClean="0"/>
              <a:t>IMO OPRC Model Training Courses could be used as a guidance to plan and conduct a training</a:t>
            </a: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171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53312" y="0"/>
            <a:ext cx="9701784" cy="6921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Summary</a:t>
            </a:r>
            <a:endParaRPr lang="en-GB" altLang="en-US" b="1" dirty="0" smtClean="0"/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941832" y="1160187"/>
            <a:ext cx="103052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We have considered: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dirty="0" smtClean="0"/>
          </a:p>
          <a:p>
            <a:pPr>
              <a:defRPr/>
            </a:pPr>
            <a:r>
              <a:rPr lang="en-GB" altLang="en-US" dirty="0" smtClean="0"/>
              <a:t>the requirements of the OPRC Convention</a:t>
            </a:r>
          </a:p>
          <a:p>
            <a:pPr>
              <a:defRPr/>
            </a:pPr>
            <a:r>
              <a:rPr lang="en-GB" altLang="en-US" dirty="0" smtClean="0"/>
              <a:t>how to prepare to respond</a:t>
            </a:r>
          </a:p>
          <a:p>
            <a:pPr>
              <a:defRPr/>
            </a:pPr>
            <a:r>
              <a:rPr lang="en-GB" altLang="en-US" dirty="0" smtClean="0"/>
              <a:t>the need for an efficient contingency planning system backed up by training and exercises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0705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1744</Words>
  <Application>Microsoft Office PowerPoint</Application>
  <PresentationFormat>Widescreen</PresentationFormat>
  <Paragraphs>211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Microsoft Excel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154</cp:revision>
  <dcterms:created xsi:type="dcterms:W3CDTF">2024-09-27T05:40:49Z</dcterms:created>
  <dcterms:modified xsi:type="dcterms:W3CDTF">2025-05-30T05:37:00Z</dcterms:modified>
</cp:coreProperties>
</file>
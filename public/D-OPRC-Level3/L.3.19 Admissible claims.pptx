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26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D983-DA28-476C-AD2C-FC6D3539DDF1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FAF8A-307B-4524-B45B-A035BD076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384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/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73313" y="554038"/>
            <a:ext cx="4854575" cy="2732087"/>
          </a:xfrm>
          <a:ln w="12700" cap="flat">
            <a:solidFill>
              <a:schemeClr val="tx1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9459" name="Rectangle 3">
            <a:extLst/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82700" y="3478213"/>
            <a:ext cx="7035800" cy="3078162"/>
          </a:xfr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lIns="97324" tIns="46985" rIns="97324" bIns="46985"/>
          <a:lstStyle/>
          <a:p>
            <a:pPr>
              <a:defRPr/>
            </a:pPr>
            <a:endParaRPr lang="fr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508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ja-JP" smtClean="0">
              <a:latin typeface="Arial" panose="020B0604020202020204" pitchFamily="34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DC845E7-6FF5-4FE5-9C1B-BA0180690AF0}" type="slidenum">
              <a:rPr lang="en-GB" altLang="en-US" sz="1300" smtClean="0">
                <a:latin typeface="Arial" panose="020B0604020202020204" pitchFamily="34" charset="0"/>
              </a:rPr>
              <a:pPr/>
              <a:t>11</a:t>
            </a:fld>
            <a:endParaRPr lang="en-GB" altLang="en-US" sz="130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473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7CE5B56-5CD2-4AD4-B5C0-0A08608DE7B2}" type="slidenum">
              <a:rPr lang="en-GB" altLang="en-US" sz="1300" smtClean="0">
                <a:latin typeface="Arial" panose="020B0604020202020204" pitchFamily="34" charset="0"/>
              </a:rPr>
              <a:pPr/>
              <a:t>39</a:t>
            </a:fld>
            <a:endParaRPr lang="en-GB" altLang="en-US" sz="130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32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53D5811-CB72-44CC-B67C-7E9CB2EB2612}" type="slidenum">
              <a:rPr lang="en-GB" altLang="en-US" sz="1300" smtClean="0">
                <a:latin typeface="Arial" panose="020B0604020202020204" pitchFamily="34" charset="0"/>
              </a:rPr>
              <a:pPr/>
              <a:t>40</a:t>
            </a:fld>
            <a:endParaRPr lang="en-GB" altLang="en-US" sz="130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007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915732" y="2340864"/>
            <a:ext cx="7772400" cy="1255586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Lesson 3.19</a:t>
            </a:r>
            <a:br>
              <a:rPr lang="en-GB" altLang="en-US" b="1" dirty="0" smtClean="0"/>
            </a:br>
            <a:r>
              <a:rPr lang="en-GB" altLang="en-US" b="1" dirty="0" smtClean="0"/>
              <a:t>Admissible Claims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/>
              <a:t>Objective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077912" y="1639888"/>
            <a:ext cx="10233215" cy="5218112"/>
          </a:xfrm>
        </p:spPr>
        <p:txBody>
          <a:bodyPr>
            <a:normAutofit/>
          </a:bodyPr>
          <a:lstStyle/>
          <a:p>
            <a:r>
              <a:rPr lang="en-US" altLang="en-US" sz="3200" dirty="0" smtClean="0"/>
              <a:t>To understand what can be claimed and compensated. </a:t>
            </a:r>
          </a:p>
          <a:p>
            <a:endParaRPr lang="en-US" altLang="en-US" sz="3200" dirty="0" smtClean="0"/>
          </a:p>
          <a:p>
            <a:r>
              <a:rPr lang="en-US" altLang="en-US" sz="3200" dirty="0" smtClean="0"/>
              <a:t>To understand the concept of reasonableness</a:t>
            </a:r>
          </a:p>
          <a:p>
            <a:endParaRPr lang="en-US" altLang="en-US" sz="3200" dirty="0" smtClean="0"/>
          </a:p>
          <a:p>
            <a:pPr eaLnBrk="1" hangingPunct="1"/>
            <a:endParaRPr lang="en-US" altLang="en-US" sz="3200" dirty="0" smtClean="0">
              <a:latin typeface="Arial" panose="020B0604020202020204" pitchFamily="34" charset="0"/>
            </a:endParaRPr>
          </a:p>
          <a:p>
            <a:pPr eaLnBrk="1" hangingPunct="1"/>
            <a:endParaRPr lang="fr-FR" altLang="en-US" sz="3200" dirty="0" smtClean="0"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9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34" name="Rectang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CA" altLang="en-US" sz="4000" b="1" dirty="0"/>
              <a:t>Pollution </a:t>
            </a:r>
            <a:r>
              <a:rPr lang="fr-CA" altLang="en-US" sz="4000" b="1" dirty="0" smtClean="0"/>
              <a:t>Damage</a:t>
            </a:r>
            <a:endParaRPr lang="fr-CA" altLang="en-US" sz="4000" b="1" dirty="0"/>
          </a:p>
        </p:txBody>
      </p:sp>
      <p:sp>
        <p:nvSpPr>
          <p:cNvPr id="3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56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Pollution Damage </a:t>
            </a: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929640" y="1396790"/>
            <a:ext cx="10515600" cy="4351338"/>
          </a:xfrm>
        </p:spPr>
        <p:txBody>
          <a:bodyPr/>
          <a:lstStyle/>
          <a:p>
            <a:pPr algn="just"/>
            <a:r>
              <a:rPr lang="en-CA" altLang="en-US" dirty="0" smtClean="0"/>
              <a:t>Loss or damage caused outside the ship by contamination from escape or discharge from the ship wherever escape or discharge occur 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Costs of preventive measures and further loss or damage caused by preventive measures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3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Preventive Measures</a:t>
            </a: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832282" y="1505585"/>
            <a:ext cx="10515600" cy="4351338"/>
          </a:xfrm>
        </p:spPr>
        <p:txBody>
          <a:bodyPr/>
          <a:lstStyle/>
          <a:p>
            <a:pPr algn="just"/>
            <a:r>
              <a:rPr lang="en-CA" altLang="en-US" dirty="0" smtClean="0"/>
              <a:t>any </a:t>
            </a:r>
            <a:r>
              <a:rPr lang="en-CA" altLang="en-US" b="1" dirty="0" smtClean="0"/>
              <a:t>reasonable </a:t>
            </a:r>
            <a:r>
              <a:rPr lang="en-CA" altLang="en-US" dirty="0" smtClean="0"/>
              <a:t>measure taken by any person after an incident to prevent or minimize pollution damage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before an incident if grave and imminent threat of pollution damage (Art I. 7 &amp; 8, 1992 CLC)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4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1005840" y="130176"/>
            <a:ext cx="10259568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Preventive Measures: Clean-up Costs</a:t>
            </a:r>
          </a:p>
        </p:txBody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>
          <a:xfrm>
            <a:off x="1277112" y="1322705"/>
            <a:ext cx="10515600" cy="4351338"/>
          </a:xfrm>
        </p:spPr>
        <p:txBody>
          <a:bodyPr/>
          <a:lstStyle/>
          <a:p>
            <a:r>
              <a:rPr lang="en-CA" altLang="en-US" dirty="0" smtClean="0"/>
              <a:t>Generally – clean-up 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dirty="0" smtClean="0"/>
              <a:t>Combat oil at sea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dirty="0" smtClean="0"/>
              <a:t>Protect sensitive resources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dirty="0" smtClean="0"/>
              <a:t>Clean shorelines and coastal installations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dirty="0" smtClean="0"/>
              <a:t>Dispose collected oil and oily waste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dirty="0" smtClean="0"/>
              <a:t>Prevent pollution damage through salvage operations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02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30" name="Rectangle 3"/>
          <p:cNvSpPr>
            <a:spLocks noGrp="1"/>
          </p:cNvSpPr>
          <p:nvPr>
            <p:ph idx="1"/>
          </p:nvPr>
        </p:nvSpPr>
        <p:spPr>
          <a:xfrm>
            <a:off x="1103376" y="1396790"/>
            <a:ext cx="10515600" cy="4351338"/>
          </a:xfrm>
        </p:spPr>
        <p:txBody>
          <a:bodyPr/>
          <a:lstStyle/>
          <a:p>
            <a:r>
              <a:rPr lang="en-CA" altLang="en-US" dirty="0" smtClean="0"/>
              <a:t>Compensation for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dirty="0" smtClean="0"/>
              <a:t>personnel and hire/purchase of equipment and material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dirty="0" smtClean="0"/>
              <a:t>additional costs (overtime)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dirty="0" smtClean="0"/>
              <a:t>fixed costs of personnel from public bodies 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dirty="0" smtClean="0"/>
              <a:t>Loss/damage caused by clean-up operations</a:t>
            </a: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822960" y="130176"/>
            <a:ext cx="106680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Preventive Measures: Clean-up Costs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1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554" name="Rectangle 3"/>
          <p:cNvSpPr>
            <a:spLocks noGrp="1"/>
          </p:cNvSpPr>
          <p:nvPr>
            <p:ph type="body" idx="1"/>
          </p:nvPr>
        </p:nvSpPr>
        <p:spPr>
          <a:xfrm>
            <a:off x="1289303" y="1396790"/>
            <a:ext cx="9601201" cy="4351338"/>
          </a:xfrm>
        </p:spPr>
        <p:txBody>
          <a:bodyPr/>
          <a:lstStyle/>
          <a:p>
            <a:r>
              <a:rPr lang="en-CA" altLang="en-US" dirty="0" smtClean="0"/>
              <a:t>Admissibility criteria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dirty="0" smtClean="0"/>
              <a:t>expense must actually be incurred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dirty="0" smtClean="0"/>
              <a:t>response measures should be </a:t>
            </a:r>
            <a:r>
              <a:rPr lang="en-CA" altLang="en-US" i="1" dirty="0" smtClean="0"/>
              <a:t>reasonable</a:t>
            </a:r>
            <a:r>
              <a:rPr lang="en-CA" altLang="en-US" dirty="0" smtClean="0"/>
              <a:t> and </a:t>
            </a:r>
            <a:r>
              <a:rPr lang="en-CA" altLang="en-US" i="1" dirty="0" smtClean="0"/>
              <a:t>justifiable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dirty="0" smtClean="0"/>
              <a:t>expense must be due directly to the contamination</a:t>
            </a: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923544" y="130176"/>
            <a:ext cx="10771631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Preventive Measures: Clean-up Costs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34" name="Rectangle 2">
            <a:extLst/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61975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vert="horz" lIns="90488" tIns="44450" rIns="90488" bIns="44450" rtlCol="0" anchor="ctr">
            <a:normAutofit fontScale="90000"/>
          </a:bodyPr>
          <a:lstStyle/>
          <a:p>
            <a:pPr algn="ctr">
              <a:defRPr/>
            </a:pPr>
            <a:r>
              <a:rPr lang="en-GB" b="1" dirty="0">
                <a:ea typeface="ＭＳ Ｐゴシック" charset="0"/>
              </a:rPr>
              <a:t>Reasonable</a:t>
            </a:r>
          </a:p>
        </p:txBody>
      </p:sp>
      <p:sp>
        <p:nvSpPr>
          <p:cNvPr id="18435" name="Rectangle 3">
            <a:extLst/>
          </p:cNvPr>
          <p:cNvSpPr>
            <a:spLocks noGrp="1" noChangeArrowheads="1"/>
          </p:cNvSpPr>
          <p:nvPr>
            <p:ph idx="1"/>
          </p:nvPr>
        </p:nvSpPr>
        <p:spPr>
          <a:xfrm>
            <a:off x="1249680" y="1396790"/>
            <a:ext cx="10515600" cy="4351338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marL="571500" indent="-571500">
              <a:spcBef>
                <a:spcPct val="0"/>
              </a:spcBef>
              <a:spcAft>
                <a:spcPct val="60000"/>
              </a:spcAft>
              <a:buNone/>
              <a:defRPr/>
            </a:pPr>
            <a:r>
              <a:rPr lang="en-GB" dirty="0">
                <a:ea typeface="ＭＳ Ｐゴシック" charset="0"/>
              </a:rPr>
              <a:t>Preventive measures should:</a:t>
            </a:r>
          </a:p>
          <a:p>
            <a:pPr marL="571500" indent="-571500">
              <a:lnSpc>
                <a:spcPct val="125000"/>
              </a:lnSpc>
              <a:buFont typeface="Arial" charset="0"/>
              <a:buChar char="•"/>
              <a:defRPr/>
            </a:pPr>
            <a:r>
              <a:rPr lang="en-GB" dirty="0">
                <a:ea typeface="ＭＳ Ｐゴシック" charset="0"/>
              </a:rPr>
              <a:t>Be based on a </a:t>
            </a:r>
            <a:r>
              <a:rPr lang="en-GB" i="1" u="sng" dirty="0">
                <a:ea typeface="ＭＳ Ｐゴシック" charset="0"/>
              </a:rPr>
              <a:t>technical</a:t>
            </a:r>
            <a:r>
              <a:rPr lang="en-GB" dirty="0">
                <a:ea typeface="ＭＳ Ｐゴシック" charset="0"/>
              </a:rPr>
              <a:t> appraisal</a:t>
            </a:r>
          </a:p>
          <a:p>
            <a:pPr marL="571500" indent="-571500">
              <a:buFont typeface="Arial" charset="0"/>
              <a:buChar char="•"/>
              <a:defRPr/>
            </a:pPr>
            <a:r>
              <a:rPr lang="en-US" dirty="0">
                <a:ea typeface="ＭＳ Ｐゴシック" charset="0"/>
              </a:rPr>
              <a:t>Take into consideration the best available </a:t>
            </a:r>
            <a:r>
              <a:rPr lang="en-US" i="1" u="sng" dirty="0">
                <a:ea typeface="ＭＳ Ｐゴシック" charset="0"/>
              </a:rPr>
              <a:t>information</a:t>
            </a:r>
            <a:r>
              <a:rPr lang="en-US" dirty="0">
                <a:ea typeface="ＭＳ Ｐゴシック" charset="0"/>
              </a:rPr>
              <a:t> at the time</a:t>
            </a:r>
          </a:p>
          <a:p>
            <a:pPr marL="571500" indent="-571500">
              <a:lnSpc>
                <a:spcPct val="125000"/>
              </a:lnSpc>
              <a:buFont typeface="Arial" charset="0"/>
              <a:buChar char="•"/>
              <a:defRPr/>
            </a:pPr>
            <a:r>
              <a:rPr lang="en-CA" dirty="0">
                <a:ea typeface="ＭＳ Ｐゴシック" charset="0"/>
              </a:rPr>
              <a:t>Have a possibility of being </a:t>
            </a:r>
            <a:r>
              <a:rPr lang="en-CA" i="1" u="sng" dirty="0">
                <a:ea typeface="ＭＳ Ｐゴシック" charset="0"/>
              </a:rPr>
              <a:t>effective</a:t>
            </a:r>
            <a:r>
              <a:rPr lang="en-GB" dirty="0">
                <a:ea typeface="ＭＳ Ｐゴシック" charset="0"/>
              </a:rPr>
              <a:t>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1521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fr-CA" altLang="en-US" b="1" dirty="0" err="1" smtClean="0"/>
              <a:t>Property</a:t>
            </a:r>
            <a:r>
              <a:rPr lang="fr-CA" altLang="en-US" b="1" dirty="0" smtClean="0"/>
              <a:t> Damage</a:t>
            </a: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737616" y="877388"/>
            <a:ext cx="10515600" cy="4351338"/>
          </a:xfrm>
        </p:spPr>
        <p:txBody>
          <a:bodyPr/>
          <a:lstStyle/>
          <a:p>
            <a:pPr algn="ctr">
              <a:buFontTx/>
              <a:buNone/>
            </a:pPr>
            <a:r>
              <a:rPr lang="en-CA" altLang="en-US" dirty="0" smtClean="0"/>
              <a:t>Damage to commercial and private vessels</a:t>
            </a:r>
          </a:p>
          <a:p>
            <a:pPr algn="ctr">
              <a:buFontTx/>
              <a:buNone/>
            </a:pPr>
            <a:endParaRPr lang="en-CA" altLang="en-US" b="1" dirty="0" smtClean="0"/>
          </a:p>
          <a:p>
            <a:pPr algn="ctr">
              <a:buFontTx/>
              <a:buNone/>
            </a:pPr>
            <a:endParaRPr lang="en-CA" altLang="en-US" b="1" dirty="0" smtClean="0"/>
          </a:p>
        </p:txBody>
      </p:sp>
      <p:pic>
        <p:nvPicPr>
          <p:cNvPr id="26628" name="Image 1" descr="oil in a marin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798" y="1439845"/>
            <a:ext cx="7444994" cy="4795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Box 6"/>
          <p:cNvSpPr txBox="1">
            <a:spLocks noChangeArrowheads="1"/>
          </p:cNvSpPr>
          <p:nvPr/>
        </p:nvSpPr>
        <p:spPr bwMode="auto">
          <a:xfrm>
            <a:off x="3432176" y="5157788"/>
            <a:ext cx="15843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Cedre</a:t>
            </a:r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4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832282" y="896793"/>
            <a:ext cx="10515600" cy="4103759"/>
          </a:xfrm>
        </p:spPr>
        <p:txBody>
          <a:bodyPr/>
          <a:lstStyle/>
          <a:p>
            <a:pPr algn="ctr">
              <a:buFontTx/>
              <a:buNone/>
            </a:pPr>
            <a:r>
              <a:rPr lang="en-CA" altLang="en-US" dirty="0" smtClean="0"/>
              <a:t>Damage to roads during clean-up</a:t>
            </a:r>
          </a:p>
          <a:p>
            <a:pPr algn="ctr">
              <a:buFontTx/>
              <a:buNone/>
            </a:pPr>
            <a:endParaRPr lang="en-CA" altLang="en-US" b="1" dirty="0" smtClean="0"/>
          </a:p>
          <a:p>
            <a:pPr algn="ctr">
              <a:buFontTx/>
              <a:buNone/>
            </a:pPr>
            <a:endParaRPr lang="en-CA" altLang="en-US" b="1" dirty="0" smtClean="0"/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Property Damage</a:t>
            </a:r>
          </a:p>
        </p:txBody>
      </p:sp>
      <p:pic>
        <p:nvPicPr>
          <p:cNvPr id="27652" name="Image 1" descr="Oil of amenity area_Prestig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682" y="1469148"/>
            <a:ext cx="6218174" cy="4662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42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Property Damage</a:t>
            </a:r>
          </a:p>
        </p:txBody>
      </p:sp>
      <p:sp>
        <p:nvSpPr>
          <p:cNvPr id="28675" name="Rectangle 6">
            <a:extLst/>
          </p:cNvPr>
          <p:cNvSpPr>
            <a:spLocks noGrp="1"/>
          </p:cNvSpPr>
          <p:nvPr>
            <p:ph idx="1"/>
          </p:nvPr>
        </p:nvSpPr>
        <p:spPr>
          <a:xfrm>
            <a:off x="1768907" y="1273811"/>
            <a:ext cx="8642350" cy="5218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CA" altLang="en-US" dirty="0"/>
              <a:t>Other types of property damage:</a:t>
            </a:r>
          </a:p>
          <a:p>
            <a:pPr marL="0" indent="0">
              <a:buNone/>
              <a:defRPr/>
            </a:pPr>
            <a:endParaRPr lang="en-CA" altLang="en-US" dirty="0"/>
          </a:p>
          <a:p>
            <a:pPr>
              <a:defRPr/>
            </a:pPr>
            <a:r>
              <a:rPr lang="en-CA" altLang="en-US" dirty="0"/>
              <a:t>Contamination of seawater intakes</a:t>
            </a:r>
          </a:p>
          <a:p>
            <a:pPr>
              <a:defRPr/>
            </a:pPr>
            <a:endParaRPr lang="en-CA" altLang="en-US" dirty="0"/>
          </a:p>
          <a:p>
            <a:pPr>
              <a:defRPr/>
            </a:pPr>
            <a:r>
              <a:rPr lang="en-CA" altLang="en-US" dirty="0"/>
              <a:t>Damage to fishing gear (nets, pod, etc.)</a:t>
            </a:r>
          </a:p>
          <a:p>
            <a:pPr>
              <a:defRPr/>
            </a:pPr>
            <a:endParaRPr lang="en-CA" altLang="en-US" dirty="0"/>
          </a:p>
          <a:p>
            <a:pPr>
              <a:defRPr/>
            </a:pPr>
            <a:r>
              <a:rPr lang="en-CA" altLang="en-US" dirty="0"/>
              <a:t>Damage to fish farms</a:t>
            </a:r>
          </a:p>
          <a:p>
            <a:pPr marL="0" indent="0">
              <a:defRPr/>
            </a:pPr>
            <a:endParaRPr lang="en-CA" altLang="en-US" dirty="0"/>
          </a:p>
          <a:p>
            <a:pPr marL="0" indent="0">
              <a:defRPr/>
            </a:pPr>
            <a:endParaRPr lang="fr-CA" altLang="en-US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37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1139952" y="1396790"/>
            <a:ext cx="10515600" cy="4351338"/>
          </a:xfrm>
        </p:spPr>
        <p:txBody>
          <a:bodyPr>
            <a:normAutofit/>
          </a:bodyPr>
          <a:lstStyle/>
          <a:p>
            <a:r>
              <a:rPr lang="en-CA" altLang="en-US" sz="3200" dirty="0" smtClean="0"/>
              <a:t>Compensation for 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Costs to clean: manpower and materials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Costs to repair or replace damaged equipment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Minus wear and tear</a:t>
            </a: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Property Damage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21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Property Damage</a:t>
            </a: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1112520" y="1396790"/>
            <a:ext cx="10515600" cy="4351338"/>
          </a:xfrm>
        </p:spPr>
        <p:txBody>
          <a:bodyPr>
            <a:normAutofit/>
          </a:bodyPr>
          <a:lstStyle/>
          <a:p>
            <a:r>
              <a:rPr lang="en-CA" altLang="en-US" sz="3200" dirty="0" smtClean="0"/>
              <a:t>Admissibility criteria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Measures and costs must be reasonable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Claims based on invoices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Estimates not acceptable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No compensation for improvement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95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770" name="Rectangle 3"/>
          <p:cNvSpPr>
            <a:spLocks noGrp="1"/>
          </p:cNvSpPr>
          <p:nvPr>
            <p:ph idx="1"/>
          </p:nvPr>
        </p:nvSpPr>
        <p:spPr>
          <a:xfrm>
            <a:off x="1277112" y="1158113"/>
            <a:ext cx="10515600" cy="4351338"/>
          </a:xfrm>
        </p:spPr>
        <p:txBody>
          <a:bodyPr>
            <a:normAutofit/>
          </a:bodyPr>
          <a:lstStyle/>
          <a:p>
            <a:r>
              <a:rPr lang="en-CA" altLang="en-US" sz="3200" dirty="0" smtClean="0"/>
              <a:t>Common problems 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Insufficient supporting documentation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No independent verification of damage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Not taking into account wear and tear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Expectation of new for old – improvement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Damage from different origin</a:t>
            </a: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Pollution Damage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71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Presentation of </a:t>
            </a:r>
            <a:r>
              <a:rPr lang="en-CA" altLang="en-US" b="1" dirty="0" smtClean="0"/>
              <a:t>Claims</a:t>
            </a:r>
            <a:endParaRPr lang="en-CA" altLang="en-US" b="1" dirty="0" smtClean="0"/>
          </a:p>
        </p:txBody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CA" altLang="en-US" dirty="0" smtClean="0"/>
              <a:t>Extent of damage</a:t>
            </a:r>
          </a:p>
          <a:p>
            <a:pPr>
              <a:lnSpc>
                <a:spcPct val="90000"/>
              </a:lnSpc>
            </a:pPr>
            <a:r>
              <a:rPr lang="en-CA" altLang="en-US" dirty="0" smtClean="0"/>
              <a:t>Explanation of how damage occurred</a:t>
            </a:r>
          </a:p>
          <a:p>
            <a:pPr>
              <a:lnSpc>
                <a:spcPct val="90000"/>
              </a:lnSpc>
            </a:pPr>
            <a:r>
              <a:rPr lang="en-CA" altLang="en-US" dirty="0" smtClean="0"/>
              <a:t>Photographs of damage and location</a:t>
            </a:r>
          </a:p>
          <a:p>
            <a:pPr>
              <a:lnSpc>
                <a:spcPct val="90000"/>
              </a:lnSpc>
            </a:pPr>
            <a:r>
              <a:rPr lang="en-CA" altLang="en-US" dirty="0" smtClean="0"/>
              <a:t>Cost of repairs, cleaning and/or replacement</a:t>
            </a:r>
          </a:p>
          <a:p>
            <a:pPr>
              <a:lnSpc>
                <a:spcPct val="90000"/>
              </a:lnSpc>
            </a:pPr>
            <a:r>
              <a:rPr lang="en-CA" altLang="en-US" dirty="0" smtClean="0"/>
              <a:t>Age of items to replace</a:t>
            </a:r>
          </a:p>
          <a:p>
            <a:pPr>
              <a:lnSpc>
                <a:spcPct val="90000"/>
              </a:lnSpc>
            </a:pPr>
            <a:r>
              <a:rPr lang="en-CA" altLang="en-US" dirty="0" smtClean="0"/>
              <a:t>Cost of restoration after clean-up</a:t>
            </a:r>
          </a:p>
          <a:p>
            <a:pPr>
              <a:lnSpc>
                <a:spcPct val="90000"/>
              </a:lnSpc>
            </a:pPr>
            <a:r>
              <a:rPr lang="en-CA" altLang="en-US" dirty="0" smtClean="0"/>
              <a:t>Assessment on evidence provided and available</a:t>
            </a:r>
          </a:p>
          <a:p>
            <a:pPr>
              <a:lnSpc>
                <a:spcPct val="90000"/>
              </a:lnSpc>
            </a:pPr>
            <a:r>
              <a:rPr lang="en-CA" altLang="en-US" dirty="0" smtClean="0"/>
              <a:t>Burden of proof on claimant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39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443798"/>
          </a:xfrm>
        </p:spPr>
        <p:txBody>
          <a:bodyPr>
            <a:normAutofit/>
          </a:bodyPr>
          <a:lstStyle/>
          <a:p>
            <a:r>
              <a:rPr lang="fr-CA" altLang="en-US" sz="4000" b="1" dirty="0" err="1"/>
              <a:t>Fisheries</a:t>
            </a:r>
            <a:endParaRPr lang="fr-CA" altLang="en-US" sz="4000" b="1" dirty="0"/>
          </a:p>
        </p:txBody>
      </p:sp>
      <p:sp>
        <p:nvSpPr>
          <p:cNvPr id="3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50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Fisheries</a:t>
            </a: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1103376" y="1103249"/>
            <a:ext cx="10515600" cy="4351338"/>
          </a:xfrm>
        </p:spPr>
        <p:txBody>
          <a:bodyPr>
            <a:normAutofit/>
          </a:bodyPr>
          <a:lstStyle/>
          <a:p>
            <a:r>
              <a:rPr lang="en-CA" altLang="en-US" sz="3200" dirty="0" smtClean="0"/>
              <a:t>Consequential and pure economic loss</a:t>
            </a:r>
          </a:p>
          <a:p>
            <a:r>
              <a:rPr lang="en-CA" altLang="en-US" sz="3200" dirty="0" smtClean="0"/>
              <a:t>Specific criteria of admissibility</a:t>
            </a:r>
          </a:p>
          <a:p>
            <a:r>
              <a:rPr lang="en-CA" altLang="en-US" sz="3200" dirty="0" smtClean="0"/>
              <a:t>Types of claims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Fisheries claims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 err="1"/>
              <a:t>Mariculture</a:t>
            </a:r>
            <a:r>
              <a:rPr lang="en-CA" altLang="en-US" sz="3200" dirty="0"/>
              <a:t> claims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3200" dirty="0"/>
              <a:t>Processing claims</a:t>
            </a:r>
          </a:p>
          <a:p>
            <a:r>
              <a:rPr lang="en-CA" altLang="en-US" sz="3200" dirty="0" smtClean="0"/>
              <a:t>Presentation of claims</a:t>
            </a:r>
          </a:p>
          <a:p>
            <a:r>
              <a:rPr lang="en-CA" altLang="en-US" sz="3200" dirty="0" smtClean="0"/>
              <a:t>Claims assessment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7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Consequential </a:t>
            </a:r>
            <a:r>
              <a:rPr lang="en-CA" altLang="en-US" b="1" dirty="0"/>
              <a:t>L</a:t>
            </a:r>
            <a:r>
              <a:rPr lang="en-CA" altLang="en-US" b="1" dirty="0" smtClean="0"/>
              <a:t>oss</a:t>
            </a:r>
          </a:p>
        </p:txBody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>
          <a:xfrm>
            <a:off x="1004620" y="930562"/>
            <a:ext cx="10407091" cy="4997450"/>
          </a:xfrm>
        </p:spPr>
        <p:txBody>
          <a:bodyPr>
            <a:normAutofit/>
          </a:bodyPr>
          <a:lstStyle/>
          <a:p>
            <a:pPr algn="just"/>
            <a:r>
              <a:rPr lang="en-CA" altLang="en-US" sz="3200" dirty="0" smtClean="0"/>
              <a:t>Loss of revenue by the owners or users of property contaminated as a result of a spill.</a:t>
            </a:r>
          </a:p>
          <a:p>
            <a:pPr algn="just"/>
            <a:r>
              <a:rPr lang="en-CA" altLang="en-US" sz="3200" dirty="0" smtClean="0"/>
              <a:t>Examples: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2800" dirty="0"/>
              <a:t>Fishermen unable to fish due to fishing boat or fishing gear contaminated with oil</a:t>
            </a:r>
            <a:r>
              <a:rPr lang="en-CA" altLang="en-US" sz="2800" dirty="0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36868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682" y="3418034"/>
            <a:ext cx="4069142" cy="2796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63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Pure Economic </a:t>
            </a:r>
            <a:r>
              <a:rPr lang="en-CA" altLang="en-US" b="1" dirty="0"/>
              <a:t>L</a:t>
            </a:r>
            <a:r>
              <a:rPr lang="en-CA" altLang="en-US" b="1" dirty="0" smtClean="0"/>
              <a:t>oss</a:t>
            </a: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966216" y="1331849"/>
            <a:ext cx="10515600" cy="4351338"/>
          </a:xfrm>
        </p:spPr>
        <p:txBody>
          <a:bodyPr>
            <a:normAutofit/>
          </a:bodyPr>
          <a:lstStyle/>
          <a:p>
            <a:pPr algn="just">
              <a:buFontTx/>
              <a:buNone/>
            </a:pPr>
            <a:r>
              <a:rPr lang="fr-CA" altLang="en-US" sz="3200" dirty="0" smtClean="0">
                <a:latin typeface="Arial" panose="020B0604020202020204" pitchFamily="34" charset="0"/>
              </a:rPr>
              <a:t>• </a:t>
            </a:r>
            <a:r>
              <a:rPr lang="en-CA" altLang="en-US" sz="3200" dirty="0" smtClean="0"/>
              <a:t>Loss of earnings sustained by persons whose property has not been polluted.</a:t>
            </a:r>
          </a:p>
          <a:p>
            <a:pPr algn="just"/>
            <a:endParaRPr lang="en-CA" altLang="en-US" sz="3200" dirty="0" smtClean="0"/>
          </a:p>
          <a:p>
            <a:pPr algn="just"/>
            <a:r>
              <a:rPr lang="en-CA" altLang="en-US" sz="3200" dirty="0" smtClean="0"/>
              <a:t>Example: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2800" dirty="0"/>
              <a:t>Fishermen are unable to fish because the area of the sea where they normally fish is polluted and they cannot fish elsewhere.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071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Admissibility Criteria</a:t>
            </a:r>
            <a:endParaRPr lang="fr-CA" altLang="en-US" b="1" dirty="0" smtClean="0"/>
          </a:p>
        </p:txBody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>
          <a:xfrm>
            <a:off x="1094232" y="1249553"/>
            <a:ext cx="10515600" cy="4351338"/>
          </a:xfrm>
        </p:spPr>
        <p:txBody>
          <a:bodyPr/>
          <a:lstStyle/>
          <a:p>
            <a:pPr algn="just"/>
            <a:r>
              <a:rPr lang="en-CA" altLang="en-US" dirty="0" smtClean="0"/>
              <a:t>Damage or loss linked directly to the pollution </a:t>
            </a:r>
          </a:p>
          <a:p>
            <a:pPr algn="just"/>
            <a:r>
              <a:rPr lang="en-CA" altLang="en-US" dirty="0" smtClean="0"/>
              <a:t>Geographic proximity between the claimant</a:t>
            </a:r>
            <a:r>
              <a:rPr lang="en-CA" altLang="fr-FR" dirty="0" smtClean="0"/>
              <a:t>’</a:t>
            </a:r>
            <a:r>
              <a:rPr lang="en-CA" altLang="en-US" dirty="0" smtClean="0"/>
              <a:t>s activity and the contamination</a:t>
            </a:r>
          </a:p>
          <a:p>
            <a:pPr algn="just"/>
            <a:r>
              <a:rPr lang="en-CA" altLang="en-US" dirty="0" smtClean="0"/>
              <a:t>Claimant</a:t>
            </a:r>
            <a:r>
              <a:rPr lang="en-CA" altLang="fr-FR" dirty="0" smtClean="0"/>
              <a:t>’</a:t>
            </a:r>
            <a:r>
              <a:rPr lang="en-CA" altLang="en-US" dirty="0" smtClean="0"/>
              <a:t>s economic dependence on the affected resource</a:t>
            </a:r>
          </a:p>
          <a:p>
            <a:pPr algn="just"/>
            <a:r>
              <a:rPr lang="en-CA" altLang="en-US" dirty="0" smtClean="0"/>
              <a:t>Alternative sources of supply </a:t>
            </a:r>
          </a:p>
          <a:p>
            <a:pPr algn="just"/>
            <a:r>
              <a:rPr lang="en-CA" altLang="en-US" dirty="0" smtClean="0"/>
              <a:t>In the case of a marketing campaign, the claim must relate to actual targeted markets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90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Impact of Oil on Fisheries</a:t>
            </a:r>
            <a:endParaRPr lang="fr-CA" altLang="en-US" b="1" dirty="0" smtClean="0"/>
          </a:p>
        </p:txBody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>
          <a:xfrm>
            <a:off x="1152526" y="1038523"/>
            <a:ext cx="8686800" cy="5218112"/>
          </a:xfrm>
        </p:spPr>
        <p:txBody>
          <a:bodyPr>
            <a:normAutofit/>
          </a:bodyPr>
          <a:lstStyle/>
          <a:p>
            <a:r>
              <a:rPr lang="en-CA" altLang="en-US" sz="3200" dirty="0" smtClean="0"/>
              <a:t>Contaminated fishing gear</a:t>
            </a:r>
          </a:p>
          <a:p>
            <a:r>
              <a:rPr lang="en-CA" altLang="en-US" sz="3200" dirty="0" smtClean="0"/>
              <a:t>Fishing bans 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2800" dirty="0"/>
              <a:t>to prevent contamination of gear and catches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2800" dirty="0"/>
              <a:t>to protect human health (temporary contamination)</a:t>
            </a:r>
          </a:p>
          <a:p>
            <a:r>
              <a:rPr lang="en-CA" altLang="en-US" sz="3200" dirty="0" smtClean="0"/>
              <a:t>Loss of market confidence</a:t>
            </a:r>
          </a:p>
        </p:txBody>
      </p:sp>
      <p:pic>
        <p:nvPicPr>
          <p:cNvPr id="3994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1" y="3162891"/>
            <a:ext cx="4320539" cy="2873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00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Impact of Oil on </a:t>
            </a:r>
            <a:r>
              <a:rPr lang="en-CA" altLang="en-US" b="1" dirty="0" err="1"/>
              <a:t>M</a:t>
            </a:r>
            <a:r>
              <a:rPr lang="en-CA" altLang="en-US" b="1" dirty="0" err="1" smtClean="0"/>
              <a:t>ariculture</a:t>
            </a:r>
            <a:endParaRPr lang="fr-CA" altLang="en-US" b="1" dirty="0" smtClean="0"/>
          </a:p>
        </p:txBody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>
          <a:xfrm>
            <a:off x="763270" y="1085721"/>
            <a:ext cx="10171685" cy="5218112"/>
          </a:xfrm>
        </p:spPr>
        <p:txBody>
          <a:bodyPr/>
          <a:lstStyle/>
          <a:p>
            <a:pPr algn="just"/>
            <a:r>
              <a:rPr lang="en-CA" altLang="en-US" dirty="0" smtClean="0"/>
              <a:t>Contamination of onshore and offshore facilities (fish cages, shellfish rafts, onshore tanks and ponds)</a:t>
            </a:r>
          </a:p>
          <a:p>
            <a:pPr algn="just"/>
            <a:r>
              <a:rPr lang="en-CA" altLang="en-US" dirty="0" smtClean="0"/>
              <a:t>Contamination of stocks (tainting, mortality)</a:t>
            </a:r>
          </a:p>
          <a:p>
            <a:pPr algn="just"/>
            <a:r>
              <a:rPr lang="en-CA" altLang="en-US" dirty="0" smtClean="0"/>
              <a:t>Harvesting bans</a:t>
            </a:r>
          </a:p>
          <a:p>
            <a:pPr algn="just"/>
            <a:r>
              <a:rPr lang="en-CA" altLang="en-US" dirty="0" smtClean="0"/>
              <a:t>Loss of market confidence</a:t>
            </a:r>
          </a:p>
        </p:txBody>
      </p:sp>
      <p:pic>
        <p:nvPicPr>
          <p:cNvPr id="4096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268" y="3394220"/>
            <a:ext cx="4103687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87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Impact of Oil on Processing</a:t>
            </a:r>
            <a:endParaRPr lang="fr-CA" altLang="en-US" b="1" dirty="0" smtClean="0"/>
          </a:p>
        </p:txBody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>
          <a:xfrm>
            <a:off x="1728216" y="1249553"/>
            <a:ext cx="9835896" cy="4351338"/>
          </a:xfrm>
        </p:spPr>
        <p:txBody>
          <a:bodyPr/>
          <a:lstStyle/>
          <a:p>
            <a:r>
              <a:rPr lang="en-CA" altLang="en-US" dirty="0" smtClean="0"/>
              <a:t>Contamination of plant</a:t>
            </a:r>
          </a:p>
          <a:p>
            <a:endParaRPr lang="en-CA" altLang="en-US" dirty="0" smtClean="0"/>
          </a:p>
          <a:p>
            <a:r>
              <a:rPr lang="en-CA" altLang="en-US" dirty="0" smtClean="0"/>
              <a:t>Reduction in supply</a:t>
            </a:r>
          </a:p>
          <a:p>
            <a:endParaRPr lang="en-CA" altLang="en-US" dirty="0" smtClean="0"/>
          </a:p>
          <a:p>
            <a:r>
              <a:rPr lang="en-CA" altLang="en-US" dirty="0" smtClean="0"/>
              <a:t>Reduction in demand</a:t>
            </a:r>
          </a:p>
          <a:p>
            <a:endParaRPr lang="en-CA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781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Contamination of Product</a:t>
            </a:r>
            <a:endParaRPr lang="fr-CA" altLang="en-US" b="1" dirty="0" smtClean="0"/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1149096" y="1396790"/>
            <a:ext cx="10515600" cy="4351338"/>
          </a:xfrm>
        </p:spPr>
        <p:txBody>
          <a:bodyPr/>
          <a:lstStyle/>
          <a:p>
            <a:pPr algn="just"/>
            <a:r>
              <a:rPr lang="en-CA" altLang="en-US" dirty="0" smtClean="0"/>
              <a:t>Fishing bans should be justified</a:t>
            </a:r>
          </a:p>
          <a:p>
            <a:pPr algn="just"/>
            <a:r>
              <a:rPr lang="en-CA" altLang="en-US" dirty="0" smtClean="0"/>
              <a:t>Presence of oil in vicinity of fishing grounds or </a:t>
            </a:r>
            <a:r>
              <a:rPr lang="en-CA" altLang="en-US" dirty="0" err="1" smtClean="0"/>
              <a:t>mariculture</a:t>
            </a:r>
            <a:r>
              <a:rPr lang="en-CA" altLang="en-US" dirty="0" smtClean="0"/>
              <a:t> facilities</a:t>
            </a:r>
          </a:p>
          <a:p>
            <a:pPr algn="just"/>
            <a:r>
              <a:rPr lang="en-CA" altLang="en-US" dirty="0" smtClean="0"/>
              <a:t>Contamination of stocks demonstrated by chemical analysis or taste testing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776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Destruction of </a:t>
            </a:r>
            <a:r>
              <a:rPr lang="en-CA" altLang="en-US" b="1" dirty="0" smtClean="0"/>
              <a:t>Product</a:t>
            </a:r>
            <a:endParaRPr lang="fr-CA" altLang="en-US" b="1" dirty="0" smtClean="0"/>
          </a:p>
        </p:txBody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>
          <a:xfrm>
            <a:off x="832282" y="1396790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CA" altLang="en-US" sz="3200" dirty="0" smtClean="0"/>
              <a:t>Factors to be considered: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2800" dirty="0"/>
              <a:t>Whether product is contaminated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2800" dirty="0"/>
              <a:t>Likelihood that contamination would disappear before normal harvesting time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2800" dirty="0"/>
              <a:t>Whether retention of product affects further production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2800" dirty="0"/>
              <a:t>Likelihood of product being marketable at normal harvesting time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56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Claims </a:t>
            </a:r>
            <a:r>
              <a:rPr lang="en-CA" altLang="en-US" b="1" dirty="0" smtClean="0"/>
              <a:t>Presentation</a:t>
            </a:r>
            <a:endParaRPr lang="fr-CA" altLang="en-US" b="1" dirty="0" smtClean="0"/>
          </a:p>
        </p:txBody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>
          <a:xfrm>
            <a:off x="929640" y="1122470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CA" altLang="en-US" sz="3200" dirty="0"/>
              <a:t>Proof linking loss to contamination</a:t>
            </a:r>
          </a:p>
          <a:p>
            <a:pPr algn="just">
              <a:lnSpc>
                <a:spcPct val="90000"/>
              </a:lnSpc>
            </a:pPr>
            <a:r>
              <a:rPr lang="en-CA" altLang="en-US" sz="3200" dirty="0"/>
              <a:t>Comparative earnings in previous </a:t>
            </a:r>
            <a:r>
              <a:rPr lang="en-CA" altLang="en-US" sz="3200" dirty="0" smtClean="0"/>
              <a:t>periods and during period of loss, e.g. accounts, tax returns, sales invoices and receipts</a:t>
            </a:r>
          </a:p>
          <a:p>
            <a:pPr algn="just">
              <a:lnSpc>
                <a:spcPct val="90000"/>
              </a:lnSpc>
            </a:pPr>
            <a:r>
              <a:rPr lang="en-CA" altLang="en-US" sz="3200" dirty="0" smtClean="0"/>
              <a:t>Where possible, monthly breakdown of quantity of each marine product caught, harvested or processed for the period of the loss and previous periods</a:t>
            </a:r>
          </a:p>
          <a:p>
            <a:pPr algn="just">
              <a:lnSpc>
                <a:spcPct val="90000"/>
              </a:lnSpc>
            </a:pPr>
            <a:r>
              <a:rPr lang="en-CA" altLang="en-US" sz="3200" dirty="0" smtClean="0"/>
              <a:t>Method of assessment of the loss</a:t>
            </a:r>
          </a:p>
          <a:p>
            <a:pPr algn="just">
              <a:lnSpc>
                <a:spcPct val="90000"/>
              </a:lnSpc>
            </a:pPr>
            <a:r>
              <a:rPr lang="en-CA" altLang="en-US" sz="3200" dirty="0" smtClean="0"/>
              <a:t>Savings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53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r>
              <a:rPr lang="en-CA" altLang="en-US" smtClean="0"/>
              <a:t>Subsistence fishing (artisanal)</a:t>
            </a:r>
            <a:endParaRPr lang="fr-CA" altLang="en-US" smtClean="0"/>
          </a:p>
        </p:txBody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>
          <a:xfrm>
            <a:off x="1231392" y="1158113"/>
            <a:ext cx="10515600" cy="4351338"/>
          </a:xfrm>
        </p:spPr>
        <p:txBody>
          <a:bodyPr>
            <a:normAutofit/>
          </a:bodyPr>
          <a:lstStyle/>
          <a:p>
            <a:r>
              <a:rPr lang="en-CA" altLang="en-US" sz="3200" dirty="0" smtClean="0"/>
              <a:t>Unlikely to have supporting documentation</a:t>
            </a:r>
          </a:p>
          <a:p>
            <a:r>
              <a:rPr lang="en-CA" altLang="en-US" sz="3200" dirty="0" smtClean="0"/>
              <a:t>Likely to be in need of urgent compensation</a:t>
            </a:r>
          </a:p>
          <a:p>
            <a:r>
              <a:rPr lang="en-CA" altLang="en-US" sz="3200" dirty="0" smtClean="0"/>
              <a:t>Interim payments in hardship cases</a:t>
            </a:r>
          </a:p>
          <a:p>
            <a:endParaRPr lang="en-CA" altLang="en-US" sz="3200" dirty="0" smtClean="0"/>
          </a:p>
          <a:p>
            <a:r>
              <a:rPr lang="fr-CA" altLang="en-US" sz="3200" dirty="0" smtClean="0"/>
              <a:t>Sources of information: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2800" dirty="0"/>
              <a:t>Government statistics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2800" dirty="0"/>
              <a:t>Field surveys of similar unaffected fishing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CA" altLang="en-US" sz="2800" dirty="0"/>
              <a:t>Interviews</a:t>
            </a:r>
          </a:p>
          <a:p>
            <a:endParaRPr lang="en-CA" altLang="en-US" sz="3200" dirty="0" smtClean="0"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04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altLang="en-US" sz="4000" b="1" dirty="0" err="1">
                <a:latin typeface="Arial" panose="020B0604020202020204" pitchFamily="34" charset="0"/>
              </a:rPr>
              <a:t>Tourism</a:t>
            </a:r>
            <a:endParaRPr lang="fr-CA" altLang="en-US" sz="4000" b="1" dirty="0">
              <a:latin typeface="Arial" panose="020B0604020202020204" pitchFamily="34" charset="0"/>
            </a:endParaRPr>
          </a:p>
        </p:txBody>
      </p:sp>
      <p:sp>
        <p:nvSpPr>
          <p:cNvPr id="3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12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130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Tourism</a:t>
            </a:r>
            <a:endParaRPr lang="fr-CA" altLang="en-US" b="1" dirty="0" smtClean="0"/>
          </a:p>
        </p:txBody>
      </p:sp>
      <p:sp>
        <p:nvSpPr>
          <p:cNvPr id="48131" name="Rectangle 3"/>
          <p:cNvSpPr>
            <a:spLocks noGrp="1"/>
          </p:cNvSpPr>
          <p:nvPr>
            <p:ph type="body" idx="1"/>
          </p:nvPr>
        </p:nvSpPr>
        <p:spPr>
          <a:xfrm>
            <a:off x="1039368" y="1249553"/>
            <a:ext cx="10515600" cy="4351338"/>
          </a:xfrm>
        </p:spPr>
        <p:txBody>
          <a:bodyPr/>
          <a:lstStyle/>
          <a:p>
            <a:r>
              <a:rPr lang="en-CA" altLang="en-US" dirty="0" smtClean="0"/>
              <a:t>Consequential and pure economic loss</a:t>
            </a:r>
          </a:p>
          <a:p>
            <a:r>
              <a:rPr lang="en-CA" altLang="en-US" dirty="0" smtClean="0"/>
              <a:t>Admissibility criteria</a:t>
            </a:r>
          </a:p>
          <a:p>
            <a:r>
              <a:rPr lang="en-CA" altLang="en-US" dirty="0" smtClean="0"/>
              <a:t>Types of business affected</a:t>
            </a:r>
          </a:p>
          <a:p>
            <a:r>
              <a:rPr lang="en-CA" altLang="en-US" dirty="0" smtClean="0"/>
              <a:t>Common problems</a:t>
            </a:r>
          </a:p>
          <a:p>
            <a:r>
              <a:rPr lang="en-CA" altLang="en-US" dirty="0" smtClean="0"/>
              <a:t>Presentation</a:t>
            </a:r>
          </a:p>
          <a:p>
            <a:r>
              <a:rPr lang="en-CA" altLang="en-US" dirty="0" smtClean="0"/>
              <a:t>Assessment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42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Consequential </a:t>
            </a:r>
            <a:r>
              <a:rPr lang="en-CA" altLang="en-US" b="1" dirty="0" smtClean="0"/>
              <a:t>Loss</a:t>
            </a:r>
            <a:endParaRPr lang="fr-CA" altLang="en-US" b="1" dirty="0" smtClean="0"/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746760" y="1169440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CA" altLang="en-US" sz="3200" dirty="0" smtClean="0"/>
              <a:t>Loss of earnings suffered by the owners or users of property contaminated as a result of a spill.</a:t>
            </a:r>
          </a:p>
        </p:txBody>
      </p:sp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1028256" y="2421256"/>
            <a:ext cx="360045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dirty="0">
                <a:latin typeface="+mj-lt"/>
              </a:rPr>
              <a:t>Examples: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CA" altLang="en-US" sz="3200" dirty="0">
                <a:latin typeface="+mj-lt"/>
              </a:rPr>
              <a:t>Oiling of hotel and restaurant; property located on coast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CA" altLang="en-US" sz="2400" dirty="0">
              <a:latin typeface="+mj-lt"/>
            </a:endParaRPr>
          </a:p>
        </p:txBody>
      </p:sp>
      <p:pic>
        <p:nvPicPr>
          <p:cNvPr id="49157" name="Image 1" descr="cleanupops_touristbeach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235" y="2663953"/>
            <a:ext cx="4437062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12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Pure </a:t>
            </a:r>
            <a:r>
              <a:rPr lang="en-CA" altLang="en-US" b="1" dirty="0" smtClean="0"/>
              <a:t>Economic </a:t>
            </a:r>
            <a:r>
              <a:rPr lang="en-CA" altLang="en-US" b="1" dirty="0" smtClean="0"/>
              <a:t>L</a:t>
            </a:r>
            <a:r>
              <a:rPr lang="en-CA" altLang="en-US" b="1" dirty="0" smtClean="0"/>
              <a:t>oss</a:t>
            </a:r>
            <a:endParaRPr lang="fr-CA" altLang="en-US" b="1" dirty="0" smtClean="0"/>
          </a:p>
        </p:txBody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832282" y="1396790"/>
            <a:ext cx="10515600" cy="4351338"/>
          </a:xfrm>
        </p:spPr>
        <p:txBody>
          <a:bodyPr>
            <a:normAutofit/>
          </a:bodyPr>
          <a:lstStyle/>
          <a:p>
            <a:r>
              <a:rPr lang="en-CA" altLang="en-US" sz="3200" dirty="0" smtClean="0"/>
              <a:t>Loss of earnings sustained by persons whose property has not been polluted.</a:t>
            </a:r>
          </a:p>
          <a:p>
            <a:endParaRPr lang="en-CA" altLang="en-US" sz="3200" dirty="0" smtClean="0"/>
          </a:p>
          <a:p>
            <a:pPr>
              <a:buFontTx/>
              <a:buNone/>
            </a:pPr>
            <a:r>
              <a:rPr lang="en-CA" altLang="en-US" sz="3200" dirty="0" smtClean="0"/>
              <a:t>Example:</a:t>
            </a:r>
          </a:p>
          <a:p>
            <a:pPr lvl="1"/>
            <a:r>
              <a:rPr lang="en-CA" altLang="en-US" sz="2800" dirty="0"/>
              <a:t>Hotels or restaurants near the contaminated beach may suffer loss of profit due to reduction in guests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949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Admissibility </a:t>
            </a:r>
            <a:r>
              <a:rPr lang="en-CA" altLang="en-US" b="1" dirty="0" smtClean="0"/>
              <a:t>Criteria</a:t>
            </a:r>
            <a:endParaRPr lang="fr-CA" altLang="en-US" b="1" dirty="0" smtClean="0"/>
          </a:p>
        </p:txBody>
      </p:sp>
      <p:sp>
        <p:nvSpPr>
          <p:cNvPr id="51203" name="Rectangle 3"/>
          <p:cNvSpPr>
            <a:spLocks noGrp="1"/>
          </p:cNvSpPr>
          <p:nvPr>
            <p:ph type="body" idx="1"/>
          </p:nvPr>
        </p:nvSpPr>
        <p:spPr>
          <a:xfrm>
            <a:off x="911352" y="1241342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CA" altLang="en-US" sz="3200" dirty="0" smtClean="0"/>
              <a:t>Link of causation between loss or damage and the contamination, i.e. reasonable degree of proximity</a:t>
            </a:r>
          </a:p>
          <a:p>
            <a:pPr algn="just"/>
            <a:endParaRPr lang="en-CA" altLang="en-US" sz="3200" dirty="0" smtClean="0"/>
          </a:p>
          <a:p>
            <a:pPr algn="just"/>
            <a:r>
              <a:rPr lang="en-CA" altLang="en-US" sz="3200" dirty="0" smtClean="0"/>
              <a:t>Various factors to consider if there is link of causation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349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Admissibility </a:t>
            </a:r>
            <a:r>
              <a:rPr lang="en-CA" altLang="en-US" b="1" dirty="0" smtClean="0"/>
              <a:t>Criteria</a:t>
            </a:r>
            <a:endParaRPr lang="fr-CA" altLang="en-US" b="1" dirty="0" smtClean="0"/>
          </a:p>
        </p:txBody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>
          <a:xfrm>
            <a:off x="920496" y="1396790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CA" altLang="en-US" sz="3200" dirty="0" smtClean="0"/>
              <a:t>Factors to consider:</a:t>
            </a:r>
          </a:p>
          <a:p>
            <a:pPr lvl="1" indent="-420688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CA" altLang="en-US" sz="2800" dirty="0" smtClean="0"/>
              <a:t>Geographic proximity between the claimant</a:t>
            </a:r>
            <a:r>
              <a:rPr lang="en-CA" altLang="fr-FR" sz="2800" dirty="0" smtClean="0"/>
              <a:t>’</a:t>
            </a:r>
            <a:r>
              <a:rPr lang="en-CA" altLang="en-US" sz="2800" dirty="0" smtClean="0"/>
              <a:t>s activity and the contamination</a:t>
            </a:r>
          </a:p>
          <a:p>
            <a:pPr lvl="1" indent="-420688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CA" altLang="en-US" sz="2800" dirty="0" smtClean="0"/>
              <a:t>Claimant</a:t>
            </a:r>
            <a:r>
              <a:rPr lang="en-CA" altLang="fr-FR" sz="2800" dirty="0" smtClean="0"/>
              <a:t>’</a:t>
            </a:r>
            <a:r>
              <a:rPr lang="en-CA" altLang="en-US" sz="2800" dirty="0" smtClean="0"/>
              <a:t>s economic dependence on the affected resource</a:t>
            </a:r>
          </a:p>
          <a:p>
            <a:pPr lvl="1" indent="-420688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CA" altLang="en-US" sz="2800" dirty="0" smtClean="0"/>
              <a:t>Extent to which the business forms an integral part of the economic activity within the area affected </a:t>
            </a:r>
          </a:p>
          <a:p>
            <a:pPr lvl="1" indent="-420688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CA" altLang="en-US" sz="2800" dirty="0" smtClean="0"/>
              <a:t>In the case of a marketing campaign, the claim must relate to actual targeted markets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184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250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Types of </a:t>
            </a:r>
            <a:r>
              <a:rPr lang="en-CA" altLang="en-US" b="1" dirty="0" smtClean="0"/>
              <a:t>Business </a:t>
            </a:r>
            <a:r>
              <a:rPr lang="en-CA" altLang="en-US" b="1" dirty="0"/>
              <a:t>A</a:t>
            </a:r>
            <a:r>
              <a:rPr lang="en-CA" altLang="en-US" b="1" dirty="0" smtClean="0"/>
              <a:t>ffected</a:t>
            </a:r>
            <a:endParaRPr lang="fr-CA" altLang="en-US" b="1" dirty="0" smtClean="0"/>
          </a:p>
        </p:txBody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>
          <a:xfrm>
            <a:off x="1551432" y="1176401"/>
            <a:ext cx="8470392" cy="4351338"/>
          </a:xfrm>
        </p:spPr>
        <p:txBody>
          <a:bodyPr>
            <a:normAutofit/>
          </a:bodyPr>
          <a:lstStyle/>
          <a:p>
            <a:r>
              <a:rPr lang="en-CA" altLang="en-US" sz="3200" dirty="0" smtClean="0"/>
              <a:t>Hotels</a:t>
            </a:r>
          </a:p>
          <a:p>
            <a:r>
              <a:rPr lang="en-CA" altLang="en-US" sz="3200" dirty="0" smtClean="0"/>
              <a:t>Camp sites</a:t>
            </a:r>
          </a:p>
          <a:p>
            <a:r>
              <a:rPr lang="en-CA" altLang="en-US" sz="3200" dirty="0" smtClean="0"/>
              <a:t>Restaurants</a:t>
            </a:r>
          </a:p>
          <a:p>
            <a:r>
              <a:rPr lang="en-CA" altLang="en-US" sz="3200" dirty="0" smtClean="0"/>
              <a:t>Pubs and bars</a:t>
            </a:r>
          </a:p>
          <a:p>
            <a:r>
              <a:rPr lang="en-CA" altLang="en-US" sz="3200" dirty="0" smtClean="0"/>
              <a:t>Ferry services</a:t>
            </a:r>
          </a:p>
          <a:p>
            <a:r>
              <a:rPr lang="en-CA" altLang="en-US" sz="3200" dirty="0" smtClean="0"/>
              <a:t>Tourist attractions</a:t>
            </a:r>
          </a:p>
          <a:p>
            <a:pPr>
              <a:buFontTx/>
              <a:buNone/>
            </a:pPr>
            <a:endParaRPr lang="en-CA" altLang="en-US" sz="3200" b="1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623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Common </a:t>
            </a:r>
            <a:r>
              <a:rPr lang="en-CA" altLang="en-US" b="1" dirty="0" smtClean="0"/>
              <a:t>Problems</a:t>
            </a:r>
            <a:endParaRPr lang="fr-CA" altLang="en-US" b="1" dirty="0" smtClean="0"/>
          </a:p>
        </p:txBody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>
          <a:xfrm>
            <a:off x="1000906" y="1342750"/>
            <a:ext cx="10575398" cy="52181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CA" altLang="en-US" dirty="0" smtClean="0"/>
              <a:t>Difficulty in assessing claims by documents alone</a:t>
            </a:r>
          </a:p>
          <a:p>
            <a:pPr>
              <a:lnSpc>
                <a:spcPct val="150000"/>
              </a:lnSpc>
            </a:pPr>
            <a:r>
              <a:rPr lang="en-CA" altLang="en-US" dirty="0" smtClean="0"/>
              <a:t>Importance of visit to business</a:t>
            </a:r>
          </a:p>
          <a:p>
            <a:pPr>
              <a:lnSpc>
                <a:spcPct val="150000"/>
              </a:lnSpc>
            </a:pPr>
            <a:r>
              <a:rPr lang="en-CA" altLang="en-US" dirty="0" smtClean="0"/>
              <a:t>Time lag: waiting for the end of tourist season to determine loss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786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Presentation of </a:t>
            </a:r>
            <a:r>
              <a:rPr lang="en-CA" altLang="en-US" b="1" dirty="0" smtClean="0"/>
              <a:t>Claims</a:t>
            </a:r>
            <a:endParaRPr lang="fr-CA" altLang="en-US" b="1" dirty="0" smtClean="0"/>
          </a:p>
        </p:txBody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>
          <a:xfrm>
            <a:off x="1222248" y="1368425"/>
            <a:ext cx="10271760" cy="5489575"/>
          </a:xfrm>
        </p:spPr>
        <p:txBody>
          <a:bodyPr>
            <a:normAutofit/>
          </a:bodyPr>
          <a:lstStyle/>
          <a:p>
            <a:pPr algn="just"/>
            <a:r>
              <a:rPr lang="fr-CA" altLang="en-US" sz="3200" dirty="0" smtClean="0"/>
              <a:t>General Information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2800" dirty="0"/>
              <a:t>Details of incorporation, ownership, etc.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2800" dirty="0"/>
              <a:t>Tax records for the previous three years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2800" dirty="0"/>
              <a:t>Map and photographs of the business</a:t>
            </a:r>
          </a:p>
          <a:p>
            <a:pPr lvl="1" algn="just">
              <a:spcBef>
                <a:spcPct val="0"/>
              </a:spcBef>
            </a:pPr>
            <a:endParaRPr lang="en-CA" altLang="en-US" sz="3200" dirty="0"/>
          </a:p>
          <a:p>
            <a:pPr algn="just">
              <a:spcBef>
                <a:spcPts val="163"/>
              </a:spcBef>
            </a:pPr>
            <a:r>
              <a:rPr lang="en-CA" altLang="en-US" sz="3200" dirty="0" smtClean="0"/>
              <a:t>Financial and accounting Information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2800" dirty="0"/>
              <a:t>Annual accounts for at least three years before the incident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2800" dirty="0"/>
              <a:t>Details of variable costs and profit margins for each activity of the organization.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2549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32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Assessment of </a:t>
            </a:r>
            <a:r>
              <a:rPr lang="en-CA" altLang="en-US" b="1" dirty="0" smtClean="0"/>
              <a:t>Claims</a:t>
            </a:r>
            <a:endParaRPr lang="fr-CA" altLang="en-US" b="1" dirty="0" smtClean="0"/>
          </a:p>
        </p:txBody>
      </p:sp>
      <p:sp>
        <p:nvSpPr>
          <p:cNvPr id="56323" name="Rectangle 3"/>
          <p:cNvSpPr>
            <a:spLocks noGrp="1"/>
          </p:cNvSpPr>
          <p:nvPr>
            <p:ph type="body" idx="1"/>
          </p:nvPr>
        </p:nvSpPr>
        <p:spPr>
          <a:xfrm>
            <a:off x="832282" y="1606169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CA" altLang="en-US" sz="3200" dirty="0" smtClean="0"/>
              <a:t>Objective: put the claimant in the same position as if the incident had not occurred.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3200" dirty="0"/>
              <a:t>Assessment based on understanding how the business works.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3200" dirty="0"/>
              <a:t>Account taken of any decline or growth in the business based on previous years.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CA" altLang="en-US" sz="3200" dirty="0"/>
              <a:t>Effect of downturn on variable costs – saved costs.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endParaRPr lang="en-CA" altLang="en-US" sz="3200" dirty="0" smtClean="0"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859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Environmental </a:t>
            </a:r>
            <a:r>
              <a:rPr lang="en-CA" altLang="en-US" b="1" dirty="0" smtClean="0"/>
              <a:t>Damage</a:t>
            </a:r>
            <a:endParaRPr lang="en-CA" altLang="en-US" b="1" dirty="0" smtClean="0"/>
          </a:p>
        </p:txBody>
      </p:sp>
      <p:sp>
        <p:nvSpPr>
          <p:cNvPr id="57347" name="Rectangle 3">
            <a:extLst/>
          </p:cNvPr>
          <p:cNvSpPr>
            <a:spLocks noGrp="1"/>
          </p:cNvSpPr>
          <p:nvPr>
            <p:ph type="body" idx="1"/>
          </p:nvPr>
        </p:nvSpPr>
        <p:spPr>
          <a:xfrm>
            <a:off x="863602" y="990347"/>
            <a:ext cx="5235575" cy="4760913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altLang="en-US" sz="2400" dirty="0"/>
              <a:t>Admissible costs?</a:t>
            </a:r>
          </a:p>
          <a:p>
            <a:pPr algn="just">
              <a:defRPr/>
            </a:pPr>
            <a:r>
              <a:rPr lang="en-GB" altLang="en-US" sz="2400" dirty="0"/>
              <a:t>Costs of technically feasible and proportionate measures to reinstate contaminated environment, which have a reasonable chance </a:t>
            </a:r>
            <a:r>
              <a:rPr lang="en-US" altLang="en-US" sz="2400" dirty="0"/>
              <a:t>to accelerate the natural recovery process.</a:t>
            </a:r>
            <a:endParaRPr lang="en-GB" altLang="en-US" sz="2400" dirty="0"/>
          </a:p>
          <a:p>
            <a:pPr algn="just">
              <a:defRPr/>
            </a:pPr>
            <a:r>
              <a:rPr lang="en-US" altLang="en-US" sz="2400" dirty="0"/>
              <a:t>Proportionate scientific studies to establish nature and extent of environmental damage and whether reinstatement is necessary and feasible.</a:t>
            </a:r>
            <a:endParaRPr lang="en-GB" altLang="en-US" sz="2400" dirty="0"/>
          </a:p>
          <a:p>
            <a:pPr marL="0" indent="0" algn="just">
              <a:defRPr/>
            </a:pPr>
            <a:endParaRPr lang="en-CA" altLang="en-US" sz="2400" dirty="0"/>
          </a:p>
        </p:txBody>
      </p:sp>
      <p:pic>
        <p:nvPicPr>
          <p:cNvPr id="57348" name="Image 1" descr="oiled marsh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190" y="1393658"/>
            <a:ext cx="5278994" cy="3780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0" name="TextBox 1"/>
          <p:cNvSpPr txBox="1">
            <a:spLocks noChangeArrowheads="1"/>
          </p:cNvSpPr>
          <p:nvPr/>
        </p:nvSpPr>
        <p:spPr bwMode="auto">
          <a:xfrm>
            <a:off x="939356" y="5471983"/>
            <a:ext cx="1081982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j-lt"/>
              </a:rPr>
              <a:t>Compensation for environmental damage based on calculations using theoretical models are not considered admissible.</a:t>
            </a:r>
            <a:endParaRPr lang="en-CA" altLang="en-US" sz="2400" dirty="0">
              <a:latin typeface="+mj-lt"/>
            </a:endParaRP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9459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Conclusion</a:t>
            </a:r>
            <a:endParaRPr lang="fr-CA" altLang="en-US" b="1" dirty="0" smtClean="0"/>
          </a:p>
        </p:txBody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>
          <a:xfrm>
            <a:off x="1167638" y="1309478"/>
            <a:ext cx="9951466" cy="4525962"/>
          </a:xfrm>
        </p:spPr>
        <p:txBody>
          <a:bodyPr>
            <a:normAutofit/>
          </a:bodyPr>
          <a:lstStyle/>
          <a:p>
            <a:pPr algn="just"/>
            <a:r>
              <a:rPr lang="en-CA" altLang="en-US" sz="3200" dirty="0" smtClean="0"/>
              <a:t>Compensation for various types of claims</a:t>
            </a:r>
          </a:p>
          <a:p>
            <a:pPr algn="just"/>
            <a:r>
              <a:rPr lang="en-CA" altLang="en-US" sz="3200" dirty="0" smtClean="0"/>
              <a:t>Documentation is key to success</a:t>
            </a:r>
          </a:p>
          <a:p>
            <a:pPr algn="just"/>
            <a:r>
              <a:rPr lang="en-CA" altLang="en-US" sz="3200" dirty="0" smtClean="0"/>
              <a:t>Work closely with experts appointed by vessel insurer and/or IOPC Funds</a:t>
            </a:r>
            <a:endParaRPr lang="fr-CA" altLang="en-US" sz="32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64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1716</Words>
  <Application>Microsoft Office PowerPoint</Application>
  <PresentationFormat>Widescreen</PresentationFormat>
  <Paragraphs>251</Paragraphs>
  <Slides>41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ＭＳ Ｐゴシック</vt:lpstr>
      <vt:lpstr>游ゴシック</vt:lpstr>
      <vt:lpstr>Arial</vt:lpstr>
      <vt:lpstr>Calibri</vt:lpstr>
      <vt:lpstr>inherit</vt:lpstr>
      <vt:lpstr>Tahoma</vt:lpstr>
      <vt:lpstr>Wingdings</vt:lpstr>
      <vt:lpstr>Office Theme</vt:lpstr>
      <vt:lpstr>PowerPoint Presentation</vt:lpstr>
      <vt:lpstr>Objective</vt:lpstr>
      <vt:lpstr>Pollution Damage</vt:lpstr>
      <vt:lpstr>Pollution Damage </vt:lpstr>
      <vt:lpstr>Preventive Measures</vt:lpstr>
      <vt:lpstr>Preventive Measures: Clean-up Costs</vt:lpstr>
      <vt:lpstr>Preventive Measures: Clean-up Costs</vt:lpstr>
      <vt:lpstr>Preventive Measures: Clean-up Costs</vt:lpstr>
      <vt:lpstr>Reasonable</vt:lpstr>
      <vt:lpstr>Property Damage</vt:lpstr>
      <vt:lpstr>Property Damage</vt:lpstr>
      <vt:lpstr>Property Damage</vt:lpstr>
      <vt:lpstr>Property Damage</vt:lpstr>
      <vt:lpstr>Property Damage</vt:lpstr>
      <vt:lpstr>Pollution Damage</vt:lpstr>
      <vt:lpstr>Presentation of Claims</vt:lpstr>
      <vt:lpstr>Fisheries</vt:lpstr>
      <vt:lpstr>Fisheries</vt:lpstr>
      <vt:lpstr>Consequential Loss</vt:lpstr>
      <vt:lpstr>Pure Economic Loss</vt:lpstr>
      <vt:lpstr>Admissibility Criteria</vt:lpstr>
      <vt:lpstr>Impact of Oil on Fisheries</vt:lpstr>
      <vt:lpstr>Impact of Oil on Mariculture</vt:lpstr>
      <vt:lpstr>Impact of Oil on Processing</vt:lpstr>
      <vt:lpstr>Contamination of Product</vt:lpstr>
      <vt:lpstr>Destruction of Product</vt:lpstr>
      <vt:lpstr>Claims Presentation</vt:lpstr>
      <vt:lpstr>Subsistence fishing (artisanal)</vt:lpstr>
      <vt:lpstr>Tourism</vt:lpstr>
      <vt:lpstr>Tourism</vt:lpstr>
      <vt:lpstr>Consequential Loss</vt:lpstr>
      <vt:lpstr>Pure Economic Loss</vt:lpstr>
      <vt:lpstr>Admissibility Criteria</vt:lpstr>
      <vt:lpstr>Admissibility Criteria</vt:lpstr>
      <vt:lpstr>Types of Business Affected</vt:lpstr>
      <vt:lpstr>Common Problems</vt:lpstr>
      <vt:lpstr>Presentation of Claims</vt:lpstr>
      <vt:lpstr>Assessment of Claims</vt:lpstr>
      <vt:lpstr>Environmental Damage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149</cp:revision>
  <dcterms:created xsi:type="dcterms:W3CDTF">2024-09-27T05:40:49Z</dcterms:created>
  <dcterms:modified xsi:type="dcterms:W3CDTF">2025-06-05T07:21:36Z</dcterms:modified>
</cp:coreProperties>
</file>
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66" r:id="rId5"/>
    <p:sldId id="267" r:id="rId6"/>
    <p:sldId id="268" r:id="rId7"/>
    <p:sldId id="272" r:id="rId8"/>
    <p:sldId id="273" r:id="rId9"/>
    <p:sldId id="274" r:id="rId10"/>
    <p:sldId id="275" r:id="rId11"/>
    <p:sldId id="276" r:id="rId12"/>
    <p:sldId id="277" r:id="rId13"/>
    <p:sldId id="278" r:id="rId14"/>
    <p:sldId id="279" r:id="rId15"/>
    <p:sldId id="269" r:id="rId16"/>
    <p:sldId id="270" r:id="rId17"/>
    <p:sldId id="280" r:id="rId18"/>
    <p:sldId id="281" r:id="rId19"/>
    <p:sldId id="282" r:id="rId20"/>
    <p:sldId id="283" r:id="rId21"/>
    <p:sldId id="284" r:id="rId22"/>
    <p:sldId id="285" r:id="rId23"/>
    <p:sldId id="286" r:id="rId24"/>
    <p:sldId id="287" r:id="rId25"/>
    <p:sldId id="288" r:id="rId26"/>
    <p:sldId id="26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1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61843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3105895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2DD1F7B-0C96-49B7-BB03-29AB0B73B640}"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236282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2DD1F7B-0C96-49B7-BB03-29AB0B73B640}" type="datetimeFigureOut">
              <a:rPr lang="en-IN" smtClean="0"/>
              <a:t>03-06-2025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986750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2DD1F7B-0C96-49B7-BB03-29AB0B73B640}" type="datetimeFigureOut">
              <a:rPr lang="en-IN" smtClean="0"/>
              <a:t>03-06-2025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717587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2DD1F7B-0C96-49B7-BB03-29AB0B73B640}" type="datetimeFigureOut">
              <a:rPr lang="en-IN" smtClean="0"/>
              <a:t>03-06-2025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2046559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DD1F7B-0C96-49B7-BB03-29AB0B73B640}" type="datetimeFigureOut">
              <a:rPr lang="en-IN" smtClean="0"/>
              <a:t>03-06-2025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4287471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DD1F7B-0C96-49B7-BB03-29AB0B73B640}" type="datetimeFigureOut">
              <a:rPr lang="en-IN" smtClean="0"/>
              <a:t>03-06-2025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2100691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DD1F7B-0C96-49B7-BB03-29AB0B73B640}" type="datetimeFigureOut">
              <a:rPr lang="en-IN" smtClean="0"/>
              <a:t>03-06-2025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806775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635961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3697002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gs>
            <a:gs pos="50000">
              <a:schemeClr val="accent2"/>
            </a:gs>
            <a:gs pos="100000">
              <a:schemeClr val="accent2"/>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DD1F7B-0C96-49B7-BB03-29AB0B73B640}" type="datetimeFigureOut">
              <a:rPr lang="en-IN" smtClean="0"/>
              <a:t>03-06-2025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B83F58-AF5F-4FE2-9C7E-DA9D3F7CC1A5}" type="slidenum">
              <a:rPr lang="en-IN" smtClean="0"/>
              <a:t>‹#›</a:t>
            </a:fld>
            <a:endParaRPr lang="en-IN"/>
          </a:p>
        </p:txBody>
      </p:sp>
    </p:spTree>
    <p:extLst>
      <p:ext uri="{BB962C8B-B14F-4D97-AF65-F5344CB8AC3E}">
        <p14:creationId xmlns:p14="http://schemas.microsoft.com/office/powerpoint/2010/main" val="3445510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33165" y="6378300"/>
            <a:ext cx="1193158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6" name="Rectangle 2"/>
          <p:cNvSpPr txBox="1">
            <a:spLocks/>
          </p:cNvSpPr>
          <p:nvPr/>
        </p:nvSpPr>
        <p:spPr>
          <a:xfrm>
            <a:off x="365671" y="2121408"/>
            <a:ext cx="11466576" cy="197510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Lesson 3.8</a:t>
            </a:r>
            <a:br>
              <a:rPr lang="en-GB" altLang="en-US" b="1" dirty="0" smtClean="0"/>
            </a:br>
            <a:r>
              <a:rPr lang="en-GB" altLang="en-US" b="1" dirty="0" smtClean="0"/>
              <a:t>Places of Refuge and </a:t>
            </a:r>
            <a:br>
              <a:rPr lang="en-GB" altLang="en-US" b="1" dirty="0" smtClean="0"/>
            </a:br>
            <a:r>
              <a:rPr lang="en-GB" altLang="en-US" b="1" dirty="0" smtClean="0"/>
              <a:t>Salvage Considerations</a:t>
            </a:r>
            <a:endParaRPr lang="en-GB" altLang="en-US" b="1" dirty="0" smtClean="0"/>
          </a:p>
        </p:txBody>
      </p:sp>
    </p:spTree>
    <p:extLst>
      <p:ext uri="{BB962C8B-B14F-4D97-AF65-F5344CB8AC3E}">
        <p14:creationId xmlns:p14="http://schemas.microsoft.com/office/powerpoint/2010/main" val="36748396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645920" y="47879"/>
            <a:ext cx="9436608"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Objective</a:t>
            </a:r>
            <a:endParaRPr lang="en-GB" altLang="en-US" b="1" dirty="0" smtClean="0"/>
          </a:p>
        </p:txBody>
      </p:sp>
      <p:sp>
        <p:nvSpPr>
          <p:cNvPr id="6" name="Content Placeholder 2">
            <a:extLst/>
          </p:cNvPr>
          <p:cNvSpPr txBox="1">
            <a:spLocks/>
          </p:cNvSpPr>
          <p:nvPr/>
        </p:nvSpPr>
        <p:spPr>
          <a:xfrm>
            <a:off x="841426" y="1342749"/>
            <a:ext cx="10497312"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charset="0"/>
              <a:buNone/>
              <a:defRPr/>
            </a:pPr>
            <a:r>
              <a:rPr lang="en-US" dirty="0" smtClean="0"/>
              <a:t>To understand the powers of intervention.</a:t>
            </a:r>
            <a:endParaRPr lang="en-GB" dirty="0" smtClean="0"/>
          </a:p>
          <a:p>
            <a:pPr marL="0" indent="0" algn="just">
              <a:buFont typeface="Arial" charset="0"/>
              <a:buNone/>
              <a:defRPr/>
            </a:pPr>
            <a:endParaRPr lang="en-US" sz="1000" dirty="0" smtClean="0"/>
          </a:p>
          <a:p>
            <a:pPr marL="0" indent="0" algn="just">
              <a:buFont typeface="Arial" charset="0"/>
              <a:buNone/>
              <a:defRPr/>
            </a:pPr>
            <a:r>
              <a:rPr lang="en-US" dirty="0" smtClean="0"/>
              <a:t>To consider the role of the Administration in respect of maritime casualties.</a:t>
            </a:r>
            <a:endParaRPr lang="en-GB" dirty="0" smtClean="0"/>
          </a:p>
          <a:p>
            <a:pPr marL="0" indent="0" algn="just">
              <a:buFont typeface="Arial" charset="0"/>
              <a:buNone/>
              <a:defRPr/>
            </a:pPr>
            <a:endParaRPr lang="en-US" sz="1000" dirty="0" smtClean="0"/>
          </a:p>
          <a:p>
            <a:pPr marL="0" indent="0" algn="just">
              <a:buFont typeface="Arial" charset="0"/>
              <a:buNone/>
              <a:defRPr/>
            </a:pPr>
            <a:r>
              <a:rPr lang="en-US" dirty="0" smtClean="0"/>
              <a:t>To be able to identify and designate potential Places of Refuge.</a:t>
            </a:r>
          </a:p>
          <a:p>
            <a:pPr marL="0" indent="0" algn="just">
              <a:buFont typeface="Arial" charset="0"/>
              <a:buNone/>
              <a:defRPr/>
            </a:pPr>
            <a:endParaRPr lang="en-US" sz="1000" dirty="0" smtClean="0"/>
          </a:p>
          <a:p>
            <a:pPr marL="0" indent="0" algn="just">
              <a:buFont typeface="Arial" charset="0"/>
              <a:buNone/>
              <a:defRPr/>
            </a:pPr>
            <a:r>
              <a:rPr lang="en-US" dirty="0" smtClean="0"/>
              <a:t>To understand the risk assessment process for determining Places of Refuge.</a:t>
            </a:r>
            <a:endParaRPr lang="en-GB" dirty="0" smtClean="0"/>
          </a:p>
          <a:p>
            <a:pPr algn="just">
              <a:buFont typeface="Arial" charset="0"/>
              <a:buNone/>
              <a:defRPr/>
            </a:pPr>
            <a:endParaRPr lang="en-GB" dirty="0"/>
          </a:p>
        </p:txBody>
      </p:sp>
    </p:spTree>
    <p:extLst>
      <p:ext uri="{BB962C8B-B14F-4D97-AF65-F5344CB8AC3E}">
        <p14:creationId xmlns:p14="http://schemas.microsoft.com/office/powerpoint/2010/main" val="9964442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2212848" y="44450"/>
            <a:ext cx="8229600" cy="7921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Requirement for Assistance</a:t>
            </a:r>
            <a:endParaRPr lang="en-GB" altLang="en-US" b="1" dirty="0" smtClean="0"/>
          </a:p>
        </p:txBody>
      </p:sp>
      <p:sp>
        <p:nvSpPr>
          <p:cNvPr id="6" name="Content Placeholder 2"/>
          <p:cNvSpPr txBox="1">
            <a:spLocks/>
          </p:cNvSpPr>
          <p:nvPr/>
        </p:nvSpPr>
        <p:spPr>
          <a:xfrm>
            <a:off x="2212848" y="980071"/>
            <a:ext cx="6626225" cy="51847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tLang="en-US" dirty="0" smtClean="0"/>
              <a:t>Fire and/or explosion</a:t>
            </a:r>
          </a:p>
          <a:p>
            <a:r>
              <a:rPr lang="en-GB" altLang="en-US" dirty="0" smtClean="0"/>
              <a:t>Damage to the ship</a:t>
            </a:r>
          </a:p>
          <a:p>
            <a:pPr lvl="1" indent="-420688">
              <a:buFont typeface="Wingdings" panose="05000000000000000000" pitchFamily="2" charset="2"/>
              <a:buChar char="Ø"/>
            </a:pPr>
            <a:r>
              <a:rPr lang="en-GB" altLang="en-US" dirty="0" smtClean="0"/>
              <a:t>Mechanical or structural</a:t>
            </a:r>
          </a:p>
          <a:p>
            <a:r>
              <a:rPr lang="en-GB" altLang="en-US" dirty="0" smtClean="0"/>
              <a:t>Collision</a:t>
            </a:r>
          </a:p>
          <a:p>
            <a:r>
              <a:rPr lang="en-GB" altLang="en-US" dirty="0" smtClean="0"/>
              <a:t>Grounding</a:t>
            </a:r>
          </a:p>
          <a:p>
            <a:r>
              <a:rPr lang="en-GB" altLang="en-US" dirty="0" smtClean="0"/>
              <a:t>Storm or ice damage</a:t>
            </a:r>
          </a:p>
          <a:p>
            <a:r>
              <a:rPr lang="en-GB" altLang="en-US" dirty="0" smtClean="0"/>
              <a:t>Flooding</a:t>
            </a:r>
          </a:p>
          <a:p>
            <a:r>
              <a:rPr lang="en-GB" altLang="en-US" dirty="0" smtClean="0"/>
              <a:t>Sabotage</a:t>
            </a:r>
          </a:p>
          <a:p>
            <a:r>
              <a:rPr lang="en-GB" altLang="en-US" dirty="0" smtClean="0"/>
              <a:t>Terrorism or piracy</a:t>
            </a:r>
            <a:endParaRPr lang="en-GB" altLang="en-US" dirty="0" smtClean="0"/>
          </a:p>
        </p:txBody>
      </p:sp>
    </p:spTree>
    <p:extLst>
      <p:ext uri="{BB962C8B-B14F-4D97-AF65-F5344CB8AC3E}">
        <p14:creationId xmlns:p14="http://schemas.microsoft.com/office/powerpoint/2010/main" val="3776366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pic>
        <p:nvPicPr>
          <p:cNvPr id="4" name="Picture 4" descr="C:\Users\Joe\Desktop\IMO Received Material\Graphic material provided by Korea Coast Guard\Photos\Photo 1\6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2280" y="2757488"/>
            <a:ext cx="5384800" cy="321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Content Placeholder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783080" y="908050"/>
            <a:ext cx="4859338" cy="3240088"/>
          </a:xfrm>
          <a:prstGeom prst="rect">
            <a:avLst/>
          </a:prstGeom>
        </p:spPr>
      </p:pic>
      <p:sp>
        <p:nvSpPr>
          <p:cNvPr id="7" name="Title 1"/>
          <p:cNvSpPr txBox="1">
            <a:spLocks/>
          </p:cNvSpPr>
          <p:nvPr/>
        </p:nvSpPr>
        <p:spPr>
          <a:xfrm>
            <a:off x="2212848" y="44450"/>
            <a:ext cx="8229600" cy="7921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Requirement for Assistance</a:t>
            </a:r>
            <a:endParaRPr lang="en-GB" altLang="en-US" b="1" dirty="0" smtClean="0"/>
          </a:p>
        </p:txBody>
      </p:sp>
    </p:spTree>
    <p:extLst>
      <p:ext uri="{BB962C8B-B14F-4D97-AF65-F5344CB8AC3E}">
        <p14:creationId xmlns:p14="http://schemas.microsoft.com/office/powerpoint/2010/main" val="23325058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645920" y="49724"/>
            <a:ext cx="9354312"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Initial Response </a:t>
            </a:r>
            <a:endParaRPr lang="en-GB" altLang="en-US" b="1" dirty="0" smtClean="0"/>
          </a:p>
        </p:txBody>
      </p:sp>
      <p:sp>
        <p:nvSpPr>
          <p:cNvPr id="6" name="Content Placeholder 2">
            <a:extLst/>
          </p:cNvPr>
          <p:cNvSpPr txBox="1">
            <a:spLocks/>
          </p:cNvSpPr>
          <p:nvPr/>
        </p:nvSpPr>
        <p:spPr>
          <a:xfrm>
            <a:off x="969442" y="1407604"/>
            <a:ext cx="10241280"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charset="0"/>
              <a:buNone/>
              <a:defRPr/>
            </a:pPr>
            <a:r>
              <a:rPr lang="en-GB" dirty="0" smtClean="0"/>
              <a:t>The Master of the vessel should take immediate action to ensure:</a:t>
            </a:r>
          </a:p>
          <a:p>
            <a:pPr marL="355600" indent="-355600" algn="just">
              <a:buFont typeface="Arial" charset="0"/>
              <a:buChar char="•"/>
              <a:defRPr/>
            </a:pPr>
            <a:r>
              <a:rPr lang="en-GB" dirty="0" smtClean="0"/>
              <a:t>The safety of the crew and passengers</a:t>
            </a:r>
          </a:p>
          <a:p>
            <a:pPr marL="355600" indent="-355600" algn="just">
              <a:buFont typeface="Arial" charset="0"/>
              <a:buChar char="•"/>
              <a:defRPr/>
            </a:pPr>
            <a:r>
              <a:rPr lang="en-GB" dirty="0" smtClean="0"/>
              <a:t>The preservation of the ship</a:t>
            </a:r>
          </a:p>
          <a:p>
            <a:pPr marL="355600" indent="-355600" algn="just">
              <a:buFont typeface="Arial" charset="0"/>
              <a:buChar char="•"/>
              <a:defRPr/>
            </a:pPr>
            <a:r>
              <a:rPr lang="en-GB" dirty="0" smtClean="0"/>
              <a:t>Attempt to stop or limit cargo or bunker outflow</a:t>
            </a:r>
          </a:p>
          <a:p>
            <a:pPr marL="0" indent="0" algn="just">
              <a:buFont typeface="Arial" charset="0"/>
              <a:buNone/>
              <a:defRPr/>
            </a:pPr>
            <a:r>
              <a:rPr lang="en-GB" dirty="0" smtClean="0"/>
              <a:t>The Master may require specialist advice on stability, damage control and salvage.</a:t>
            </a:r>
          </a:p>
          <a:p>
            <a:pPr marL="355600" indent="-355600" algn="just">
              <a:buFont typeface="Arial" charset="0"/>
              <a:buChar char="•"/>
              <a:defRPr/>
            </a:pPr>
            <a:endParaRPr lang="en-GB" dirty="0"/>
          </a:p>
        </p:txBody>
      </p:sp>
    </p:spTree>
    <p:extLst>
      <p:ext uri="{BB962C8B-B14F-4D97-AF65-F5344CB8AC3E}">
        <p14:creationId xmlns:p14="http://schemas.microsoft.com/office/powerpoint/2010/main" val="2339496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417320" y="0"/>
            <a:ext cx="9376123"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err="1" smtClean="0"/>
              <a:t>Salvor’s</a:t>
            </a:r>
            <a:r>
              <a:rPr lang="en-GB" altLang="en-US" b="1" dirty="0" smtClean="0"/>
              <a:t> Objectives</a:t>
            </a:r>
            <a:endParaRPr lang="en-GB" altLang="en-US" b="1" dirty="0" smtClean="0"/>
          </a:p>
        </p:txBody>
      </p:sp>
      <p:sp>
        <p:nvSpPr>
          <p:cNvPr id="6" name="Content Placeholder 2">
            <a:extLst/>
          </p:cNvPr>
          <p:cNvSpPr txBox="1">
            <a:spLocks/>
          </p:cNvSpPr>
          <p:nvPr/>
        </p:nvSpPr>
        <p:spPr>
          <a:xfrm>
            <a:off x="1280338" y="1120838"/>
            <a:ext cx="10186238" cy="55451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charset="0"/>
              <a:buNone/>
              <a:defRPr/>
            </a:pPr>
            <a:r>
              <a:rPr lang="en-GB" dirty="0" smtClean="0"/>
              <a:t>The Master, </a:t>
            </a:r>
            <a:r>
              <a:rPr lang="en-GB" dirty="0" err="1" smtClean="0"/>
              <a:t>shipowner</a:t>
            </a:r>
            <a:r>
              <a:rPr lang="en-GB" dirty="0" smtClean="0"/>
              <a:t> or manager engages </a:t>
            </a:r>
            <a:r>
              <a:rPr lang="en-GB" dirty="0" err="1" smtClean="0"/>
              <a:t>salvors</a:t>
            </a:r>
            <a:r>
              <a:rPr lang="en-GB" dirty="0" smtClean="0"/>
              <a:t> under a commercial agreement.</a:t>
            </a:r>
          </a:p>
          <a:p>
            <a:pPr marL="0" indent="0">
              <a:buFont typeface="Arial" charset="0"/>
              <a:buNone/>
              <a:defRPr/>
            </a:pPr>
            <a:r>
              <a:rPr lang="en-GB" dirty="0" smtClean="0"/>
              <a:t>The </a:t>
            </a:r>
            <a:r>
              <a:rPr lang="en-GB" dirty="0" err="1" smtClean="0"/>
              <a:t>salvor’s</a:t>
            </a:r>
            <a:r>
              <a:rPr lang="en-GB" dirty="0" smtClean="0"/>
              <a:t> objective is to:</a:t>
            </a:r>
          </a:p>
          <a:p>
            <a:pPr marL="355600" indent="-355600">
              <a:buFont typeface="Arial" charset="0"/>
              <a:buChar char="•"/>
              <a:defRPr/>
            </a:pPr>
            <a:r>
              <a:rPr lang="en-GB" dirty="0" smtClean="0"/>
              <a:t>Salve the ship and cargo</a:t>
            </a:r>
          </a:p>
          <a:p>
            <a:pPr marL="355600" indent="-355600">
              <a:buFont typeface="Arial" charset="0"/>
              <a:buChar char="•"/>
              <a:defRPr/>
            </a:pPr>
            <a:r>
              <a:rPr lang="en-GB" dirty="0" smtClean="0"/>
              <a:t>Remove them to a place of safety</a:t>
            </a:r>
          </a:p>
          <a:p>
            <a:pPr marL="355600" indent="-355600">
              <a:buFont typeface="Arial" charset="0"/>
              <a:buChar char="•"/>
              <a:defRPr/>
            </a:pPr>
            <a:r>
              <a:rPr lang="en-GB" dirty="0" smtClean="0"/>
              <a:t>To avoid, or minimize, any damage to the environment</a:t>
            </a:r>
          </a:p>
          <a:p>
            <a:pPr marL="0" indent="0">
              <a:buFont typeface="Arial" charset="0"/>
              <a:buNone/>
              <a:defRPr/>
            </a:pPr>
            <a:r>
              <a:rPr lang="en-GB" dirty="0" smtClean="0"/>
              <a:t>This requires </a:t>
            </a:r>
            <a:r>
              <a:rPr lang="en-GB" u="sng" dirty="0" smtClean="0"/>
              <a:t>cooperation</a:t>
            </a:r>
            <a:r>
              <a:rPr lang="en-GB" dirty="0" smtClean="0"/>
              <a:t> between </a:t>
            </a:r>
            <a:r>
              <a:rPr lang="en-GB" dirty="0" err="1" smtClean="0"/>
              <a:t>salvor</a:t>
            </a:r>
            <a:r>
              <a:rPr lang="en-GB" dirty="0" smtClean="0"/>
              <a:t>,  coastal State, </a:t>
            </a:r>
            <a:r>
              <a:rPr lang="en-GB" dirty="0" err="1" smtClean="0"/>
              <a:t>shipowners</a:t>
            </a:r>
            <a:r>
              <a:rPr lang="en-GB" dirty="0" smtClean="0"/>
              <a:t>, cargo interests, property and liability insurers.</a:t>
            </a:r>
            <a:endParaRPr lang="en-GB" dirty="0"/>
          </a:p>
        </p:txBody>
      </p:sp>
    </p:spTree>
    <p:extLst>
      <p:ext uri="{BB962C8B-B14F-4D97-AF65-F5344CB8AC3E}">
        <p14:creationId xmlns:p14="http://schemas.microsoft.com/office/powerpoint/2010/main" val="17847500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280160" y="0"/>
            <a:ext cx="9710928" cy="65591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Powers of Intervention</a:t>
            </a:r>
            <a:endParaRPr lang="en-GB" altLang="en-US" b="1" dirty="0" smtClean="0"/>
          </a:p>
        </p:txBody>
      </p:sp>
      <p:sp>
        <p:nvSpPr>
          <p:cNvPr id="6" name="Content Placeholder 2"/>
          <p:cNvSpPr txBox="1">
            <a:spLocks/>
          </p:cNvSpPr>
          <p:nvPr/>
        </p:nvSpPr>
        <p:spPr>
          <a:xfrm>
            <a:off x="982980" y="1250650"/>
            <a:ext cx="10305288"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GB" altLang="en-US" dirty="0" smtClean="0"/>
              <a:t>International Convention relating to Intervention of the High Seas in cases of Oil Pollution Casualties, 1969 (INTERVENTION).</a:t>
            </a:r>
          </a:p>
          <a:p>
            <a:pPr marL="0" indent="0" algn="just">
              <a:buFont typeface="Arial" panose="020B0604020202020204" pitchFamily="34" charset="0"/>
              <a:buNone/>
            </a:pPr>
            <a:endParaRPr lang="en-GB" altLang="en-US" sz="1000" dirty="0" smtClean="0"/>
          </a:p>
          <a:p>
            <a:pPr marL="0" indent="0" algn="just">
              <a:buFont typeface="Arial" panose="020B0604020202020204" pitchFamily="34" charset="0"/>
              <a:buNone/>
            </a:pPr>
            <a:r>
              <a:rPr lang="en-GB" altLang="en-US" dirty="0" smtClean="0"/>
              <a:t>Entered into force in May 1975.</a:t>
            </a:r>
          </a:p>
          <a:p>
            <a:pPr marL="0" indent="0" algn="just">
              <a:buFont typeface="Arial" panose="020B0604020202020204" pitchFamily="34" charset="0"/>
              <a:buNone/>
            </a:pPr>
            <a:endParaRPr lang="en-GB" altLang="en-US" sz="1000" dirty="0" smtClean="0"/>
          </a:p>
          <a:p>
            <a:pPr marL="0" indent="0" algn="just">
              <a:buFont typeface="Arial" panose="020B0604020202020204" pitchFamily="34" charset="0"/>
              <a:buNone/>
            </a:pPr>
            <a:r>
              <a:rPr lang="en-GB" altLang="en-US" dirty="0" smtClean="0"/>
              <a:t>Protocol adopted to extend the Convention to cover substances other than oil.</a:t>
            </a:r>
          </a:p>
          <a:p>
            <a:pPr marL="0" indent="0" algn="just">
              <a:buFont typeface="Arial" panose="020B0604020202020204" pitchFamily="34" charset="0"/>
              <a:buNone/>
            </a:pPr>
            <a:endParaRPr lang="en-GB" altLang="en-US" dirty="0" smtClean="0"/>
          </a:p>
        </p:txBody>
      </p:sp>
    </p:spTree>
    <p:extLst>
      <p:ext uri="{BB962C8B-B14F-4D97-AF65-F5344CB8AC3E}">
        <p14:creationId xmlns:p14="http://schemas.microsoft.com/office/powerpoint/2010/main" val="17238601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188720" y="49724"/>
            <a:ext cx="9683496"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Powers of Intervention</a:t>
            </a:r>
            <a:endParaRPr lang="en-GB" altLang="en-US" b="1" dirty="0" smtClean="0"/>
          </a:p>
        </p:txBody>
      </p:sp>
      <p:sp>
        <p:nvSpPr>
          <p:cNvPr id="6" name="Content Placeholder 2"/>
          <p:cNvSpPr txBox="1">
            <a:spLocks/>
          </p:cNvSpPr>
          <p:nvPr/>
        </p:nvSpPr>
        <p:spPr>
          <a:xfrm>
            <a:off x="891718" y="1160187"/>
            <a:ext cx="10396728"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GB" altLang="en-US" dirty="0" smtClean="0"/>
              <a:t>Affirms the right of a coastal State to take such measures on the high seas as may be necessary to prevent, mitigate or eliminate danger to its coastline or related interests from pollution by oil or the threat thereof, following a marine casualty.</a:t>
            </a:r>
          </a:p>
          <a:p>
            <a:pPr marL="0" indent="0" algn="just">
              <a:buFont typeface="Arial" panose="020B0604020202020204" pitchFamily="34" charset="0"/>
              <a:buNone/>
            </a:pPr>
            <a:endParaRPr lang="en-GB" altLang="en-US" dirty="0" smtClean="0"/>
          </a:p>
          <a:p>
            <a:pPr marL="0" indent="0" algn="just">
              <a:buFont typeface="Arial" panose="020B0604020202020204" pitchFamily="34" charset="0"/>
              <a:buNone/>
            </a:pPr>
            <a:r>
              <a:rPr lang="en-GB" altLang="en-US" dirty="0" smtClean="0"/>
              <a:t>The coastal state should ensure that measures are proportionate to the actual or threatened damage.</a:t>
            </a:r>
            <a:endParaRPr lang="en-GB" altLang="en-US" dirty="0" smtClean="0"/>
          </a:p>
        </p:txBody>
      </p:sp>
    </p:spTree>
    <p:extLst>
      <p:ext uri="{BB962C8B-B14F-4D97-AF65-F5344CB8AC3E}">
        <p14:creationId xmlns:p14="http://schemas.microsoft.com/office/powerpoint/2010/main" val="12852823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344168" y="0"/>
            <a:ext cx="9912096" cy="64922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The Role of the Coastal State</a:t>
            </a:r>
            <a:endParaRPr lang="en-GB" altLang="en-US" b="1" dirty="0" smtClean="0"/>
          </a:p>
        </p:txBody>
      </p:sp>
      <p:sp>
        <p:nvSpPr>
          <p:cNvPr id="6" name="Content Placeholder 2">
            <a:extLst/>
          </p:cNvPr>
          <p:cNvSpPr txBox="1">
            <a:spLocks/>
          </p:cNvSpPr>
          <p:nvPr/>
        </p:nvSpPr>
        <p:spPr>
          <a:xfrm>
            <a:off x="1005840" y="1087162"/>
            <a:ext cx="10369296" cy="54737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charset="0"/>
              <a:buNone/>
              <a:defRPr/>
            </a:pPr>
            <a:r>
              <a:rPr lang="en-GB" dirty="0" smtClean="0"/>
              <a:t>A coastal State should have the following:</a:t>
            </a:r>
          </a:p>
          <a:p>
            <a:pPr marL="355600" indent="-355600" algn="just">
              <a:buFont typeface="Arial" charset="0"/>
              <a:buChar char="•"/>
              <a:defRPr/>
            </a:pPr>
            <a:r>
              <a:rPr lang="en-GB" dirty="0" smtClean="0"/>
              <a:t>A contingency plan </a:t>
            </a:r>
          </a:p>
          <a:p>
            <a:pPr marL="355600" indent="-355600" algn="just">
              <a:buFont typeface="Arial" charset="0"/>
              <a:buChar char="•"/>
              <a:defRPr/>
            </a:pPr>
            <a:r>
              <a:rPr lang="en-GB" dirty="0" smtClean="0"/>
              <a:t>A system of receiving, assessing and evaluating incident reports</a:t>
            </a:r>
          </a:p>
          <a:p>
            <a:pPr marL="355600" indent="-355600" algn="just">
              <a:buFont typeface="Arial" charset="0"/>
              <a:buChar char="•"/>
              <a:defRPr/>
            </a:pPr>
            <a:r>
              <a:rPr lang="en-GB" dirty="0" smtClean="0"/>
              <a:t>A system for the identification of hazards and assessment  of associated risks</a:t>
            </a:r>
          </a:p>
          <a:p>
            <a:pPr marL="355600" indent="-355600" algn="just">
              <a:buFont typeface="Arial" charset="0"/>
              <a:buChar char="•"/>
              <a:defRPr/>
            </a:pPr>
            <a:r>
              <a:rPr lang="en-GB" dirty="0" smtClean="0"/>
              <a:t>A clear command and control system with decision-making capabilities</a:t>
            </a:r>
          </a:p>
          <a:p>
            <a:pPr marL="355600" indent="-355600" algn="just">
              <a:buFont typeface="Arial" charset="0"/>
              <a:buChar char="•"/>
              <a:defRPr/>
            </a:pPr>
            <a:r>
              <a:rPr lang="en-GB" dirty="0" smtClean="0"/>
              <a:t>An understanding of the environmental, economic and social factors at risk </a:t>
            </a:r>
          </a:p>
          <a:p>
            <a:pPr marL="355600" indent="-355600" algn="just">
              <a:buFont typeface="Arial" charset="0"/>
              <a:buChar char="•"/>
              <a:defRPr/>
            </a:pPr>
            <a:endParaRPr lang="en-GB" dirty="0" smtClean="0"/>
          </a:p>
          <a:p>
            <a:pPr marL="355600" indent="-355600" algn="just">
              <a:buFont typeface="Arial" charset="0"/>
              <a:buChar char="•"/>
              <a:defRPr/>
            </a:pPr>
            <a:endParaRPr lang="en-GB" dirty="0"/>
          </a:p>
        </p:txBody>
      </p:sp>
    </p:spTree>
    <p:extLst>
      <p:ext uri="{BB962C8B-B14F-4D97-AF65-F5344CB8AC3E}">
        <p14:creationId xmlns:p14="http://schemas.microsoft.com/office/powerpoint/2010/main" val="31869804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399032" y="53975"/>
            <a:ext cx="9809416" cy="78263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Assessment of Risks</a:t>
            </a:r>
            <a:endParaRPr lang="en-GB" altLang="en-US" b="1" dirty="0" smtClean="0"/>
          </a:p>
        </p:txBody>
      </p:sp>
      <p:sp>
        <p:nvSpPr>
          <p:cNvPr id="6" name="Content Placeholder 2"/>
          <p:cNvSpPr txBox="1">
            <a:spLocks/>
          </p:cNvSpPr>
          <p:nvPr/>
        </p:nvSpPr>
        <p:spPr>
          <a:xfrm>
            <a:off x="1880318" y="1263520"/>
            <a:ext cx="9809416" cy="51847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GB" altLang="en-US" dirty="0" smtClean="0"/>
              <a:t>Natural conditions</a:t>
            </a:r>
          </a:p>
          <a:p>
            <a:pPr lvl="1"/>
            <a:r>
              <a:rPr lang="en-GB" altLang="en-US" dirty="0" smtClean="0"/>
              <a:t>Prevailing winds</a:t>
            </a:r>
          </a:p>
          <a:p>
            <a:pPr lvl="1"/>
            <a:r>
              <a:rPr lang="en-GB" altLang="en-US" dirty="0" smtClean="0"/>
              <a:t>Weather and sea conditions</a:t>
            </a:r>
          </a:p>
          <a:p>
            <a:pPr lvl="1"/>
            <a:r>
              <a:rPr lang="en-GB" altLang="en-US" dirty="0" smtClean="0"/>
              <a:t>Bathymetry (underwater topography)</a:t>
            </a:r>
          </a:p>
          <a:p>
            <a:pPr lvl="1"/>
            <a:r>
              <a:rPr lang="en-GB" altLang="en-US" dirty="0" smtClean="0"/>
              <a:t>Seasonal effects</a:t>
            </a:r>
          </a:p>
          <a:p>
            <a:pPr>
              <a:buFont typeface="Arial" panose="020B0604020202020204" pitchFamily="34" charset="0"/>
              <a:buNone/>
            </a:pPr>
            <a:r>
              <a:rPr lang="en-GB" altLang="en-US" dirty="0" smtClean="0"/>
              <a:t>Vessel condition</a:t>
            </a:r>
          </a:p>
          <a:p>
            <a:pPr lvl="1"/>
            <a:r>
              <a:rPr lang="en-GB" altLang="en-US" dirty="0" smtClean="0"/>
              <a:t>Navigational characteristics</a:t>
            </a:r>
          </a:p>
          <a:p>
            <a:pPr lvl="1"/>
            <a:r>
              <a:rPr lang="en-GB" altLang="en-US" dirty="0" smtClean="0"/>
              <a:t>Operational condition</a:t>
            </a:r>
          </a:p>
          <a:p>
            <a:pPr lvl="1"/>
            <a:r>
              <a:rPr lang="en-GB" altLang="en-US" dirty="0" smtClean="0"/>
              <a:t>Cargo</a:t>
            </a:r>
          </a:p>
          <a:p>
            <a:pPr lvl="1"/>
            <a:r>
              <a:rPr lang="en-GB" altLang="en-US" dirty="0" smtClean="0"/>
              <a:t>Bunkers</a:t>
            </a:r>
          </a:p>
          <a:p>
            <a:pPr>
              <a:buFontTx/>
              <a:buNone/>
            </a:pPr>
            <a:endParaRPr lang="en-GB" altLang="en-US" dirty="0" smtClean="0"/>
          </a:p>
          <a:p>
            <a:pPr lvl="1"/>
            <a:endParaRPr lang="en-GB" altLang="en-US" dirty="0" smtClean="0"/>
          </a:p>
          <a:p>
            <a:pPr>
              <a:buFontTx/>
              <a:buNone/>
            </a:pPr>
            <a:endParaRPr lang="en-GB" altLang="en-US" dirty="0" smtClean="0"/>
          </a:p>
        </p:txBody>
      </p:sp>
    </p:spTree>
    <p:extLst>
      <p:ext uri="{BB962C8B-B14F-4D97-AF65-F5344CB8AC3E}">
        <p14:creationId xmlns:p14="http://schemas.microsoft.com/office/powerpoint/2010/main" val="32481694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399032" y="7701"/>
            <a:ext cx="9562528" cy="7921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Assessment of Risks</a:t>
            </a:r>
            <a:endParaRPr lang="en-GB" altLang="en-US" b="1" dirty="0" smtClean="0"/>
          </a:p>
        </p:txBody>
      </p:sp>
      <p:sp>
        <p:nvSpPr>
          <p:cNvPr id="6" name="Content Placeholder 2"/>
          <p:cNvSpPr txBox="1">
            <a:spLocks/>
          </p:cNvSpPr>
          <p:nvPr/>
        </p:nvSpPr>
        <p:spPr>
          <a:xfrm>
            <a:off x="1081088" y="1047619"/>
            <a:ext cx="9562528" cy="53292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GB" altLang="en-US" dirty="0" smtClean="0"/>
              <a:t>Environmental and social factors</a:t>
            </a:r>
          </a:p>
          <a:p>
            <a:pPr lvl="1" algn="just"/>
            <a:r>
              <a:rPr lang="en-GB" altLang="en-US" sz="2800" dirty="0" smtClean="0"/>
              <a:t>Safety </a:t>
            </a:r>
          </a:p>
          <a:p>
            <a:pPr lvl="2" indent="-430213" algn="just">
              <a:buFont typeface="Wingdings" panose="05000000000000000000" pitchFamily="2" charset="2"/>
              <a:buChar char="Ø"/>
            </a:pPr>
            <a:r>
              <a:rPr lang="en-GB" altLang="en-US" sz="2400" dirty="0" smtClean="0"/>
              <a:t>Crew, passengers or public</a:t>
            </a:r>
          </a:p>
          <a:p>
            <a:pPr lvl="1" algn="just"/>
            <a:r>
              <a:rPr lang="en-GB" altLang="en-US" sz="2800" dirty="0" smtClean="0"/>
              <a:t>Pollution</a:t>
            </a:r>
          </a:p>
          <a:p>
            <a:pPr lvl="1" algn="just"/>
            <a:r>
              <a:rPr lang="en-GB" altLang="en-US" sz="2800" dirty="0" smtClean="0"/>
              <a:t>Designated environmental areas</a:t>
            </a:r>
          </a:p>
          <a:p>
            <a:pPr lvl="1" algn="just"/>
            <a:r>
              <a:rPr lang="en-GB" altLang="en-US" sz="2800" dirty="0" smtClean="0"/>
              <a:t>Sensitive habitats and species</a:t>
            </a:r>
          </a:p>
          <a:p>
            <a:pPr lvl="1" algn="just"/>
            <a:r>
              <a:rPr lang="en-GB" altLang="en-US" sz="2800" dirty="0" smtClean="0"/>
              <a:t>Fisheries</a:t>
            </a:r>
          </a:p>
          <a:p>
            <a:pPr lvl="1" algn="just"/>
            <a:r>
              <a:rPr lang="en-GB" altLang="en-US" sz="2800" dirty="0" smtClean="0"/>
              <a:t>Economic/industrial facilities</a:t>
            </a:r>
          </a:p>
          <a:p>
            <a:pPr lvl="1" algn="just"/>
            <a:r>
              <a:rPr lang="en-GB" altLang="en-US" sz="2800" dirty="0" smtClean="0"/>
              <a:t>Amenity resources and tourism</a:t>
            </a:r>
          </a:p>
          <a:p>
            <a:pPr lvl="1" algn="just"/>
            <a:r>
              <a:rPr lang="en-GB" altLang="en-US" sz="2800" dirty="0" smtClean="0"/>
              <a:t>Facilities available </a:t>
            </a:r>
          </a:p>
          <a:p>
            <a:pPr algn="just">
              <a:buFontTx/>
              <a:buNone/>
            </a:pPr>
            <a:endParaRPr lang="en-GB" altLang="en-US" dirty="0" smtClean="0"/>
          </a:p>
        </p:txBody>
      </p:sp>
    </p:spTree>
    <p:extLst>
      <p:ext uri="{BB962C8B-B14F-4D97-AF65-F5344CB8AC3E}">
        <p14:creationId xmlns:p14="http://schemas.microsoft.com/office/powerpoint/2010/main" val="23991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950976" y="27432"/>
            <a:ext cx="10076688" cy="86360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Assessment of Risks</a:t>
            </a:r>
            <a:endParaRPr lang="en-GB" altLang="en-US" b="1" dirty="0" smtClean="0"/>
          </a:p>
        </p:txBody>
      </p:sp>
      <p:sp>
        <p:nvSpPr>
          <p:cNvPr id="6" name="Content Placeholder 2">
            <a:extLst/>
          </p:cNvPr>
          <p:cNvSpPr txBox="1">
            <a:spLocks/>
          </p:cNvSpPr>
          <p:nvPr/>
        </p:nvSpPr>
        <p:spPr>
          <a:xfrm>
            <a:off x="1078992" y="1160187"/>
            <a:ext cx="10195560" cy="54006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charset="0"/>
              <a:buNone/>
              <a:defRPr/>
            </a:pPr>
            <a:r>
              <a:rPr lang="en-GB" sz="3200" dirty="0" smtClean="0"/>
              <a:t>Contingency planning</a:t>
            </a:r>
          </a:p>
          <a:p>
            <a:pPr lvl="1">
              <a:defRPr/>
            </a:pPr>
            <a:r>
              <a:rPr lang="en-GB" sz="2800" dirty="0" smtClean="0"/>
              <a:t>Competent Maritime Assistance Service (MAS)</a:t>
            </a:r>
          </a:p>
          <a:p>
            <a:pPr lvl="1">
              <a:defRPr/>
            </a:pPr>
            <a:r>
              <a:rPr lang="en-GB" sz="2800" dirty="0" smtClean="0"/>
              <a:t>Roles and responsibilities of authorities and responders</a:t>
            </a:r>
          </a:p>
          <a:p>
            <a:pPr lvl="2" indent="-430213">
              <a:buFont typeface="Wingdings" panose="05000000000000000000" pitchFamily="2" charset="2"/>
              <a:buChar char="Ø"/>
              <a:defRPr/>
            </a:pPr>
            <a:r>
              <a:rPr lang="en-GB" sz="2400" dirty="0" smtClean="0"/>
              <a:t>Salvage, fire fighting and cargo transfer capability</a:t>
            </a:r>
          </a:p>
          <a:p>
            <a:pPr lvl="1">
              <a:defRPr/>
            </a:pPr>
            <a:r>
              <a:rPr lang="en-GB" sz="2800" dirty="0" smtClean="0"/>
              <a:t>Response equipment needs and availability</a:t>
            </a:r>
          </a:p>
          <a:p>
            <a:pPr lvl="1">
              <a:defRPr/>
            </a:pPr>
            <a:r>
              <a:rPr lang="en-GB" sz="2800" dirty="0" smtClean="0"/>
              <a:t>Evacuation facilities</a:t>
            </a:r>
          </a:p>
          <a:p>
            <a:pPr marL="723900" indent="-273050">
              <a:buFont typeface="Arial" charset="0"/>
              <a:buChar char="•"/>
              <a:defRPr/>
            </a:pPr>
            <a:r>
              <a:rPr lang="en-GB" dirty="0" smtClean="0"/>
              <a:t>Foreseeable consequences</a:t>
            </a:r>
          </a:p>
          <a:p>
            <a:pPr>
              <a:buFontTx/>
              <a:buNone/>
              <a:defRPr/>
            </a:pPr>
            <a:endParaRPr lang="en-GB" sz="3200" dirty="0" smtClean="0"/>
          </a:p>
          <a:p>
            <a:pPr lvl="1">
              <a:buFont typeface="Arial" charset="0"/>
              <a:buChar char="–"/>
              <a:defRPr/>
            </a:pPr>
            <a:endParaRPr lang="en-GB" sz="3200" dirty="0" smtClean="0"/>
          </a:p>
          <a:p>
            <a:pPr>
              <a:buFontTx/>
              <a:buNone/>
              <a:defRPr/>
            </a:pPr>
            <a:endParaRPr lang="en-GB" sz="3200" dirty="0"/>
          </a:p>
        </p:txBody>
      </p:sp>
    </p:spTree>
    <p:extLst>
      <p:ext uri="{BB962C8B-B14F-4D97-AF65-F5344CB8AC3E}">
        <p14:creationId xmlns:p14="http://schemas.microsoft.com/office/powerpoint/2010/main" val="25783498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042416" y="9145"/>
            <a:ext cx="9930384" cy="7574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Emergency Response</a:t>
            </a:r>
            <a:endParaRPr lang="en-GB" altLang="en-US" b="1" dirty="0" smtClean="0"/>
          </a:p>
        </p:txBody>
      </p:sp>
      <p:sp>
        <p:nvSpPr>
          <p:cNvPr id="6" name="Content Placeholder 2"/>
          <p:cNvSpPr txBox="1">
            <a:spLocks/>
          </p:cNvSpPr>
          <p:nvPr/>
        </p:nvSpPr>
        <p:spPr>
          <a:xfrm>
            <a:off x="1196213" y="1015069"/>
            <a:ext cx="7252843" cy="51847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GB" altLang="en-US" dirty="0" smtClean="0"/>
              <a:t>Emergency response and follow-up actions:</a:t>
            </a:r>
          </a:p>
          <a:p>
            <a:pPr lvl="1"/>
            <a:r>
              <a:rPr lang="en-GB" altLang="en-US" dirty="0" smtClean="0"/>
              <a:t>Lightering</a:t>
            </a:r>
          </a:p>
          <a:p>
            <a:pPr lvl="2" indent="-430213">
              <a:buFont typeface="Wingdings" panose="05000000000000000000" pitchFamily="2" charset="2"/>
              <a:buChar char="Ø"/>
            </a:pPr>
            <a:r>
              <a:rPr lang="en-GB" altLang="en-US" sz="2200" dirty="0" smtClean="0"/>
              <a:t>Cargo or bunker transfer</a:t>
            </a:r>
          </a:p>
          <a:p>
            <a:pPr lvl="1"/>
            <a:r>
              <a:rPr lang="en-GB" altLang="en-US" dirty="0" smtClean="0"/>
              <a:t>Towage</a:t>
            </a:r>
          </a:p>
          <a:p>
            <a:pPr lvl="2" indent="-430213">
              <a:buFont typeface="Wingdings" panose="05000000000000000000" pitchFamily="2" charset="2"/>
              <a:buChar char="Ø"/>
            </a:pPr>
            <a:r>
              <a:rPr lang="en-GB" altLang="en-US" sz="2200" dirty="0" smtClean="0"/>
              <a:t>Shelter or re-floating</a:t>
            </a:r>
          </a:p>
          <a:p>
            <a:pPr lvl="1"/>
            <a:r>
              <a:rPr lang="en-GB" altLang="en-US" dirty="0" smtClean="0"/>
              <a:t>Salvage</a:t>
            </a:r>
          </a:p>
          <a:p>
            <a:pPr lvl="2" indent="-430213">
              <a:buFont typeface="Wingdings" panose="05000000000000000000" pitchFamily="2" charset="2"/>
              <a:buChar char="Ø"/>
            </a:pPr>
            <a:r>
              <a:rPr lang="en-GB" altLang="en-US" sz="2200" dirty="0" smtClean="0"/>
              <a:t>Re-floating or wreck removal</a:t>
            </a:r>
          </a:p>
          <a:p>
            <a:pPr lvl="1"/>
            <a:r>
              <a:rPr lang="en-GB" altLang="en-US" dirty="0" smtClean="0"/>
              <a:t>Pollution combating</a:t>
            </a:r>
          </a:p>
          <a:p>
            <a:pPr lvl="1"/>
            <a:r>
              <a:rPr lang="en-GB" altLang="en-US" dirty="0" smtClean="0"/>
              <a:t>Protection of local population</a:t>
            </a:r>
          </a:p>
          <a:p>
            <a:pPr lvl="1">
              <a:buFont typeface="Arial" panose="020B0604020202020204" pitchFamily="34" charset="0"/>
              <a:buNone/>
            </a:pPr>
            <a:endParaRPr lang="en-GB" altLang="en-US" dirty="0" smtClean="0"/>
          </a:p>
          <a:p>
            <a:pPr lvl="1">
              <a:buFontTx/>
              <a:buNone/>
            </a:pPr>
            <a:endParaRPr lang="en-GB" altLang="en-US" dirty="0" smtClean="0"/>
          </a:p>
          <a:p>
            <a:pPr lvl="1">
              <a:buFontTx/>
              <a:buNone/>
            </a:pPr>
            <a:endParaRPr lang="en-GB" altLang="en-US" dirty="0" smtClean="0"/>
          </a:p>
          <a:p>
            <a:pPr>
              <a:buFontTx/>
              <a:buNone/>
            </a:pPr>
            <a:endParaRPr lang="en-GB" altLang="en-US" dirty="0" smtClean="0"/>
          </a:p>
        </p:txBody>
      </p:sp>
      <p:pic>
        <p:nvPicPr>
          <p:cNvPr id="7" name="Picture 6" descr="C:\Users\Joe\Desktop\IMO Received Material\Pictures from Havariekommando\3.jpg"/>
          <p:cNvPicPr>
            <a:picLocks noChangeAspect="1" noChangeArrowheads="1"/>
          </p:cNvPicPr>
          <p:nvPr/>
        </p:nvPicPr>
        <p:blipFill>
          <a:blip r:embed="rId2">
            <a:extLst>
              <a:ext uri="{28A0092B-C50C-407E-A947-70E740481C1C}">
                <a14:useLocalDpi xmlns:a14="http://schemas.microsoft.com/office/drawing/2010/main" val="0"/>
              </a:ext>
            </a:extLst>
          </a:blip>
          <a:srcRect l="12601" r="15581" b="9280"/>
          <a:stretch>
            <a:fillRect/>
          </a:stretch>
        </p:blipFill>
        <p:spPr bwMode="auto">
          <a:xfrm>
            <a:off x="7079488" y="1601343"/>
            <a:ext cx="4105275" cy="345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89037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2"/>
          <p:cNvSpPr txBox="1">
            <a:spLocks/>
          </p:cNvSpPr>
          <p:nvPr/>
        </p:nvSpPr>
        <p:spPr>
          <a:xfrm>
            <a:off x="1207007" y="0"/>
            <a:ext cx="9550605"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Response </a:t>
            </a:r>
            <a:endParaRPr lang="en-GB" altLang="en-US" b="1" dirty="0" smtClean="0"/>
          </a:p>
        </p:txBody>
      </p:sp>
      <p:sp>
        <p:nvSpPr>
          <p:cNvPr id="6" name="Rectangle 3">
            <a:extLst/>
          </p:cNvPr>
          <p:cNvSpPr txBox="1">
            <a:spLocks noChangeArrowheads="1"/>
          </p:cNvSpPr>
          <p:nvPr/>
        </p:nvSpPr>
        <p:spPr>
          <a:xfrm>
            <a:off x="1117651" y="1035803"/>
            <a:ext cx="9944862" cy="54737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1000" indent="-381000" algn="just">
              <a:buFontTx/>
              <a:buNone/>
              <a:defRPr/>
            </a:pPr>
            <a:r>
              <a:rPr lang="en-GB" dirty="0" smtClean="0"/>
              <a:t>Is intervention at sea the best option? </a:t>
            </a:r>
          </a:p>
          <a:p>
            <a:pPr marL="381000" indent="-381000" algn="just">
              <a:spcBef>
                <a:spcPts val="0"/>
              </a:spcBef>
              <a:buFontTx/>
              <a:buNone/>
              <a:defRPr/>
            </a:pPr>
            <a:endParaRPr lang="en-GB" sz="1400" dirty="0" smtClean="0"/>
          </a:p>
          <a:p>
            <a:pPr marL="381000" indent="-381000" algn="just">
              <a:spcBef>
                <a:spcPts val="0"/>
              </a:spcBef>
              <a:buFontTx/>
              <a:buNone/>
              <a:defRPr/>
            </a:pPr>
            <a:r>
              <a:rPr lang="en-GB" dirty="0" smtClean="0"/>
              <a:t>Balance the opportunity to prevent the oil </a:t>
            </a:r>
          </a:p>
          <a:p>
            <a:pPr marL="0" indent="0" algn="just">
              <a:spcBef>
                <a:spcPts val="0"/>
              </a:spcBef>
              <a:buFontTx/>
              <a:buNone/>
              <a:defRPr/>
            </a:pPr>
            <a:r>
              <a:rPr lang="en-GB" dirty="0" smtClean="0"/>
              <a:t>leaving the vessel against the possible consequences</a:t>
            </a:r>
          </a:p>
          <a:p>
            <a:pPr marL="381000" indent="-381000" algn="just">
              <a:buFont typeface="Arial" charset="0"/>
              <a:buChar char="•"/>
              <a:defRPr/>
            </a:pPr>
            <a:r>
              <a:rPr lang="en-GB" dirty="0" smtClean="0"/>
              <a:t>Risk to human health and safety</a:t>
            </a:r>
          </a:p>
          <a:p>
            <a:pPr marL="381000" indent="-381000" algn="just">
              <a:buFont typeface="Arial" charset="0"/>
              <a:buChar char="•"/>
              <a:defRPr/>
            </a:pPr>
            <a:r>
              <a:rPr lang="en-GB" dirty="0" smtClean="0"/>
              <a:t>Damage to vessel and cargo</a:t>
            </a:r>
          </a:p>
          <a:p>
            <a:pPr marL="381000" indent="-381000" algn="just">
              <a:buFont typeface="Arial" charset="0"/>
              <a:buChar char="•"/>
              <a:defRPr/>
            </a:pPr>
            <a:r>
              <a:rPr lang="en-GB" dirty="0" smtClean="0"/>
              <a:t>Damage to the environment</a:t>
            </a:r>
          </a:p>
          <a:p>
            <a:pPr marL="381000" indent="-381000" algn="just">
              <a:buFont typeface="Arial" charset="0"/>
              <a:buNone/>
              <a:defRPr/>
            </a:pPr>
            <a:endParaRPr lang="en-GB" sz="1400" dirty="0" smtClean="0"/>
          </a:p>
          <a:p>
            <a:pPr marL="0" indent="0" algn="just">
              <a:buFont typeface="Arial" charset="0"/>
              <a:buNone/>
              <a:defRPr/>
            </a:pPr>
            <a:r>
              <a:rPr lang="en-GB" dirty="0" smtClean="0"/>
              <a:t>Administrations are urged not to unreasonably deny access to sheltered waters.</a:t>
            </a:r>
          </a:p>
          <a:p>
            <a:pPr marL="381000" indent="-381000" algn="just">
              <a:buFont typeface="Arial" charset="0"/>
              <a:buNone/>
              <a:defRPr/>
            </a:pPr>
            <a:endParaRPr lang="en-GB" dirty="0" smtClean="0"/>
          </a:p>
          <a:p>
            <a:pPr marL="381000" indent="-381000" algn="just">
              <a:buFontTx/>
              <a:buNone/>
              <a:defRPr/>
            </a:pPr>
            <a:endParaRPr lang="en-GB" dirty="0"/>
          </a:p>
        </p:txBody>
      </p:sp>
    </p:spTree>
    <p:extLst>
      <p:ext uri="{BB962C8B-B14F-4D97-AF65-F5344CB8AC3E}">
        <p14:creationId xmlns:p14="http://schemas.microsoft.com/office/powerpoint/2010/main" val="5756994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2"/>
          <p:cNvSpPr txBox="1">
            <a:spLocks/>
          </p:cNvSpPr>
          <p:nvPr/>
        </p:nvSpPr>
        <p:spPr>
          <a:xfrm>
            <a:off x="1243584" y="0"/>
            <a:ext cx="9710928"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Response</a:t>
            </a:r>
            <a:endParaRPr lang="en-GB" altLang="en-US" b="1" dirty="0" smtClean="0"/>
          </a:p>
        </p:txBody>
      </p:sp>
      <p:sp>
        <p:nvSpPr>
          <p:cNvPr id="6" name="Content Placeholder 7">
            <a:extLst/>
          </p:cNvPr>
          <p:cNvSpPr txBox="1">
            <a:spLocks/>
          </p:cNvSpPr>
          <p:nvPr/>
        </p:nvSpPr>
        <p:spPr>
          <a:xfrm>
            <a:off x="1243584" y="955544"/>
            <a:ext cx="9710928"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charset="0"/>
              <a:buNone/>
              <a:defRPr/>
            </a:pPr>
            <a:r>
              <a:rPr lang="en-GB" dirty="0" smtClean="0"/>
              <a:t>Is it possible?</a:t>
            </a:r>
          </a:p>
          <a:p>
            <a:pPr>
              <a:buFont typeface="Arial" charset="0"/>
              <a:buNone/>
              <a:defRPr/>
            </a:pPr>
            <a:endParaRPr lang="en-GB" dirty="0" smtClean="0"/>
          </a:p>
          <a:p>
            <a:pPr>
              <a:buFont typeface="Arial" charset="0"/>
              <a:buNone/>
              <a:defRPr/>
            </a:pPr>
            <a:r>
              <a:rPr lang="en-GB" dirty="0" smtClean="0"/>
              <a:t>If intervention as sea is desirable:</a:t>
            </a:r>
          </a:p>
          <a:p>
            <a:pPr>
              <a:buFont typeface="Arial" charset="0"/>
              <a:buChar char="•"/>
              <a:defRPr/>
            </a:pPr>
            <a:r>
              <a:rPr lang="en-GB" dirty="0" smtClean="0"/>
              <a:t>Can it be done?</a:t>
            </a:r>
          </a:p>
          <a:p>
            <a:pPr>
              <a:buFont typeface="Arial" charset="0"/>
              <a:buChar char="•"/>
              <a:defRPr/>
            </a:pPr>
            <a:r>
              <a:rPr lang="en-GB" dirty="0" smtClean="0"/>
              <a:t>Is the expertise available?</a:t>
            </a:r>
          </a:p>
          <a:p>
            <a:pPr>
              <a:buFont typeface="Arial" charset="0"/>
              <a:buChar char="•"/>
              <a:defRPr/>
            </a:pPr>
            <a:r>
              <a:rPr lang="en-GB" dirty="0" smtClean="0"/>
              <a:t>Is the equipment available?</a:t>
            </a:r>
          </a:p>
          <a:p>
            <a:pPr marL="0" indent="0">
              <a:buFont typeface="Arial" charset="0"/>
              <a:buNone/>
              <a:defRPr/>
            </a:pPr>
            <a:endParaRPr lang="en-GB" dirty="0" smtClean="0"/>
          </a:p>
          <a:p>
            <a:pPr marL="0" indent="0">
              <a:buFont typeface="Arial" charset="0"/>
              <a:buNone/>
              <a:defRPr/>
            </a:pPr>
            <a:r>
              <a:rPr lang="en-GB" dirty="0" smtClean="0"/>
              <a:t>Your contingency planning should address these questions.</a:t>
            </a:r>
            <a:endParaRPr lang="en-GB" dirty="0"/>
          </a:p>
        </p:txBody>
      </p:sp>
    </p:spTree>
    <p:extLst>
      <p:ext uri="{BB962C8B-B14F-4D97-AF65-F5344CB8AC3E}">
        <p14:creationId xmlns:p14="http://schemas.microsoft.com/office/powerpoint/2010/main" val="16536110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2"/>
          <p:cNvSpPr txBox="1">
            <a:spLocks/>
          </p:cNvSpPr>
          <p:nvPr/>
        </p:nvSpPr>
        <p:spPr>
          <a:xfrm>
            <a:off x="1362455" y="47879"/>
            <a:ext cx="9737373"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Response – Evaluation</a:t>
            </a:r>
            <a:endParaRPr lang="en-GB" altLang="en-US" b="1" dirty="0" smtClean="0"/>
          </a:p>
        </p:txBody>
      </p:sp>
      <p:sp>
        <p:nvSpPr>
          <p:cNvPr id="6" name="Rectangle 3">
            <a:extLst/>
          </p:cNvPr>
          <p:cNvSpPr txBox="1">
            <a:spLocks noChangeArrowheads="1"/>
          </p:cNvSpPr>
          <p:nvPr/>
        </p:nvSpPr>
        <p:spPr>
          <a:xfrm>
            <a:off x="917286" y="1063371"/>
            <a:ext cx="10182542" cy="52451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82600" indent="-482600">
              <a:buFontTx/>
              <a:buNone/>
              <a:defRPr/>
            </a:pPr>
            <a:r>
              <a:rPr lang="en-GB" dirty="0" smtClean="0"/>
              <a:t>Place an evaluation team on board:</a:t>
            </a:r>
          </a:p>
          <a:p>
            <a:pPr marL="355600" indent="-355600">
              <a:buFont typeface="Arial" charset="0"/>
              <a:buChar char="•"/>
              <a:defRPr/>
            </a:pPr>
            <a:r>
              <a:rPr lang="en-GB" dirty="0" smtClean="0"/>
              <a:t>Experienced personnel equipped with appropriate personal protective equipment</a:t>
            </a:r>
          </a:p>
          <a:p>
            <a:pPr marL="355600" indent="-355600">
              <a:buFont typeface="Arial" charset="0"/>
              <a:buChar char="•"/>
              <a:defRPr/>
            </a:pPr>
            <a:r>
              <a:rPr lang="en-GB" dirty="0" smtClean="0"/>
              <a:t>Ascertain full status of the vessel</a:t>
            </a:r>
          </a:p>
          <a:p>
            <a:pPr marL="755650" lvl="2" indent="-355600">
              <a:buFont typeface="Calibri" pitchFamily="34" charset="0"/>
              <a:buChar char="−"/>
              <a:defRPr/>
            </a:pPr>
            <a:r>
              <a:rPr lang="en-GB" sz="2800" dirty="0" smtClean="0"/>
              <a:t>cargo, bunkers  and disposition</a:t>
            </a:r>
          </a:p>
          <a:p>
            <a:pPr marL="755650" lvl="2" indent="-355600">
              <a:buFont typeface="Calibri" pitchFamily="34" charset="0"/>
              <a:buChar char="−"/>
              <a:defRPr/>
            </a:pPr>
            <a:r>
              <a:rPr lang="en-GB" sz="2800" dirty="0" smtClean="0"/>
              <a:t>equipment and facilities on board</a:t>
            </a:r>
          </a:p>
          <a:p>
            <a:pPr marL="755650" lvl="2" indent="-355600">
              <a:buFont typeface="Calibri" pitchFamily="34" charset="0"/>
              <a:buChar char="−"/>
              <a:defRPr/>
            </a:pPr>
            <a:r>
              <a:rPr lang="en-GB" sz="2800" dirty="0" smtClean="0"/>
              <a:t>operational status of machinery, etc.</a:t>
            </a:r>
          </a:p>
          <a:p>
            <a:pPr marL="355600" indent="-355600">
              <a:buFont typeface="Arial" charset="0"/>
              <a:buChar char="•"/>
              <a:defRPr/>
            </a:pPr>
            <a:r>
              <a:rPr lang="en-GB" dirty="0" smtClean="0"/>
              <a:t>Carry out risk assessment </a:t>
            </a:r>
            <a:endParaRPr lang="en-GB" dirty="0"/>
          </a:p>
        </p:txBody>
      </p:sp>
    </p:spTree>
    <p:extLst>
      <p:ext uri="{BB962C8B-B14F-4D97-AF65-F5344CB8AC3E}">
        <p14:creationId xmlns:p14="http://schemas.microsoft.com/office/powerpoint/2010/main" val="16076191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289304" y="125413"/>
            <a:ext cx="9722040" cy="7112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IMO Resolutions </a:t>
            </a:r>
            <a:endParaRPr lang="en-GB" altLang="en-US" b="1" dirty="0" smtClean="0"/>
          </a:p>
        </p:txBody>
      </p:sp>
      <p:sp>
        <p:nvSpPr>
          <p:cNvPr id="6" name="Content Placeholder 2">
            <a:extLst/>
          </p:cNvPr>
          <p:cNvSpPr txBox="1">
            <a:spLocks/>
          </p:cNvSpPr>
          <p:nvPr/>
        </p:nvSpPr>
        <p:spPr>
          <a:xfrm>
            <a:off x="1229062" y="1216681"/>
            <a:ext cx="9722040" cy="47815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charset="0"/>
              <a:buNone/>
              <a:defRPr/>
            </a:pPr>
            <a:r>
              <a:rPr lang="en-GB" sz="3200" dirty="0" smtClean="0"/>
              <a:t>IMO Assembly </a:t>
            </a:r>
          </a:p>
          <a:p>
            <a:pPr marL="457200" lvl="1" indent="-457200" algn="just">
              <a:buFont typeface="Wingdings" panose="05000000000000000000" pitchFamily="2" charset="2"/>
              <a:buChar char="Ø"/>
              <a:tabLst>
                <a:tab pos="355600" algn="l"/>
              </a:tabLst>
              <a:defRPr/>
            </a:pPr>
            <a:r>
              <a:rPr lang="en-GB" sz="3200" dirty="0" smtClean="0"/>
              <a:t>Twenty-third session, March 2004</a:t>
            </a:r>
          </a:p>
          <a:p>
            <a:pPr algn="just">
              <a:buFont typeface="Arial" charset="0"/>
              <a:buNone/>
              <a:defRPr/>
            </a:pPr>
            <a:r>
              <a:rPr lang="en-GB" sz="3200" dirty="0" smtClean="0"/>
              <a:t>Resolution A.949</a:t>
            </a:r>
          </a:p>
          <a:p>
            <a:pPr marL="457200" lvl="1" indent="-457200" algn="just">
              <a:buFont typeface="Wingdings" panose="05000000000000000000" pitchFamily="2" charset="2"/>
              <a:buChar char="Ø"/>
              <a:defRPr/>
            </a:pPr>
            <a:r>
              <a:rPr lang="en-GB" sz="3200" dirty="0" smtClean="0"/>
              <a:t>Guidelines on places of refuge for ships in need of assistance</a:t>
            </a:r>
          </a:p>
          <a:p>
            <a:pPr algn="just">
              <a:buFont typeface="Arial" charset="0"/>
              <a:buNone/>
              <a:defRPr/>
            </a:pPr>
            <a:r>
              <a:rPr lang="en-GB" sz="3200" dirty="0" smtClean="0"/>
              <a:t>Resolution A.950</a:t>
            </a:r>
          </a:p>
          <a:p>
            <a:pPr marL="457200" lvl="1" indent="-457200" algn="just">
              <a:buFont typeface="Wingdings" panose="05000000000000000000" pitchFamily="2" charset="2"/>
              <a:buChar char="Ø"/>
              <a:defRPr/>
            </a:pPr>
            <a:r>
              <a:rPr lang="en-GB" sz="3200" dirty="0" smtClean="0"/>
              <a:t>Guidelines on the establishment of a Maritime Assistance Service (MAS)</a:t>
            </a:r>
          </a:p>
          <a:p>
            <a:pPr algn="just">
              <a:buFontTx/>
              <a:buNone/>
              <a:defRPr/>
            </a:pPr>
            <a:endParaRPr lang="en-GB" sz="3200" dirty="0" smtClean="0"/>
          </a:p>
          <a:p>
            <a:pPr algn="just">
              <a:buFont typeface="Arial" charset="0"/>
              <a:buChar char="•"/>
              <a:defRPr/>
            </a:pPr>
            <a:endParaRPr lang="en-GB" sz="3200" dirty="0" smtClean="0"/>
          </a:p>
          <a:p>
            <a:pPr lvl="1" algn="just">
              <a:buFontTx/>
              <a:buNone/>
              <a:defRPr/>
            </a:pPr>
            <a:endParaRPr lang="en-GB" sz="3200" dirty="0"/>
          </a:p>
        </p:txBody>
      </p:sp>
    </p:spTree>
    <p:extLst>
      <p:ext uri="{BB962C8B-B14F-4D97-AF65-F5344CB8AC3E}">
        <p14:creationId xmlns:p14="http://schemas.microsoft.com/office/powerpoint/2010/main" val="3710511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254187" y="57424"/>
            <a:ext cx="9471723" cy="854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Definitions</a:t>
            </a:r>
            <a:endParaRPr lang="en-GB" altLang="en-US" b="1" dirty="0" smtClean="0"/>
          </a:p>
        </p:txBody>
      </p:sp>
      <p:sp>
        <p:nvSpPr>
          <p:cNvPr id="6" name="Content Placeholder 2"/>
          <p:cNvSpPr txBox="1">
            <a:spLocks/>
          </p:cNvSpPr>
          <p:nvPr/>
        </p:nvSpPr>
        <p:spPr>
          <a:xfrm>
            <a:off x="1254188" y="981075"/>
            <a:ext cx="9471723" cy="53276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GB" altLang="en-US" dirty="0" smtClean="0"/>
              <a:t>Ship in need of assistance</a:t>
            </a:r>
          </a:p>
          <a:p>
            <a:pPr algn="just">
              <a:buFontTx/>
              <a:buNone/>
            </a:pPr>
            <a:r>
              <a:rPr lang="en-GB" altLang="en-US" dirty="0" smtClean="0"/>
              <a:t>	</a:t>
            </a:r>
            <a:r>
              <a:rPr lang="en-GB" altLang="en-US" sz="2400" i="1" dirty="0" smtClean="0"/>
              <a:t>a ship in a situation, apart from one requiring rescue of persons on board, that could give rise to loss of the vessel or an environmental or navigational hazard</a:t>
            </a:r>
          </a:p>
          <a:p>
            <a:pPr>
              <a:buFontTx/>
              <a:buNone/>
            </a:pPr>
            <a:r>
              <a:rPr lang="en-GB" altLang="en-US" dirty="0" smtClean="0"/>
              <a:t>Place of Refuge</a:t>
            </a:r>
          </a:p>
          <a:p>
            <a:pPr algn="just">
              <a:buFontTx/>
              <a:buNone/>
            </a:pPr>
            <a:r>
              <a:rPr lang="en-GB" altLang="en-US" sz="2400" i="1" dirty="0" smtClean="0"/>
              <a:t>	a place where a ship in need of assistance can take action to enable it to stabilize its condition and reduce the hazards to navigation and to protect human life and the environment</a:t>
            </a:r>
          </a:p>
          <a:p>
            <a:pPr algn="just">
              <a:buFontTx/>
              <a:buNone/>
            </a:pPr>
            <a:r>
              <a:rPr lang="en-GB" altLang="en-US" dirty="0" smtClean="0"/>
              <a:t>Maritime Assistance Services (MAS)</a:t>
            </a:r>
          </a:p>
          <a:p>
            <a:pPr algn="just">
              <a:buFontTx/>
              <a:buNone/>
            </a:pPr>
            <a:r>
              <a:rPr lang="en-GB" altLang="en-US" sz="2400" i="1" dirty="0" smtClean="0"/>
              <a:t>	a point of contact between ship and coastal State</a:t>
            </a:r>
          </a:p>
          <a:p>
            <a:pPr algn="just">
              <a:buFontTx/>
              <a:buNone/>
            </a:pPr>
            <a:endParaRPr lang="en-GB" altLang="en-US" sz="1400" i="1" dirty="0" smtClean="0"/>
          </a:p>
          <a:p>
            <a:pPr algn="just">
              <a:buFontTx/>
              <a:buNone/>
            </a:pPr>
            <a:endParaRPr lang="en-GB" altLang="en-US" sz="2400" i="1" dirty="0" smtClean="0"/>
          </a:p>
        </p:txBody>
      </p:sp>
    </p:spTree>
    <p:extLst>
      <p:ext uri="{BB962C8B-B14F-4D97-AF65-F5344CB8AC3E}">
        <p14:creationId xmlns:p14="http://schemas.microsoft.com/office/powerpoint/2010/main" val="14550984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3"/>
          <p:cNvSpPr txBox="1">
            <a:spLocks/>
          </p:cNvSpPr>
          <p:nvPr/>
        </p:nvSpPr>
        <p:spPr>
          <a:xfrm>
            <a:off x="1481328" y="16151"/>
            <a:ext cx="9418320" cy="63976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Place of Refuge Considerations</a:t>
            </a:r>
            <a:endParaRPr lang="en-GB" altLang="en-US" b="1" dirty="0" smtClean="0"/>
          </a:p>
        </p:txBody>
      </p:sp>
      <p:sp>
        <p:nvSpPr>
          <p:cNvPr id="6" name="Content Placeholder 4">
            <a:extLst/>
          </p:cNvPr>
          <p:cNvSpPr txBox="1">
            <a:spLocks/>
          </p:cNvSpPr>
          <p:nvPr/>
        </p:nvSpPr>
        <p:spPr>
          <a:xfrm>
            <a:off x="1124712" y="1200045"/>
            <a:ext cx="10122408"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charset="0"/>
              <a:buNone/>
              <a:defRPr/>
            </a:pPr>
            <a:r>
              <a:rPr lang="en-US" dirty="0" smtClean="0"/>
              <a:t>Identity of the authority responsible for handling and receiving alerts</a:t>
            </a:r>
          </a:p>
          <a:p>
            <a:pPr marL="0" indent="0" algn="just">
              <a:buFont typeface="Arial" charset="0"/>
              <a:buNone/>
              <a:defRPr/>
            </a:pPr>
            <a:endParaRPr lang="en-US" sz="1400" dirty="0" smtClean="0"/>
          </a:p>
          <a:p>
            <a:pPr marL="0" indent="0" algn="just">
              <a:buFont typeface="Arial" charset="0"/>
              <a:buNone/>
              <a:defRPr/>
            </a:pPr>
            <a:r>
              <a:rPr lang="en-US" dirty="0" smtClean="0"/>
              <a:t>Identity of the competent authority who will</a:t>
            </a:r>
          </a:p>
          <a:p>
            <a:pPr marL="355600" lvl="1" indent="-355600" algn="just">
              <a:defRPr/>
            </a:pPr>
            <a:r>
              <a:rPr lang="en-US" sz="3200" dirty="0" smtClean="0"/>
              <a:t>assess the situation</a:t>
            </a:r>
          </a:p>
          <a:p>
            <a:pPr marL="355600" lvl="1" indent="-355600" algn="just">
              <a:defRPr/>
            </a:pPr>
            <a:r>
              <a:rPr lang="en-US" sz="3200" dirty="0" smtClean="0"/>
              <a:t>take the decision to accept or refuse</a:t>
            </a:r>
          </a:p>
          <a:p>
            <a:pPr marL="355600" lvl="1" indent="-355600" algn="just">
              <a:buFont typeface="Arial" charset="0"/>
              <a:buNone/>
              <a:defRPr/>
            </a:pPr>
            <a:endParaRPr lang="en-US" sz="1400" dirty="0" smtClean="0"/>
          </a:p>
          <a:p>
            <a:pPr marL="0" indent="0" algn="just">
              <a:buFont typeface="Arial" charset="0"/>
              <a:buNone/>
              <a:defRPr/>
            </a:pPr>
            <a:r>
              <a:rPr lang="en-US" dirty="0" smtClean="0"/>
              <a:t>Information on the coastline, environmental, economic, social factors and natural conditions</a:t>
            </a:r>
          </a:p>
          <a:p>
            <a:pPr algn="just">
              <a:buFont typeface="Arial" charset="0"/>
              <a:buNone/>
              <a:defRPr/>
            </a:pPr>
            <a:endParaRPr lang="en-US" dirty="0"/>
          </a:p>
        </p:txBody>
      </p:sp>
    </p:spTree>
    <p:extLst>
      <p:ext uri="{BB962C8B-B14F-4D97-AF65-F5344CB8AC3E}">
        <p14:creationId xmlns:p14="http://schemas.microsoft.com/office/powerpoint/2010/main" val="35089364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3"/>
          <p:cNvSpPr txBox="1">
            <a:spLocks/>
          </p:cNvSpPr>
          <p:nvPr/>
        </p:nvSpPr>
        <p:spPr>
          <a:xfrm>
            <a:off x="1280160" y="0"/>
            <a:ext cx="9756648" cy="83661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Place of Refuge Considerations</a:t>
            </a:r>
            <a:endParaRPr lang="en-GB" altLang="en-US" b="1" dirty="0" smtClean="0"/>
          </a:p>
        </p:txBody>
      </p:sp>
      <p:sp>
        <p:nvSpPr>
          <p:cNvPr id="6" name="Content Placeholder 4"/>
          <p:cNvSpPr txBox="1">
            <a:spLocks/>
          </p:cNvSpPr>
          <p:nvPr/>
        </p:nvSpPr>
        <p:spPr>
          <a:xfrm>
            <a:off x="1655064" y="1292394"/>
            <a:ext cx="9756648"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smtClean="0"/>
              <a:t>The assessment process</a:t>
            </a:r>
          </a:p>
          <a:p>
            <a:r>
              <a:rPr lang="en-US" altLang="en-US" dirty="0" smtClean="0"/>
              <a:t>Likelihood/Consequence matrix</a:t>
            </a:r>
          </a:p>
          <a:p>
            <a:r>
              <a:rPr lang="en-US" altLang="en-US" dirty="0" smtClean="0"/>
              <a:t>Risk register</a:t>
            </a:r>
          </a:p>
          <a:p>
            <a:r>
              <a:rPr lang="en-US" altLang="en-US" dirty="0" smtClean="0"/>
              <a:t>The resources and expertise available</a:t>
            </a:r>
          </a:p>
          <a:p>
            <a:r>
              <a:rPr lang="en-US" altLang="en-US" dirty="0" smtClean="0"/>
              <a:t>Procedures for decision-making</a:t>
            </a:r>
          </a:p>
          <a:p>
            <a:r>
              <a:rPr lang="en-US" altLang="en-US" dirty="0" smtClean="0"/>
              <a:t>Procedures for international coordination </a:t>
            </a:r>
          </a:p>
          <a:p>
            <a:r>
              <a:rPr lang="en-US" altLang="en-US" dirty="0" smtClean="0"/>
              <a:t>Financial guarantee and liability procedures</a:t>
            </a:r>
            <a:endParaRPr lang="en-US" altLang="en-US" dirty="0" smtClean="0"/>
          </a:p>
        </p:txBody>
      </p:sp>
    </p:spTree>
    <p:extLst>
      <p:ext uri="{BB962C8B-B14F-4D97-AF65-F5344CB8AC3E}">
        <p14:creationId xmlns:p14="http://schemas.microsoft.com/office/powerpoint/2010/main" val="15751547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7218553" y="981075"/>
            <a:ext cx="4348607" cy="482441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ltLang="en-US" dirty="0" smtClean="0"/>
              <a:t>Decision-making process</a:t>
            </a:r>
            <a:br>
              <a:rPr lang="en-GB" altLang="en-US" dirty="0" smtClean="0"/>
            </a:br>
            <a:r>
              <a:rPr lang="en-GB" altLang="en-US" dirty="0" smtClean="0"/>
              <a:t/>
            </a:r>
            <a:br>
              <a:rPr lang="en-GB" altLang="en-US" dirty="0" smtClean="0"/>
            </a:br>
            <a:r>
              <a:rPr lang="en-GB" altLang="en-US" sz="2400" dirty="0" smtClean="0"/>
              <a:t>Source: REMPEC SAFEMED Project 2005/109-573</a:t>
            </a:r>
            <a:endParaRPr lang="en-GB" altLang="en-US" dirty="0" smtClean="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991541"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p:cNvPr>
          <p:cNvSpPr txBox="1"/>
          <p:nvPr/>
        </p:nvSpPr>
        <p:spPr>
          <a:xfrm>
            <a:off x="7074090" y="44450"/>
            <a:ext cx="4831397" cy="708025"/>
          </a:xfrm>
          <a:prstGeom prst="rect">
            <a:avLst/>
          </a:prstGeom>
          <a:noFill/>
        </p:spPr>
        <p:txBody>
          <a:bodyPr wrap="square">
            <a:spAutoFit/>
          </a:bodyPr>
          <a:lstStyle/>
          <a:p>
            <a:pPr algn="ctr" eaLnBrk="1" hangingPunct="1">
              <a:defRPr/>
            </a:pPr>
            <a:r>
              <a:rPr lang="en-GB" sz="4000" b="1" dirty="0">
                <a:latin typeface="+mn-lt"/>
                <a:ea typeface="+mn-ea"/>
              </a:rPr>
              <a:t>Place of Refuge</a:t>
            </a:r>
          </a:p>
        </p:txBody>
      </p:sp>
    </p:spTree>
    <p:extLst>
      <p:ext uri="{BB962C8B-B14F-4D97-AF65-F5344CB8AC3E}">
        <p14:creationId xmlns:p14="http://schemas.microsoft.com/office/powerpoint/2010/main" val="27260027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3"/>
          <p:cNvSpPr txBox="1">
            <a:spLocks/>
          </p:cNvSpPr>
          <p:nvPr/>
        </p:nvSpPr>
        <p:spPr>
          <a:xfrm>
            <a:off x="142043" y="17222"/>
            <a:ext cx="11745157" cy="6507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Likelihood/Consequence Matrix Example</a:t>
            </a:r>
            <a:endParaRPr lang="en-GB" altLang="en-US" b="1" dirty="0" smtClean="0"/>
          </a:p>
        </p:txBody>
      </p:sp>
      <p:graphicFrame>
        <p:nvGraphicFramePr>
          <p:cNvPr id="6" name="Content Placeholder 5">
            <a:extLst/>
          </p:cNvPr>
          <p:cNvGraphicFramePr>
            <a:graphicFrameLocks/>
          </p:cNvGraphicFramePr>
          <p:nvPr>
            <p:extLst>
              <p:ext uri="{D42A27DB-BD31-4B8C-83A1-F6EECF244321}">
                <p14:modId xmlns:p14="http://schemas.microsoft.com/office/powerpoint/2010/main" val="4092041728"/>
              </p:ext>
            </p:extLst>
          </p:nvPr>
        </p:nvGraphicFramePr>
        <p:xfrm>
          <a:off x="766445" y="1107567"/>
          <a:ext cx="10700130" cy="4881752"/>
        </p:xfrm>
        <a:graphic>
          <a:graphicData uri="http://schemas.openxmlformats.org/drawingml/2006/table">
            <a:tbl>
              <a:tblPr firstRow="1" bandRow="1">
                <a:tableStyleId>{F5AB1C69-6EDB-4FF4-983F-18BD219EF322}</a:tableStyleId>
              </a:tblPr>
              <a:tblGrid>
                <a:gridCol w="1921420">
                  <a:extLst>
                    <a:ext uri="{9D8B030D-6E8A-4147-A177-3AD203B41FA5}">
                      <a16:colId xmlns:a16="http://schemas.microsoft.com/office/drawing/2014/main" val="20000"/>
                    </a:ext>
                  </a:extLst>
                </a:gridCol>
                <a:gridCol w="1755742">
                  <a:extLst>
                    <a:ext uri="{9D8B030D-6E8A-4147-A177-3AD203B41FA5}">
                      <a16:colId xmlns:a16="http://schemas.microsoft.com/office/drawing/2014/main" val="20001"/>
                    </a:ext>
                  </a:extLst>
                </a:gridCol>
                <a:gridCol w="1755742">
                  <a:extLst>
                    <a:ext uri="{9D8B030D-6E8A-4147-A177-3AD203B41FA5}">
                      <a16:colId xmlns:a16="http://schemas.microsoft.com/office/drawing/2014/main" val="20002"/>
                    </a:ext>
                  </a:extLst>
                </a:gridCol>
                <a:gridCol w="1755742">
                  <a:extLst>
                    <a:ext uri="{9D8B030D-6E8A-4147-A177-3AD203B41FA5}">
                      <a16:colId xmlns:a16="http://schemas.microsoft.com/office/drawing/2014/main" val="20003"/>
                    </a:ext>
                  </a:extLst>
                </a:gridCol>
                <a:gridCol w="1755742">
                  <a:extLst>
                    <a:ext uri="{9D8B030D-6E8A-4147-A177-3AD203B41FA5}">
                      <a16:colId xmlns:a16="http://schemas.microsoft.com/office/drawing/2014/main" val="20004"/>
                    </a:ext>
                  </a:extLst>
                </a:gridCol>
                <a:gridCol w="1755742">
                  <a:extLst>
                    <a:ext uri="{9D8B030D-6E8A-4147-A177-3AD203B41FA5}">
                      <a16:colId xmlns:a16="http://schemas.microsoft.com/office/drawing/2014/main" val="20005"/>
                    </a:ext>
                  </a:extLst>
                </a:gridCol>
              </a:tblGrid>
              <a:tr h="486844">
                <a:tc>
                  <a:txBody>
                    <a:bodyPr/>
                    <a:lstStyle/>
                    <a:p>
                      <a:r>
                        <a:rPr lang="en-GB" sz="1800" dirty="0"/>
                        <a:t>Likelihood</a:t>
                      </a:r>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gridSpan="5">
                  <a:txBody>
                    <a:bodyPr/>
                    <a:lstStyle/>
                    <a:p>
                      <a:r>
                        <a:rPr lang="en-GB" sz="1800"/>
                        <a:t>Consequence</a:t>
                      </a:r>
                      <a:endParaRPr lang="en-GB" sz="18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746187">
                <a:tc>
                  <a:txBody>
                    <a:bodyPr/>
                    <a:lstStyle/>
                    <a:p>
                      <a:endParaRPr lang="en-GB" sz="14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600" b="1" dirty="0"/>
                        <a:t>Insignificant</a:t>
                      </a:r>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600" b="1" dirty="0"/>
                        <a:t>Minor</a:t>
                      </a:r>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600" b="1" dirty="0"/>
                        <a:t>Moderate</a:t>
                      </a:r>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600" b="1" dirty="0"/>
                        <a:t>Major</a:t>
                      </a:r>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600" b="1" dirty="0"/>
                        <a:t>Catastrophic</a:t>
                      </a:r>
                      <a:endParaRPr lang="en-GB" sz="1400" b="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40235">
                <a:tc>
                  <a:txBody>
                    <a:bodyPr/>
                    <a:lstStyle/>
                    <a:p>
                      <a:r>
                        <a:rPr lang="en-GB" sz="1400" b="1" dirty="0"/>
                        <a:t>Almost </a:t>
                      </a:r>
                      <a:r>
                        <a:rPr lang="en-GB" sz="1400" b="1" dirty="0" smtClean="0"/>
                        <a:t>certain</a:t>
                      </a:r>
                      <a:endParaRPr lang="en-GB" sz="1400" b="1" dirty="0"/>
                    </a:p>
                    <a:p>
                      <a:r>
                        <a:rPr lang="en-GB" sz="1200" dirty="0"/>
                        <a:t>(&gt; 90% chance)</a:t>
                      </a:r>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800" dirty="0"/>
                        <a:t>High</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800" dirty="0"/>
                        <a:t>High</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800" dirty="0"/>
                        <a:t>Extreme</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GB" sz="1800" dirty="0"/>
                        <a:t>Extreme</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GB" sz="1800" dirty="0"/>
                        <a:t>Extreme</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2"/>
                  </a:ext>
                </a:extLst>
              </a:tr>
              <a:tr h="864008">
                <a:tc>
                  <a:txBody>
                    <a:bodyPr/>
                    <a:lstStyle/>
                    <a:p>
                      <a:r>
                        <a:rPr lang="en-GB" sz="1400" b="1" dirty="0"/>
                        <a:t>Likely</a:t>
                      </a:r>
                    </a:p>
                    <a:p>
                      <a:r>
                        <a:rPr lang="en-GB" sz="1200" dirty="0"/>
                        <a:t>(50% ~ 90% chance)</a:t>
                      </a:r>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800" dirty="0"/>
                        <a:t>Moderate</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800" dirty="0"/>
                        <a:t>High</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800" dirty="0"/>
                        <a:t>High</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800" dirty="0"/>
                        <a:t>Extreme</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GB" sz="1800" dirty="0"/>
                        <a:t>Extreme</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3"/>
                  </a:ext>
                </a:extLst>
              </a:tr>
              <a:tr h="864008">
                <a:tc>
                  <a:txBody>
                    <a:bodyPr/>
                    <a:lstStyle/>
                    <a:p>
                      <a:r>
                        <a:rPr lang="en-GB" sz="1400" b="1" dirty="0"/>
                        <a:t>Moderate</a:t>
                      </a:r>
                    </a:p>
                    <a:p>
                      <a:r>
                        <a:rPr lang="en-GB" sz="1200" dirty="0"/>
                        <a:t>(10% ~ 50% chance)</a:t>
                      </a:r>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800" dirty="0"/>
                        <a:t>Low</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a:txBody>
                    <a:bodyPr/>
                    <a:lstStyle/>
                    <a:p>
                      <a:pPr algn="ctr"/>
                      <a:r>
                        <a:rPr lang="en-GB" sz="1800" dirty="0"/>
                        <a:t>Moderate</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800" dirty="0"/>
                        <a:t>High</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800" dirty="0"/>
                        <a:t>Extreme</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GB" sz="1800" dirty="0"/>
                        <a:t>Extreme</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4"/>
                  </a:ext>
                </a:extLst>
              </a:tr>
              <a:tr h="640235">
                <a:tc>
                  <a:txBody>
                    <a:bodyPr/>
                    <a:lstStyle/>
                    <a:p>
                      <a:r>
                        <a:rPr lang="en-GB" sz="1400" b="1" dirty="0"/>
                        <a:t>Unlikely</a:t>
                      </a:r>
                    </a:p>
                    <a:p>
                      <a:r>
                        <a:rPr lang="en-GB" sz="1200" dirty="0"/>
                        <a:t>(3% ~ 10% chance)</a:t>
                      </a:r>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800" dirty="0"/>
                        <a:t>Low</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a:txBody>
                    <a:bodyPr/>
                    <a:lstStyle/>
                    <a:p>
                      <a:pPr algn="ctr"/>
                      <a:r>
                        <a:rPr lang="en-GB" sz="1800" dirty="0"/>
                        <a:t>Low</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a:txBody>
                    <a:bodyPr/>
                    <a:lstStyle/>
                    <a:p>
                      <a:pPr algn="ctr"/>
                      <a:r>
                        <a:rPr lang="en-GB" sz="1800" dirty="0"/>
                        <a:t>Moderate</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800" dirty="0"/>
                        <a:t>High</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800" dirty="0"/>
                        <a:t>Extreme</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5"/>
                  </a:ext>
                </a:extLst>
              </a:tr>
              <a:tr h="640235">
                <a:tc>
                  <a:txBody>
                    <a:bodyPr/>
                    <a:lstStyle/>
                    <a:p>
                      <a:r>
                        <a:rPr lang="en-GB" sz="1400" b="1" dirty="0"/>
                        <a:t>Rare</a:t>
                      </a:r>
                    </a:p>
                    <a:p>
                      <a:r>
                        <a:rPr lang="en-GB" sz="1200" dirty="0"/>
                        <a:t>(&lt; 3% chance)</a:t>
                      </a:r>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800" dirty="0"/>
                        <a:t>Low</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a:txBody>
                    <a:bodyPr/>
                    <a:lstStyle/>
                    <a:p>
                      <a:pPr algn="ctr"/>
                      <a:r>
                        <a:rPr lang="en-GB" sz="1800" dirty="0"/>
                        <a:t>Low</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a:txBody>
                    <a:bodyPr/>
                    <a:lstStyle/>
                    <a:p>
                      <a:pPr algn="ctr"/>
                      <a:r>
                        <a:rPr lang="en-GB" sz="1800" dirty="0"/>
                        <a:t>Moderate</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800" dirty="0"/>
                        <a:t>High</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800" dirty="0"/>
                        <a:t>High</a:t>
                      </a:r>
                    </a:p>
                  </a:txBody>
                  <a:tcPr marT="45716" marB="4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191501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3"/>
          <p:cNvSpPr txBox="1">
            <a:spLocks/>
          </p:cNvSpPr>
          <p:nvPr/>
        </p:nvSpPr>
        <p:spPr>
          <a:xfrm>
            <a:off x="978408" y="44450"/>
            <a:ext cx="10067544" cy="7207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Risk Register </a:t>
            </a:r>
            <a:r>
              <a:rPr lang="en-GB" altLang="en-US" b="1" dirty="0" smtClean="0">
                <a:sym typeface="Symbol" panose="05050102010706020507" pitchFamily="18" charset="2"/>
              </a:rPr>
              <a:t></a:t>
            </a:r>
            <a:r>
              <a:rPr lang="en-GB" altLang="en-US" b="1" dirty="0" smtClean="0"/>
              <a:t> Example</a:t>
            </a:r>
            <a:endParaRPr lang="en-GB" altLang="en-US" b="1" dirty="0" smtClean="0"/>
          </a:p>
        </p:txBody>
      </p:sp>
      <p:graphicFrame>
        <p:nvGraphicFramePr>
          <p:cNvPr id="6" name="Content Placeholder 5">
            <a:extLst/>
          </p:cNvPr>
          <p:cNvGraphicFramePr>
            <a:graphicFrameLocks/>
          </p:cNvGraphicFramePr>
          <p:nvPr>
            <p:extLst>
              <p:ext uri="{D42A27DB-BD31-4B8C-83A1-F6EECF244321}">
                <p14:modId xmlns:p14="http://schemas.microsoft.com/office/powerpoint/2010/main" val="3110131362"/>
              </p:ext>
            </p:extLst>
          </p:nvPr>
        </p:nvGraphicFramePr>
        <p:xfrm>
          <a:off x="873398" y="1056558"/>
          <a:ext cx="10433368" cy="5031802"/>
        </p:xfrm>
        <a:graphic>
          <a:graphicData uri="http://schemas.openxmlformats.org/drawingml/2006/table">
            <a:tbl>
              <a:tblPr/>
              <a:tblGrid>
                <a:gridCol w="847084">
                  <a:extLst>
                    <a:ext uri="{9D8B030D-6E8A-4147-A177-3AD203B41FA5}">
                      <a16:colId xmlns:a16="http://schemas.microsoft.com/office/drawing/2014/main" val="20000"/>
                    </a:ext>
                  </a:extLst>
                </a:gridCol>
                <a:gridCol w="5217597">
                  <a:extLst>
                    <a:ext uri="{9D8B030D-6E8A-4147-A177-3AD203B41FA5}">
                      <a16:colId xmlns:a16="http://schemas.microsoft.com/office/drawing/2014/main" val="20001"/>
                    </a:ext>
                  </a:extLst>
                </a:gridCol>
                <a:gridCol w="2183431">
                  <a:extLst>
                    <a:ext uri="{9D8B030D-6E8A-4147-A177-3AD203B41FA5}">
                      <a16:colId xmlns:a16="http://schemas.microsoft.com/office/drawing/2014/main" val="20002"/>
                    </a:ext>
                  </a:extLst>
                </a:gridCol>
                <a:gridCol w="2185256">
                  <a:extLst>
                    <a:ext uri="{9D8B030D-6E8A-4147-A177-3AD203B41FA5}">
                      <a16:colId xmlns:a16="http://schemas.microsoft.com/office/drawing/2014/main" val="20003"/>
                    </a:ext>
                  </a:extLst>
                </a:gridCol>
              </a:tblGrid>
              <a:tr h="47499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1" i="0" u="none" strike="noStrike" cap="none" normalizeH="0" baseline="0" dirty="0">
                          <a:ln>
                            <a:noFill/>
                          </a:ln>
                          <a:solidFill>
                            <a:srgbClr val="FFFFFF"/>
                          </a:solidFill>
                          <a:effectLst/>
                          <a:latin typeface="Calibri" pitchFamily="34" charset="0"/>
                          <a:ea typeface="MS PGothic" pitchFamily="34" charset="-128"/>
                        </a:rPr>
                        <a:t>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1" i="0" u="none" strike="noStrike" cap="none" normalizeH="0" baseline="0">
                          <a:ln>
                            <a:noFill/>
                          </a:ln>
                          <a:solidFill>
                            <a:srgbClr val="FFFFFF"/>
                          </a:solidFill>
                          <a:effectLst/>
                          <a:latin typeface="Calibri" pitchFamily="34" charset="0"/>
                          <a:ea typeface="MS PGothic" pitchFamily="34" charset="-128"/>
                        </a:rPr>
                        <a:t>Risk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1" i="0" u="none" strike="noStrike" cap="none" normalizeH="0" baseline="0">
                          <a:ln>
                            <a:noFill/>
                          </a:ln>
                          <a:solidFill>
                            <a:srgbClr val="FFFFFF"/>
                          </a:solidFill>
                          <a:effectLst/>
                          <a:latin typeface="Calibri" pitchFamily="34" charset="0"/>
                          <a:ea typeface="MS PGothic" pitchFamily="34" charset="-128"/>
                        </a:rPr>
                        <a:t>Consequence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1" i="0" u="none" strike="noStrike" cap="none" normalizeH="0" baseline="0">
                          <a:ln>
                            <a:noFill/>
                          </a:ln>
                          <a:solidFill>
                            <a:srgbClr val="FFFFFF"/>
                          </a:solidFill>
                          <a:effectLst/>
                          <a:latin typeface="Calibri" pitchFamily="34" charset="0"/>
                          <a:ea typeface="MS PGothic" pitchFamily="34" charset="-128"/>
                        </a:rPr>
                        <a:t>Consequence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467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rgbClr val="000000"/>
                        </a:solidFill>
                        <a:effectLst/>
                        <a:latin typeface="Calibri" pitchFamily="34" charset="0"/>
                        <a:ea typeface="MS PGothic"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rgbClr val="000000"/>
                        </a:solidFill>
                        <a:effectLst/>
                        <a:latin typeface="Calibri" pitchFamily="34" charset="0"/>
                        <a:ea typeface="MS PGothic"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Calibri" pitchFamily="34" charset="0"/>
                          <a:ea typeface="MS PGothic" pitchFamily="34" charset="-128"/>
                        </a:rPr>
                        <a:t>Remain in </a:t>
                      </a:r>
                      <a:r>
                        <a:rPr kumimoji="0" lang="en-GB" sz="1400" b="0" i="0" u="none" strike="noStrike" cap="none" normalizeH="0" baseline="0" dirty="0" smtClean="0">
                          <a:ln>
                            <a:noFill/>
                          </a:ln>
                          <a:solidFill>
                            <a:srgbClr val="000000"/>
                          </a:solidFill>
                          <a:effectLst/>
                          <a:latin typeface="Calibri" pitchFamily="34" charset="0"/>
                          <a:ea typeface="MS PGothic" pitchFamily="34" charset="-128"/>
                        </a:rPr>
                        <a:t>situ</a:t>
                      </a:r>
                      <a:endParaRPr kumimoji="0" lang="en-GB" sz="1400" b="0" i="0" u="none" strike="noStrike" cap="none" normalizeH="0" baseline="0" dirty="0">
                        <a:ln>
                          <a:noFill/>
                        </a:ln>
                        <a:solidFill>
                          <a:srgbClr val="000000"/>
                        </a:solidFill>
                        <a:effectLst/>
                        <a:latin typeface="Calibri" pitchFamily="34" charset="0"/>
                        <a:ea typeface="MS PGothic"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Calibri" pitchFamily="34" charset="0"/>
                          <a:ea typeface="MS PGothic" pitchFamily="34" charset="-128"/>
                        </a:rPr>
                        <a:t>Place of Refuge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extLst>
                  <a:ext uri="{0D108BD9-81ED-4DB2-BD59-A6C34878D82A}">
                    <a16:rowId xmlns:a16="http://schemas.microsoft.com/office/drawing/2014/main" val="10001"/>
                  </a:ext>
                </a:extLst>
              </a:tr>
              <a:tr h="467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3E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Crew Safety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3E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High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Low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2"/>
                  </a:ext>
                </a:extLst>
              </a:tr>
              <a:tr h="467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Responder/Salvor  Safety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High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Low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3"/>
                  </a:ext>
                </a:extLst>
              </a:tr>
              <a:tr h="467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3E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Public Safety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3E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Low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Medium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0004"/>
                  </a:ext>
                </a:extLst>
              </a:tr>
              <a:tr h="52326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Pollution – Cargo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High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Low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5"/>
                  </a:ext>
                </a:extLst>
              </a:tr>
              <a:tr h="467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3E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Pollution - Bunkers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3E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High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Medium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0006"/>
                  </a:ext>
                </a:extLst>
              </a:tr>
              <a:tr h="54643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Navigational Safety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Low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Low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7"/>
                  </a:ext>
                </a:extLst>
              </a:tr>
              <a:tr h="552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3E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3E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rgbClr val="000000"/>
                        </a:solidFill>
                        <a:effectLst/>
                        <a:latin typeface="Calibri" pitchFamily="34" charset="0"/>
                        <a:ea typeface="MS PGothic"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3E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rgbClr val="000000"/>
                        </a:solidFill>
                        <a:effectLst/>
                        <a:latin typeface="Calibri" pitchFamily="34" charset="0"/>
                        <a:ea typeface="MS PGothic"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F3EA"/>
                    </a:solidFill>
                  </a:tcPr>
                </a:tc>
                <a:extLst>
                  <a:ext uri="{0D108BD9-81ED-4DB2-BD59-A6C34878D82A}">
                    <a16:rowId xmlns:a16="http://schemas.microsoft.com/office/drawing/2014/main" val="10008"/>
                  </a:ext>
                </a:extLst>
              </a:tr>
              <a:tr h="59856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Calibri" pitchFamily="34" charset="0"/>
                          <a:ea typeface="MS PGothic" pitchFamily="34" charset="-128"/>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rgbClr val="000000"/>
                        </a:solidFill>
                        <a:effectLst/>
                        <a:latin typeface="Calibri" pitchFamily="34" charset="0"/>
                        <a:ea typeface="MS PGothic"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dirty="0">
                        <a:ln>
                          <a:noFill/>
                        </a:ln>
                        <a:solidFill>
                          <a:srgbClr val="000000"/>
                        </a:solidFill>
                        <a:effectLst/>
                        <a:latin typeface="Calibri" pitchFamily="34" charset="0"/>
                        <a:ea typeface="MS PGothic"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7D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7619021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033272" y="0"/>
            <a:ext cx="1024128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Other Actions</a:t>
            </a:r>
            <a:endParaRPr lang="en-GB" altLang="en-US" b="1" dirty="0" smtClean="0"/>
          </a:p>
        </p:txBody>
      </p:sp>
      <p:sp>
        <p:nvSpPr>
          <p:cNvPr id="6" name="Content Placeholder 2"/>
          <p:cNvSpPr txBox="1">
            <a:spLocks/>
          </p:cNvSpPr>
          <p:nvPr/>
        </p:nvSpPr>
        <p:spPr>
          <a:xfrm>
            <a:off x="786384" y="1160187"/>
            <a:ext cx="10488168"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GB" altLang="en-US" dirty="0" smtClean="0"/>
              <a:t>In addition to the emergency response actions some consideration has to be given to the investigation of the initial accident.</a:t>
            </a:r>
          </a:p>
          <a:p>
            <a:pPr marL="0" indent="0" algn="just">
              <a:buFont typeface="Arial" panose="020B0604020202020204" pitchFamily="34" charset="0"/>
              <a:buNone/>
            </a:pPr>
            <a:endParaRPr lang="en-GB" altLang="en-US" dirty="0" smtClean="0"/>
          </a:p>
          <a:p>
            <a:pPr marL="0" indent="0" algn="just">
              <a:buFont typeface="Arial" panose="020B0604020202020204" pitchFamily="34" charset="0"/>
              <a:buNone/>
            </a:pPr>
            <a:r>
              <a:rPr lang="en-GB" altLang="en-US" dirty="0" smtClean="0"/>
              <a:t>IMO Code of International Standards and Recommended Practices for a Safety Investigation into a Marine Casualty or Marine Accident</a:t>
            </a:r>
          </a:p>
          <a:p>
            <a:pPr marL="400050" lvl="1" indent="0" algn="just"/>
            <a:r>
              <a:rPr lang="en-GB" altLang="en-US" dirty="0" smtClean="0"/>
              <a:t> Parts I and II are mandatory (SOLAS chapter XI-1)</a:t>
            </a:r>
            <a:endParaRPr lang="en-GB" altLang="en-US" dirty="0" smtClean="0"/>
          </a:p>
        </p:txBody>
      </p:sp>
    </p:spTree>
    <p:extLst>
      <p:ext uri="{BB962C8B-B14F-4D97-AF65-F5344CB8AC3E}">
        <p14:creationId xmlns:p14="http://schemas.microsoft.com/office/powerpoint/2010/main" val="21770162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740664" y="49724"/>
            <a:ext cx="10415016"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Summary</a:t>
            </a:r>
            <a:endParaRPr lang="en-GB" altLang="en-US" b="1" dirty="0" smtClean="0"/>
          </a:p>
        </p:txBody>
      </p:sp>
      <p:sp>
        <p:nvSpPr>
          <p:cNvPr id="6" name="Content Placeholder 2">
            <a:extLst/>
          </p:cNvPr>
          <p:cNvSpPr txBox="1">
            <a:spLocks/>
          </p:cNvSpPr>
          <p:nvPr/>
        </p:nvSpPr>
        <p:spPr>
          <a:xfrm>
            <a:off x="1051560" y="1160187"/>
            <a:ext cx="10241280"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charset="0"/>
              <a:buNone/>
              <a:defRPr/>
            </a:pPr>
            <a:r>
              <a:rPr lang="en-US" dirty="0" smtClean="0"/>
              <a:t>We have considered:</a:t>
            </a:r>
          </a:p>
          <a:p>
            <a:pPr algn="just">
              <a:defRPr/>
            </a:pPr>
            <a:r>
              <a:rPr lang="en-US" dirty="0" smtClean="0"/>
              <a:t>the powers of intervention</a:t>
            </a:r>
            <a:endParaRPr lang="en-GB" dirty="0" smtClean="0"/>
          </a:p>
          <a:p>
            <a:pPr algn="just">
              <a:defRPr/>
            </a:pPr>
            <a:endParaRPr lang="en-US" sz="1000" dirty="0" smtClean="0"/>
          </a:p>
          <a:p>
            <a:pPr algn="just">
              <a:defRPr/>
            </a:pPr>
            <a:r>
              <a:rPr lang="en-US" dirty="0" smtClean="0"/>
              <a:t>the role of the Administration in respect of maritime casualties</a:t>
            </a:r>
            <a:endParaRPr lang="en-GB" dirty="0" smtClean="0"/>
          </a:p>
          <a:p>
            <a:pPr algn="just">
              <a:defRPr/>
            </a:pPr>
            <a:endParaRPr lang="en-US" sz="1000" dirty="0" smtClean="0"/>
          </a:p>
          <a:p>
            <a:pPr algn="just">
              <a:defRPr/>
            </a:pPr>
            <a:r>
              <a:rPr lang="en-US" dirty="0" smtClean="0"/>
              <a:t>how to identify and designate potential Places of Refuge</a:t>
            </a:r>
          </a:p>
          <a:p>
            <a:pPr marL="0" indent="0" algn="just">
              <a:buFont typeface="Arial" charset="0"/>
              <a:buNone/>
              <a:defRPr/>
            </a:pPr>
            <a:endParaRPr lang="en-US" sz="1000" dirty="0" smtClean="0"/>
          </a:p>
          <a:p>
            <a:pPr marL="0" indent="0" algn="just">
              <a:buFont typeface="Arial" charset="0"/>
              <a:buNone/>
              <a:defRPr/>
            </a:pPr>
            <a:r>
              <a:rPr lang="en-US" dirty="0" smtClean="0"/>
              <a:t>To understand the risk assessment process for determining Places of Refuge.</a:t>
            </a:r>
            <a:endParaRPr lang="en-GB" dirty="0" smtClean="0"/>
          </a:p>
          <a:p>
            <a:pPr algn="just">
              <a:buFont typeface="Arial" charset="0"/>
              <a:buNone/>
              <a:defRPr/>
            </a:pPr>
            <a:endParaRPr lang="en-GB" dirty="0"/>
          </a:p>
        </p:txBody>
      </p:sp>
    </p:spTree>
    <p:extLst>
      <p:ext uri="{BB962C8B-B14F-4D97-AF65-F5344CB8AC3E}">
        <p14:creationId xmlns:p14="http://schemas.microsoft.com/office/powerpoint/2010/main" val="23307865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0" y="6378300"/>
            <a:ext cx="12192000"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7" name="Rectangle 6"/>
          <p:cNvSpPr/>
          <p:nvPr/>
        </p:nvSpPr>
        <p:spPr>
          <a:xfrm>
            <a:off x="810490" y="2385956"/>
            <a:ext cx="10571019" cy="1938992"/>
          </a:xfrm>
          <a:prstGeom prst="rect">
            <a:avLst/>
          </a:prstGeom>
        </p:spPr>
        <p:txBody>
          <a:bodyPr wrap="square">
            <a:spAutoFit/>
          </a:bodyPr>
          <a:lstStyle/>
          <a:p>
            <a:pPr algn="ctr">
              <a:spcBef>
                <a:spcPct val="50000"/>
              </a:spcBef>
              <a:defRPr/>
            </a:pPr>
            <a:r>
              <a:rPr lang="en-US" altLang="en-US" sz="4000" b="1" dirty="0">
                <a:ln w="0"/>
                <a:latin typeface="Tahoma" panose="020B0604030504040204" pitchFamily="34" charset="0"/>
                <a:ea typeface="Tahoma" panose="020B0604030504040204" pitchFamily="34" charset="0"/>
                <a:cs typeface="Tahoma" panose="020B0604030504040204" pitchFamily="34" charset="0"/>
              </a:rPr>
              <a:t/>
            </a:r>
            <a:br>
              <a:rPr lang="en-US" altLang="en-US" sz="4000" b="1" dirty="0">
                <a:ln w="0"/>
                <a:latin typeface="Tahoma" panose="020B0604030504040204" pitchFamily="34" charset="0"/>
                <a:ea typeface="Tahoma" panose="020B0604030504040204" pitchFamily="34" charset="0"/>
                <a:cs typeface="Tahoma" panose="020B0604030504040204" pitchFamily="34" charset="0"/>
              </a:rPr>
            </a:br>
            <a:r>
              <a:rPr lang="en-GB" sz="4000" b="1" dirty="0">
                <a:ln w="0"/>
                <a:latin typeface="Tahoma" panose="020B0604030504040204" pitchFamily="34" charset="0"/>
                <a:ea typeface="Tahoma" panose="020B0604030504040204" pitchFamily="34" charset="0"/>
                <a:cs typeface="Tahoma" panose="020B0604030504040204" pitchFamily="34" charset="0"/>
              </a:rPr>
              <a:t>Any questions?</a:t>
            </a:r>
          </a:p>
          <a:p>
            <a:pPr lvl="1">
              <a:spcBef>
                <a:spcPct val="0"/>
              </a:spcBef>
            </a:pPr>
            <a:endParaRPr lang="en-GB" altLang="en-US" sz="4000" b="1" dirty="0">
              <a:ln w="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202832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Tahoma"/>
        <a:ea typeface=""/>
        <a:cs typeface="Tahoma"/>
      </a:majorFont>
      <a:minorFont>
        <a:latin typeface="Tahoma"/>
        <a:ea typeface=""/>
        <a:cs typeface="Taho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TotalTime>
  <Words>1386</Words>
  <Application>Microsoft Office PowerPoint</Application>
  <PresentationFormat>Widescreen</PresentationFormat>
  <Paragraphs>273</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MS PGothic</vt:lpstr>
      <vt:lpstr>Arial</vt:lpstr>
      <vt:lpstr>Calibri</vt:lpstr>
      <vt:lpstr>inherit</vt:lpstr>
      <vt:lpstr>Symbol</vt:lpstr>
      <vt:lpstr>Tahoma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Syed, Mohammad Muktadar</dc:creator>
  <cp:lastModifiedBy>Sajith, Sadanandan </cp:lastModifiedBy>
  <cp:revision>148</cp:revision>
  <dcterms:created xsi:type="dcterms:W3CDTF">2024-09-27T05:40:49Z</dcterms:created>
  <dcterms:modified xsi:type="dcterms:W3CDTF">2025-06-03T05:22:43Z</dcterms:modified>
</cp:coreProperties>
</file>
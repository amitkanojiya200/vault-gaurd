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05C2F-7818-4F6D-A96B-6C2CB185C90D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E8634-88DF-4109-859A-F542DA2AB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340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DCF8D8-8FE7-4397-8587-77EE9FB96742}" type="slidenum">
              <a:rPr lang="en-GB" altLang="en-US" sz="1300" smtClean="0"/>
              <a:pPr>
                <a:spcBef>
                  <a:spcPct val="0"/>
                </a:spcBef>
              </a:pPr>
              <a:t>1</a:t>
            </a:fld>
            <a:endParaRPr lang="en-GB" altLang="en-US" sz="1300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675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EC9E06A-02C6-4B03-A0AD-4ACBBDAC5511}" type="slidenum">
              <a:rPr lang="en-GB" altLang="en-US" sz="1300" smtClean="0"/>
              <a:pPr>
                <a:spcBef>
                  <a:spcPct val="0"/>
                </a:spcBef>
              </a:pPr>
              <a:t>2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77496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B52BF5B-9B38-4D14-886A-EA5E8147221E}" type="slidenum">
              <a:rPr lang="en-GB" altLang="en-US" sz="1300" smtClean="0"/>
              <a:pPr>
                <a:spcBef>
                  <a:spcPct val="0"/>
                </a:spcBef>
              </a:pPr>
              <a:t>3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043509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1877F5E-A5B1-4794-AF5E-3D7F2B8C55DB}" type="slidenum">
              <a:rPr lang="en-GB" altLang="en-US" sz="1300" smtClean="0"/>
              <a:pPr>
                <a:spcBef>
                  <a:spcPct val="0"/>
                </a:spcBef>
              </a:pPr>
              <a:t>4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959134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8C76539-E82B-4A50-91DB-615867D7E54D}" type="slidenum">
              <a:rPr lang="en-GB" altLang="en-US" sz="1300" smtClean="0"/>
              <a:pPr>
                <a:spcBef>
                  <a:spcPct val="0"/>
                </a:spcBef>
              </a:pPr>
              <a:t>5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27930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82CF3A7-E5AB-4DFB-9735-E16BEB136CE5}" type="slidenum">
              <a:rPr lang="en-GB" altLang="en-US" sz="1300" smtClean="0"/>
              <a:pPr>
                <a:spcBef>
                  <a:spcPct val="0"/>
                </a:spcBef>
              </a:pPr>
              <a:t>6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443163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41AABCA-CF16-4C1A-A552-CDE26B2CEA06}" type="slidenum">
              <a:rPr lang="en-GB" altLang="en-US" sz="1300" smtClean="0"/>
              <a:pPr>
                <a:spcBef>
                  <a:spcPct val="0"/>
                </a:spcBef>
              </a:pPr>
              <a:t>7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576124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GB" altLang="en-US" smtClean="0">
              <a:latin typeface="Arial" panose="020B0604020202020204" pitchFamily="34" charset="0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10E9E76-A626-416A-B2C6-FCC036CD2B48}" type="slidenum">
              <a:rPr lang="en-GB" altLang="en-US" sz="1300" smtClean="0"/>
              <a:pPr>
                <a:spcBef>
                  <a:spcPct val="0"/>
                </a:spcBef>
              </a:pPr>
              <a:t>8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662388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 sz="1000" smtClean="0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7957A46-86E6-4EA5-AE05-7B12E97255E2}" type="slidenum">
              <a:rPr lang="en-GB" altLang="en-US" sz="1300" smtClean="0"/>
              <a:pPr>
                <a:spcBef>
                  <a:spcPct val="0"/>
                </a:spcBef>
              </a:pPr>
              <a:t>9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384197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6F1188A-5A19-4E39-A93C-264B94587B39}" type="slidenum">
              <a:rPr lang="en-GB" altLang="en-US" sz="1300" smtClean="0"/>
              <a:pPr>
                <a:spcBef>
                  <a:spcPct val="0"/>
                </a:spcBef>
              </a:pPr>
              <a:t>10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173828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D039865-3750-4B50-8BB9-DE59233C1911}" type="slidenum">
              <a:rPr lang="en-GB" altLang="en-US" sz="1300" smtClean="0"/>
              <a:pPr>
                <a:spcBef>
                  <a:spcPct val="0"/>
                </a:spcBef>
              </a:pPr>
              <a:t>11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342885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C902FB5-560E-4EA2-B272-916FF9BE507A}" type="slidenum">
              <a:rPr lang="en-GB" altLang="en-US" sz="1300" smtClean="0"/>
              <a:pPr>
                <a:spcBef>
                  <a:spcPct val="0"/>
                </a:spcBef>
              </a:pPr>
              <a:t>12</a:t>
            </a:fld>
            <a:endParaRPr lang="en-GB" altLang="en-US" sz="130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2813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511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3EED9F4-640A-4CF8-B98D-AE51444C5446}" type="slidenum">
              <a:rPr lang="en-GB" altLang="en-US" sz="1300" smtClean="0"/>
              <a:pPr>
                <a:spcBef>
                  <a:spcPct val="0"/>
                </a:spcBef>
              </a:pPr>
              <a:t>13</a:t>
            </a:fld>
            <a:endParaRPr lang="en-GB" altLang="en-US" sz="1300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786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endParaRPr lang="en-US" altLang="en-US" sz="900" smtClean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E6B021-82F8-4C39-8924-29111FB30EBA}" type="slidenum">
              <a:rPr lang="en-US" altLang="en-US" sz="1300" smtClean="0"/>
              <a:pPr>
                <a:spcBef>
                  <a:spcPct val="0"/>
                </a:spcBef>
              </a:pPr>
              <a:t>14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4046910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2E2CA0F-8FBD-46F5-8681-48CA38096802}" type="slidenum">
              <a:rPr lang="en-US" altLang="en-US" sz="1300" smtClean="0"/>
              <a:pPr>
                <a:spcBef>
                  <a:spcPct val="0"/>
                </a:spcBef>
              </a:pPr>
              <a:t>15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528093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B46D59E-95ED-4D82-96DA-C63A8BCEB719}" type="slidenum">
              <a:rPr lang="en-US" altLang="en-US" sz="1300" smtClean="0"/>
              <a:pPr>
                <a:spcBef>
                  <a:spcPct val="0"/>
                </a:spcBef>
              </a:pPr>
              <a:t>16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346263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/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dirty="0">
              <a:ea typeface="+mn-ea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C349054-39F9-4880-ADCB-6BDCA2B3EFA3}" type="slidenum">
              <a:rPr lang="en-US" altLang="en-US" sz="1300" smtClean="0"/>
              <a:pPr>
                <a:spcBef>
                  <a:spcPct val="0"/>
                </a:spcBef>
              </a:pPr>
              <a:t>17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8635487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CA5CCE1-0FAE-45F8-A645-E900A8FDEC7E}" type="slidenum">
              <a:rPr lang="en-US" altLang="en-US" sz="1300" smtClean="0"/>
              <a:pPr>
                <a:spcBef>
                  <a:spcPct val="0"/>
                </a:spcBef>
              </a:pPr>
              <a:t>18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498473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100" smtClean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A2E6006-7272-4ED8-B657-7102F3EA660E}" type="slidenum">
              <a:rPr lang="en-US" altLang="en-US" sz="1300" smtClean="0"/>
              <a:pPr>
                <a:spcBef>
                  <a:spcPct val="0"/>
                </a:spcBef>
              </a:pPr>
              <a:t>19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7712719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100" smtClean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28A7017-D2ED-4718-8B2F-EABDDCC32845}" type="slidenum">
              <a:rPr lang="en-US" altLang="en-US" sz="1300" smtClean="0"/>
              <a:pPr>
                <a:spcBef>
                  <a:spcPct val="0"/>
                </a:spcBef>
              </a:pPr>
              <a:t>20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66895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100" smtClean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6E1FA65-F5F5-4B0E-B1EC-1294CD6FE3D2}" type="slidenum">
              <a:rPr lang="en-US" altLang="en-US" sz="1300" smtClean="0"/>
              <a:pPr>
                <a:spcBef>
                  <a:spcPct val="0"/>
                </a:spcBef>
              </a:pPr>
              <a:t>21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6611667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0715420-B462-4554-9C57-D2D169AF45D2}" type="slidenum">
              <a:rPr lang="en-US" altLang="en-US" sz="1300" smtClean="0"/>
              <a:pPr>
                <a:spcBef>
                  <a:spcPct val="0"/>
                </a:spcBef>
              </a:pPr>
              <a:t>22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8854086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/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dirty="0">
              <a:ea typeface="+mn-ea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766CC67-5555-4F24-9EDE-524D0A89B845}" type="slidenum">
              <a:rPr lang="en-US" altLang="en-US" sz="1300" smtClean="0"/>
              <a:pPr>
                <a:spcBef>
                  <a:spcPct val="0"/>
                </a:spcBef>
              </a:pPr>
              <a:t>23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6715401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/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GB" dirty="0">
              <a:ea typeface="+mn-ea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4262361-E8F7-4AA1-BC08-B8C703754160}" type="slidenum">
              <a:rPr lang="en-US" altLang="en-US" sz="1300" smtClean="0"/>
              <a:pPr>
                <a:spcBef>
                  <a:spcPct val="0"/>
                </a:spcBef>
              </a:pPr>
              <a:t>24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1458821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/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GB" dirty="0">
              <a:ea typeface="+mn-ea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F5A4752-6B55-4742-836B-04104D2238FE}" type="slidenum">
              <a:rPr lang="en-US" altLang="en-US" sz="1300" smtClean="0"/>
              <a:pPr>
                <a:spcBef>
                  <a:spcPct val="0"/>
                </a:spcBef>
              </a:pPr>
              <a:t>25</a:t>
            </a:fld>
            <a:endParaRPr lang="en-US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7171121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15C2600-FEFA-4F67-8A8C-A7CA8F4BAAF7}" type="slidenum">
              <a:rPr lang="en-GB" altLang="en-US" sz="1300" smtClean="0"/>
              <a:pPr>
                <a:spcBef>
                  <a:spcPct val="0"/>
                </a:spcBef>
              </a:pPr>
              <a:t>26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78800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ctrTitle"/>
          </p:nvPr>
        </p:nvSpPr>
        <p:spPr>
          <a:xfrm>
            <a:off x="873316" y="2404872"/>
            <a:ext cx="10026332" cy="140189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4000" b="1" dirty="0" smtClean="0"/>
              <a:t>Lesson </a:t>
            </a:r>
            <a:r>
              <a:rPr lang="en-GB" altLang="en-US" sz="4000" b="1" dirty="0" smtClean="0"/>
              <a:t>3.11</a:t>
            </a:r>
            <a:br>
              <a:rPr lang="en-GB" altLang="en-US" sz="4000" b="1" dirty="0" smtClean="0"/>
            </a:br>
            <a:r>
              <a:rPr lang="en-GB" altLang="en-US" sz="4000" b="1" dirty="0" smtClean="0"/>
              <a:t>Roles and Responsibilities</a:t>
            </a:r>
          </a:p>
        </p:txBody>
      </p:sp>
      <p:sp>
        <p:nvSpPr>
          <p:cNvPr id="7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716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Objective</a:t>
            </a:r>
          </a:p>
        </p:txBody>
      </p:sp>
      <p:sp>
        <p:nvSpPr>
          <p:cNvPr id="3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929640" y="158788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3200" dirty="0">
                <a:ea typeface="+mn-ea"/>
              </a:rPr>
              <a:t>To understand the roles and responsibilities of all parties that may be involved in the incident response.</a:t>
            </a:r>
            <a:endParaRPr lang="en-GB" sz="3200" dirty="0">
              <a:ea typeface="+mn-ea"/>
            </a:endParaRPr>
          </a:p>
          <a:p>
            <a:pPr>
              <a:buFont typeface="Arial" charset="0"/>
              <a:buNone/>
              <a:defRPr/>
            </a:pPr>
            <a:endParaRPr lang="en-GB" sz="3200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96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54864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Introduction</a:t>
            </a:r>
          </a:p>
        </p:txBody>
      </p:sp>
      <p:sp>
        <p:nvSpPr>
          <p:cNvPr id="18435" name="Content Placeholder 3"/>
          <p:cNvSpPr>
            <a:spLocks noGrp="1"/>
          </p:cNvSpPr>
          <p:nvPr>
            <p:ph idx="1"/>
          </p:nvPr>
        </p:nvSpPr>
        <p:spPr>
          <a:xfrm>
            <a:off x="984504" y="117640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Who are involved in respect of  </a:t>
            </a:r>
          </a:p>
          <a:p>
            <a:r>
              <a:rPr lang="en-GB" altLang="en-US" sz="3200" dirty="0" smtClean="0"/>
              <a:t>the ship, the port, the installation?</a:t>
            </a:r>
          </a:p>
          <a:p>
            <a:r>
              <a:rPr lang="en-GB" altLang="en-US" sz="3200" dirty="0" smtClean="0"/>
              <a:t>the </a:t>
            </a:r>
            <a:r>
              <a:rPr lang="en-GB" altLang="en-US" sz="3200" dirty="0" err="1" smtClean="0"/>
              <a:t>salvors</a:t>
            </a:r>
            <a:r>
              <a:rPr lang="en-GB" altLang="en-US" sz="3200" dirty="0" smtClean="0"/>
              <a:t>, the insurers, the government and the responders?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What are the government’</a:t>
            </a:r>
            <a:r>
              <a:rPr lang="en-GB" altLang="ja-JP" sz="3200" dirty="0" smtClean="0"/>
              <a:t>s responsibilities?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Framework and organization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Preparedness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altLang="en-US" sz="3200" dirty="0" smtClean="0"/>
              <a:t>Training and exercises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433164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98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9144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The </a:t>
            </a:r>
            <a:r>
              <a:rPr lang="en-GB" altLang="en-US" b="1" dirty="0" smtClean="0"/>
              <a:t>Ship</a:t>
            </a:r>
            <a:endParaRPr lang="en-GB" altLang="en-US" b="1" dirty="0" smtClean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832282" y="123269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en-US" dirty="0" smtClean="0"/>
              <a:t>Master</a:t>
            </a:r>
          </a:p>
          <a:p>
            <a:r>
              <a:rPr lang="en-US" altLang="en-US" dirty="0" smtClean="0"/>
              <a:t>Crew</a:t>
            </a:r>
          </a:p>
          <a:p>
            <a:r>
              <a:rPr lang="en-US" altLang="en-US" dirty="0" smtClean="0"/>
              <a:t>Superintendent</a:t>
            </a:r>
          </a:p>
          <a:p>
            <a:r>
              <a:rPr lang="en-US" altLang="en-US" dirty="0" smtClean="0"/>
              <a:t>Manager</a:t>
            </a:r>
          </a:p>
          <a:p>
            <a:r>
              <a:rPr lang="en-US" altLang="en-US" dirty="0" smtClean="0"/>
              <a:t>Owner</a:t>
            </a:r>
          </a:p>
          <a:p>
            <a:r>
              <a:rPr lang="en-US" altLang="en-US" dirty="0" smtClean="0"/>
              <a:t>Third party technical support</a:t>
            </a:r>
          </a:p>
          <a:p>
            <a:r>
              <a:rPr lang="en-US" altLang="en-US" dirty="0" smtClean="0"/>
              <a:t>Qualified individual (as appropriate)</a:t>
            </a:r>
          </a:p>
          <a:p>
            <a:r>
              <a:rPr lang="en-US" altLang="en-US" dirty="0" smtClean="0"/>
              <a:t>Classification society</a:t>
            </a:r>
          </a:p>
          <a:p>
            <a:r>
              <a:rPr lang="en-US" altLang="en-US" dirty="0" smtClean="0"/>
              <a:t>Flag State</a:t>
            </a:r>
          </a:p>
        </p:txBody>
      </p:sp>
      <p:pic>
        <p:nvPicPr>
          <p:cNvPr id="2048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608" y="1232694"/>
            <a:ext cx="4376737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87444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579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The </a:t>
            </a:r>
            <a:r>
              <a:rPr lang="en-GB" altLang="en-US" b="1" dirty="0" smtClean="0"/>
              <a:t>Port</a:t>
            </a:r>
            <a:endParaRPr lang="en-GB" altLang="en-US" b="1" dirty="0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832282" y="1052514"/>
            <a:ext cx="10515600" cy="4351338"/>
          </a:xfrm>
        </p:spPr>
        <p:txBody>
          <a:bodyPr/>
          <a:lstStyle/>
          <a:p>
            <a:r>
              <a:rPr lang="en-US" altLang="en-US" dirty="0" smtClean="0"/>
              <a:t>Port Authority</a:t>
            </a:r>
          </a:p>
          <a:p>
            <a:r>
              <a:rPr lang="en-US" altLang="en-US" dirty="0" err="1" smtClean="0"/>
              <a:t>Harbour</a:t>
            </a:r>
            <a:r>
              <a:rPr lang="en-US" altLang="en-US" dirty="0" smtClean="0"/>
              <a:t> Master</a:t>
            </a:r>
          </a:p>
          <a:p>
            <a:r>
              <a:rPr lang="en-US" altLang="en-US" dirty="0" smtClean="0"/>
              <a:t>Marine staff</a:t>
            </a:r>
          </a:p>
          <a:p>
            <a:r>
              <a:rPr lang="en-US" altLang="en-US" dirty="0" smtClean="0"/>
              <a:t>Technical support</a:t>
            </a:r>
          </a:p>
          <a:p>
            <a:r>
              <a:rPr lang="en-US" altLang="en-US" dirty="0" smtClean="0"/>
              <a:t>Administrative support</a:t>
            </a:r>
          </a:p>
          <a:p>
            <a:r>
              <a:rPr lang="en-US" altLang="en-US" dirty="0" smtClean="0"/>
              <a:t>Pilots</a:t>
            </a:r>
          </a:p>
        </p:txBody>
      </p:sp>
      <p:pic>
        <p:nvPicPr>
          <p:cNvPr id="22532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1052514"/>
            <a:ext cx="3981450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6"/>
          <p:cNvSpPr txBox="1">
            <a:spLocks noChangeArrowheads="1"/>
          </p:cNvSpPr>
          <p:nvPr/>
        </p:nvSpPr>
        <p:spPr bwMode="auto">
          <a:xfrm>
            <a:off x="8959850" y="3824288"/>
            <a:ext cx="14874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Korea Coast Guard</a:t>
            </a:r>
            <a:endParaRPr lang="en-CA" altLang="en-US" sz="8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90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The </a:t>
            </a:r>
            <a:r>
              <a:rPr lang="en-GB" altLang="en-US" b="1" dirty="0" smtClean="0"/>
              <a:t>Installation</a:t>
            </a:r>
            <a:endParaRPr lang="en-GB" altLang="en-US" b="1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644968" y="1085720"/>
            <a:ext cx="8229600" cy="5218113"/>
          </a:xfrm>
        </p:spPr>
        <p:txBody>
          <a:bodyPr>
            <a:normAutofit/>
          </a:bodyPr>
          <a:lstStyle/>
          <a:p>
            <a:r>
              <a:rPr lang="en-US" altLang="en-US" sz="3200" dirty="0" smtClean="0"/>
              <a:t>Owner(s)</a:t>
            </a:r>
          </a:p>
          <a:p>
            <a:r>
              <a:rPr lang="en-US" altLang="en-US" sz="3200" dirty="0" smtClean="0"/>
              <a:t>Operator</a:t>
            </a:r>
          </a:p>
          <a:p>
            <a:r>
              <a:rPr lang="en-US" altLang="en-US" sz="3200" dirty="0" smtClean="0"/>
              <a:t>Oil Installation Manager (OIM)</a:t>
            </a:r>
          </a:p>
          <a:p>
            <a:r>
              <a:rPr lang="en-US" altLang="en-US" sz="3200" dirty="0" smtClean="0"/>
              <a:t>Installation crew and contractors</a:t>
            </a:r>
          </a:p>
          <a:p>
            <a:r>
              <a:rPr lang="en-US" altLang="en-US" sz="3200" dirty="0" smtClean="0"/>
              <a:t>Duty manager</a:t>
            </a:r>
          </a:p>
          <a:p>
            <a:r>
              <a:rPr lang="en-US" altLang="en-US" sz="3200" dirty="0" smtClean="0"/>
              <a:t>Incident response team</a:t>
            </a:r>
          </a:p>
          <a:p>
            <a:r>
              <a:rPr lang="en-US" altLang="en-US" sz="3200" dirty="0" smtClean="0"/>
              <a:t>Crisis management team</a:t>
            </a:r>
          </a:p>
          <a:p>
            <a:r>
              <a:rPr lang="en-US" altLang="en-US" sz="3200" dirty="0" smtClean="0"/>
              <a:t>Business continuity</a:t>
            </a:r>
          </a:p>
          <a:p>
            <a:endParaRPr lang="en-US" altLang="en-US" sz="3200" dirty="0" smtClean="0"/>
          </a:p>
          <a:p>
            <a:endParaRPr lang="en-US" altLang="en-US" sz="32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77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The </a:t>
            </a:r>
            <a:r>
              <a:rPr lang="en-GB" altLang="en-US" b="1" dirty="0" err="1"/>
              <a:t>S</a:t>
            </a:r>
            <a:r>
              <a:rPr lang="en-GB" altLang="en-US" b="1" dirty="0" err="1" smtClean="0"/>
              <a:t>alvors</a:t>
            </a:r>
            <a:endParaRPr lang="en-GB" altLang="en-US" b="1" dirty="0" smtClean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774825" y="1454849"/>
            <a:ext cx="4249738" cy="5218112"/>
          </a:xfrm>
        </p:spPr>
        <p:txBody>
          <a:bodyPr/>
          <a:lstStyle/>
          <a:p>
            <a:r>
              <a:rPr lang="en-US" altLang="en-US" dirty="0" smtClean="0"/>
              <a:t>Salvage company</a:t>
            </a:r>
          </a:p>
          <a:p>
            <a:r>
              <a:rPr lang="en-US" altLang="en-US" dirty="0" smtClean="0"/>
              <a:t>Salvage manager</a:t>
            </a:r>
          </a:p>
          <a:p>
            <a:r>
              <a:rPr lang="en-US" altLang="en-US" dirty="0" smtClean="0"/>
              <a:t>Salvage master</a:t>
            </a:r>
          </a:p>
          <a:p>
            <a:r>
              <a:rPr lang="en-US" altLang="en-US" dirty="0" smtClean="0"/>
              <a:t>Technical engineers</a:t>
            </a:r>
          </a:p>
          <a:p>
            <a:r>
              <a:rPr lang="en-US" altLang="en-US" dirty="0" smtClean="0"/>
              <a:t>Salvage crew and divers</a:t>
            </a:r>
          </a:p>
          <a:p>
            <a:r>
              <a:rPr lang="en-US" altLang="en-US" dirty="0" smtClean="0"/>
              <a:t>Specialist support</a:t>
            </a:r>
          </a:p>
        </p:txBody>
      </p:sp>
      <p:pic>
        <p:nvPicPr>
          <p:cNvPr id="2662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26" y="1462786"/>
            <a:ext cx="4657725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39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Insurance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1408354" y="993521"/>
            <a:ext cx="10515600" cy="4351338"/>
          </a:xfrm>
        </p:spPr>
        <p:txBody>
          <a:bodyPr>
            <a:noAutofit/>
          </a:bodyPr>
          <a:lstStyle/>
          <a:p>
            <a:r>
              <a:rPr lang="en-US" altLang="en-US" sz="3200" dirty="0" smtClean="0"/>
              <a:t>Cargo owners</a:t>
            </a:r>
          </a:p>
          <a:p>
            <a:r>
              <a:rPr lang="en-US" altLang="en-US" sz="3200" dirty="0" smtClean="0"/>
              <a:t>Hull and machinery insurance</a:t>
            </a:r>
          </a:p>
          <a:p>
            <a:r>
              <a:rPr lang="en-US" altLang="en-US" sz="3200" dirty="0" smtClean="0"/>
              <a:t>Cargo insurance</a:t>
            </a:r>
          </a:p>
          <a:p>
            <a:r>
              <a:rPr lang="en-US" altLang="en-US" sz="3200" dirty="0" smtClean="0"/>
              <a:t>Protection and Indemnity (P&amp;I) insurance</a:t>
            </a:r>
          </a:p>
          <a:p>
            <a:pPr lvl="1" indent="-420688"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local correspondents</a:t>
            </a:r>
          </a:p>
          <a:p>
            <a:r>
              <a:rPr lang="en-US" altLang="en-US" sz="3200" dirty="0" smtClean="0"/>
              <a:t>International Group (P&amp;I)</a:t>
            </a:r>
          </a:p>
          <a:p>
            <a:r>
              <a:rPr lang="en-US" altLang="en-US" sz="3200" dirty="0" smtClean="0"/>
              <a:t>Specialist loss adjusters</a:t>
            </a:r>
          </a:p>
          <a:p>
            <a:r>
              <a:rPr lang="en-US" altLang="en-US" sz="3200" dirty="0" smtClean="0"/>
              <a:t>ITOPF Limited</a:t>
            </a:r>
          </a:p>
          <a:p>
            <a:r>
              <a:rPr lang="en-US" altLang="en-US" sz="3200" dirty="0" smtClean="0"/>
              <a:t>The IOPC Fund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643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The </a:t>
            </a:r>
            <a:r>
              <a:rPr lang="en-US" altLang="en-US" b="1" dirty="0" smtClean="0"/>
              <a:t>Government </a:t>
            </a:r>
            <a:r>
              <a:rPr lang="en-US" altLang="en-US" b="1" dirty="0" smtClean="0">
                <a:sym typeface="Symbol" panose="05050102010706020507" pitchFamily="18" charset="2"/>
              </a:rPr>
              <a:t></a:t>
            </a:r>
            <a:r>
              <a:rPr lang="en-US" altLang="en-US" b="1" dirty="0" smtClean="0"/>
              <a:t> Regulator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1075944" y="1231265"/>
            <a:ext cx="10515600" cy="4351338"/>
          </a:xfrm>
        </p:spPr>
        <p:txBody>
          <a:bodyPr>
            <a:noAutofit/>
          </a:bodyPr>
          <a:lstStyle/>
          <a:p>
            <a:r>
              <a:rPr lang="en-GB" altLang="en-US" sz="3200" dirty="0" smtClean="0"/>
              <a:t>Cabinet of ministers (or appropriate body)</a:t>
            </a:r>
          </a:p>
          <a:p>
            <a:r>
              <a:rPr lang="en-GB" altLang="en-US" sz="3200" dirty="0" smtClean="0"/>
              <a:t>Regulator – shipping, ports, offshore</a:t>
            </a:r>
          </a:p>
          <a:p>
            <a:r>
              <a:rPr lang="en-GB" altLang="en-US" sz="3200" dirty="0" smtClean="0"/>
              <a:t>Port State control</a:t>
            </a:r>
          </a:p>
          <a:p>
            <a:r>
              <a:rPr lang="en-GB" altLang="en-US" sz="3200" dirty="0" smtClean="0"/>
              <a:t>Immigration</a:t>
            </a:r>
          </a:p>
          <a:p>
            <a:r>
              <a:rPr lang="en-GB" altLang="en-US" sz="3200" dirty="0" smtClean="0"/>
              <a:t>Customs</a:t>
            </a:r>
          </a:p>
          <a:p>
            <a:r>
              <a:rPr lang="en-GB" altLang="en-US" sz="3200" dirty="0" smtClean="0"/>
              <a:t>Relationship with neighbours and region </a:t>
            </a:r>
          </a:p>
          <a:p>
            <a:r>
              <a:rPr lang="en-GB" altLang="en-US" sz="3200" dirty="0" smtClean="0"/>
              <a:t>Foreign embassies</a:t>
            </a:r>
          </a:p>
          <a:p>
            <a:r>
              <a:rPr lang="en-GB" altLang="en-US" sz="3200" dirty="0" smtClean="0"/>
              <a:t>International community</a:t>
            </a:r>
          </a:p>
          <a:p>
            <a:pPr marL="365125" lvl="1" indent="-365125">
              <a:buNone/>
            </a:pPr>
            <a:endParaRPr lang="en-US" altLang="en-US" sz="28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666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847850" y="130176"/>
            <a:ext cx="836295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The </a:t>
            </a:r>
            <a:r>
              <a:rPr lang="en-US" altLang="en-US" b="1" dirty="0" smtClean="0"/>
              <a:t>Government </a:t>
            </a:r>
            <a:r>
              <a:rPr lang="en-GB" altLang="en-US" b="1" dirty="0" smtClean="0"/>
              <a:t>– </a:t>
            </a:r>
            <a:r>
              <a:rPr lang="en-US" altLang="en-US" b="1" dirty="0"/>
              <a:t>R</a:t>
            </a:r>
            <a:r>
              <a:rPr lang="en-US" altLang="en-US" b="1" dirty="0" smtClean="0"/>
              <a:t>esponse</a:t>
            </a:r>
            <a:endParaRPr lang="en-US" altLang="en-US" b="1" dirty="0" smtClean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1048512" y="1304417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sz="3200" dirty="0" smtClean="0"/>
              <a:t>National Competent Authority</a:t>
            </a:r>
          </a:p>
          <a:p>
            <a:r>
              <a:rPr lang="en-US" altLang="en-US" sz="3200" dirty="0" smtClean="0"/>
              <a:t>Military </a:t>
            </a:r>
            <a:r>
              <a:rPr lang="en-US" altLang="en-US" sz="3200" dirty="0" smtClean="0">
                <a:sym typeface="Symbol" panose="05050102010706020507" pitchFamily="18" charset="2"/>
              </a:rPr>
              <a:t></a:t>
            </a:r>
            <a:r>
              <a:rPr lang="en-US" altLang="en-US" sz="3200" dirty="0" smtClean="0"/>
              <a:t> navy, air force, army, civil </a:t>
            </a:r>
            <a:r>
              <a:rPr lang="en-GB" altLang="en-US" sz="3200" dirty="0" smtClean="0"/>
              <a:t>defence, </a:t>
            </a:r>
            <a:r>
              <a:rPr lang="en-US" altLang="en-US" sz="3200" dirty="0" smtClean="0"/>
              <a:t>coastguard </a:t>
            </a:r>
          </a:p>
          <a:p>
            <a:r>
              <a:rPr lang="en-US" altLang="en-US" sz="3200" dirty="0" smtClean="0"/>
              <a:t>Air traffic control</a:t>
            </a:r>
          </a:p>
          <a:p>
            <a:r>
              <a:rPr lang="en-US" altLang="en-US" sz="3200" dirty="0" smtClean="0"/>
              <a:t>NCP stakeholders</a:t>
            </a:r>
          </a:p>
          <a:p>
            <a:r>
              <a:rPr lang="en-US" altLang="en-US" sz="3200" dirty="0" smtClean="0"/>
              <a:t>Responders</a:t>
            </a:r>
          </a:p>
          <a:p>
            <a:r>
              <a:rPr lang="en-US" altLang="en-US" sz="3200" dirty="0" smtClean="0"/>
              <a:t>Industry</a:t>
            </a:r>
          </a:p>
          <a:p>
            <a:r>
              <a:rPr lang="en-US" altLang="en-US" sz="3200" dirty="0" smtClean="0"/>
              <a:t>Bilateral or regional partners</a:t>
            </a:r>
          </a:p>
          <a:p>
            <a:endParaRPr lang="en-US" altLang="en-US" sz="3200" dirty="0" smtClean="0"/>
          </a:p>
          <a:p>
            <a:pPr marL="365125" lvl="1" indent="-365125">
              <a:buNone/>
            </a:pPr>
            <a:endParaRPr lang="en-US" altLang="en-US" sz="28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892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Industry </a:t>
            </a:r>
            <a:r>
              <a:rPr lang="en-GB" altLang="en-US" b="1" dirty="0" smtClean="0"/>
              <a:t>Response</a:t>
            </a:r>
            <a:endParaRPr lang="en-GB" altLang="en-US" b="1" dirty="0" smtClean="0"/>
          </a:p>
        </p:txBody>
      </p:sp>
      <p:sp>
        <p:nvSpPr>
          <p:cNvPr id="34819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1030224" y="1130681"/>
            <a:ext cx="10515600" cy="4351338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GB" altLang="en-US" dirty="0"/>
              <a:t>The extent of industry’</a:t>
            </a:r>
            <a:r>
              <a:rPr lang="en-GB" altLang="ja-JP" dirty="0"/>
              <a:t>s involvement in the response will be driven by the government’s response philosophy.</a:t>
            </a:r>
          </a:p>
          <a:p>
            <a:pPr marL="0" indent="0" algn="just">
              <a:buNone/>
              <a:defRPr/>
            </a:pPr>
            <a:r>
              <a:rPr lang="en-GB" altLang="en-US" dirty="0"/>
              <a:t>If the government takes the lead, the role of industry may be restricted to:</a:t>
            </a:r>
          </a:p>
          <a:p>
            <a:pPr algn="just">
              <a:defRPr/>
            </a:pPr>
            <a:r>
              <a:rPr lang="en-GB" altLang="en-US" dirty="0"/>
              <a:t>their personnel</a:t>
            </a:r>
          </a:p>
          <a:p>
            <a:pPr algn="just">
              <a:defRPr/>
            </a:pPr>
            <a:r>
              <a:rPr lang="en-GB" altLang="en-US" dirty="0"/>
              <a:t>their assets</a:t>
            </a:r>
          </a:p>
          <a:p>
            <a:pPr algn="just">
              <a:defRPr/>
            </a:pPr>
            <a:r>
              <a:rPr lang="en-GB" altLang="en-US" dirty="0"/>
              <a:t>technical expertise</a:t>
            </a:r>
          </a:p>
          <a:p>
            <a:pPr algn="just">
              <a:defRPr/>
            </a:pPr>
            <a:r>
              <a:rPr lang="en-GB" altLang="en-US" dirty="0"/>
              <a:t>logistical support </a:t>
            </a:r>
          </a:p>
          <a:p>
            <a:pPr marL="0" indent="0" algn="just">
              <a:buNone/>
              <a:defRPr/>
            </a:pPr>
            <a:endParaRPr lang="en-GB" altLang="en-US" dirty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715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defTabSz="912813"/>
            <a:r>
              <a:rPr lang="en-GB" altLang="en-US" b="1" dirty="0" smtClean="0"/>
              <a:t>Framework for </a:t>
            </a:r>
            <a:r>
              <a:rPr lang="en-GB" altLang="en-US" b="1" dirty="0" smtClean="0"/>
              <a:t>Response</a:t>
            </a:r>
            <a:endParaRPr lang="en-GB" altLang="en-US" b="1" dirty="0" smtClean="0"/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1198042" y="1231265"/>
            <a:ext cx="10515600" cy="4351338"/>
          </a:xfrm>
        </p:spPr>
        <p:txBody>
          <a:bodyPr>
            <a:normAutofit/>
          </a:bodyPr>
          <a:lstStyle/>
          <a:p>
            <a:pPr defTabSz="912813">
              <a:buNone/>
            </a:pPr>
            <a:r>
              <a:rPr lang="en-GB" altLang="en-US" sz="3200" dirty="0" smtClean="0"/>
              <a:t>National contingency plan should define:</a:t>
            </a:r>
          </a:p>
          <a:p>
            <a:pPr defTabSz="912813"/>
            <a:r>
              <a:rPr lang="en-GB" altLang="en-US" sz="3200" dirty="0" smtClean="0"/>
              <a:t>Legal framework</a:t>
            </a:r>
          </a:p>
          <a:p>
            <a:pPr lvl="1" indent="-420688" defTabSz="912813">
              <a:buFont typeface="Wingdings" panose="05000000000000000000" pitchFamily="2" charset="2"/>
              <a:buChar char="Ø"/>
            </a:pPr>
            <a:r>
              <a:rPr lang="en-GB" altLang="en-US" sz="2800" dirty="0"/>
              <a:t>International/regional/bilateral obligations</a:t>
            </a:r>
          </a:p>
          <a:p>
            <a:pPr lvl="1" indent="-420688" defTabSz="912813">
              <a:buFont typeface="Wingdings" panose="05000000000000000000" pitchFamily="2" charset="2"/>
              <a:buChar char="Ø"/>
            </a:pPr>
            <a:r>
              <a:rPr lang="en-GB" altLang="en-US" sz="2800" dirty="0"/>
              <a:t>National laws</a:t>
            </a:r>
          </a:p>
          <a:p>
            <a:pPr defTabSz="912813"/>
            <a:r>
              <a:rPr lang="en-GB" altLang="en-US" sz="3200" dirty="0" smtClean="0"/>
              <a:t>Organizational structure</a:t>
            </a:r>
          </a:p>
          <a:p>
            <a:pPr defTabSz="912813"/>
            <a:r>
              <a:rPr lang="en-GB" altLang="en-US" sz="3200" dirty="0" smtClean="0"/>
              <a:t>Responsibility for the response: government or spiller?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34675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914" name="Rectangle 3"/>
          <p:cNvSpPr>
            <a:spLocks noGrp="1"/>
          </p:cNvSpPr>
          <p:nvPr>
            <p:ph idx="1"/>
          </p:nvPr>
        </p:nvSpPr>
        <p:spPr>
          <a:xfrm>
            <a:off x="993648" y="1057529"/>
            <a:ext cx="10515600" cy="4351338"/>
          </a:xfrm>
        </p:spPr>
        <p:txBody>
          <a:bodyPr>
            <a:normAutofit/>
          </a:bodyPr>
          <a:lstStyle/>
          <a:p>
            <a:pPr defTabSz="912813"/>
            <a:r>
              <a:rPr lang="en-GB" altLang="en-US" sz="3200" dirty="0" smtClean="0"/>
              <a:t>Competent national authority(</a:t>
            </a:r>
            <a:r>
              <a:rPr lang="en-GB" altLang="en-US" sz="3200" dirty="0" err="1" smtClean="0"/>
              <a:t>ies</a:t>
            </a:r>
            <a:r>
              <a:rPr lang="en-GB" altLang="en-US" sz="3200" dirty="0" smtClean="0"/>
              <a:t>) with responsibility for preparedness and response:</a:t>
            </a:r>
          </a:p>
          <a:p>
            <a:pPr lvl="1" indent="-420688" defTabSz="912813">
              <a:buFont typeface="Wingdings" panose="05000000000000000000" pitchFamily="2" charset="2"/>
              <a:buChar char="Ø"/>
            </a:pPr>
            <a:r>
              <a:rPr lang="en-GB" altLang="en-US" sz="2800" dirty="0"/>
              <a:t>at sea – ships, installations?</a:t>
            </a:r>
          </a:p>
          <a:p>
            <a:pPr lvl="1" indent="-420688" defTabSz="912813">
              <a:buFont typeface="Wingdings" panose="05000000000000000000" pitchFamily="2" charset="2"/>
              <a:buChar char="Ø"/>
            </a:pPr>
            <a:r>
              <a:rPr lang="en-GB" altLang="en-US" sz="2800" dirty="0"/>
              <a:t>on shore?</a:t>
            </a:r>
          </a:p>
          <a:p>
            <a:pPr lvl="1" indent="-420688" defTabSz="912813">
              <a:buFont typeface="Wingdings" panose="05000000000000000000" pitchFamily="2" charset="2"/>
              <a:buChar char="Ø"/>
            </a:pPr>
            <a:r>
              <a:rPr lang="en-GB" altLang="en-US" sz="2800" dirty="0"/>
              <a:t>oil and HNS or only oil?</a:t>
            </a:r>
          </a:p>
          <a:p>
            <a:pPr defTabSz="912813"/>
            <a:r>
              <a:rPr lang="en-GB" altLang="en-US" sz="3200" dirty="0" smtClean="0"/>
              <a:t>Operational contact point</a:t>
            </a:r>
          </a:p>
          <a:p>
            <a:pPr lvl="1" indent="-420688" defTabSz="912813">
              <a:buFont typeface="Wingdings" panose="05000000000000000000" pitchFamily="2" charset="2"/>
              <a:buChar char="Ø"/>
            </a:pPr>
            <a:r>
              <a:rPr lang="en-GB" altLang="en-US" sz="2800" dirty="0"/>
              <a:t>receipt/transmission of pollution reports</a:t>
            </a:r>
          </a:p>
          <a:p>
            <a:pPr defTabSz="912813"/>
            <a:r>
              <a:rPr lang="en-GB" altLang="en-US" sz="3200" dirty="0" smtClean="0"/>
              <a:t>Authority to request/render assistance</a:t>
            </a:r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defTabSz="912813"/>
            <a:r>
              <a:rPr lang="en-GB" altLang="en-US" b="1" dirty="0" smtClean="0"/>
              <a:t>Framework for </a:t>
            </a:r>
            <a:r>
              <a:rPr lang="en-GB" altLang="en-US" b="1" dirty="0" smtClean="0"/>
              <a:t>Response</a:t>
            </a:r>
            <a:endParaRPr lang="en-GB" altLang="en-US" b="1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62573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Government </a:t>
            </a:r>
            <a:r>
              <a:rPr lang="en-GB" altLang="en-US" b="1" dirty="0" smtClean="0"/>
              <a:t>Responsibilities</a:t>
            </a:r>
            <a:endParaRPr lang="en-GB" altLang="en-US" b="1" dirty="0" smtClean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1185672" y="89679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altLang="en-US" sz="3200" dirty="0" smtClean="0">
                <a:cs typeface="+mj-cs"/>
              </a:rPr>
              <a:t>Organizational arrangements</a:t>
            </a:r>
          </a:p>
          <a:p>
            <a:pPr>
              <a:lnSpc>
                <a:spcPct val="150000"/>
              </a:lnSpc>
            </a:pPr>
            <a:r>
              <a:rPr lang="en-GB" altLang="en-US" sz="3200" dirty="0" smtClean="0">
                <a:cs typeface="+mj-cs"/>
              </a:rPr>
              <a:t>Planning requirements</a:t>
            </a:r>
          </a:p>
          <a:p>
            <a:pPr>
              <a:lnSpc>
                <a:spcPct val="150000"/>
              </a:lnSpc>
            </a:pPr>
            <a:r>
              <a:rPr lang="en-GB" altLang="en-US" sz="3200" dirty="0" smtClean="0">
                <a:cs typeface="+mj-cs"/>
              </a:rPr>
              <a:t>Monitoring and reporting</a:t>
            </a:r>
          </a:p>
          <a:p>
            <a:pPr>
              <a:lnSpc>
                <a:spcPct val="150000"/>
              </a:lnSpc>
            </a:pPr>
            <a:r>
              <a:rPr lang="en-GB" altLang="en-US" sz="3200" dirty="0" smtClean="0">
                <a:cs typeface="+mj-cs"/>
              </a:rPr>
              <a:t>Defined operational procedures</a:t>
            </a:r>
          </a:p>
          <a:p>
            <a:pPr>
              <a:lnSpc>
                <a:spcPct val="150000"/>
              </a:lnSpc>
            </a:pPr>
            <a:r>
              <a:rPr lang="en-GB" altLang="en-US" sz="3200" dirty="0" smtClean="0">
                <a:cs typeface="+mj-cs"/>
              </a:rPr>
              <a:t>Training and exercising</a:t>
            </a:r>
          </a:p>
          <a:p>
            <a:pPr>
              <a:lnSpc>
                <a:spcPct val="150000"/>
              </a:lnSpc>
            </a:pPr>
            <a:r>
              <a:rPr lang="en-GB" altLang="en-US" sz="3200" dirty="0" smtClean="0">
                <a:cs typeface="+mj-cs"/>
              </a:rPr>
              <a:t>Financial and liability arrangements</a:t>
            </a:r>
          </a:p>
          <a:p>
            <a:endParaRPr lang="en-GB" altLang="en-US" sz="3200" dirty="0" smtClean="0">
              <a:cs typeface="+mj-cs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98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Organizational </a:t>
            </a:r>
            <a:r>
              <a:rPr lang="en-GB" altLang="en-US" b="1" dirty="0" smtClean="0"/>
              <a:t>Arrangements</a:t>
            </a:r>
            <a:endParaRPr lang="en-GB" altLang="en-US" b="1" dirty="0" smtClean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929640" y="1030097"/>
            <a:ext cx="10515600" cy="4351338"/>
          </a:xfrm>
        </p:spPr>
        <p:txBody>
          <a:bodyPr>
            <a:normAutofit/>
          </a:bodyPr>
          <a:lstStyle/>
          <a:p>
            <a:pPr marL="365125" indent="-365125" algn="just"/>
            <a:r>
              <a:rPr lang="en-GB" altLang="en-US" sz="3200" dirty="0" smtClean="0"/>
              <a:t>Essential that roles, responsibilities and capabilities of the various parties be identified</a:t>
            </a:r>
          </a:p>
          <a:p>
            <a:pPr marL="365125" indent="-365125" algn="just"/>
            <a:r>
              <a:rPr lang="en-GB" altLang="en-US" sz="3200" dirty="0" smtClean="0"/>
              <a:t>Establish clearly who has the onus of response</a:t>
            </a:r>
          </a:p>
          <a:p>
            <a:pPr marL="365125" indent="-365125" algn="just"/>
            <a:r>
              <a:rPr lang="en-GB" altLang="en-US" sz="3200" dirty="0" smtClean="0"/>
              <a:t>Consideration given to many tasks </a:t>
            </a:r>
          </a:p>
          <a:p>
            <a:pPr lvl="1" indent="-328613" algn="just">
              <a:buFont typeface="Wingdings" panose="05000000000000000000" pitchFamily="2" charset="2"/>
              <a:buChar char="Ø"/>
            </a:pPr>
            <a:r>
              <a:rPr lang="en-GB" altLang="en-US" sz="3200" dirty="0"/>
              <a:t>prevention</a:t>
            </a:r>
          </a:p>
          <a:p>
            <a:pPr lvl="1" indent="-328613" algn="just">
              <a:buFont typeface="Wingdings" panose="05000000000000000000" pitchFamily="2" charset="2"/>
              <a:buChar char="Ø"/>
            </a:pPr>
            <a:r>
              <a:rPr lang="en-GB" altLang="en-US" sz="3200" dirty="0"/>
              <a:t>preparedness</a:t>
            </a:r>
          </a:p>
          <a:p>
            <a:pPr lvl="1" indent="-328613" algn="just">
              <a:buFont typeface="Wingdings" panose="05000000000000000000" pitchFamily="2" charset="2"/>
              <a:buChar char="Ø"/>
            </a:pPr>
            <a:r>
              <a:rPr lang="en-GB" altLang="en-US" sz="3200" dirty="0"/>
              <a:t>response</a:t>
            </a:r>
          </a:p>
          <a:p>
            <a:pPr lvl="1" indent="-328613" algn="just">
              <a:buFont typeface="Wingdings" panose="05000000000000000000" pitchFamily="2" charset="2"/>
              <a:buChar char="Ø"/>
            </a:pPr>
            <a:r>
              <a:rPr lang="en-GB" altLang="en-US" sz="3200" dirty="0"/>
              <a:t>recovery/remediation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615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Prevention</a:t>
            </a:r>
          </a:p>
        </p:txBody>
      </p:sp>
      <p:sp>
        <p:nvSpPr>
          <p:cNvPr id="9219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1024395" y="1112393"/>
            <a:ext cx="10131374" cy="4351338"/>
          </a:xfrm>
        </p:spPr>
        <p:txBody>
          <a:bodyPr>
            <a:normAutofit/>
          </a:bodyPr>
          <a:lstStyle/>
          <a:p>
            <a:pPr marL="0" indent="0" algn="just">
              <a:buNone/>
              <a:defRPr/>
            </a:pPr>
            <a:r>
              <a:rPr lang="en-GB" sz="3200" dirty="0">
                <a:ea typeface="+mn-ea"/>
              </a:rPr>
              <a:t>Activities directed towards preventing or reducing the impact of incidents</a:t>
            </a:r>
          </a:p>
          <a:p>
            <a:pPr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evaluate existing polices, etc.</a:t>
            </a:r>
          </a:p>
          <a:p>
            <a:pPr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identify any gaps</a:t>
            </a:r>
          </a:p>
          <a:p>
            <a:pPr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prepare relevant policies and legislative elements</a:t>
            </a:r>
          </a:p>
          <a:p>
            <a:pPr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establish mandatory compliance requirements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650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Preparedness</a:t>
            </a:r>
          </a:p>
        </p:txBody>
      </p:sp>
      <p:sp>
        <p:nvSpPr>
          <p:cNvPr id="10243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832282" y="1194689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  <a:defRPr/>
            </a:pPr>
            <a:r>
              <a:rPr lang="en-GB" sz="3200" dirty="0">
                <a:ea typeface="+mn-ea"/>
              </a:rPr>
              <a:t>Activities meant to enhance the ability to respond to emergencies</a:t>
            </a:r>
          </a:p>
          <a:p>
            <a:pPr marL="365125" indent="-280988"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development of emergency response plans</a:t>
            </a:r>
          </a:p>
          <a:p>
            <a:pPr marL="365125" indent="-280988"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ensuring the availability of response resources and equipment</a:t>
            </a:r>
          </a:p>
          <a:p>
            <a:pPr marL="365125" indent="-280988"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training and exercising of personnel</a:t>
            </a:r>
          </a:p>
          <a:p>
            <a:pPr marL="365125" indent="-280988"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establishment of communication and alert channels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352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Preparedness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1149096" y="1020953"/>
            <a:ext cx="10515600" cy="4351338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3200" dirty="0" smtClean="0"/>
              <a:t>Preparedness should take into account</a:t>
            </a:r>
          </a:p>
          <a:p>
            <a:pPr>
              <a:buFontTx/>
              <a:buNone/>
            </a:pPr>
            <a:endParaRPr lang="en-GB" altLang="en-US" dirty="0" smtClean="0"/>
          </a:p>
          <a:p>
            <a:r>
              <a:rPr lang="en-GB" altLang="en-US" dirty="0" smtClean="0"/>
              <a:t>differing scenarios to probable incidents </a:t>
            </a:r>
          </a:p>
          <a:p>
            <a:r>
              <a:rPr lang="en-GB" altLang="en-US" dirty="0" smtClean="0"/>
              <a:t>organizations and activities involved</a:t>
            </a:r>
          </a:p>
          <a:p>
            <a:r>
              <a:rPr lang="en-GB" altLang="en-US" dirty="0" smtClean="0"/>
              <a:t>joint planning and training of those who may need to work together</a:t>
            </a:r>
          </a:p>
          <a:p>
            <a:r>
              <a:rPr lang="en-GB" altLang="en-US" dirty="0" smtClean="0"/>
              <a:t>close collaboration required between different parties from differing backgrounds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987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Preparedness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984504" y="1094105"/>
            <a:ext cx="10515600" cy="4351338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3200" dirty="0" smtClean="0"/>
              <a:t>Administrations should provide</a:t>
            </a:r>
          </a:p>
          <a:p>
            <a:r>
              <a:rPr lang="en-GB" altLang="en-US" dirty="0" smtClean="0"/>
              <a:t>plans </a:t>
            </a:r>
          </a:p>
          <a:p>
            <a:r>
              <a:rPr lang="en-GB" altLang="en-US" dirty="0" smtClean="0"/>
              <a:t>expert assistance</a:t>
            </a:r>
          </a:p>
          <a:p>
            <a:r>
              <a:rPr lang="en-GB" altLang="en-US" dirty="0" smtClean="0"/>
              <a:t>operational centre(s)</a:t>
            </a:r>
          </a:p>
          <a:p>
            <a:r>
              <a:rPr lang="en-GB" altLang="en-US" dirty="0" smtClean="0"/>
              <a:t>incident monitoring </a:t>
            </a:r>
          </a:p>
          <a:p>
            <a:r>
              <a:rPr lang="en-GB" altLang="en-US" dirty="0" smtClean="0"/>
              <a:t>incident coordination 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832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Preparedness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947928" y="1103249"/>
            <a:ext cx="10515600" cy="4351338"/>
          </a:xfrm>
        </p:spPr>
        <p:txBody>
          <a:bodyPr/>
          <a:lstStyle/>
          <a:p>
            <a:pPr algn="just">
              <a:buFontTx/>
              <a:buNone/>
            </a:pPr>
            <a:r>
              <a:rPr lang="en-GB" altLang="en-US" sz="3200" dirty="0" smtClean="0"/>
              <a:t>Specific issues of concern should include:</a:t>
            </a:r>
          </a:p>
          <a:p>
            <a:pPr algn="just"/>
            <a:r>
              <a:rPr lang="en-US" altLang="en-US" dirty="0" smtClean="0"/>
              <a:t>preparing relevant guidelines and policies</a:t>
            </a:r>
          </a:p>
          <a:p>
            <a:pPr algn="just"/>
            <a:r>
              <a:rPr lang="en-US" altLang="en-US" dirty="0" smtClean="0"/>
              <a:t>defining reporting procedures</a:t>
            </a:r>
            <a:endParaRPr lang="en-GB" altLang="en-US" dirty="0" smtClean="0"/>
          </a:p>
          <a:p>
            <a:pPr algn="just"/>
            <a:r>
              <a:rPr lang="en-US" altLang="en-US" dirty="0" smtClean="0"/>
              <a:t>preparing and implementing periodic inspection and auditing protocols</a:t>
            </a:r>
            <a:endParaRPr lang="en-GB" altLang="en-US" dirty="0" smtClean="0"/>
          </a:p>
          <a:p>
            <a:pPr algn="just"/>
            <a:r>
              <a:rPr lang="en-US" altLang="en-US" dirty="0" smtClean="0"/>
              <a:t>collecting and disseminating information</a:t>
            </a:r>
            <a:endParaRPr lang="en-GB" altLang="en-US" dirty="0" smtClean="0"/>
          </a:p>
          <a:p>
            <a:pPr algn="just"/>
            <a:r>
              <a:rPr lang="en-US" altLang="en-US" dirty="0" smtClean="0"/>
              <a:t>defining emergency response planning requirements</a:t>
            </a:r>
          </a:p>
          <a:p>
            <a:pPr algn="just"/>
            <a:r>
              <a:rPr lang="en-US" altLang="en-US" dirty="0" smtClean="0"/>
              <a:t>establishing information databases  </a:t>
            </a:r>
            <a:r>
              <a:rPr lang="en-GB" altLang="en-US" dirty="0" smtClean="0"/>
              <a:t> </a:t>
            </a:r>
          </a:p>
          <a:p>
            <a:pPr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algn="just">
              <a:buFontTx/>
              <a:buNone/>
            </a:pPr>
            <a:endParaRPr lang="en-GB" altLang="en-US" dirty="0" smtClean="0"/>
          </a:p>
          <a:p>
            <a:pPr algn="just">
              <a:buFontTx/>
              <a:buNone/>
            </a:pPr>
            <a:endParaRPr lang="en-GB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320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Preparedness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1533145" y="1160187"/>
            <a:ext cx="9028175" cy="5218113"/>
          </a:xfrm>
        </p:spPr>
        <p:txBody>
          <a:bodyPr/>
          <a:lstStyle/>
          <a:p>
            <a:pPr algn="just">
              <a:buFontTx/>
              <a:buNone/>
            </a:pPr>
            <a:r>
              <a:rPr lang="en-GB" altLang="en-US" sz="3200" dirty="0" smtClean="0"/>
              <a:t>Specific issues of concern should include:</a:t>
            </a:r>
          </a:p>
          <a:p>
            <a:pPr algn="just"/>
            <a:r>
              <a:rPr lang="en-GB" altLang="en-US" dirty="0" smtClean="0"/>
              <a:t>identifying expertise</a:t>
            </a:r>
          </a:p>
          <a:p>
            <a:pPr algn="just"/>
            <a:r>
              <a:rPr lang="en-GB" altLang="en-US" dirty="0" smtClean="0"/>
              <a:t>if numbers are a problem, considering creating a </a:t>
            </a:r>
            <a:r>
              <a:rPr lang="ja-JP" altLang="en-GB" dirty="0" smtClean="0"/>
              <a:t>“</a:t>
            </a:r>
            <a:r>
              <a:rPr lang="en-GB" altLang="ja-JP" dirty="0" smtClean="0"/>
              <a:t>pool of experts</a:t>
            </a:r>
            <a:r>
              <a:rPr lang="ja-JP" altLang="en-GB" dirty="0" smtClean="0"/>
              <a:t>”</a:t>
            </a:r>
            <a:r>
              <a:rPr lang="en-GB" altLang="ja-JP" dirty="0" smtClean="0"/>
              <a:t> to act as an advisory group </a:t>
            </a:r>
          </a:p>
          <a:p>
            <a:pPr algn="just"/>
            <a:r>
              <a:rPr lang="en-GB" altLang="en-US" dirty="0" smtClean="0"/>
              <a:t>identifying resources</a:t>
            </a:r>
          </a:p>
          <a:p>
            <a:pPr algn="just"/>
            <a:r>
              <a:rPr lang="en-GB" altLang="en-US" dirty="0" smtClean="0"/>
              <a:t>training resources</a:t>
            </a:r>
          </a:p>
          <a:p>
            <a:pPr algn="just"/>
            <a:r>
              <a:rPr lang="en-GB" altLang="en-US" dirty="0" smtClean="0"/>
              <a:t>exercising resources</a:t>
            </a:r>
          </a:p>
          <a:p>
            <a:pPr algn="just"/>
            <a:r>
              <a:rPr lang="en-GB" altLang="en-US" dirty="0" smtClean="0"/>
              <a:t>facilitation of transboundary response (people and equipment)</a:t>
            </a:r>
          </a:p>
          <a:p>
            <a:pPr algn="just">
              <a:buFontTx/>
              <a:buNone/>
            </a:pPr>
            <a:endParaRPr lang="en-GB" altLang="en-US" dirty="0" smtClean="0"/>
          </a:p>
          <a:p>
            <a:pPr algn="just">
              <a:buFontTx/>
              <a:buNone/>
            </a:pPr>
            <a:endParaRPr lang="en-GB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396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Monitoring and </a:t>
            </a:r>
            <a:r>
              <a:rPr lang="en-GB" altLang="en-US" b="1" dirty="0" smtClean="0"/>
              <a:t>Reporting </a:t>
            </a:r>
            <a:endParaRPr lang="en-GB" altLang="en-US" b="1" dirty="0" smtClean="0"/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1522521" y="1295273"/>
            <a:ext cx="10515600" cy="4351338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3200" dirty="0" smtClean="0"/>
              <a:t>Establishment of reporting procedures</a:t>
            </a:r>
          </a:p>
          <a:p>
            <a:r>
              <a:rPr lang="en-GB" altLang="en-US" dirty="0" smtClean="0"/>
              <a:t>who is responsible for reporting?</a:t>
            </a:r>
          </a:p>
          <a:p>
            <a:r>
              <a:rPr lang="en-GB" altLang="en-US" dirty="0" smtClean="0"/>
              <a:t>to whom should reports be made?</a:t>
            </a:r>
          </a:p>
          <a:p>
            <a:r>
              <a:rPr lang="en-GB" altLang="en-US" dirty="0" smtClean="0"/>
              <a:t>what format should be used?</a:t>
            </a:r>
          </a:p>
          <a:p>
            <a:r>
              <a:rPr lang="en-GB" altLang="en-US" dirty="0" smtClean="0"/>
              <a:t>when are reports to be made</a:t>
            </a:r>
          </a:p>
          <a:p>
            <a:pPr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>
              <a:buFontTx/>
              <a:buNone/>
            </a:pPr>
            <a:r>
              <a:rPr lang="en-GB" altLang="en-US" dirty="0" smtClean="0"/>
              <a:t>Linked to appropriate record-keeping process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490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589264" cy="561975"/>
          </a:xfrm>
        </p:spPr>
        <p:txBody>
          <a:bodyPr>
            <a:normAutofit fontScale="90000"/>
          </a:bodyPr>
          <a:lstStyle/>
          <a:p>
            <a:r>
              <a:rPr lang="en-GB" altLang="en-US" b="1" dirty="0" smtClean="0"/>
              <a:t>Defined </a:t>
            </a:r>
            <a:r>
              <a:rPr lang="en-GB" altLang="en-US" b="1" dirty="0" smtClean="0"/>
              <a:t>Operational </a:t>
            </a:r>
            <a:r>
              <a:rPr lang="en-GB" altLang="en-US" b="1" dirty="0"/>
              <a:t>P</a:t>
            </a:r>
            <a:r>
              <a:rPr lang="en-GB" altLang="en-US" b="1" dirty="0" smtClean="0"/>
              <a:t>rocedures</a:t>
            </a:r>
            <a:endParaRPr lang="en-GB" altLang="en-US" b="1" dirty="0" smtClean="0"/>
          </a:p>
        </p:txBody>
      </p:sp>
      <p:sp>
        <p:nvSpPr>
          <p:cNvPr id="17411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1350264" y="1158113"/>
            <a:ext cx="10515600" cy="435133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sz="3200" dirty="0">
                <a:ea typeface="+mn-ea"/>
              </a:rPr>
              <a:t>To ensure an appropriate and effective response in a timely fashion</a:t>
            </a:r>
          </a:p>
          <a:p>
            <a:pPr marL="0" indent="0">
              <a:buNone/>
              <a:defRPr/>
            </a:pPr>
            <a:endParaRPr lang="en-GB" dirty="0">
              <a:ea typeface="+mn-ea"/>
            </a:endParaRPr>
          </a:p>
          <a:p>
            <a:pPr marL="365125" indent="-365125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Develop clearly defined operational procedures</a:t>
            </a:r>
          </a:p>
          <a:p>
            <a:pPr marL="365125" indent="-365125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Consider possible scenarios</a:t>
            </a:r>
          </a:p>
          <a:p>
            <a:pPr marL="365125" indent="-365125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Integrate different response resources</a:t>
            </a:r>
          </a:p>
          <a:p>
            <a:pPr marL="365125" indent="-365125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Incorporate lessons learned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970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Training and </a:t>
            </a:r>
            <a:r>
              <a:rPr lang="en-GB" altLang="en-US" b="1" dirty="0" smtClean="0"/>
              <a:t>Exercise</a:t>
            </a:r>
            <a:endParaRPr lang="en-GB" altLang="en-US" b="1" dirty="0" smtClean="0"/>
          </a:p>
        </p:txBody>
      </p:sp>
      <p:sp>
        <p:nvSpPr>
          <p:cNvPr id="18435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704266" y="1304417"/>
            <a:ext cx="10515600" cy="4351338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GB" sz="3200" dirty="0">
                <a:ea typeface="+mn-ea"/>
              </a:rPr>
              <a:t>Training standards should be prescribed for all response personnel</a:t>
            </a:r>
          </a:p>
          <a:p>
            <a:pPr marL="365125" indent="-280988"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specific training content adapted to individual roles and job performance expectations</a:t>
            </a:r>
          </a:p>
          <a:p>
            <a:pPr marL="365125" indent="-280988"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schedules for implementation and compliance dates</a:t>
            </a:r>
          </a:p>
          <a:p>
            <a:pPr marL="365125" indent="-280988"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requirements for issuing of training certificates</a:t>
            </a:r>
          </a:p>
          <a:p>
            <a:pPr marL="365125" indent="-280988"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requirements for periodic training</a:t>
            </a:r>
          </a:p>
          <a:p>
            <a:pPr marL="0" indent="0" algn="just">
              <a:buNone/>
              <a:defRPr/>
            </a:pPr>
            <a:endParaRPr lang="en-GB" dirty="0">
              <a:ea typeface="+mn-ea"/>
            </a:endParaRPr>
          </a:p>
          <a:p>
            <a:pPr marL="0" indent="0" algn="just">
              <a:buFont typeface="Arial" charset="0"/>
              <a:buChar char="•"/>
              <a:defRPr/>
            </a:pPr>
            <a:endParaRPr lang="en-GB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008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Training and </a:t>
            </a:r>
            <a:r>
              <a:rPr lang="en-GB" altLang="en-US" b="1" dirty="0" smtClean="0"/>
              <a:t>Exercise</a:t>
            </a:r>
            <a:endParaRPr lang="en-GB" altLang="en-US" b="1" dirty="0" smtClean="0"/>
          </a:p>
        </p:txBody>
      </p:sp>
      <p:sp>
        <p:nvSpPr>
          <p:cNvPr id="18435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832282" y="1396790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  <a:defRPr/>
            </a:pPr>
            <a:r>
              <a:rPr lang="en-GB" sz="3200" dirty="0">
                <a:ea typeface="+mn-ea"/>
              </a:rPr>
              <a:t>Training standards should be prescribed for all response personnel</a:t>
            </a:r>
          </a:p>
          <a:p>
            <a:pPr marL="365125" indent="-280988"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requirements for exercises or drills</a:t>
            </a:r>
          </a:p>
          <a:p>
            <a:pPr marL="365125" indent="-280988"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certification/approval of training delivery organizations</a:t>
            </a:r>
          </a:p>
          <a:p>
            <a:pPr marL="365125" indent="-280988" algn="just">
              <a:buFont typeface="Arial" charset="0"/>
              <a:buChar char="•"/>
              <a:defRPr/>
            </a:pPr>
            <a:r>
              <a:rPr lang="en-GB" dirty="0">
                <a:ea typeface="+mn-ea"/>
              </a:rPr>
              <a:t>equivalency with international training requirements</a:t>
            </a:r>
          </a:p>
          <a:p>
            <a:pPr marL="0" indent="0" algn="just">
              <a:buFont typeface="Arial" charset="0"/>
              <a:buChar char="•"/>
              <a:defRPr/>
            </a:pPr>
            <a:endParaRPr lang="en-GB" sz="3200" dirty="0">
              <a:ea typeface="+mn-ea"/>
            </a:endParaRPr>
          </a:p>
          <a:p>
            <a:pPr marL="0" indent="0" algn="just">
              <a:buFont typeface="Arial" charset="0"/>
              <a:buChar char="•"/>
              <a:defRPr/>
            </a:pPr>
            <a:endParaRPr lang="en-GB" sz="3200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219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Summary </a:t>
            </a:r>
          </a:p>
        </p:txBody>
      </p:sp>
      <p:sp>
        <p:nvSpPr>
          <p:cNvPr id="3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905434" y="111239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  <a:defRPr/>
            </a:pPr>
            <a:endParaRPr lang="en-US" sz="3200" dirty="0">
              <a:ea typeface="+mn-ea"/>
            </a:endParaRPr>
          </a:p>
          <a:p>
            <a:pPr marL="0" indent="0" algn="just">
              <a:buNone/>
              <a:defRPr/>
            </a:pPr>
            <a:r>
              <a:rPr lang="en-US" sz="3200" dirty="0">
                <a:ea typeface="+mn-ea"/>
              </a:rPr>
              <a:t>In this lesson we have considered the roles and responsibilities of all parties that may be involved in the incident response.</a:t>
            </a:r>
            <a:endParaRPr lang="en-GB" sz="3200" dirty="0">
              <a:ea typeface="+mn-ea"/>
            </a:endParaRPr>
          </a:p>
          <a:p>
            <a:pPr algn="just">
              <a:buFont typeface="Arial" charset="0"/>
              <a:buNone/>
              <a:defRPr/>
            </a:pPr>
            <a:endParaRPr lang="en-GB" sz="3200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097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1135</Words>
  <Application>Microsoft Office PowerPoint</Application>
  <PresentationFormat>Widescreen</PresentationFormat>
  <Paragraphs>235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MS PGothic</vt:lpstr>
      <vt:lpstr>Arial</vt:lpstr>
      <vt:lpstr>Calibri</vt:lpstr>
      <vt:lpstr>inherit</vt:lpstr>
      <vt:lpstr>Symbol</vt:lpstr>
      <vt:lpstr>Tahoma</vt:lpstr>
      <vt:lpstr>Wingdings</vt:lpstr>
      <vt:lpstr>Office Theme</vt:lpstr>
      <vt:lpstr>Lesson 3.11 Roles and Responsibilities</vt:lpstr>
      <vt:lpstr>Objective</vt:lpstr>
      <vt:lpstr>Introduction</vt:lpstr>
      <vt:lpstr>The Ship</vt:lpstr>
      <vt:lpstr>The Port</vt:lpstr>
      <vt:lpstr>The Installation</vt:lpstr>
      <vt:lpstr>The Salvors</vt:lpstr>
      <vt:lpstr>Insurance</vt:lpstr>
      <vt:lpstr>The Government  Regulator</vt:lpstr>
      <vt:lpstr>The Government – Response</vt:lpstr>
      <vt:lpstr>Industry Response</vt:lpstr>
      <vt:lpstr>Framework for Response</vt:lpstr>
      <vt:lpstr>Framework for Response</vt:lpstr>
      <vt:lpstr>Government Responsibilities</vt:lpstr>
      <vt:lpstr>Organizational Arrangements</vt:lpstr>
      <vt:lpstr>Prevention</vt:lpstr>
      <vt:lpstr>Preparedness</vt:lpstr>
      <vt:lpstr>Preparedness</vt:lpstr>
      <vt:lpstr>Preparedness</vt:lpstr>
      <vt:lpstr>Preparedness</vt:lpstr>
      <vt:lpstr>Preparedness</vt:lpstr>
      <vt:lpstr>Monitoring and Reporting </vt:lpstr>
      <vt:lpstr>Defined Operational Procedures</vt:lpstr>
      <vt:lpstr>Training and Exercise</vt:lpstr>
      <vt:lpstr>Training and Exercise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148</cp:revision>
  <dcterms:created xsi:type="dcterms:W3CDTF">2024-09-27T05:40:49Z</dcterms:created>
  <dcterms:modified xsi:type="dcterms:W3CDTF">2025-06-03T11:16:41Z</dcterms:modified>
</cp:coreProperties>
</file>
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6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2D032-A4A5-4FB8-88CB-5027E6BB41ED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B0BB37-510B-4745-B01F-2F63A5E00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2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4C2D3F1-94C7-4A06-9023-6B93EDFB5DDD}" type="slidenum">
              <a:rPr lang="en-GB" altLang="en-US" sz="1300" smtClean="0"/>
              <a:pPr>
                <a:spcBef>
                  <a:spcPct val="0"/>
                </a:spcBef>
              </a:pPr>
              <a:t>2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4275707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25B4D41-EC41-4853-996E-E969BA34DC9C}" type="slidenum">
              <a:rPr lang="en-GB" altLang="en-US" sz="1300" smtClean="0"/>
              <a:pPr>
                <a:spcBef>
                  <a:spcPct val="0"/>
                </a:spcBef>
              </a:pPr>
              <a:t>3</a:t>
            </a:fld>
            <a:endParaRPr lang="en-GB" altLang="en-US" sz="1300" smtClean="0"/>
          </a:p>
        </p:txBody>
      </p:sp>
      <p:sp>
        <p:nvSpPr>
          <p:cNvPr id="2150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018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Courier New" pitchFamily="49" charset="0"/>
              <a:buChar char="o"/>
              <a:defRPr/>
            </a:pPr>
            <a:endParaRPr lang="en-GB" dirty="0">
              <a:ea typeface="+mn-ea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F4BE94A-2519-49D8-A743-6F3ED567374C}" type="slidenum">
              <a:rPr lang="en-GB" altLang="en-US" sz="1300" smtClean="0"/>
              <a:pPr>
                <a:spcBef>
                  <a:spcPct val="0"/>
                </a:spcBef>
              </a:pPr>
              <a:t>4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531994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  <a:defRPr/>
            </a:pPr>
            <a:endParaRPr lang="en-GB" dirty="0">
              <a:ea typeface="+mn-ea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4FF724C-14E5-4DD2-9E14-0EF253F54DE6}" type="slidenum">
              <a:rPr lang="en-GB" altLang="en-US" sz="1300" smtClean="0"/>
              <a:pPr>
                <a:spcBef>
                  <a:spcPct val="0"/>
                </a:spcBef>
              </a:pPr>
              <a:t>6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18086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9C20820-FE48-4A74-82C0-D3FEFD08969A}" type="slidenum">
              <a:rPr lang="en-US" altLang="en-US" sz="1300" smtClean="0"/>
              <a:pPr>
                <a:spcBef>
                  <a:spcPct val="0"/>
                </a:spcBef>
              </a:pPr>
              <a:t>7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957699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572778-3276-4B42-A233-D45B84F20CDE}" type="slidenum">
              <a:rPr lang="en-US" altLang="en-US" sz="1300" smtClean="0"/>
              <a:pPr>
                <a:spcBef>
                  <a:spcPct val="0"/>
                </a:spcBef>
              </a:pPr>
              <a:t>8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349839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D5CA8E6-98BB-4BFC-9F1C-728A907E1669}" type="slidenum">
              <a:rPr lang="en-US" altLang="en-US" sz="1300" smtClean="0"/>
              <a:pPr>
                <a:spcBef>
                  <a:spcPct val="0"/>
                </a:spcBef>
              </a:pPr>
              <a:t>9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004454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D127CC-57D4-4963-9C0F-76700A1941C9}" type="slidenum">
              <a:rPr lang="en-US" altLang="en-US" sz="1300" smtClean="0"/>
              <a:pPr>
                <a:spcBef>
                  <a:spcPct val="0"/>
                </a:spcBef>
              </a:pPr>
              <a:t>10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091901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AC904CE-59AB-4D84-9252-BBCABCC69832}" type="slidenum">
              <a:rPr lang="en-US" altLang="en-US" sz="1300" smtClean="0"/>
              <a:pPr>
                <a:spcBef>
                  <a:spcPct val="0"/>
                </a:spcBef>
              </a:pPr>
              <a:t>11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124782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AC882DC-78A2-43BF-8B17-6ABDCA6288CD}" type="slidenum">
              <a:rPr lang="en-US" altLang="en-US" sz="1300" smtClean="0"/>
              <a:pPr>
                <a:spcBef>
                  <a:spcPct val="0"/>
                </a:spcBef>
              </a:pPr>
              <a:t>12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99497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/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C177AA9-D647-46E5-A571-83836DF27881}" type="slidenum">
              <a:rPr lang="en-US" altLang="en-US" sz="1300" smtClean="0"/>
              <a:pPr>
                <a:spcBef>
                  <a:spcPct val="0"/>
                </a:spcBef>
              </a:pPr>
              <a:t>13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4165342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98223E-1246-4626-965D-CF34F583A4D0}" type="slidenum">
              <a:rPr lang="en-GB" altLang="en-US" sz="1300" smtClean="0"/>
              <a:pPr>
                <a:spcBef>
                  <a:spcPct val="0"/>
                </a:spcBef>
              </a:pPr>
              <a:t>14</a:t>
            </a:fld>
            <a:endParaRPr lang="en-GB" altLang="en-US" sz="1300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76488" y="461963"/>
            <a:ext cx="4856162" cy="2732087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3012" name="Notes Placeholder 3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592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GB" dirty="0">
              <a:ea typeface="+mn-ea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3A0487-5186-4277-9964-6EB83A9E84F1}" type="slidenum">
              <a:rPr lang="en-GB" altLang="en-US" sz="1300" smtClean="0"/>
              <a:pPr>
                <a:spcBef>
                  <a:spcPct val="0"/>
                </a:spcBef>
              </a:pPr>
              <a:t>15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239163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800" indent="-177800">
              <a:buFont typeface="Arial" charset="0"/>
              <a:buNone/>
              <a:defRPr/>
            </a:pPr>
            <a:endParaRPr lang="en-GB" dirty="0">
              <a:ea typeface="+mn-ea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DB111EE-9513-4116-AE01-5A511ADA0A81}" type="slidenum">
              <a:rPr lang="en-GB" altLang="en-US" sz="1300" smtClean="0"/>
              <a:pPr>
                <a:spcBef>
                  <a:spcPct val="0"/>
                </a:spcBef>
              </a:pPr>
              <a:t>16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826884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7800" indent="-177800">
              <a:lnSpc>
                <a:spcPct val="90000"/>
              </a:lnSpc>
            </a:pPr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878864B-A5BA-4D61-9533-D603D23BF692}" type="slidenum">
              <a:rPr lang="en-GB" altLang="en-US" sz="1300" smtClean="0"/>
              <a:pPr>
                <a:spcBef>
                  <a:spcPct val="0"/>
                </a:spcBef>
              </a:pPr>
              <a:t>17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651350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7800" indent="-177800">
              <a:lnSpc>
                <a:spcPct val="90000"/>
              </a:lnSpc>
            </a:pPr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E12E1FA-A90B-4C78-9891-4B1220ACA5E9}" type="slidenum">
              <a:rPr lang="en-GB" altLang="en-US" sz="1300" smtClean="0"/>
              <a:pPr>
                <a:spcBef>
                  <a:spcPct val="0"/>
                </a:spcBef>
              </a:pPr>
              <a:t>18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785414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GB" dirty="0">
              <a:ea typeface="+mn-ea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FD1F96-2117-42AD-B057-AA8A322A9997}" type="slidenum">
              <a:rPr lang="en-GB" altLang="en-US" sz="1300" smtClean="0"/>
              <a:pPr>
                <a:spcBef>
                  <a:spcPct val="0"/>
                </a:spcBef>
              </a:pPr>
              <a:t>19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2689108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GB" dirty="0">
              <a:ea typeface="+mn-ea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F2F7D64-644D-450D-9C89-8FD51C0D8FBA}" type="slidenum">
              <a:rPr lang="en-GB" altLang="en-US" sz="1300" smtClean="0"/>
              <a:pPr>
                <a:spcBef>
                  <a:spcPct val="0"/>
                </a:spcBef>
              </a:pPr>
              <a:t>20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497135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DAB6903-6E59-47D4-B6A5-A1B57E831369}" type="slidenum">
              <a:rPr lang="en-GB" altLang="en-US" sz="1300" smtClean="0"/>
              <a:pPr>
                <a:spcBef>
                  <a:spcPct val="0"/>
                </a:spcBef>
              </a:pPr>
              <a:t>23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8177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795528" y="2139696"/>
            <a:ext cx="10369296" cy="35415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Lesson 3.16</a:t>
            </a:r>
            <a:br>
              <a:rPr lang="en-GB" altLang="en-US" sz="4000" b="1" dirty="0" smtClean="0"/>
            </a:br>
            <a:r>
              <a:rPr lang="en-GB" altLang="en-US" sz="4000" b="1" dirty="0" smtClean="0"/>
              <a:t>Internal Communication Requirements</a:t>
            </a:r>
            <a:endParaRPr lang="en-GB" altLang="en-US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Objective</a:t>
            </a:r>
          </a:p>
        </p:txBody>
      </p:sp>
      <p:sp>
        <p:nvSpPr>
          <p:cNvPr id="25603" name="Content Placeholder 3">
            <a:extLst/>
          </p:cNvPr>
          <p:cNvSpPr>
            <a:spLocks noGrp="1"/>
          </p:cNvSpPr>
          <p:nvPr>
            <p:ph idx="1"/>
          </p:nvPr>
        </p:nvSpPr>
        <p:spPr>
          <a:xfrm>
            <a:off x="963346" y="1602995"/>
            <a:ext cx="10253472" cy="978729"/>
          </a:xfr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sz="3200" dirty="0" smtClean="0">
                <a:ea typeface="+mn-ea"/>
              </a:rPr>
              <a:t>To </a:t>
            </a:r>
            <a:r>
              <a:rPr lang="en-US" sz="3200" dirty="0">
                <a:ea typeface="+mn-ea"/>
              </a:rPr>
              <a:t>understand the need for an internal communications plan.</a:t>
            </a:r>
            <a:endParaRPr lang="en-GB" sz="3200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54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947928" y="1167257"/>
            <a:ext cx="10515600" cy="4351338"/>
          </a:xfrm>
        </p:spPr>
        <p:txBody>
          <a:bodyPr>
            <a:normAutofit lnSpcReduction="10000"/>
          </a:bodyPr>
          <a:lstStyle/>
          <a:p>
            <a:pPr defTabSz="912813">
              <a:buNone/>
            </a:pPr>
            <a:r>
              <a:rPr lang="en-GB" altLang="en-US" sz="3200" b="1" dirty="0" smtClean="0"/>
              <a:t>Communications plan</a:t>
            </a:r>
          </a:p>
          <a:p>
            <a:pPr marL="355600" lvl="1" indent="-355600" defTabSz="912813"/>
            <a:r>
              <a:rPr lang="en-GB" altLang="en-US" sz="2800" dirty="0"/>
              <a:t>Response team</a:t>
            </a:r>
          </a:p>
          <a:p>
            <a:pPr marL="355600" lvl="1" indent="-355600" defTabSz="912813"/>
            <a:r>
              <a:rPr lang="en-GB" altLang="en-US" sz="2800" dirty="0"/>
              <a:t>Response community</a:t>
            </a:r>
          </a:p>
          <a:p>
            <a:pPr marL="355600" lvl="1" indent="-355600" defTabSz="912813"/>
            <a:r>
              <a:rPr lang="en-GB" altLang="en-US" sz="2800" dirty="0"/>
              <a:t>Senior administrators/Ministers</a:t>
            </a:r>
          </a:p>
          <a:p>
            <a:pPr marL="355600" lvl="1" indent="-355600" defTabSz="912813"/>
            <a:r>
              <a:rPr lang="en-GB" altLang="en-US" sz="2800" dirty="0"/>
              <a:t>Regional and international contacts</a:t>
            </a:r>
          </a:p>
          <a:p>
            <a:pPr defTabSz="912813">
              <a:buNone/>
            </a:pPr>
            <a:endParaRPr lang="en-GB" altLang="en-US" dirty="0" smtClean="0"/>
          </a:p>
          <a:p>
            <a:pPr defTabSz="912813">
              <a:buNone/>
            </a:pPr>
            <a:r>
              <a:rPr lang="en-GB" altLang="en-US" sz="3200" b="1" dirty="0" smtClean="0"/>
              <a:t>Media relations plan </a:t>
            </a:r>
          </a:p>
          <a:p>
            <a:pPr defTabSz="912813"/>
            <a:r>
              <a:rPr lang="en-GB" altLang="en-US" dirty="0" smtClean="0"/>
              <a:t>Media</a:t>
            </a:r>
          </a:p>
          <a:p>
            <a:pPr defTabSz="912813"/>
            <a:r>
              <a:rPr lang="en-GB" altLang="en-US" dirty="0" smtClean="0"/>
              <a:t>Public</a:t>
            </a: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defTabSz="912813"/>
            <a:r>
              <a:rPr lang="en-GB" altLang="en-US" b="1" dirty="0" smtClean="0"/>
              <a:t>Two </a:t>
            </a:r>
            <a:r>
              <a:rPr lang="en-GB" altLang="en-US" b="1" dirty="0" smtClean="0"/>
              <a:t>Plans</a:t>
            </a:r>
            <a:endParaRPr lang="en-GB" altLang="en-US" b="1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1142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Internal </a:t>
            </a:r>
            <a:r>
              <a:rPr lang="en-GB" altLang="en-US" b="1" dirty="0" smtClean="0"/>
              <a:t>Challenges</a:t>
            </a:r>
            <a:endParaRPr lang="en-GB" altLang="en-US" b="1" dirty="0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015162" y="1148969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Vertical flow of information challenges:</a:t>
            </a:r>
          </a:p>
          <a:p>
            <a:r>
              <a:rPr lang="en-GB" altLang="en-US" dirty="0" smtClean="0"/>
              <a:t>Capturing, analysing and reporting the information in a timely manner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/>
              <a:t>aerial surveillance</a:t>
            </a:r>
          </a:p>
          <a:p>
            <a:pPr lvl="2" indent="-430213">
              <a:buFont typeface="Wingdings" panose="05000000000000000000" pitchFamily="2" charset="2"/>
              <a:buChar char="ü"/>
            </a:pPr>
            <a:r>
              <a:rPr lang="en-GB" altLang="en-US" sz="2800" dirty="0"/>
              <a:t>fixed wing, rotary, satellite, unmanned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/>
              <a:t>offshore units</a:t>
            </a:r>
          </a:p>
          <a:p>
            <a:pPr lvl="2" indent="-430213">
              <a:buFont typeface="Wingdings" panose="05000000000000000000" pitchFamily="2" charset="2"/>
              <a:buChar char="ü"/>
            </a:pPr>
            <a:r>
              <a:rPr lang="en-GB" altLang="en-US" sz="2800" dirty="0"/>
              <a:t>response vessels, other marine traffic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/>
              <a:t>onshore units</a:t>
            </a:r>
          </a:p>
          <a:p>
            <a:pPr lvl="2" indent="-430213">
              <a:buFont typeface="Wingdings" panose="05000000000000000000" pitchFamily="2" charset="2"/>
              <a:buChar char="ü"/>
            </a:pPr>
            <a:r>
              <a:rPr lang="en-GB" altLang="en-US" sz="2800" dirty="0"/>
              <a:t>response sites</a:t>
            </a:r>
          </a:p>
          <a:p>
            <a:endParaRPr lang="en-GB" altLang="en-US" dirty="0" smtClean="0"/>
          </a:p>
          <a:p>
            <a:endParaRPr lang="en-GB" altLang="en-US" dirty="0" smtClean="0"/>
          </a:p>
          <a:p>
            <a:pPr lvl="1"/>
            <a:endParaRPr lang="en-GB" altLang="en-US" sz="28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081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Internal </a:t>
            </a:r>
            <a:r>
              <a:rPr lang="en-GB" altLang="en-US" b="1" dirty="0" smtClean="0"/>
              <a:t>Challenges</a:t>
            </a:r>
            <a:endParaRPr lang="en-CA" altLang="en-US" b="1" dirty="0" smtClean="0"/>
          </a:p>
        </p:txBody>
      </p:sp>
      <p:pic>
        <p:nvPicPr>
          <p:cNvPr id="24579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47850" y="827851"/>
            <a:ext cx="4440238" cy="2960687"/>
          </a:xfrm>
        </p:spPr>
      </p:pic>
      <p:pic>
        <p:nvPicPr>
          <p:cNvPr id="24580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088" y="809625"/>
            <a:ext cx="4056062" cy="304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239" y="3797301"/>
            <a:ext cx="4459287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46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Internal </a:t>
            </a:r>
            <a:r>
              <a:rPr lang="en-GB" altLang="en-US" b="1" dirty="0" smtClean="0"/>
              <a:t>Challenges</a:t>
            </a:r>
            <a:endParaRPr lang="en-GB" altLang="en-US" b="1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1222248" y="1139187"/>
            <a:ext cx="10564368" cy="53292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Vertical flow of information challenges:</a:t>
            </a:r>
          </a:p>
          <a:p>
            <a:r>
              <a:rPr lang="en-GB" altLang="en-US" sz="3200" dirty="0" smtClean="0"/>
              <a:t>Numerous organizations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/>
              <a:t>lack of familiarity and teamwork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/>
              <a:t>differing reporting formats and mediums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/>
              <a:t>differing terminology</a:t>
            </a:r>
          </a:p>
          <a:p>
            <a:r>
              <a:rPr lang="en-GB" altLang="en-US" sz="3200" dirty="0"/>
              <a:t>Numerous locations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/>
              <a:t>separate response management locations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/>
              <a:t>overloaded carriers, crowded airwaves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/>
              <a:t>poor or no reception </a:t>
            </a:r>
          </a:p>
          <a:p>
            <a:endParaRPr lang="en-GB" altLang="en-US" sz="3200" dirty="0" smtClean="0"/>
          </a:p>
          <a:p>
            <a:endParaRPr lang="en-GB" altLang="en-US" sz="3200" dirty="0" smtClean="0"/>
          </a:p>
          <a:p>
            <a:pPr lvl="1"/>
            <a:endParaRPr lang="en-GB" altLang="en-US" sz="32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779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650" name="Tit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Communications</a:t>
            </a:r>
          </a:p>
        </p:txBody>
      </p:sp>
      <p:sp>
        <p:nvSpPr>
          <p:cNvPr id="27651" name="Content Placeholder 3"/>
          <p:cNvSpPr>
            <a:spLocks noGrp="1"/>
          </p:cNvSpPr>
          <p:nvPr>
            <p:ph idx="1"/>
          </p:nvPr>
        </p:nvSpPr>
        <p:spPr>
          <a:xfrm>
            <a:off x="996874" y="1148969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Satellite communications (SATCOM)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Ship to ship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Ship to shore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Ship to aircraft (specialized)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Fax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Long range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Relatively secure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5293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698" name="Tit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Communications</a:t>
            </a:r>
          </a:p>
        </p:txBody>
      </p:sp>
      <p:sp>
        <p:nvSpPr>
          <p:cNvPr id="29699" name="Content Placeholder 3"/>
          <p:cNvSpPr>
            <a:spLocks noGrp="1"/>
          </p:cNvSpPr>
          <p:nvPr>
            <p:ph idx="1"/>
          </p:nvPr>
        </p:nvSpPr>
        <p:spPr>
          <a:xfrm>
            <a:off x="1377696" y="1103249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Radio telephony</a:t>
            </a:r>
          </a:p>
          <a:p>
            <a:pPr marL="539750" lvl="1" indent="-503238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Ship to ship</a:t>
            </a:r>
          </a:p>
          <a:p>
            <a:pPr marL="539750" lvl="1" indent="-503238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Ship to shore</a:t>
            </a:r>
          </a:p>
          <a:p>
            <a:pPr marL="539750" lvl="1" indent="-503238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Ship to aircraft (specialized)</a:t>
            </a:r>
          </a:p>
          <a:p>
            <a:pPr marL="539750" lvl="1" indent="-503238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Effective in transmitting to all stations within reception area</a:t>
            </a:r>
          </a:p>
          <a:p>
            <a:pPr marL="539750" lvl="1" indent="-503238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Medium to long range</a:t>
            </a:r>
          </a:p>
          <a:p>
            <a:pPr marL="539750" lvl="1" indent="-503238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Not secure</a:t>
            </a:r>
          </a:p>
          <a:p>
            <a:endParaRPr lang="en-GB" altLang="en-US" sz="32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6185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746" name="Tit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Communications</a:t>
            </a:r>
          </a:p>
        </p:txBody>
      </p:sp>
      <p:sp>
        <p:nvSpPr>
          <p:cNvPr id="31747" name="Content Placeholder 3"/>
          <p:cNvSpPr>
            <a:spLocks noGrp="1"/>
          </p:cNvSpPr>
          <p:nvPr>
            <p:ph idx="1"/>
          </p:nvPr>
        </p:nvSpPr>
        <p:spPr>
          <a:xfrm>
            <a:off x="947928" y="1021886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Very High Frequency (VHF)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Ship to ship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Ship to shore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Ship to aircraft (specialized)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Medium (shore station) to short range 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Effective in transmitting to all stations within reception area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Response units may have private frequencies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Not secure</a:t>
            </a:r>
          </a:p>
          <a:p>
            <a:pPr lvl="1">
              <a:buFont typeface="Arial" panose="020B0604020202020204" pitchFamily="34" charset="0"/>
              <a:buNone/>
            </a:pPr>
            <a:endParaRPr lang="en-GB" altLang="en-US" sz="2800" dirty="0" smtClean="0"/>
          </a:p>
          <a:p>
            <a:pPr lvl="1"/>
            <a:endParaRPr lang="en-GB" altLang="en-US" sz="28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5088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794" name="Tit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Communications</a:t>
            </a:r>
          </a:p>
        </p:txBody>
      </p:sp>
      <p:sp>
        <p:nvSpPr>
          <p:cNvPr id="33795" name="Content Placeholder 3"/>
          <p:cNvSpPr>
            <a:spLocks noGrp="1"/>
          </p:cNvSpPr>
          <p:nvPr>
            <p:ph idx="1"/>
          </p:nvPr>
        </p:nvSpPr>
        <p:spPr>
          <a:xfrm>
            <a:off x="1350264" y="11398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Ultra-High Frequency (UHF)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Ship to air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Air to air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Ground to air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Team to team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Short range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Response units may have private frequencies</a:t>
            </a:r>
          </a:p>
          <a:p>
            <a:pPr marL="539750" lvl="1" indent="-447675">
              <a:buFont typeface="Arial" panose="020B0604020202020204" pitchFamily="34" charset="0"/>
              <a:buChar char="•"/>
            </a:pPr>
            <a:r>
              <a:rPr lang="en-GB" altLang="en-US" sz="2800" dirty="0" smtClean="0"/>
              <a:t>Not secure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0143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842" name="Tit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Communications</a:t>
            </a:r>
          </a:p>
        </p:txBody>
      </p:sp>
      <p:sp>
        <p:nvSpPr>
          <p:cNvPr id="35843" name="Content Placeholder 3"/>
          <p:cNvSpPr>
            <a:spLocks noGrp="1"/>
          </p:cNvSpPr>
          <p:nvPr>
            <p:ph idx="1"/>
          </p:nvPr>
        </p:nvSpPr>
        <p:spPr>
          <a:xfrm>
            <a:off x="832282" y="1066673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err="1" smtClean="0"/>
              <a:t>Cellphones</a:t>
            </a:r>
            <a:r>
              <a:rPr lang="en-GB" altLang="en-US" sz="3200" dirty="0" smtClean="0"/>
              <a:t>, </a:t>
            </a:r>
            <a:r>
              <a:rPr lang="en-GB" altLang="en-US" sz="3200" dirty="0" err="1" smtClean="0"/>
              <a:t>etc</a:t>
            </a:r>
            <a:endParaRPr lang="en-GB" altLang="en-US" sz="3200" dirty="0" smtClean="0"/>
          </a:p>
          <a:p>
            <a:r>
              <a:rPr lang="en-GB" altLang="en-US" sz="3200" dirty="0" smtClean="0"/>
              <a:t>digital </a:t>
            </a:r>
            <a:r>
              <a:rPr lang="en-GB" altLang="en-US" sz="3200" dirty="0" err="1" smtClean="0"/>
              <a:t>cellphones</a:t>
            </a:r>
            <a:r>
              <a:rPr lang="en-GB" altLang="en-US" sz="3200" dirty="0" smtClean="0"/>
              <a:t>, Personal Digital Assistants (PDA), laptops</a:t>
            </a:r>
          </a:p>
          <a:p>
            <a:r>
              <a:rPr lang="en-GB" altLang="en-US" sz="3200" dirty="0" smtClean="0"/>
              <a:t>access to internet</a:t>
            </a:r>
          </a:p>
          <a:p>
            <a:r>
              <a:rPr lang="en-GB" altLang="en-US" sz="3200" dirty="0" smtClean="0"/>
              <a:t>digital forms, photographs</a:t>
            </a:r>
          </a:p>
          <a:p>
            <a:r>
              <a:rPr lang="en-GB" altLang="en-US" sz="3200" dirty="0" smtClean="0"/>
              <a:t>time stamp </a:t>
            </a:r>
          </a:p>
          <a:p>
            <a:r>
              <a:rPr lang="en-GB" altLang="en-US" sz="3200" dirty="0" smtClean="0"/>
              <a:t>generally not explosion-proof or intrinsically safe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altLang="en-US" sz="3200" b="1" dirty="0" smtClean="0"/>
              <a:t>All communications need power supply</a:t>
            </a:r>
          </a:p>
          <a:p>
            <a:pPr lvl="1">
              <a:buFont typeface="Arial" panose="020B0604020202020204" pitchFamily="34" charset="0"/>
              <a:buChar char="►"/>
            </a:pPr>
            <a:endParaRPr lang="en-GB" altLang="en-US" sz="32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214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890" name="Tit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Storage of </a:t>
            </a:r>
            <a:r>
              <a:rPr lang="en-GB" altLang="en-US" b="1" dirty="0" smtClean="0"/>
              <a:t>Communications</a:t>
            </a:r>
            <a:endParaRPr lang="en-GB" altLang="en-US" b="1" dirty="0" smtClean="0"/>
          </a:p>
        </p:txBody>
      </p:sp>
      <p:sp>
        <p:nvSpPr>
          <p:cNvPr id="37891" name="Content Placeholder 3"/>
          <p:cNvSpPr>
            <a:spLocks noGrp="1"/>
          </p:cNvSpPr>
          <p:nvPr>
            <p:ph idx="1"/>
          </p:nvPr>
        </p:nvSpPr>
        <p:spPr>
          <a:xfrm>
            <a:off x="1030224" y="1231265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Capture and storage of data</a:t>
            </a:r>
          </a:p>
          <a:p>
            <a:r>
              <a:rPr lang="en-GB" altLang="en-US" dirty="0" smtClean="0"/>
              <a:t>system to capture data </a:t>
            </a:r>
          </a:p>
          <a:p>
            <a:r>
              <a:rPr lang="en-GB" altLang="en-US" dirty="0" smtClean="0"/>
              <a:t>system to store data</a:t>
            </a:r>
          </a:p>
          <a:p>
            <a:r>
              <a:rPr lang="en-GB" altLang="en-US" dirty="0" smtClean="0"/>
              <a:t>system to analyse data</a:t>
            </a:r>
          </a:p>
          <a:p>
            <a:r>
              <a:rPr lang="en-GB" altLang="en-US" dirty="0" smtClean="0"/>
              <a:t>system to sift information, remove salient facts and re-transmit </a:t>
            </a:r>
          </a:p>
          <a:p>
            <a:r>
              <a:rPr lang="en-GB" altLang="en-US" dirty="0" smtClean="0"/>
              <a:t>needs to be as near to </a:t>
            </a:r>
            <a:r>
              <a:rPr lang="ja-JP" altLang="en-GB" dirty="0" smtClean="0"/>
              <a:t>“</a:t>
            </a:r>
            <a:r>
              <a:rPr lang="en-GB" altLang="ja-JP" dirty="0" smtClean="0"/>
              <a:t>real-time</a:t>
            </a:r>
            <a:r>
              <a:rPr lang="ja-JP" altLang="en-GB" dirty="0" smtClean="0"/>
              <a:t>”</a:t>
            </a:r>
            <a:r>
              <a:rPr lang="en-GB" altLang="ja-JP" dirty="0" smtClean="0"/>
              <a:t> as possible</a:t>
            </a:r>
          </a:p>
          <a:p>
            <a:r>
              <a:rPr lang="en-GB" altLang="en-US" dirty="0" smtClean="0"/>
              <a:t>out of date information has limited use 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1858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938" name="Tit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Manage </a:t>
            </a:r>
            <a:r>
              <a:rPr lang="en-GB" altLang="en-US" b="1" dirty="0" smtClean="0"/>
              <a:t>Communications</a:t>
            </a:r>
            <a:endParaRPr lang="en-GB" altLang="en-US" b="1" dirty="0" smtClean="0"/>
          </a:p>
        </p:txBody>
      </p:sp>
      <p:sp>
        <p:nvSpPr>
          <p:cNvPr id="4" name="Content Placeholder 3">
            <a:extLst/>
          </p:cNvPr>
          <p:cNvSpPr>
            <a:spLocks noGrp="1"/>
          </p:cNvSpPr>
          <p:nvPr>
            <p:ph idx="1"/>
          </p:nvPr>
        </p:nvSpPr>
        <p:spPr>
          <a:xfrm>
            <a:off x="1042594" y="984377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charset="0"/>
              <a:buNone/>
              <a:defRPr/>
            </a:pPr>
            <a:r>
              <a:rPr lang="en-GB" sz="3200" dirty="0">
                <a:ea typeface="+mn-ea"/>
              </a:rPr>
              <a:t>How do we manage our communication needs?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prepare a communications plan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harness technology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think ahead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study and learn from other countries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have sufficient resources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exercise your plan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assess lessons 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update plan to incorporate lessons</a:t>
            </a:r>
          </a:p>
          <a:p>
            <a:pPr marL="273050" indent="-273050">
              <a:buNone/>
              <a:defRPr/>
            </a:pPr>
            <a:r>
              <a:rPr lang="en-GB" dirty="0">
                <a:ea typeface="+mn-ea"/>
              </a:rPr>
              <a:t> </a:t>
            </a:r>
          </a:p>
          <a:p>
            <a:pPr marL="273050" indent="-273050">
              <a:buFont typeface="Arial" charset="0"/>
              <a:buChar char="•"/>
              <a:defRPr/>
            </a:pPr>
            <a:endParaRPr lang="en-GB" dirty="0">
              <a:ea typeface="+mn-ea"/>
            </a:endParaRP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7994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le 206">
            <a:extLst/>
          </p:cNvPr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defTabSz="914363">
              <a:defRPr/>
            </a:pPr>
            <a:r>
              <a:rPr lang="en-GB" dirty="0">
                <a:ea typeface="+mj-ea"/>
              </a:rPr>
              <a:t>Incident </a:t>
            </a:r>
            <a:r>
              <a:rPr lang="en-GB" dirty="0" smtClean="0">
                <a:ea typeface="+mj-ea"/>
              </a:rPr>
              <a:t>communications network</a:t>
            </a:r>
            <a:endParaRPr lang="en-GB" dirty="0">
              <a:ea typeface="+mj-ea"/>
            </a:endParaRPr>
          </a:p>
        </p:txBody>
      </p:sp>
      <p:grpSp>
        <p:nvGrpSpPr>
          <p:cNvPr id="41987" name="Group 205"/>
          <p:cNvGrpSpPr>
            <a:grpSpLocks/>
          </p:cNvGrpSpPr>
          <p:nvPr/>
        </p:nvGrpSpPr>
        <p:grpSpPr bwMode="auto">
          <a:xfrm>
            <a:off x="1703389" y="961073"/>
            <a:ext cx="8713787" cy="5327650"/>
            <a:chOff x="328" y="424"/>
            <a:chExt cx="5088" cy="3408"/>
          </a:xfrm>
        </p:grpSpPr>
        <p:sp>
          <p:nvSpPr>
            <p:cNvPr id="41988" name="Rectangle 203"/>
            <p:cNvSpPr>
              <a:spLocks noChangeArrowheads="1"/>
            </p:cNvSpPr>
            <p:nvPr/>
          </p:nvSpPr>
          <p:spPr bwMode="auto">
            <a:xfrm>
              <a:off x="328" y="424"/>
              <a:ext cx="5088" cy="3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1989" name="Rectangle 4"/>
            <p:cNvSpPr>
              <a:spLocks noChangeArrowheads="1"/>
            </p:cNvSpPr>
            <p:nvPr/>
          </p:nvSpPr>
          <p:spPr bwMode="auto">
            <a:xfrm>
              <a:off x="4153" y="462"/>
              <a:ext cx="1210" cy="3323"/>
            </a:xfrm>
            <a:prstGeom prst="rect">
              <a:avLst/>
            </a:prstGeom>
            <a:solidFill>
              <a:srgbClr val="FDE3BA"/>
            </a:solidFill>
            <a:ln w="12700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1990" name="Rectangle 5"/>
            <p:cNvSpPr>
              <a:spLocks noChangeArrowheads="1"/>
            </p:cNvSpPr>
            <p:nvPr/>
          </p:nvSpPr>
          <p:spPr bwMode="auto">
            <a:xfrm>
              <a:off x="381" y="460"/>
              <a:ext cx="1423" cy="3325"/>
            </a:xfrm>
            <a:prstGeom prst="rect">
              <a:avLst/>
            </a:prstGeom>
            <a:solidFill>
              <a:srgbClr val="FCD1C1"/>
            </a:solidFill>
            <a:ln w="12700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1991" name="Rectangle 6"/>
            <p:cNvSpPr>
              <a:spLocks noChangeArrowheads="1"/>
            </p:cNvSpPr>
            <p:nvPr/>
          </p:nvSpPr>
          <p:spPr bwMode="auto">
            <a:xfrm>
              <a:off x="1815" y="460"/>
              <a:ext cx="2318" cy="3325"/>
            </a:xfrm>
            <a:prstGeom prst="rect">
              <a:avLst/>
            </a:prstGeom>
            <a:solidFill>
              <a:srgbClr val="A2C1FE"/>
            </a:solidFill>
            <a:ln w="12700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1992" name="Line 7"/>
            <p:cNvSpPr>
              <a:spLocks noChangeShapeType="1"/>
            </p:cNvSpPr>
            <p:nvPr/>
          </p:nvSpPr>
          <p:spPr bwMode="auto">
            <a:xfrm>
              <a:off x="1808" y="479"/>
              <a:ext cx="0" cy="3287"/>
            </a:xfrm>
            <a:prstGeom prst="line">
              <a:avLst/>
            </a:prstGeom>
            <a:noFill/>
            <a:ln w="38100" cmpd="dbl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993" name="Line 8"/>
            <p:cNvSpPr>
              <a:spLocks noChangeShapeType="1"/>
            </p:cNvSpPr>
            <p:nvPr/>
          </p:nvSpPr>
          <p:spPr bwMode="auto">
            <a:xfrm>
              <a:off x="4139" y="479"/>
              <a:ext cx="0" cy="3287"/>
            </a:xfrm>
            <a:prstGeom prst="line">
              <a:avLst/>
            </a:prstGeom>
            <a:noFill/>
            <a:ln w="38100" cmpd="dbl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994" name="Rectangle 9"/>
            <p:cNvSpPr>
              <a:spLocks noChangeArrowheads="1"/>
            </p:cNvSpPr>
            <p:nvPr/>
          </p:nvSpPr>
          <p:spPr bwMode="auto">
            <a:xfrm>
              <a:off x="396" y="2002"/>
              <a:ext cx="535" cy="297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8892" tIns="44446" rIns="88892" bIns="44446">
              <a:spAutoFit/>
            </a:bodyPr>
            <a:lstStyle>
              <a:lvl1pPr defTabSz="885825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858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85825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858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858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Oil Spill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Command Centre</a:t>
              </a:r>
            </a:p>
          </p:txBody>
        </p:sp>
        <p:sp>
          <p:nvSpPr>
            <p:cNvPr id="41995" name="Rectangle 10"/>
            <p:cNvSpPr>
              <a:spLocks noChangeArrowheads="1"/>
            </p:cNvSpPr>
            <p:nvPr/>
          </p:nvSpPr>
          <p:spPr bwMode="auto">
            <a:xfrm>
              <a:off x="989" y="1303"/>
              <a:ext cx="393" cy="137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8892" tIns="44446" rIns="88892" bIns="44446">
              <a:spAutoFit/>
            </a:bodyPr>
            <a:lstStyle>
              <a:lvl1pPr defTabSz="885825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858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85825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858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858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Landline</a:t>
              </a:r>
            </a:p>
          </p:txBody>
        </p:sp>
        <p:sp>
          <p:nvSpPr>
            <p:cNvPr id="41996" name="Rectangle 11"/>
            <p:cNvSpPr>
              <a:spLocks noChangeArrowheads="1"/>
            </p:cNvSpPr>
            <p:nvPr/>
          </p:nvSpPr>
          <p:spPr bwMode="auto">
            <a:xfrm>
              <a:off x="1166" y="2063"/>
              <a:ext cx="417" cy="137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8892" tIns="44446" rIns="88892" bIns="44446">
              <a:spAutoFit/>
            </a:bodyPr>
            <a:lstStyle>
              <a:lvl1pPr defTabSz="885825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858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85825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858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858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Inmarsat</a:t>
              </a:r>
            </a:p>
          </p:txBody>
        </p:sp>
        <p:sp>
          <p:nvSpPr>
            <p:cNvPr id="41997" name="Rectangle 12"/>
            <p:cNvSpPr>
              <a:spLocks noChangeArrowheads="1"/>
            </p:cNvSpPr>
            <p:nvPr/>
          </p:nvSpPr>
          <p:spPr bwMode="auto">
            <a:xfrm>
              <a:off x="1015" y="2818"/>
              <a:ext cx="343" cy="137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8892" tIns="44446" rIns="88892" bIns="44446">
              <a:spAutoFit/>
            </a:bodyPr>
            <a:lstStyle>
              <a:lvl1pPr defTabSz="885825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858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85825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858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858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Cellnet</a:t>
              </a:r>
            </a:p>
          </p:txBody>
        </p:sp>
        <p:sp>
          <p:nvSpPr>
            <p:cNvPr id="41998" name="Line 13"/>
            <p:cNvSpPr>
              <a:spLocks noChangeShapeType="1"/>
            </p:cNvSpPr>
            <p:nvPr/>
          </p:nvSpPr>
          <p:spPr bwMode="auto">
            <a:xfrm flipV="1">
              <a:off x="615" y="1743"/>
              <a:ext cx="265" cy="26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999" name="Line 14"/>
            <p:cNvSpPr>
              <a:spLocks noChangeShapeType="1"/>
            </p:cNvSpPr>
            <p:nvPr/>
          </p:nvSpPr>
          <p:spPr bwMode="auto">
            <a:xfrm>
              <a:off x="939" y="2123"/>
              <a:ext cx="104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00" name="Line 15"/>
            <p:cNvSpPr>
              <a:spLocks noChangeShapeType="1"/>
            </p:cNvSpPr>
            <p:nvPr/>
          </p:nvSpPr>
          <p:spPr bwMode="auto">
            <a:xfrm>
              <a:off x="615" y="2288"/>
              <a:ext cx="265" cy="253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01" name="Line 16"/>
            <p:cNvSpPr>
              <a:spLocks noChangeShapeType="1"/>
            </p:cNvSpPr>
            <p:nvPr/>
          </p:nvSpPr>
          <p:spPr bwMode="auto">
            <a:xfrm flipH="1">
              <a:off x="874" y="1459"/>
              <a:ext cx="327" cy="27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02" name="Line 17"/>
            <p:cNvSpPr>
              <a:spLocks noChangeShapeType="1"/>
            </p:cNvSpPr>
            <p:nvPr/>
          </p:nvSpPr>
          <p:spPr bwMode="auto">
            <a:xfrm flipH="1">
              <a:off x="1734" y="2123"/>
              <a:ext cx="145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03" name="Line 18"/>
            <p:cNvSpPr>
              <a:spLocks noChangeShapeType="1"/>
            </p:cNvSpPr>
            <p:nvPr/>
          </p:nvSpPr>
          <p:spPr bwMode="auto">
            <a:xfrm>
              <a:off x="1197" y="1453"/>
              <a:ext cx="300" cy="27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04" name="Line 19"/>
            <p:cNvSpPr>
              <a:spLocks noChangeShapeType="1"/>
            </p:cNvSpPr>
            <p:nvPr/>
          </p:nvSpPr>
          <p:spPr bwMode="auto">
            <a:xfrm flipV="1">
              <a:off x="1608" y="2119"/>
              <a:ext cx="115" cy="1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05" name="Line 20"/>
            <p:cNvSpPr>
              <a:spLocks noChangeShapeType="1"/>
            </p:cNvSpPr>
            <p:nvPr/>
          </p:nvSpPr>
          <p:spPr bwMode="auto">
            <a:xfrm flipH="1" flipV="1">
              <a:off x="908" y="2553"/>
              <a:ext cx="293" cy="28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06" name="Line 21"/>
            <p:cNvSpPr>
              <a:spLocks noChangeShapeType="1"/>
            </p:cNvSpPr>
            <p:nvPr/>
          </p:nvSpPr>
          <p:spPr bwMode="auto">
            <a:xfrm flipH="1" flipV="1">
              <a:off x="2168" y="2504"/>
              <a:ext cx="0" cy="192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07" name="Line 22"/>
            <p:cNvSpPr>
              <a:spLocks noChangeShapeType="1"/>
            </p:cNvSpPr>
            <p:nvPr/>
          </p:nvSpPr>
          <p:spPr bwMode="auto">
            <a:xfrm flipH="1">
              <a:off x="1045" y="2116"/>
              <a:ext cx="103" cy="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08" name="Rectangle 23"/>
            <p:cNvSpPr>
              <a:spLocks noChangeArrowheads="1"/>
            </p:cNvSpPr>
            <p:nvPr/>
          </p:nvSpPr>
          <p:spPr bwMode="auto">
            <a:xfrm>
              <a:off x="1896" y="1848"/>
              <a:ext cx="617" cy="695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8892" tIns="44446" rIns="88892" bIns="44446">
              <a:spAutoFit/>
            </a:bodyPr>
            <a:lstStyle>
              <a:lvl1pPr defTabSz="885825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858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85825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8582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8582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8582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Marine VHF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Telephone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Telex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Fax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GB" altLang="en-US" sz="900" b="1">
                <a:latin typeface="Tahoma" panose="020B0604030504040204" pitchFamily="34" charset="0"/>
              </a:endParaRP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Control 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UHF / VHF / HF</a:t>
              </a:r>
            </a:p>
          </p:txBody>
        </p:sp>
        <p:sp>
          <p:nvSpPr>
            <p:cNvPr id="42009" name="Rectangle 24"/>
            <p:cNvSpPr>
              <a:spLocks noChangeArrowheads="1"/>
            </p:cNvSpPr>
            <p:nvPr/>
          </p:nvSpPr>
          <p:spPr bwMode="auto">
            <a:xfrm>
              <a:off x="2517" y="453"/>
              <a:ext cx="671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1100" b="1">
                  <a:latin typeface="Tahoma" panose="020B0604030504040204" pitchFamily="34" charset="0"/>
                </a:rPr>
                <a:t>Incident Zone</a:t>
              </a:r>
            </a:p>
          </p:txBody>
        </p:sp>
        <p:sp>
          <p:nvSpPr>
            <p:cNvPr id="42010" name="Line 25"/>
            <p:cNvSpPr>
              <a:spLocks noChangeShapeType="1"/>
            </p:cNvSpPr>
            <p:nvPr/>
          </p:nvSpPr>
          <p:spPr bwMode="auto">
            <a:xfrm>
              <a:off x="1854" y="783"/>
              <a:ext cx="658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11" name="Line 26"/>
            <p:cNvSpPr>
              <a:spLocks noChangeShapeType="1"/>
            </p:cNvSpPr>
            <p:nvPr/>
          </p:nvSpPr>
          <p:spPr bwMode="auto">
            <a:xfrm>
              <a:off x="1854" y="745"/>
              <a:ext cx="700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12" name="Line 27"/>
            <p:cNvSpPr>
              <a:spLocks noChangeShapeType="1"/>
            </p:cNvSpPr>
            <p:nvPr/>
          </p:nvSpPr>
          <p:spPr bwMode="auto">
            <a:xfrm flipH="1">
              <a:off x="2512" y="748"/>
              <a:ext cx="50" cy="3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13" name="Line 28"/>
            <p:cNvSpPr>
              <a:spLocks noChangeShapeType="1"/>
            </p:cNvSpPr>
            <p:nvPr/>
          </p:nvSpPr>
          <p:spPr bwMode="auto">
            <a:xfrm flipV="1">
              <a:off x="1933" y="623"/>
              <a:ext cx="0" cy="12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14" name="Line 29"/>
            <p:cNvSpPr>
              <a:spLocks noChangeShapeType="1"/>
            </p:cNvSpPr>
            <p:nvPr/>
          </p:nvSpPr>
          <p:spPr bwMode="auto">
            <a:xfrm flipV="1">
              <a:off x="2977" y="1252"/>
              <a:ext cx="283" cy="28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15" name="Line 30"/>
            <p:cNvSpPr>
              <a:spLocks noChangeShapeType="1"/>
            </p:cNvSpPr>
            <p:nvPr/>
          </p:nvSpPr>
          <p:spPr bwMode="auto">
            <a:xfrm flipV="1">
              <a:off x="1975" y="623"/>
              <a:ext cx="0" cy="12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16" name="Line 31"/>
            <p:cNvSpPr>
              <a:spLocks noChangeShapeType="1"/>
            </p:cNvSpPr>
            <p:nvPr/>
          </p:nvSpPr>
          <p:spPr bwMode="auto">
            <a:xfrm flipV="1">
              <a:off x="1850" y="740"/>
              <a:ext cx="0" cy="4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17" name="Arc 32"/>
            <p:cNvSpPr>
              <a:spLocks/>
            </p:cNvSpPr>
            <p:nvPr/>
          </p:nvSpPr>
          <p:spPr bwMode="auto">
            <a:xfrm rot="-780000">
              <a:off x="2017" y="709"/>
              <a:ext cx="163" cy="36"/>
            </a:xfrm>
            <a:custGeom>
              <a:avLst/>
              <a:gdLst>
                <a:gd name="T0" fmla="*/ 0 w 21593"/>
                <a:gd name="T1" fmla="*/ 0 h 21600"/>
                <a:gd name="T2" fmla="*/ 0 w 21593"/>
                <a:gd name="T3" fmla="*/ 0 h 21600"/>
                <a:gd name="T4" fmla="*/ 0 w 2159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593"/>
                <a:gd name="T10" fmla="*/ 0 h 21600"/>
                <a:gd name="T11" fmla="*/ 21593 w 2159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3" h="21600" fill="none" extrusionOk="0">
                  <a:moveTo>
                    <a:pt x="-1" y="0"/>
                  </a:moveTo>
                  <a:cubicBezTo>
                    <a:pt x="11710" y="0"/>
                    <a:pt x="21288" y="9332"/>
                    <a:pt x="21592" y="21039"/>
                  </a:cubicBezTo>
                </a:path>
                <a:path w="21593" h="21600" stroke="0" extrusionOk="0">
                  <a:moveTo>
                    <a:pt x="-1" y="0"/>
                  </a:moveTo>
                  <a:cubicBezTo>
                    <a:pt x="11710" y="0"/>
                    <a:pt x="21288" y="9332"/>
                    <a:pt x="21592" y="2103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18" name="Rectangle 33"/>
            <p:cNvSpPr>
              <a:spLocks noChangeArrowheads="1"/>
            </p:cNvSpPr>
            <p:nvPr/>
          </p:nvSpPr>
          <p:spPr bwMode="auto">
            <a:xfrm>
              <a:off x="2311" y="629"/>
              <a:ext cx="76" cy="111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019" name="Arc 34"/>
            <p:cNvSpPr>
              <a:spLocks/>
            </p:cNvSpPr>
            <p:nvPr/>
          </p:nvSpPr>
          <p:spPr bwMode="auto">
            <a:xfrm rot="-780000">
              <a:off x="2390" y="704"/>
              <a:ext cx="123" cy="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20" name="Line 35"/>
            <p:cNvSpPr>
              <a:spLocks noChangeShapeType="1"/>
            </p:cNvSpPr>
            <p:nvPr/>
          </p:nvSpPr>
          <p:spPr bwMode="auto">
            <a:xfrm>
              <a:off x="2308" y="589"/>
              <a:ext cx="0" cy="3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21" name="Line 36"/>
            <p:cNvSpPr>
              <a:spLocks noChangeShapeType="1"/>
            </p:cNvSpPr>
            <p:nvPr/>
          </p:nvSpPr>
          <p:spPr bwMode="auto">
            <a:xfrm>
              <a:off x="2266" y="551"/>
              <a:ext cx="0" cy="189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22" name="Line 37"/>
            <p:cNvSpPr>
              <a:spLocks noChangeShapeType="1"/>
            </p:cNvSpPr>
            <p:nvPr/>
          </p:nvSpPr>
          <p:spPr bwMode="auto">
            <a:xfrm>
              <a:off x="2062" y="1654"/>
              <a:ext cx="76" cy="3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23" name="Line 38"/>
            <p:cNvSpPr>
              <a:spLocks noChangeShapeType="1"/>
            </p:cNvSpPr>
            <p:nvPr/>
          </p:nvSpPr>
          <p:spPr bwMode="auto">
            <a:xfrm>
              <a:off x="2349" y="551"/>
              <a:ext cx="0" cy="72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24" name="Line 39"/>
            <p:cNvSpPr>
              <a:spLocks noChangeShapeType="1"/>
            </p:cNvSpPr>
            <p:nvPr/>
          </p:nvSpPr>
          <p:spPr bwMode="auto">
            <a:xfrm>
              <a:off x="2390" y="589"/>
              <a:ext cx="0" cy="3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25" name="Rectangle 40"/>
            <p:cNvSpPr>
              <a:spLocks noChangeArrowheads="1"/>
            </p:cNvSpPr>
            <p:nvPr/>
          </p:nvSpPr>
          <p:spPr bwMode="auto">
            <a:xfrm>
              <a:off x="2543" y="663"/>
              <a:ext cx="36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Support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Vessel</a:t>
              </a:r>
            </a:p>
          </p:txBody>
        </p:sp>
        <p:sp>
          <p:nvSpPr>
            <p:cNvPr id="42026" name="Line 41"/>
            <p:cNvSpPr>
              <a:spLocks noChangeShapeType="1"/>
            </p:cNvSpPr>
            <p:nvPr/>
          </p:nvSpPr>
          <p:spPr bwMode="auto">
            <a:xfrm>
              <a:off x="2142" y="1614"/>
              <a:ext cx="0" cy="23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27" name="Line 42"/>
            <p:cNvSpPr>
              <a:spLocks noChangeShapeType="1"/>
            </p:cNvSpPr>
            <p:nvPr/>
          </p:nvSpPr>
          <p:spPr bwMode="auto">
            <a:xfrm flipH="1">
              <a:off x="2138" y="1654"/>
              <a:ext cx="90" cy="3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28" name="Line 43"/>
            <p:cNvSpPr>
              <a:spLocks noChangeShapeType="1"/>
            </p:cNvSpPr>
            <p:nvPr/>
          </p:nvSpPr>
          <p:spPr bwMode="auto">
            <a:xfrm>
              <a:off x="2311" y="1377"/>
              <a:ext cx="34" cy="72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29" name="Line 44"/>
            <p:cNvSpPr>
              <a:spLocks noChangeShapeType="1"/>
            </p:cNvSpPr>
            <p:nvPr/>
          </p:nvSpPr>
          <p:spPr bwMode="auto">
            <a:xfrm flipH="1">
              <a:off x="2345" y="1220"/>
              <a:ext cx="91" cy="229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30" name="Line 45"/>
            <p:cNvSpPr>
              <a:spLocks noChangeShapeType="1"/>
            </p:cNvSpPr>
            <p:nvPr/>
          </p:nvSpPr>
          <p:spPr bwMode="auto">
            <a:xfrm>
              <a:off x="2100" y="787"/>
              <a:ext cx="0" cy="623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31" name="Line 46"/>
            <p:cNvSpPr>
              <a:spLocks noChangeShapeType="1"/>
            </p:cNvSpPr>
            <p:nvPr/>
          </p:nvSpPr>
          <p:spPr bwMode="auto">
            <a:xfrm>
              <a:off x="2020" y="1339"/>
              <a:ext cx="76" cy="7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32" name="Line 47"/>
            <p:cNvSpPr>
              <a:spLocks noChangeShapeType="1"/>
            </p:cNvSpPr>
            <p:nvPr/>
          </p:nvSpPr>
          <p:spPr bwMode="auto">
            <a:xfrm flipH="1">
              <a:off x="2220" y="1377"/>
              <a:ext cx="91" cy="19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33" name="Line 48"/>
            <p:cNvSpPr>
              <a:spLocks noChangeShapeType="1"/>
            </p:cNvSpPr>
            <p:nvPr/>
          </p:nvSpPr>
          <p:spPr bwMode="auto">
            <a:xfrm>
              <a:off x="2142" y="2875"/>
              <a:ext cx="0" cy="229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34" name="Line 49"/>
            <p:cNvSpPr>
              <a:spLocks noChangeShapeType="1"/>
            </p:cNvSpPr>
            <p:nvPr/>
          </p:nvSpPr>
          <p:spPr bwMode="auto">
            <a:xfrm>
              <a:off x="2020" y="1339"/>
              <a:ext cx="118" cy="229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aphicFrame>
          <p:nvGraphicFramePr>
            <p:cNvPr id="42035" name="Object 5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2217" y="917"/>
            <a:ext cx="542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" name="Clip" r:id="rId4" imgW="8322945" imgH="4585970" progId="">
                    <p:embed/>
                  </p:oleObj>
                </mc:Choice>
                <mc:Fallback>
                  <p:oleObj name="Clip" r:id="rId4" imgW="8322945" imgH="4585970" progId="">
                    <p:embed/>
                    <p:pic>
                      <p:nvPicPr>
                        <p:cNvPr id="42035" name="Object 50">
                          <a:hlinkClick r:id="" action="ppaction://ole?verb=0"/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7" y="917"/>
                          <a:ext cx="542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8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6" name="Rectangle 51"/>
            <p:cNvSpPr>
              <a:spLocks noChangeArrowheads="1"/>
            </p:cNvSpPr>
            <p:nvPr/>
          </p:nvSpPr>
          <p:spPr bwMode="auto">
            <a:xfrm>
              <a:off x="2812" y="1017"/>
              <a:ext cx="36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Aerial 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Support</a:t>
              </a:r>
            </a:p>
          </p:txBody>
        </p:sp>
        <p:sp>
          <p:nvSpPr>
            <p:cNvPr id="42037" name="Rectangle 52"/>
            <p:cNvSpPr>
              <a:spLocks noChangeArrowheads="1"/>
            </p:cNvSpPr>
            <p:nvPr/>
          </p:nvSpPr>
          <p:spPr bwMode="auto">
            <a:xfrm>
              <a:off x="1845" y="2693"/>
              <a:ext cx="68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Communications 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Trailer</a:t>
              </a:r>
            </a:p>
          </p:txBody>
        </p:sp>
        <p:sp>
          <p:nvSpPr>
            <p:cNvPr id="42038" name="Rectangle 53"/>
            <p:cNvSpPr>
              <a:spLocks noChangeArrowheads="1"/>
            </p:cNvSpPr>
            <p:nvPr/>
          </p:nvSpPr>
          <p:spPr bwMode="auto">
            <a:xfrm>
              <a:off x="1924" y="3105"/>
              <a:ext cx="43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Generator</a:t>
              </a:r>
            </a:p>
          </p:txBody>
        </p:sp>
        <p:sp>
          <p:nvSpPr>
            <p:cNvPr id="42039" name="Line 54"/>
            <p:cNvSpPr>
              <a:spLocks noChangeShapeType="1"/>
            </p:cNvSpPr>
            <p:nvPr/>
          </p:nvSpPr>
          <p:spPr bwMode="auto">
            <a:xfrm>
              <a:off x="2519" y="2162"/>
              <a:ext cx="201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40" name="Line 55"/>
            <p:cNvSpPr>
              <a:spLocks noChangeShapeType="1"/>
            </p:cNvSpPr>
            <p:nvPr/>
          </p:nvSpPr>
          <p:spPr bwMode="auto">
            <a:xfrm>
              <a:off x="3268" y="1260"/>
              <a:ext cx="34" cy="11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41" name="Line 56"/>
            <p:cNvSpPr>
              <a:spLocks noChangeShapeType="1"/>
            </p:cNvSpPr>
            <p:nvPr/>
          </p:nvSpPr>
          <p:spPr bwMode="auto">
            <a:xfrm flipV="1">
              <a:off x="2848" y="1449"/>
              <a:ext cx="0" cy="16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42" name="Line 57"/>
            <p:cNvSpPr>
              <a:spLocks noChangeShapeType="1"/>
            </p:cNvSpPr>
            <p:nvPr/>
          </p:nvSpPr>
          <p:spPr bwMode="auto">
            <a:xfrm flipV="1">
              <a:off x="3310" y="1063"/>
              <a:ext cx="274" cy="31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43" name="Line 58"/>
            <p:cNvSpPr>
              <a:spLocks noChangeShapeType="1"/>
            </p:cNvSpPr>
            <p:nvPr/>
          </p:nvSpPr>
          <p:spPr bwMode="auto">
            <a:xfrm>
              <a:off x="2728" y="1532"/>
              <a:ext cx="241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44" name="Line 59"/>
            <p:cNvSpPr>
              <a:spLocks noChangeShapeType="1"/>
            </p:cNvSpPr>
            <p:nvPr/>
          </p:nvSpPr>
          <p:spPr bwMode="auto">
            <a:xfrm flipV="1">
              <a:off x="2723" y="1528"/>
              <a:ext cx="0" cy="63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45" name="Line 60"/>
            <p:cNvSpPr>
              <a:spLocks noChangeShapeType="1"/>
            </p:cNvSpPr>
            <p:nvPr/>
          </p:nvSpPr>
          <p:spPr bwMode="auto">
            <a:xfrm flipV="1">
              <a:off x="2890" y="1449"/>
              <a:ext cx="0" cy="16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46" name="Line 61"/>
            <p:cNvSpPr>
              <a:spLocks noChangeShapeType="1"/>
            </p:cNvSpPr>
            <p:nvPr/>
          </p:nvSpPr>
          <p:spPr bwMode="auto">
            <a:xfrm flipV="1">
              <a:off x="2931" y="1449"/>
              <a:ext cx="0" cy="16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47" name="Line 62"/>
            <p:cNvSpPr>
              <a:spLocks noChangeShapeType="1"/>
            </p:cNvSpPr>
            <p:nvPr/>
          </p:nvSpPr>
          <p:spPr bwMode="auto">
            <a:xfrm flipV="1">
              <a:off x="2974" y="1449"/>
              <a:ext cx="0" cy="16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48" name="Line 63"/>
            <p:cNvSpPr>
              <a:spLocks noChangeShapeType="1"/>
            </p:cNvSpPr>
            <p:nvPr/>
          </p:nvSpPr>
          <p:spPr bwMode="auto">
            <a:xfrm flipH="1" flipV="1">
              <a:off x="2969" y="1528"/>
              <a:ext cx="341" cy="993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49" name="Line 64"/>
            <p:cNvSpPr>
              <a:spLocks noChangeShapeType="1"/>
            </p:cNvSpPr>
            <p:nvPr/>
          </p:nvSpPr>
          <p:spPr bwMode="auto">
            <a:xfrm flipV="1">
              <a:off x="3595" y="2868"/>
              <a:ext cx="2" cy="14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50" name="Line 65"/>
            <p:cNvSpPr>
              <a:spLocks noChangeShapeType="1"/>
            </p:cNvSpPr>
            <p:nvPr/>
          </p:nvSpPr>
          <p:spPr bwMode="auto">
            <a:xfrm flipH="1" flipV="1">
              <a:off x="3677" y="2868"/>
              <a:ext cx="10" cy="153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51" name="Line 66"/>
            <p:cNvSpPr>
              <a:spLocks noChangeShapeType="1"/>
            </p:cNvSpPr>
            <p:nvPr/>
          </p:nvSpPr>
          <p:spPr bwMode="auto">
            <a:xfrm flipH="1" flipV="1">
              <a:off x="2969" y="1528"/>
              <a:ext cx="383" cy="44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52" name="Line 67"/>
            <p:cNvSpPr>
              <a:spLocks noChangeShapeType="1"/>
            </p:cNvSpPr>
            <p:nvPr/>
          </p:nvSpPr>
          <p:spPr bwMode="auto">
            <a:xfrm flipV="1">
              <a:off x="3348" y="1844"/>
              <a:ext cx="0" cy="12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53" name="Line 68"/>
            <p:cNvSpPr>
              <a:spLocks noChangeShapeType="1"/>
            </p:cNvSpPr>
            <p:nvPr/>
          </p:nvSpPr>
          <p:spPr bwMode="auto">
            <a:xfrm>
              <a:off x="3352" y="1852"/>
              <a:ext cx="283" cy="149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54" name="Line 69"/>
            <p:cNvSpPr>
              <a:spLocks noChangeShapeType="1"/>
            </p:cNvSpPr>
            <p:nvPr/>
          </p:nvSpPr>
          <p:spPr bwMode="auto">
            <a:xfrm flipV="1">
              <a:off x="3310" y="2356"/>
              <a:ext cx="34" cy="16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55" name="Line 70"/>
            <p:cNvSpPr>
              <a:spLocks noChangeShapeType="1"/>
            </p:cNvSpPr>
            <p:nvPr/>
          </p:nvSpPr>
          <p:spPr bwMode="auto">
            <a:xfrm flipH="1" flipV="1">
              <a:off x="3344" y="2356"/>
              <a:ext cx="175" cy="40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56" name="Line 71"/>
            <p:cNvSpPr>
              <a:spLocks noChangeShapeType="1"/>
            </p:cNvSpPr>
            <p:nvPr/>
          </p:nvSpPr>
          <p:spPr bwMode="auto">
            <a:xfrm flipH="1">
              <a:off x="3469" y="2872"/>
              <a:ext cx="131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57" name="Line 72"/>
            <p:cNvSpPr>
              <a:spLocks noChangeShapeType="1"/>
            </p:cNvSpPr>
            <p:nvPr/>
          </p:nvSpPr>
          <p:spPr bwMode="auto">
            <a:xfrm>
              <a:off x="3685" y="2872"/>
              <a:ext cx="158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58" name="Line 73"/>
            <p:cNvSpPr>
              <a:spLocks noChangeShapeType="1"/>
            </p:cNvSpPr>
            <p:nvPr/>
          </p:nvSpPr>
          <p:spPr bwMode="auto">
            <a:xfrm flipV="1">
              <a:off x="3806" y="2789"/>
              <a:ext cx="0" cy="16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59" name="Line 74"/>
            <p:cNvSpPr>
              <a:spLocks noChangeShapeType="1"/>
            </p:cNvSpPr>
            <p:nvPr/>
          </p:nvSpPr>
          <p:spPr bwMode="auto">
            <a:xfrm flipV="1">
              <a:off x="3764" y="2789"/>
              <a:ext cx="0" cy="16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60" name="Line 75"/>
            <p:cNvSpPr>
              <a:spLocks noChangeShapeType="1"/>
            </p:cNvSpPr>
            <p:nvPr/>
          </p:nvSpPr>
          <p:spPr bwMode="auto">
            <a:xfrm flipV="1">
              <a:off x="3846" y="2789"/>
              <a:ext cx="0" cy="16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61" name="Line 76"/>
            <p:cNvSpPr>
              <a:spLocks noChangeShapeType="1"/>
            </p:cNvSpPr>
            <p:nvPr/>
          </p:nvSpPr>
          <p:spPr bwMode="auto">
            <a:xfrm flipV="1">
              <a:off x="3557" y="2789"/>
              <a:ext cx="0" cy="16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62" name="Line 77"/>
            <p:cNvSpPr>
              <a:spLocks noChangeShapeType="1"/>
            </p:cNvSpPr>
            <p:nvPr/>
          </p:nvSpPr>
          <p:spPr bwMode="auto">
            <a:xfrm flipV="1">
              <a:off x="3515" y="2789"/>
              <a:ext cx="0" cy="16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63" name="Rectangle 78"/>
            <p:cNvSpPr>
              <a:spLocks noChangeArrowheads="1"/>
            </p:cNvSpPr>
            <p:nvPr/>
          </p:nvSpPr>
          <p:spPr bwMode="auto">
            <a:xfrm>
              <a:off x="3521" y="925"/>
              <a:ext cx="155" cy="151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11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42064" name="Rectangle 79"/>
            <p:cNvSpPr>
              <a:spLocks noChangeArrowheads="1"/>
            </p:cNvSpPr>
            <p:nvPr/>
          </p:nvSpPr>
          <p:spPr bwMode="auto">
            <a:xfrm>
              <a:off x="3563" y="3015"/>
              <a:ext cx="155" cy="151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11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42065" name="Rectangle 80"/>
            <p:cNvSpPr>
              <a:spLocks noChangeArrowheads="1"/>
            </p:cNvSpPr>
            <p:nvPr/>
          </p:nvSpPr>
          <p:spPr bwMode="auto">
            <a:xfrm>
              <a:off x="3648" y="1951"/>
              <a:ext cx="203" cy="151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11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42066" name="Line 81"/>
            <p:cNvSpPr>
              <a:spLocks noChangeShapeType="1"/>
            </p:cNvSpPr>
            <p:nvPr/>
          </p:nvSpPr>
          <p:spPr bwMode="auto">
            <a:xfrm flipV="1">
              <a:off x="3473" y="2789"/>
              <a:ext cx="0" cy="16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67" name="Line 82"/>
            <p:cNvSpPr>
              <a:spLocks noChangeShapeType="1"/>
            </p:cNvSpPr>
            <p:nvPr/>
          </p:nvSpPr>
          <p:spPr bwMode="auto">
            <a:xfrm flipV="1">
              <a:off x="3639" y="3458"/>
              <a:ext cx="0" cy="12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68" name="Line 83"/>
            <p:cNvSpPr>
              <a:spLocks noChangeShapeType="1"/>
            </p:cNvSpPr>
            <p:nvPr/>
          </p:nvSpPr>
          <p:spPr bwMode="auto">
            <a:xfrm flipH="1" flipV="1">
              <a:off x="3635" y="740"/>
              <a:ext cx="12" cy="182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69" name="Line 84"/>
            <p:cNvSpPr>
              <a:spLocks noChangeShapeType="1"/>
            </p:cNvSpPr>
            <p:nvPr/>
          </p:nvSpPr>
          <p:spPr bwMode="auto">
            <a:xfrm flipH="1" flipV="1">
              <a:off x="3760" y="1765"/>
              <a:ext cx="11" cy="18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70" name="Line 85"/>
            <p:cNvSpPr>
              <a:spLocks noChangeShapeType="1"/>
            </p:cNvSpPr>
            <p:nvPr/>
          </p:nvSpPr>
          <p:spPr bwMode="auto">
            <a:xfrm flipH="1" flipV="1">
              <a:off x="3802" y="740"/>
              <a:ext cx="298" cy="362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71" name="Line 86"/>
            <p:cNvSpPr>
              <a:spLocks noChangeShapeType="1"/>
            </p:cNvSpPr>
            <p:nvPr/>
          </p:nvSpPr>
          <p:spPr bwMode="auto">
            <a:xfrm flipV="1">
              <a:off x="4097" y="976"/>
              <a:ext cx="0" cy="12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72" name="Line 87"/>
            <p:cNvSpPr>
              <a:spLocks noChangeShapeType="1"/>
            </p:cNvSpPr>
            <p:nvPr/>
          </p:nvSpPr>
          <p:spPr bwMode="auto">
            <a:xfrm flipH="1">
              <a:off x="3635" y="3169"/>
              <a:ext cx="12" cy="172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73" name="Rectangle 88"/>
            <p:cNvSpPr>
              <a:spLocks noChangeArrowheads="1"/>
            </p:cNvSpPr>
            <p:nvPr/>
          </p:nvSpPr>
          <p:spPr bwMode="auto">
            <a:xfrm>
              <a:off x="3468" y="3342"/>
              <a:ext cx="345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Battery</a:t>
              </a:r>
            </a:p>
          </p:txBody>
        </p:sp>
        <p:sp>
          <p:nvSpPr>
            <p:cNvPr id="42074" name="Rectangle 89"/>
            <p:cNvSpPr>
              <a:spLocks noChangeArrowheads="1"/>
            </p:cNvSpPr>
            <p:nvPr/>
          </p:nvSpPr>
          <p:spPr bwMode="auto">
            <a:xfrm>
              <a:off x="3421" y="3577"/>
              <a:ext cx="437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Generator</a:t>
              </a:r>
            </a:p>
          </p:txBody>
        </p:sp>
        <p:sp>
          <p:nvSpPr>
            <p:cNvPr id="42075" name="Line 90"/>
            <p:cNvSpPr>
              <a:spLocks noChangeShapeType="1"/>
            </p:cNvSpPr>
            <p:nvPr/>
          </p:nvSpPr>
          <p:spPr bwMode="auto">
            <a:xfrm flipH="1">
              <a:off x="3635" y="745"/>
              <a:ext cx="175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76" name="Line 91"/>
            <p:cNvSpPr>
              <a:spLocks noChangeShapeType="1"/>
            </p:cNvSpPr>
            <p:nvPr/>
          </p:nvSpPr>
          <p:spPr bwMode="auto">
            <a:xfrm>
              <a:off x="3393" y="745"/>
              <a:ext cx="160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77" name="Line 92"/>
            <p:cNvSpPr>
              <a:spLocks noChangeShapeType="1"/>
            </p:cNvSpPr>
            <p:nvPr/>
          </p:nvSpPr>
          <p:spPr bwMode="auto">
            <a:xfrm flipV="1">
              <a:off x="3722" y="661"/>
              <a:ext cx="0" cy="16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78" name="Line 93"/>
            <p:cNvSpPr>
              <a:spLocks noChangeShapeType="1"/>
            </p:cNvSpPr>
            <p:nvPr/>
          </p:nvSpPr>
          <p:spPr bwMode="auto">
            <a:xfrm flipV="1">
              <a:off x="3806" y="661"/>
              <a:ext cx="0" cy="16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79" name="Line 94"/>
            <p:cNvSpPr>
              <a:spLocks noChangeShapeType="1"/>
            </p:cNvSpPr>
            <p:nvPr/>
          </p:nvSpPr>
          <p:spPr bwMode="auto">
            <a:xfrm flipV="1">
              <a:off x="3764" y="661"/>
              <a:ext cx="0" cy="16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80" name="Line 95"/>
            <p:cNvSpPr>
              <a:spLocks noChangeShapeType="1"/>
            </p:cNvSpPr>
            <p:nvPr/>
          </p:nvSpPr>
          <p:spPr bwMode="auto">
            <a:xfrm flipH="1" flipV="1">
              <a:off x="3677" y="1765"/>
              <a:ext cx="10" cy="193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81" name="Line 96"/>
            <p:cNvSpPr>
              <a:spLocks noChangeShapeType="1"/>
            </p:cNvSpPr>
            <p:nvPr/>
          </p:nvSpPr>
          <p:spPr bwMode="auto">
            <a:xfrm flipV="1">
              <a:off x="3553" y="740"/>
              <a:ext cx="4" cy="182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82" name="Line 97"/>
            <p:cNvSpPr>
              <a:spLocks noChangeShapeType="1"/>
            </p:cNvSpPr>
            <p:nvPr/>
          </p:nvSpPr>
          <p:spPr bwMode="auto">
            <a:xfrm flipH="1">
              <a:off x="3760" y="1768"/>
              <a:ext cx="174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83" name="Line 98"/>
            <p:cNvSpPr>
              <a:spLocks noChangeShapeType="1"/>
            </p:cNvSpPr>
            <p:nvPr/>
          </p:nvSpPr>
          <p:spPr bwMode="auto">
            <a:xfrm>
              <a:off x="3519" y="1768"/>
              <a:ext cx="158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84" name="Line 99"/>
            <p:cNvSpPr>
              <a:spLocks noChangeShapeType="1"/>
            </p:cNvSpPr>
            <p:nvPr/>
          </p:nvSpPr>
          <p:spPr bwMode="auto">
            <a:xfrm flipV="1">
              <a:off x="3889" y="1685"/>
              <a:ext cx="0" cy="16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85" name="Line 100"/>
            <p:cNvSpPr>
              <a:spLocks noChangeShapeType="1"/>
            </p:cNvSpPr>
            <p:nvPr/>
          </p:nvSpPr>
          <p:spPr bwMode="auto">
            <a:xfrm flipV="1">
              <a:off x="3846" y="1685"/>
              <a:ext cx="0" cy="16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86" name="Line 101"/>
            <p:cNvSpPr>
              <a:spLocks noChangeShapeType="1"/>
            </p:cNvSpPr>
            <p:nvPr/>
          </p:nvSpPr>
          <p:spPr bwMode="auto">
            <a:xfrm flipV="1">
              <a:off x="3931" y="1685"/>
              <a:ext cx="0" cy="16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87" name="Line 102"/>
            <p:cNvSpPr>
              <a:spLocks noChangeShapeType="1"/>
            </p:cNvSpPr>
            <p:nvPr/>
          </p:nvSpPr>
          <p:spPr bwMode="auto">
            <a:xfrm flipV="1">
              <a:off x="3597" y="1685"/>
              <a:ext cx="0" cy="16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88" name="Line 103"/>
            <p:cNvSpPr>
              <a:spLocks noChangeShapeType="1"/>
            </p:cNvSpPr>
            <p:nvPr/>
          </p:nvSpPr>
          <p:spPr bwMode="auto">
            <a:xfrm flipV="1">
              <a:off x="3557" y="1685"/>
              <a:ext cx="0" cy="16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89" name="Line 104"/>
            <p:cNvSpPr>
              <a:spLocks noChangeShapeType="1"/>
            </p:cNvSpPr>
            <p:nvPr/>
          </p:nvSpPr>
          <p:spPr bwMode="auto">
            <a:xfrm flipV="1">
              <a:off x="3515" y="1685"/>
              <a:ext cx="0" cy="16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90" name="Line 105"/>
            <p:cNvSpPr>
              <a:spLocks noChangeShapeType="1"/>
            </p:cNvSpPr>
            <p:nvPr/>
          </p:nvSpPr>
          <p:spPr bwMode="auto">
            <a:xfrm flipV="1">
              <a:off x="3431" y="661"/>
              <a:ext cx="0" cy="16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91" name="Line 106"/>
            <p:cNvSpPr>
              <a:spLocks noChangeShapeType="1"/>
            </p:cNvSpPr>
            <p:nvPr/>
          </p:nvSpPr>
          <p:spPr bwMode="auto">
            <a:xfrm flipV="1">
              <a:off x="3389" y="661"/>
              <a:ext cx="0" cy="16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92" name="Line 107"/>
            <p:cNvSpPr>
              <a:spLocks noChangeShapeType="1"/>
            </p:cNvSpPr>
            <p:nvPr/>
          </p:nvSpPr>
          <p:spPr bwMode="auto">
            <a:xfrm flipV="1">
              <a:off x="3473" y="661"/>
              <a:ext cx="0" cy="16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93" name="Line 108"/>
            <p:cNvSpPr>
              <a:spLocks noChangeShapeType="1"/>
            </p:cNvSpPr>
            <p:nvPr/>
          </p:nvSpPr>
          <p:spPr bwMode="auto">
            <a:xfrm flipH="1" flipV="1">
              <a:off x="4093" y="976"/>
              <a:ext cx="383" cy="12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94" name="Line 109"/>
            <p:cNvSpPr>
              <a:spLocks noChangeShapeType="1"/>
            </p:cNvSpPr>
            <p:nvPr/>
          </p:nvSpPr>
          <p:spPr bwMode="auto">
            <a:xfrm flipH="1" flipV="1">
              <a:off x="3927" y="1765"/>
              <a:ext cx="299" cy="283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95" name="Line 110"/>
            <p:cNvSpPr>
              <a:spLocks noChangeShapeType="1"/>
            </p:cNvSpPr>
            <p:nvPr/>
          </p:nvSpPr>
          <p:spPr bwMode="auto">
            <a:xfrm flipV="1">
              <a:off x="4222" y="1962"/>
              <a:ext cx="0" cy="8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96" name="Line 111"/>
            <p:cNvSpPr>
              <a:spLocks noChangeShapeType="1"/>
            </p:cNvSpPr>
            <p:nvPr/>
          </p:nvSpPr>
          <p:spPr bwMode="auto">
            <a:xfrm flipH="1" flipV="1">
              <a:off x="3843" y="2868"/>
              <a:ext cx="465" cy="323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97" name="Line 112"/>
            <p:cNvSpPr>
              <a:spLocks noChangeShapeType="1"/>
            </p:cNvSpPr>
            <p:nvPr/>
          </p:nvSpPr>
          <p:spPr bwMode="auto">
            <a:xfrm flipH="1" flipV="1">
              <a:off x="4301" y="3104"/>
              <a:ext cx="215" cy="12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98" name="Line 113"/>
            <p:cNvSpPr>
              <a:spLocks noChangeShapeType="1"/>
            </p:cNvSpPr>
            <p:nvPr/>
          </p:nvSpPr>
          <p:spPr bwMode="auto">
            <a:xfrm flipV="1">
              <a:off x="4305" y="3104"/>
              <a:ext cx="0" cy="8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99" name="Line 114"/>
            <p:cNvSpPr>
              <a:spLocks noChangeShapeType="1"/>
            </p:cNvSpPr>
            <p:nvPr/>
          </p:nvSpPr>
          <p:spPr bwMode="auto">
            <a:xfrm flipV="1">
              <a:off x="4808" y="1844"/>
              <a:ext cx="35" cy="8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00" name="Line 115"/>
            <p:cNvSpPr>
              <a:spLocks noChangeShapeType="1"/>
            </p:cNvSpPr>
            <p:nvPr/>
          </p:nvSpPr>
          <p:spPr bwMode="auto">
            <a:xfrm flipV="1">
              <a:off x="4683" y="2158"/>
              <a:ext cx="34" cy="4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01" name="Line 116"/>
            <p:cNvSpPr>
              <a:spLocks noChangeShapeType="1"/>
            </p:cNvSpPr>
            <p:nvPr/>
          </p:nvSpPr>
          <p:spPr bwMode="auto">
            <a:xfrm>
              <a:off x="4888" y="3111"/>
              <a:ext cx="0" cy="72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02" name="Line 117"/>
            <p:cNvSpPr>
              <a:spLocks noChangeShapeType="1"/>
            </p:cNvSpPr>
            <p:nvPr/>
          </p:nvSpPr>
          <p:spPr bwMode="auto">
            <a:xfrm>
              <a:off x="4725" y="1295"/>
              <a:ext cx="75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03" name="Line 118"/>
            <p:cNvSpPr>
              <a:spLocks noChangeShapeType="1"/>
            </p:cNvSpPr>
            <p:nvPr/>
          </p:nvSpPr>
          <p:spPr bwMode="auto">
            <a:xfrm flipH="1" flipV="1">
              <a:off x="4218" y="1962"/>
              <a:ext cx="216" cy="8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04" name="Line 119"/>
            <p:cNvSpPr>
              <a:spLocks noChangeShapeType="1"/>
            </p:cNvSpPr>
            <p:nvPr/>
          </p:nvSpPr>
          <p:spPr bwMode="auto">
            <a:xfrm flipH="1" flipV="1">
              <a:off x="4659" y="1089"/>
              <a:ext cx="149" cy="21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05" name="Line 120"/>
            <p:cNvSpPr>
              <a:spLocks noChangeShapeType="1"/>
            </p:cNvSpPr>
            <p:nvPr/>
          </p:nvSpPr>
          <p:spPr bwMode="auto">
            <a:xfrm flipH="1" flipV="1">
              <a:off x="4717" y="1292"/>
              <a:ext cx="382" cy="20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06" name="Line 121"/>
            <p:cNvSpPr>
              <a:spLocks noChangeShapeType="1"/>
            </p:cNvSpPr>
            <p:nvPr/>
          </p:nvSpPr>
          <p:spPr bwMode="auto">
            <a:xfrm>
              <a:off x="4701" y="3267"/>
              <a:ext cx="65" cy="14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07" name="Rectangle 122"/>
            <p:cNvSpPr>
              <a:spLocks noChangeArrowheads="1"/>
            </p:cNvSpPr>
            <p:nvPr/>
          </p:nvSpPr>
          <p:spPr bwMode="auto">
            <a:xfrm>
              <a:off x="4477" y="1005"/>
              <a:ext cx="158" cy="151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11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08" name="Rectangle 123"/>
            <p:cNvSpPr>
              <a:spLocks noChangeArrowheads="1"/>
            </p:cNvSpPr>
            <p:nvPr/>
          </p:nvSpPr>
          <p:spPr bwMode="auto">
            <a:xfrm>
              <a:off x="4436" y="1990"/>
              <a:ext cx="158" cy="151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11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09" name="Rectangle 124"/>
            <p:cNvSpPr>
              <a:spLocks noChangeArrowheads="1"/>
            </p:cNvSpPr>
            <p:nvPr/>
          </p:nvSpPr>
          <p:spPr bwMode="auto">
            <a:xfrm>
              <a:off x="4518" y="3171"/>
              <a:ext cx="158" cy="151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11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10" name="Line 125"/>
            <p:cNvSpPr>
              <a:spLocks noChangeShapeType="1"/>
            </p:cNvSpPr>
            <p:nvPr/>
          </p:nvSpPr>
          <p:spPr bwMode="auto">
            <a:xfrm flipV="1">
              <a:off x="4725" y="2040"/>
              <a:ext cx="33" cy="48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11" name="Line 126"/>
            <p:cNvSpPr>
              <a:spLocks noChangeShapeType="1"/>
            </p:cNvSpPr>
            <p:nvPr/>
          </p:nvSpPr>
          <p:spPr bwMode="auto">
            <a:xfrm flipH="1" flipV="1">
              <a:off x="4611" y="2054"/>
              <a:ext cx="114" cy="11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12" name="Line 127"/>
            <p:cNvSpPr>
              <a:spLocks noChangeShapeType="1"/>
            </p:cNvSpPr>
            <p:nvPr/>
          </p:nvSpPr>
          <p:spPr bwMode="auto">
            <a:xfrm flipV="1">
              <a:off x="4762" y="3341"/>
              <a:ext cx="0" cy="8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13" name="Line 128"/>
            <p:cNvSpPr>
              <a:spLocks noChangeShapeType="1"/>
            </p:cNvSpPr>
            <p:nvPr/>
          </p:nvSpPr>
          <p:spPr bwMode="auto">
            <a:xfrm flipH="1" flipV="1">
              <a:off x="4758" y="3341"/>
              <a:ext cx="341" cy="204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14" name="Line 129"/>
            <p:cNvSpPr>
              <a:spLocks noChangeShapeType="1"/>
            </p:cNvSpPr>
            <p:nvPr/>
          </p:nvSpPr>
          <p:spPr bwMode="auto">
            <a:xfrm flipV="1">
              <a:off x="4707" y="3249"/>
              <a:ext cx="219" cy="18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15" name="Line 130"/>
            <p:cNvSpPr>
              <a:spLocks noChangeShapeType="1"/>
            </p:cNvSpPr>
            <p:nvPr/>
          </p:nvSpPr>
          <p:spPr bwMode="auto">
            <a:xfrm flipV="1">
              <a:off x="4625" y="2040"/>
              <a:ext cx="133" cy="1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16" name="Line 131"/>
            <p:cNvSpPr>
              <a:spLocks noChangeShapeType="1"/>
            </p:cNvSpPr>
            <p:nvPr/>
          </p:nvSpPr>
          <p:spPr bwMode="auto">
            <a:xfrm>
              <a:off x="4659" y="1097"/>
              <a:ext cx="307" cy="3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17" name="Line 132"/>
            <p:cNvSpPr>
              <a:spLocks noChangeShapeType="1"/>
            </p:cNvSpPr>
            <p:nvPr/>
          </p:nvSpPr>
          <p:spPr bwMode="auto">
            <a:xfrm flipV="1">
              <a:off x="4891" y="3301"/>
              <a:ext cx="200" cy="4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18" name="Line 133"/>
            <p:cNvSpPr>
              <a:spLocks noChangeShapeType="1"/>
            </p:cNvSpPr>
            <p:nvPr/>
          </p:nvSpPr>
          <p:spPr bwMode="auto">
            <a:xfrm flipV="1">
              <a:off x="4659" y="859"/>
              <a:ext cx="184" cy="24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19" name="Line 134"/>
            <p:cNvSpPr>
              <a:spLocks noChangeShapeType="1"/>
            </p:cNvSpPr>
            <p:nvPr/>
          </p:nvSpPr>
          <p:spPr bwMode="auto">
            <a:xfrm flipV="1">
              <a:off x="4701" y="3104"/>
              <a:ext cx="183" cy="15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20" name="Line 135"/>
            <p:cNvSpPr>
              <a:spLocks noChangeShapeType="1"/>
            </p:cNvSpPr>
            <p:nvPr/>
          </p:nvSpPr>
          <p:spPr bwMode="auto">
            <a:xfrm flipH="1">
              <a:off x="4884" y="3269"/>
              <a:ext cx="50" cy="72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21" name="Line 136"/>
            <p:cNvSpPr>
              <a:spLocks noChangeShapeType="1"/>
            </p:cNvSpPr>
            <p:nvPr/>
          </p:nvSpPr>
          <p:spPr bwMode="auto">
            <a:xfrm flipV="1">
              <a:off x="4891" y="3025"/>
              <a:ext cx="200" cy="16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22" name="Line 137"/>
            <p:cNvSpPr>
              <a:spLocks noChangeShapeType="1"/>
            </p:cNvSpPr>
            <p:nvPr/>
          </p:nvSpPr>
          <p:spPr bwMode="auto">
            <a:xfrm>
              <a:off x="4725" y="2084"/>
              <a:ext cx="366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23" name="Line 138"/>
            <p:cNvSpPr>
              <a:spLocks noChangeShapeType="1"/>
            </p:cNvSpPr>
            <p:nvPr/>
          </p:nvSpPr>
          <p:spPr bwMode="auto">
            <a:xfrm>
              <a:off x="4683" y="2205"/>
              <a:ext cx="408" cy="15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24" name="Line 139"/>
            <p:cNvSpPr>
              <a:spLocks noChangeShapeType="1"/>
            </p:cNvSpPr>
            <p:nvPr/>
          </p:nvSpPr>
          <p:spPr bwMode="auto">
            <a:xfrm flipV="1">
              <a:off x="4618" y="1844"/>
              <a:ext cx="225" cy="21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25" name="Line 140"/>
            <p:cNvSpPr>
              <a:spLocks noChangeShapeType="1"/>
            </p:cNvSpPr>
            <p:nvPr/>
          </p:nvSpPr>
          <p:spPr bwMode="auto">
            <a:xfrm flipV="1">
              <a:off x="4808" y="859"/>
              <a:ext cx="35" cy="12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26" name="Line 141"/>
            <p:cNvSpPr>
              <a:spLocks noChangeShapeType="1"/>
            </p:cNvSpPr>
            <p:nvPr/>
          </p:nvSpPr>
          <p:spPr bwMode="auto">
            <a:xfrm flipV="1">
              <a:off x="4934" y="1134"/>
              <a:ext cx="32" cy="8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27" name="Line 142"/>
            <p:cNvSpPr>
              <a:spLocks noChangeShapeType="1"/>
            </p:cNvSpPr>
            <p:nvPr/>
          </p:nvSpPr>
          <p:spPr bwMode="auto">
            <a:xfrm flipV="1">
              <a:off x="1209" y="2541"/>
              <a:ext cx="268" cy="26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28" name="Line 143"/>
            <p:cNvSpPr>
              <a:spLocks noChangeShapeType="1"/>
            </p:cNvSpPr>
            <p:nvPr/>
          </p:nvSpPr>
          <p:spPr bwMode="auto">
            <a:xfrm flipV="1">
              <a:off x="1484" y="2125"/>
              <a:ext cx="410" cy="422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29" name="Line 144"/>
            <p:cNvSpPr>
              <a:spLocks noChangeShapeType="1"/>
            </p:cNvSpPr>
            <p:nvPr/>
          </p:nvSpPr>
          <p:spPr bwMode="auto">
            <a:xfrm>
              <a:off x="1497" y="1744"/>
              <a:ext cx="397" cy="375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30" name="Line 145"/>
            <p:cNvSpPr>
              <a:spLocks noChangeShapeType="1"/>
            </p:cNvSpPr>
            <p:nvPr/>
          </p:nvSpPr>
          <p:spPr bwMode="auto">
            <a:xfrm flipH="1">
              <a:off x="4926" y="1217"/>
              <a:ext cx="173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31" name="Line 146"/>
            <p:cNvSpPr>
              <a:spLocks noChangeShapeType="1"/>
            </p:cNvSpPr>
            <p:nvPr/>
          </p:nvSpPr>
          <p:spPr bwMode="auto">
            <a:xfrm flipH="1">
              <a:off x="4800" y="826"/>
              <a:ext cx="299" cy="15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32" name="Line 147"/>
            <p:cNvSpPr>
              <a:spLocks noChangeShapeType="1"/>
            </p:cNvSpPr>
            <p:nvPr/>
          </p:nvSpPr>
          <p:spPr bwMode="auto">
            <a:xfrm flipH="1">
              <a:off x="4800" y="1811"/>
              <a:ext cx="299" cy="11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33" name="Rectangle 148"/>
            <p:cNvSpPr>
              <a:spLocks noChangeArrowheads="1"/>
            </p:cNvSpPr>
            <p:nvPr/>
          </p:nvSpPr>
          <p:spPr bwMode="auto">
            <a:xfrm>
              <a:off x="5106" y="740"/>
              <a:ext cx="147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34" name="Rectangle 149"/>
            <p:cNvSpPr>
              <a:spLocks noChangeArrowheads="1"/>
            </p:cNvSpPr>
            <p:nvPr/>
          </p:nvSpPr>
          <p:spPr bwMode="auto">
            <a:xfrm>
              <a:off x="5106" y="1135"/>
              <a:ext cx="147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35" name="Rectangle 150"/>
            <p:cNvSpPr>
              <a:spLocks noChangeArrowheads="1"/>
            </p:cNvSpPr>
            <p:nvPr/>
          </p:nvSpPr>
          <p:spPr bwMode="auto">
            <a:xfrm>
              <a:off x="5102" y="1410"/>
              <a:ext cx="147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36" name="Rectangle 151"/>
            <p:cNvSpPr>
              <a:spLocks noChangeArrowheads="1"/>
            </p:cNvSpPr>
            <p:nvPr/>
          </p:nvSpPr>
          <p:spPr bwMode="auto">
            <a:xfrm>
              <a:off x="5106" y="1725"/>
              <a:ext cx="147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37" name="Rectangle 152"/>
            <p:cNvSpPr>
              <a:spLocks noChangeArrowheads="1"/>
            </p:cNvSpPr>
            <p:nvPr/>
          </p:nvSpPr>
          <p:spPr bwMode="auto">
            <a:xfrm>
              <a:off x="5102" y="2002"/>
              <a:ext cx="157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38" name="Rectangle 153"/>
            <p:cNvSpPr>
              <a:spLocks noChangeArrowheads="1"/>
            </p:cNvSpPr>
            <p:nvPr/>
          </p:nvSpPr>
          <p:spPr bwMode="auto">
            <a:xfrm>
              <a:off x="5100" y="2278"/>
              <a:ext cx="158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39" name="Rectangle 154"/>
            <p:cNvSpPr>
              <a:spLocks noChangeArrowheads="1"/>
            </p:cNvSpPr>
            <p:nvPr/>
          </p:nvSpPr>
          <p:spPr bwMode="auto">
            <a:xfrm>
              <a:off x="5102" y="2947"/>
              <a:ext cx="147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40" name="Rectangle 155"/>
            <p:cNvSpPr>
              <a:spLocks noChangeArrowheads="1"/>
            </p:cNvSpPr>
            <p:nvPr/>
          </p:nvSpPr>
          <p:spPr bwMode="auto">
            <a:xfrm>
              <a:off x="5106" y="3223"/>
              <a:ext cx="147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41" name="Rectangle 156"/>
            <p:cNvSpPr>
              <a:spLocks noChangeArrowheads="1"/>
            </p:cNvSpPr>
            <p:nvPr/>
          </p:nvSpPr>
          <p:spPr bwMode="auto">
            <a:xfrm>
              <a:off x="5102" y="3459"/>
              <a:ext cx="147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42142" name="Rectangle 157"/>
            <p:cNvSpPr>
              <a:spLocks noChangeArrowheads="1"/>
            </p:cNvSpPr>
            <p:nvPr/>
          </p:nvSpPr>
          <p:spPr bwMode="auto">
            <a:xfrm>
              <a:off x="1856" y="3498"/>
              <a:ext cx="80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R = Repeater</a:t>
              </a:r>
            </a:p>
            <a:p>
              <a:pPr algn="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H = Hand Held Radio</a:t>
              </a:r>
            </a:p>
          </p:txBody>
        </p:sp>
        <p:sp>
          <p:nvSpPr>
            <p:cNvPr id="42143" name="Rectangle 158"/>
            <p:cNvSpPr>
              <a:spLocks noChangeArrowheads="1"/>
            </p:cNvSpPr>
            <p:nvPr/>
          </p:nvSpPr>
          <p:spPr bwMode="auto">
            <a:xfrm>
              <a:off x="4288" y="1215"/>
              <a:ext cx="45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Team 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Supervisor</a:t>
              </a:r>
            </a:p>
          </p:txBody>
        </p:sp>
        <p:sp>
          <p:nvSpPr>
            <p:cNvPr id="42144" name="Rectangle 159"/>
            <p:cNvSpPr>
              <a:spLocks noChangeArrowheads="1"/>
            </p:cNvSpPr>
            <p:nvPr/>
          </p:nvSpPr>
          <p:spPr bwMode="auto">
            <a:xfrm>
              <a:off x="4288" y="2237"/>
              <a:ext cx="45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Team 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Supervisor</a:t>
              </a:r>
            </a:p>
          </p:txBody>
        </p:sp>
        <p:sp>
          <p:nvSpPr>
            <p:cNvPr id="42145" name="Rectangle 160"/>
            <p:cNvSpPr>
              <a:spLocks noChangeArrowheads="1"/>
            </p:cNvSpPr>
            <p:nvPr/>
          </p:nvSpPr>
          <p:spPr bwMode="auto">
            <a:xfrm>
              <a:off x="4328" y="3342"/>
              <a:ext cx="45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Team 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Supervisor</a:t>
              </a:r>
            </a:p>
          </p:txBody>
        </p:sp>
        <p:sp>
          <p:nvSpPr>
            <p:cNvPr id="42146" name="Rectangle 161"/>
            <p:cNvSpPr>
              <a:spLocks noChangeArrowheads="1"/>
            </p:cNvSpPr>
            <p:nvPr/>
          </p:nvSpPr>
          <p:spPr bwMode="auto">
            <a:xfrm>
              <a:off x="4755" y="583"/>
              <a:ext cx="60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Clean Up Team</a:t>
              </a:r>
            </a:p>
          </p:txBody>
        </p:sp>
        <p:sp>
          <p:nvSpPr>
            <p:cNvPr id="42147" name="Rectangle 162"/>
            <p:cNvSpPr>
              <a:spLocks noChangeArrowheads="1"/>
            </p:cNvSpPr>
            <p:nvPr/>
          </p:nvSpPr>
          <p:spPr bwMode="auto">
            <a:xfrm>
              <a:off x="4755" y="2435"/>
              <a:ext cx="60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Clean Up Team</a:t>
              </a:r>
            </a:p>
          </p:txBody>
        </p:sp>
        <p:sp>
          <p:nvSpPr>
            <p:cNvPr id="42148" name="Rectangle 163"/>
            <p:cNvSpPr>
              <a:spLocks noChangeArrowheads="1"/>
            </p:cNvSpPr>
            <p:nvPr/>
          </p:nvSpPr>
          <p:spPr bwMode="auto">
            <a:xfrm>
              <a:off x="4755" y="3617"/>
              <a:ext cx="60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Clean Up Team</a:t>
              </a:r>
            </a:p>
          </p:txBody>
        </p:sp>
        <p:sp>
          <p:nvSpPr>
            <p:cNvPr id="42149" name="Rectangle 164"/>
            <p:cNvSpPr>
              <a:spLocks noChangeArrowheads="1"/>
            </p:cNvSpPr>
            <p:nvPr/>
          </p:nvSpPr>
          <p:spPr bwMode="auto">
            <a:xfrm>
              <a:off x="4162" y="701"/>
              <a:ext cx="451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UHF / VHF</a:t>
              </a:r>
            </a:p>
          </p:txBody>
        </p:sp>
        <p:sp>
          <p:nvSpPr>
            <p:cNvPr id="42150" name="Rectangle 165"/>
            <p:cNvSpPr>
              <a:spLocks noChangeArrowheads="1"/>
            </p:cNvSpPr>
            <p:nvPr/>
          </p:nvSpPr>
          <p:spPr bwMode="auto">
            <a:xfrm>
              <a:off x="4162" y="1765"/>
              <a:ext cx="451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UHF / VHF</a:t>
              </a:r>
            </a:p>
          </p:txBody>
        </p:sp>
        <p:sp>
          <p:nvSpPr>
            <p:cNvPr id="42151" name="Rectangle 166"/>
            <p:cNvSpPr>
              <a:spLocks noChangeArrowheads="1"/>
            </p:cNvSpPr>
            <p:nvPr/>
          </p:nvSpPr>
          <p:spPr bwMode="auto">
            <a:xfrm>
              <a:off x="4204" y="2908"/>
              <a:ext cx="451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UHF / VHF</a:t>
              </a:r>
            </a:p>
          </p:txBody>
        </p:sp>
        <p:sp>
          <p:nvSpPr>
            <p:cNvPr id="42152" name="Line 167"/>
            <p:cNvSpPr>
              <a:spLocks noChangeShapeType="1"/>
            </p:cNvSpPr>
            <p:nvPr/>
          </p:nvSpPr>
          <p:spPr bwMode="auto">
            <a:xfrm flipH="1">
              <a:off x="4135" y="2714"/>
              <a:ext cx="1215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53" name="Line 168"/>
            <p:cNvSpPr>
              <a:spLocks noChangeShapeType="1"/>
            </p:cNvSpPr>
            <p:nvPr/>
          </p:nvSpPr>
          <p:spPr bwMode="auto">
            <a:xfrm flipH="1">
              <a:off x="4135" y="1650"/>
              <a:ext cx="1215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54" name="Line 169"/>
            <p:cNvSpPr>
              <a:spLocks noChangeShapeType="1"/>
            </p:cNvSpPr>
            <p:nvPr/>
          </p:nvSpPr>
          <p:spPr bwMode="auto">
            <a:xfrm flipV="1">
              <a:off x="613" y="1252"/>
              <a:ext cx="0" cy="75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55" name="Line 170"/>
            <p:cNvSpPr>
              <a:spLocks noChangeShapeType="1"/>
            </p:cNvSpPr>
            <p:nvPr/>
          </p:nvSpPr>
          <p:spPr bwMode="auto">
            <a:xfrm>
              <a:off x="616" y="818"/>
              <a:ext cx="1" cy="413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56" name="Line 171"/>
            <p:cNvSpPr>
              <a:spLocks noChangeShapeType="1"/>
            </p:cNvSpPr>
            <p:nvPr/>
          </p:nvSpPr>
          <p:spPr bwMode="auto">
            <a:xfrm flipV="1">
              <a:off x="609" y="2826"/>
              <a:ext cx="0" cy="499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57" name="Line 172"/>
            <p:cNvSpPr>
              <a:spLocks noChangeShapeType="1"/>
            </p:cNvSpPr>
            <p:nvPr/>
          </p:nvSpPr>
          <p:spPr bwMode="auto">
            <a:xfrm>
              <a:off x="603" y="2282"/>
              <a:ext cx="2" cy="533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58" name="Rectangle 173"/>
            <p:cNvSpPr>
              <a:spLocks noChangeArrowheads="1"/>
            </p:cNvSpPr>
            <p:nvPr/>
          </p:nvSpPr>
          <p:spPr bwMode="auto">
            <a:xfrm>
              <a:off x="525" y="675"/>
              <a:ext cx="198" cy="13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HQ</a:t>
              </a:r>
            </a:p>
          </p:txBody>
        </p:sp>
        <p:sp>
          <p:nvSpPr>
            <p:cNvPr id="42159" name="Rectangle 174"/>
            <p:cNvSpPr>
              <a:spLocks noChangeArrowheads="1"/>
            </p:cNvSpPr>
            <p:nvPr/>
          </p:nvSpPr>
          <p:spPr bwMode="auto">
            <a:xfrm>
              <a:off x="437" y="3322"/>
              <a:ext cx="565" cy="21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Other 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Organizations</a:t>
              </a:r>
            </a:p>
          </p:txBody>
        </p:sp>
        <p:sp>
          <p:nvSpPr>
            <p:cNvPr id="42160" name="Rectangle 175"/>
            <p:cNvSpPr>
              <a:spLocks noChangeArrowheads="1"/>
            </p:cNvSpPr>
            <p:nvPr/>
          </p:nvSpPr>
          <p:spPr bwMode="auto">
            <a:xfrm>
              <a:off x="4306" y="446"/>
              <a:ext cx="719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1100" b="1">
                  <a:latin typeface="Tahoma" panose="020B0604030504040204" pitchFamily="34" charset="0"/>
                </a:rPr>
                <a:t>Response Zone</a:t>
              </a:r>
            </a:p>
          </p:txBody>
        </p:sp>
        <p:sp>
          <p:nvSpPr>
            <p:cNvPr id="42161" name="Rectangle 176"/>
            <p:cNvSpPr>
              <a:spLocks noChangeArrowheads="1"/>
            </p:cNvSpPr>
            <p:nvPr/>
          </p:nvSpPr>
          <p:spPr bwMode="auto">
            <a:xfrm>
              <a:off x="569" y="453"/>
              <a:ext cx="739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1100" b="1">
                  <a:latin typeface="Tahoma" panose="020B0604030504040204" pitchFamily="34" charset="0"/>
                </a:rPr>
                <a:t>Command Zone</a:t>
              </a:r>
            </a:p>
          </p:txBody>
        </p:sp>
        <p:sp>
          <p:nvSpPr>
            <p:cNvPr id="42162" name="Rectangle 177"/>
            <p:cNvSpPr>
              <a:spLocks noChangeArrowheads="1"/>
            </p:cNvSpPr>
            <p:nvPr/>
          </p:nvSpPr>
          <p:spPr bwMode="auto">
            <a:xfrm>
              <a:off x="4153" y="461"/>
              <a:ext cx="1210" cy="3323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163" name="Oval 178"/>
            <p:cNvSpPr>
              <a:spLocks noChangeArrowheads="1"/>
            </p:cNvSpPr>
            <p:nvPr/>
          </p:nvSpPr>
          <p:spPr bwMode="auto">
            <a:xfrm>
              <a:off x="1303" y="3172"/>
              <a:ext cx="325" cy="268"/>
            </a:xfrm>
            <a:prstGeom prst="ellipse">
              <a:avLst/>
            </a:prstGeom>
            <a:solidFill>
              <a:srgbClr val="EAEAEA"/>
            </a:solidFill>
            <a:ln w="1270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164" name="Oval 179"/>
            <p:cNvSpPr>
              <a:spLocks noChangeArrowheads="1"/>
            </p:cNvSpPr>
            <p:nvPr/>
          </p:nvSpPr>
          <p:spPr bwMode="auto">
            <a:xfrm>
              <a:off x="1470" y="3290"/>
              <a:ext cx="33" cy="32"/>
            </a:xfrm>
            <a:prstGeom prst="ellips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165" name="Line 180"/>
            <p:cNvSpPr>
              <a:spLocks noChangeShapeType="1"/>
            </p:cNvSpPr>
            <p:nvPr/>
          </p:nvSpPr>
          <p:spPr bwMode="auto">
            <a:xfrm>
              <a:off x="1344" y="3408"/>
              <a:ext cx="119" cy="11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66" name="Line 181"/>
            <p:cNvSpPr>
              <a:spLocks noChangeShapeType="1"/>
            </p:cNvSpPr>
            <p:nvPr/>
          </p:nvSpPr>
          <p:spPr bwMode="auto">
            <a:xfrm flipH="1">
              <a:off x="1463" y="3406"/>
              <a:ext cx="126" cy="113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67" name="Line 182"/>
            <p:cNvSpPr>
              <a:spLocks noChangeShapeType="1"/>
            </p:cNvSpPr>
            <p:nvPr/>
          </p:nvSpPr>
          <p:spPr bwMode="auto">
            <a:xfrm flipH="1">
              <a:off x="1337" y="3330"/>
              <a:ext cx="133" cy="71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68" name="Line 183"/>
            <p:cNvSpPr>
              <a:spLocks noChangeShapeType="1"/>
            </p:cNvSpPr>
            <p:nvPr/>
          </p:nvSpPr>
          <p:spPr bwMode="auto">
            <a:xfrm flipH="1" flipV="1">
              <a:off x="1337" y="3203"/>
              <a:ext cx="133" cy="8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69" name="Line 184"/>
            <p:cNvSpPr>
              <a:spLocks noChangeShapeType="1"/>
            </p:cNvSpPr>
            <p:nvPr/>
          </p:nvSpPr>
          <p:spPr bwMode="auto">
            <a:xfrm flipH="1" flipV="1">
              <a:off x="1463" y="3322"/>
              <a:ext cx="89" cy="8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70" name="Line 185"/>
            <p:cNvSpPr>
              <a:spLocks noChangeShapeType="1"/>
            </p:cNvSpPr>
            <p:nvPr/>
          </p:nvSpPr>
          <p:spPr bwMode="auto">
            <a:xfrm flipV="1">
              <a:off x="1497" y="3205"/>
              <a:ext cx="69" cy="8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71" name="Rectangle 186"/>
            <p:cNvSpPr>
              <a:spLocks noChangeArrowheads="1"/>
            </p:cNvSpPr>
            <p:nvPr/>
          </p:nvSpPr>
          <p:spPr bwMode="auto">
            <a:xfrm>
              <a:off x="1323" y="3566"/>
              <a:ext cx="283" cy="71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172" name="Rectangle 187"/>
            <p:cNvSpPr>
              <a:spLocks noChangeArrowheads="1"/>
            </p:cNvSpPr>
            <p:nvPr/>
          </p:nvSpPr>
          <p:spPr bwMode="auto">
            <a:xfrm>
              <a:off x="1429" y="3527"/>
              <a:ext cx="74" cy="31"/>
            </a:xfrm>
            <a:prstGeom prst="rect">
              <a:avLst/>
            </a:prstGeom>
            <a:noFill/>
            <a:ln w="1270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173" name="Oval 188"/>
            <p:cNvSpPr>
              <a:spLocks noChangeArrowheads="1"/>
            </p:cNvSpPr>
            <p:nvPr/>
          </p:nvSpPr>
          <p:spPr bwMode="auto">
            <a:xfrm>
              <a:off x="1402" y="839"/>
              <a:ext cx="31" cy="4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174" name="Line 189"/>
            <p:cNvSpPr>
              <a:spLocks noChangeShapeType="1"/>
            </p:cNvSpPr>
            <p:nvPr/>
          </p:nvSpPr>
          <p:spPr bwMode="auto">
            <a:xfrm>
              <a:off x="1296" y="841"/>
              <a:ext cx="3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75" name="Line 190"/>
            <p:cNvSpPr>
              <a:spLocks noChangeShapeType="1"/>
            </p:cNvSpPr>
            <p:nvPr/>
          </p:nvSpPr>
          <p:spPr bwMode="auto">
            <a:xfrm flipH="1" flipV="1">
              <a:off x="1319" y="763"/>
              <a:ext cx="14" cy="18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76" name="Line 191"/>
            <p:cNvSpPr>
              <a:spLocks noChangeShapeType="1"/>
            </p:cNvSpPr>
            <p:nvPr/>
          </p:nvSpPr>
          <p:spPr bwMode="auto">
            <a:xfrm flipH="1">
              <a:off x="1293" y="895"/>
              <a:ext cx="18" cy="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77" name="Line 192"/>
            <p:cNvSpPr>
              <a:spLocks noChangeShapeType="1"/>
            </p:cNvSpPr>
            <p:nvPr/>
          </p:nvSpPr>
          <p:spPr bwMode="auto">
            <a:xfrm flipV="1">
              <a:off x="1482" y="772"/>
              <a:ext cx="4" cy="1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78" name="Line 193"/>
            <p:cNvSpPr>
              <a:spLocks noChangeShapeType="1"/>
            </p:cNvSpPr>
            <p:nvPr/>
          </p:nvSpPr>
          <p:spPr bwMode="auto">
            <a:xfrm flipH="1">
              <a:off x="1498" y="841"/>
              <a:ext cx="19" cy="0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79" name="Line 194"/>
            <p:cNvSpPr>
              <a:spLocks noChangeShapeType="1"/>
            </p:cNvSpPr>
            <p:nvPr/>
          </p:nvSpPr>
          <p:spPr bwMode="auto">
            <a:xfrm flipV="1">
              <a:off x="1369" y="926"/>
              <a:ext cx="5" cy="27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80" name="Line 195"/>
            <p:cNvSpPr>
              <a:spLocks noChangeShapeType="1"/>
            </p:cNvSpPr>
            <p:nvPr/>
          </p:nvSpPr>
          <p:spPr bwMode="auto">
            <a:xfrm flipH="1" flipV="1">
              <a:off x="1494" y="894"/>
              <a:ext cx="15" cy="13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81" name="Line 196"/>
            <p:cNvSpPr>
              <a:spLocks noChangeShapeType="1"/>
            </p:cNvSpPr>
            <p:nvPr/>
          </p:nvSpPr>
          <p:spPr bwMode="auto">
            <a:xfrm>
              <a:off x="1414" y="760"/>
              <a:ext cx="0" cy="6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82" name="Line 197"/>
            <p:cNvSpPr>
              <a:spLocks noChangeShapeType="1"/>
            </p:cNvSpPr>
            <p:nvPr/>
          </p:nvSpPr>
          <p:spPr bwMode="auto">
            <a:xfrm>
              <a:off x="1448" y="947"/>
              <a:ext cx="4" cy="12"/>
            </a:xfrm>
            <a:prstGeom prst="line">
              <a:avLst/>
            </a:prstGeom>
            <a:noFill/>
            <a:ln w="127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83" name="Arc 198"/>
            <p:cNvSpPr>
              <a:spLocks/>
            </p:cNvSpPr>
            <p:nvPr/>
          </p:nvSpPr>
          <p:spPr bwMode="auto">
            <a:xfrm>
              <a:off x="1513" y="3324"/>
              <a:ext cx="100" cy="16"/>
            </a:xfrm>
            <a:custGeom>
              <a:avLst/>
              <a:gdLst>
                <a:gd name="T0" fmla="*/ 0 w 21809"/>
                <a:gd name="T1" fmla="*/ 0 h 21600"/>
                <a:gd name="T2" fmla="*/ 0 w 21809"/>
                <a:gd name="T3" fmla="*/ 0 h 21600"/>
                <a:gd name="T4" fmla="*/ 0 w 2180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809"/>
                <a:gd name="T10" fmla="*/ 0 h 21600"/>
                <a:gd name="T11" fmla="*/ 21809 w 2180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809" h="21600" fill="none" extrusionOk="0">
                  <a:moveTo>
                    <a:pt x="0" y="1"/>
                  </a:moveTo>
                  <a:cubicBezTo>
                    <a:pt x="69" y="0"/>
                    <a:pt x="139" y="-1"/>
                    <a:pt x="209" y="0"/>
                  </a:cubicBezTo>
                  <a:cubicBezTo>
                    <a:pt x="12138" y="0"/>
                    <a:pt x="21809" y="9670"/>
                    <a:pt x="21809" y="21600"/>
                  </a:cubicBezTo>
                </a:path>
                <a:path w="21809" h="21600" stroke="0" extrusionOk="0">
                  <a:moveTo>
                    <a:pt x="0" y="1"/>
                  </a:moveTo>
                  <a:cubicBezTo>
                    <a:pt x="69" y="0"/>
                    <a:pt x="139" y="-1"/>
                    <a:pt x="209" y="0"/>
                  </a:cubicBezTo>
                  <a:cubicBezTo>
                    <a:pt x="12138" y="0"/>
                    <a:pt x="21809" y="9670"/>
                    <a:pt x="21809" y="21600"/>
                  </a:cubicBezTo>
                  <a:lnTo>
                    <a:pt x="209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700" cap="rnd">
              <a:solidFill>
                <a:srgbClr val="8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84" name="Arc 199"/>
            <p:cNvSpPr>
              <a:spLocks/>
            </p:cNvSpPr>
            <p:nvPr/>
          </p:nvSpPr>
          <p:spPr bwMode="auto">
            <a:xfrm>
              <a:off x="1316" y="3292"/>
              <a:ext cx="139" cy="16"/>
            </a:xfrm>
            <a:custGeom>
              <a:avLst/>
              <a:gdLst>
                <a:gd name="T0" fmla="*/ 0 w 21560"/>
                <a:gd name="T1" fmla="*/ 0 h 21600"/>
                <a:gd name="T2" fmla="*/ 0 w 21560"/>
                <a:gd name="T3" fmla="*/ 0 h 21600"/>
                <a:gd name="T4" fmla="*/ 0 w 2156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560"/>
                <a:gd name="T10" fmla="*/ 0 h 21600"/>
                <a:gd name="T11" fmla="*/ 21560 w 2156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60" h="21600" fill="none" extrusionOk="0">
                  <a:moveTo>
                    <a:pt x="-1" y="0"/>
                  </a:moveTo>
                  <a:cubicBezTo>
                    <a:pt x="11421" y="0"/>
                    <a:pt x="20869" y="8892"/>
                    <a:pt x="21560" y="20292"/>
                  </a:cubicBezTo>
                </a:path>
                <a:path w="21560" h="21600" stroke="0" extrusionOk="0">
                  <a:moveTo>
                    <a:pt x="-1" y="0"/>
                  </a:moveTo>
                  <a:cubicBezTo>
                    <a:pt x="11421" y="0"/>
                    <a:pt x="20869" y="8892"/>
                    <a:pt x="21560" y="2029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rgbClr val="8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85" name="Rectangle 200"/>
            <p:cNvSpPr>
              <a:spLocks noChangeArrowheads="1"/>
            </p:cNvSpPr>
            <p:nvPr/>
          </p:nvSpPr>
          <p:spPr bwMode="auto">
            <a:xfrm>
              <a:off x="1045" y="977"/>
              <a:ext cx="74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955" tIns="41271" rIns="80955" bIns="41271">
              <a:spAutoFit/>
            </a:bodyPr>
            <a:lstStyle>
              <a:lvl1pPr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 defTabSz="804863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 defTabSz="804863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 defTabSz="804863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Communications</a:t>
              </a:r>
            </a:p>
            <a:p>
              <a:pPr algn="ctr" rtl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900" b="1">
                  <a:latin typeface="Tahoma" panose="020B0604030504040204" pitchFamily="34" charset="0"/>
                </a:rPr>
                <a:t>Satellite</a:t>
              </a:r>
            </a:p>
          </p:txBody>
        </p:sp>
        <p:sp>
          <p:nvSpPr>
            <p:cNvPr id="42186" name="Oval 201"/>
            <p:cNvSpPr>
              <a:spLocks noChangeArrowheads="1"/>
            </p:cNvSpPr>
            <p:nvPr/>
          </p:nvSpPr>
          <p:spPr bwMode="auto">
            <a:xfrm>
              <a:off x="1389" y="3231"/>
              <a:ext cx="171" cy="161"/>
            </a:xfrm>
            <a:prstGeom prst="ellipse">
              <a:avLst/>
            </a:prstGeom>
            <a:noFill/>
            <a:ln w="12700">
              <a:solidFill>
                <a:srgbClr val="8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187" name="Oval 202"/>
            <p:cNvSpPr>
              <a:spLocks noChangeArrowheads="1"/>
            </p:cNvSpPr>
            <p:nvPr/>
          </p:nvSpPr>
          <p:spPr bwMode="auto">
            <a:xfrm>
              <a:off x="1335" y="3187"/>
              <a:ext cx="262" cy="232"/>
            </a:xfrm>
            <a:prstGeom prst="ellipse">
              <a:avLst/>
            </a:prstGeom>
            <a:noFill/>
            <a:ln w="12700">
              <a:solidFill>
                <a:srgbClr val="8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20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3811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034" name="Title 3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Vertical </a:t>
            </a:r>
            <a:r>
              <a:rPr lang="en-GB" altLang="en-US" b="1" dirty="0" smtClean="0"/>
              <a:t>Reporting</a:t>
            </a:r>
            <a:endParaRPr lang="en-GB" altLang="en-US" b="1" dirty="0" smtClean="0"/>
          </a:p>
        </p:txBody>
      </p:sp>
      <p:sp>
        <p:nvSpPr>
          <p:cNvPr id="5" name="Content Placeholder 4">
            <a:extLst/>
          </p:cNvPr>
          <p:cNvSpPr>
            <a:spLocks noGrp="1"/>
          </p:cNvSpPr>
          <p:nvPr>
            <p:ph idx="1"/>
          </p:nvPr>
        </p:nvSpPr>
        <p:spPr>
          <a:xfrm>
            <a:off x="911352" y="1104182"/>
            <a:ext cx="10515600" cy="4351338"/>
          </a:xfrm>
        </p:spPr>
        <p:txBody>
          <a:bodyPr>
            <a:noAutofit/>
          </a:bodyPr>
          <a:lstStyle/>
          <a:p>
            <a:pPr marL="177800" indent="-177800">
              <a:buNone/>
              <a:defRPr/>
            </a:pPr>
            <a:r>
              <a:rPr lang="en-GB" sz="3200" dirty="0"/>
              <a:t>Vertical reporting</a:t>
            </a:r>
          </a:p>
          <a:p>
            <a:pPr marL="355600" lvl="1" indent="-355600">
              <a:defRPr/>
            </a:pPr>
            <a:r>
              <a:rPr lang="en-GB" sz="2800" dirty="0"/>
              <a:t>the flow of information up and down the command structure of the incident</a:t>
            </a:r>
          </a:p>
          <a:p>
            <a:pPr>
              <a:buFont typeface="Arial" charset="0"/>
              <a:buNone/>
              <a:defRPr/>
            </a:pPr>
            <a:r>
              <a:rPr lang="en-GB" sz="3200" dirty="0"/>
              <a:t>Incident Command Centre: </a:t>
            </a:r>
          </a:p>
          <a:p>
            <a:pPr>
              <a:buFont typeface="Arial" charset="0"/>
              <a:buChar char="•"/>
              <a:defRPr/>
            </a:pPr>
            <a:r>
              <a:rPr lang="en-GB" dirty="0"/>
              <a:t>to incident response teams and units</a:t>
            </a:r>
          </a:p>
          <a:p>
            <a:pPr>
              <a:buFont typeface="Arial" charset="0"/>
              <a:buChar char="•"/>
              <a:defRPr/>
            </a:pPr>
            <a:r>
              <a:rPr lang="en-GB" dirty="0"/>
              <a:t>to senior government bodies</a:t>
            </a:r>
          </a:p>
          <a:p>
            <a:pPr>
              <a:buFont typeface="Arial" charset="0"/>
              <a:buChar char="•"/>
              <a:defRPr/>
            </a:pPr>
            <a:r>
              <a:rPr lang="en-GB" dirty="0"/>
              <a:t>to other national stakeholders</a:t>
            </a:r>
          </a:p>
          <a:p>
            <a:pPr>
              <a:buFont typeface="Arial" charset="0"/>
              <a:buChar char="•"/>
              <a:defRPr/>
            </a:pPr>
            <a:r>
              <a:rPr lang="en-GB" dirty="0"/>
              <a:t>to bilateral and regional neighbours</a:t>
            </a:r>
          </a:p>
          <a:p>
            <a:pPr>
              <a:buFont typeface="Arial" charset="0"/>
              <a:buChar char="•"/>
              <a:defRPr/>
            </a:pPr>
            <a:r>
              <a:rPr lang="en-GB" dirty="0"/>
              <a:t>to the international community (via IMO?)</a:t>
            </a:r>
          </a:p>
          <a:p>
            <a:pPr>
              <a:buFont typeface="Arial" charset="0"/>
              <a:buNone/>
              <a:defRPr/>
            </a:pPr>
            <a:r>
              <a:rPr lang="en-GB" dirty="0"/>
              <a:t> 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828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082" name="Title 3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Vertical </a:t>
            </a:r>
            <a:r>
              <a:rPr lang="en-GB" altLang="en-US" b="1" dirty="0" smtClean="0"/>
              <a:t>Reporting</a:t>
            </a:r>
            <a:endParaRPr lang="en-GB" altLang="en-US" b="1" dirty="0" smtClean="0"/>
          </a:p>
        </p:txBody>
      </p:sp>
      <p:sp>
        <p:nvSpPr>
          <p:cNvPr id="5" name="Content Placeholder 4">
            <a:extLst/>
          </p:cNvPr>
          <p:cNvSpPr>
            <a:spLocks noGrp="1"/>
          </p:cNvSpPr>
          <p:nvPr>
            <p:ph idx="1"/>
          </p:nvPr>
        </p:nvSpPr>
        <p:spPr>
          <a:xfrm>
            <a:off x="920496" y="1103249"/>
            <a:ext cx="10515600" cy="4351338"/>
          </a:xfrm>
        </p:spPr>
        <p:txBody>
          <a:bodyPr>
            <a:noAutofit/>
          </a:bodyPr>
          <a:lstStyle/>
          <a:p>
            <a:pPr marL="177800" indent="-177800">
              <a:buNone/>
              <a:defRPr/>
            </a:pPr>
            <a:r>
              <a:rPr lang="en-GB" sz="3200" dirty="0"/>
              <a:t>Types of </a:t>
            </a:r>
            <a:r>
              <a:rPr lang="en-GB" sz="3200" dirty="0" smtClean="0"/>
              <a:t>reports</a:t>
            </a:r>
            <a:endParaRPr lang="en-GB" sz="3200" dirty="0"/>
          </a:p>
          <a:p>
            <a:pPr marL="355600" indent="-355600">
              <a:buFont typeface="Arial" charset="0"/>
              <a:buChar char="•"/>
              <a:defRPr/>
            </a:pPr>
            <a:r>
              <a:rPr lang="en-GB" sz="3200" dirty="0"/>
              <a:t>Field situation reports (offshore)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search and rescue 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salvage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cargo transfer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surveillance and reconnaissance 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dispersant spraying and monitoring 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marine recovery 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In situ burning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862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130" name="Title 3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Vertical </a:t>
            </a:r>
            <a:r>
              <a:rPr lang="en-GB" altLang="en-US" b="1" dirty="0" smtClean="0"/>
              <a:t>Reporting</a:t>
            </a:r>
            <a:endParaRPr lang="en-GB" altLang="en-US" b="1" dirty="0" smtClean="0"/>
          </a:p>
        </p:txBody>
      </p:sp>
      <p:sp>
        <p:nvSpPr>
          <p:cNvPr id="5" name="Content Placeholder 4">
            <a:extLst/>
          </p:cNvPr>
          <p:cNvSpPr>
            <a:spLocks noGrp="1"/>
          </p:cNvSpPr>
          <p:nvPr>
            <p:ph idx="1"/>
          </p:nvPr>
        </p:nvSpPr>
        <p:spPr>
          <a:xfrm>
            <a:off x="1046164" y="1525312"/>
            <a:ext cx="5194300" cy="5218113"/>
          </a:xfrm>
        </p:spPr>
        <p:txBody>
          <a:bodyPr>
            <a:normAutofit/>
          </a:bodyPr>
          <a:lstStyle/>
          <a:p>
            <a:pPr marL="177800" indent="-177800">
              <a:buNone/>
              <a:defRPr/>
            </a:pPr>
            <a:r>
              <a:rPr lang="en-GB" sz="3200" dirty="0"/>
              <a:t>Types of </a:t>
            </a:r>
            <a:r>
              <a:rPr lang="en-GB" sz="3200" dirty="0" smtClean="0"/>
              <a:t>reports</a:t>
            </a:r>
            <a:endParaRPr lang="en-GB" sz="3200" dirty="0"/>
          </a:p>
          <a:p>
            <a:pPr marL="355600" indent="-355600">
              <a:buFont typeface="Arial" charset="0"/>
              <a:buChar char="•"/>
              <a:defRPr/>
            </a:pPr>
            <a:r>
              <a:rPr lang="en-GB" sz="3200" dirty="0"/>
              <a:t>Field situation reports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SCAT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shoreline protection 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shoreline  response</a:t>
            </a:r>
          </a:p>
        </p:txBody>
      </p:sp>
      <p:pic>
        <p:nvPicPr>
          <p:cNvPr id="48132" name="Picture 4" descr="C:\Users\Joe\Desktop\IMO Received Material\Graphic material provided by Korea Coast Guard\Photos\Photo 1\7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496" y="1525312"/>
            <a:ext cx="5022342" cy="3769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901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178" name="Title 3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Vertical </a:t>
            </a:r>
            <a:r>
              <a:rPr lang="en-GB" altLang="en-US" b="1" dirty="0" smtClean="0"/>
              <a:t>Reporting</a:t>
            </a:r>
            <a:endParaRPr lang="en-GB" altLang="en-US" b="1" dirty="0" smtClean="0"/>
          </a:p>
        </p:txBody>
      </p:sp>
      <p:sp>
        <p:nvSpPr>
          <p:cNvPr id="5" name="Content Placeholder 4">
            <a:extLst/>
          </p:cNvPr>
          <p:cNvSpPr>
            <a:spLocks noGrp="1"/>
          </p:cNvSpPr>
          <p:nvPr>
            <p:ph idx="1"/>
          </p:nvPr>
        </p:nvSpPr>
        <p:spPr>
          <a:xfrm>
            <a:off x="1194816" y="1342749"/>
            <a:ext cx="5194300" cy="5218113"/>
          </a:xfrm>
        </p:spPr>
        <p:txBody>
          <a:bodyPr>
            <a:normAutofit/>
          </a:bodyPr>
          <a:lstStyle/>
          <a:p>
            <a:pPr marL="177800" indent="-177800">
              <a:buNone/>
              <a:defRPr/>
            </a:pPr>
            <a:r>
              <a:rPr lang="en-GB" sz="3200" dirty="0"/>
              <a:t>Types of </a:t>
            </a:r>
            <a:r>
              <a:rPr lang="en-GB" sz="3200" dirty="0" smtClean="0"/>
              <a:t>reports</a:t>
            </a:r>
            <a:endParaRPr lang="en-GB" sz="3200" dirty="0"/>
          </a:p>
          <a:p>
            <a:pPr marL="355600" indent="-355600">
              <a:buFont typeface="Arial" charset="0"/>
              <a:buChar char="•"/>
              <a:defRPr/>
            </a:pPr>
            <a:r>
              <a:rPr lang="en-GB" sz="3200" dirty="0"/>
              <a:t>Field situation reports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waste handling 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health, safety and welfare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logistics </a:t>
            </a:r>
          </a:p>
        </p:txBody>
      </p:sp>
      <p:pic>
        <p:nvPicPr>
          <p:cNvPr id="50180" name="Picture 5" descr="C:\Users\Joe\Desktop\IMO Received Material\Graphic material provided by Korea Coast Guard\Photos\Photo 1\7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242" y="1342749"/>
            <a:ext cx="4826000" cy="321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150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226" name="Title 3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Vertical </a:t>
            </a:r>
            <a:r>
              <a:rPr lang="en-GB" altLang="en-US" b="1" dirty="0" smtClean="0"/>
              <a:t>Reporting</a:t>
            </a:r>
            <a:endParaRPr lang="en-GB" altLang="en-US" b="1" dirty="0" smtClean="0"/>
          </a:p>
        </p:txBody>
      </p:sp>
      <p:sp>
        <p:nvSpPr>
          <p:cNvPr id="5" name="Content Placeholder 4">
            <a:extLst/>
          </p:cNvPr>
          <p:cNvSpPr>
            <a:spLocks noGrp="1"/>
          </p:cNvSpPr>
          <p:nvPr>
            <p:ph idx="1"/>
          </p:nvPr>
        </p:nvSpPr>
        <p:spPr>
          <a:xfrm>
            <a:off x="1633728" y="1185545"/>
            <a:ext cx="7007352" cy="4351338"/>
          </a:xfrm>
        </p:spPr>
        <p:txBody>
          <a:bodyPr>
            <a:normAutofit/>
          </a:bodyPr>
          <a:lstStyle/>
          <a:p>
            <a:pPr marL="177800" indent="-177800">
              <a:buNone/>
              <a:defRPr/>
            </a:pPr>
            <a:r>
              <a:rPr lang="en-GB" sz="3200" dirty="0"/>
              <a:t>Types of </a:t>
            </a:r>
            <a:r>
              <a:rPr lang="en-GB" sz="3200" dirty="0" smtClean="0"/>
              <a:t>reports</a:t>
            </a:r>
            <a:endParaRPr lang="en-GB" sz="3200" dirty="0"/>
          </a:p>
          <a:p>
            <a:pPr marL="355600" indent="-355600">
              <a:buFont typeface="Arial" charset="0"/>
              <a:buChar char="•"/>
              <a:defRPr/>
            </a:pPr>
            <a:r>
              <a:rPr lang="en-GB" sz="3200" dirty="0"/>
              <a:t>Briefing reports to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senior government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other stakeholders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bilateral or regional neighbours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flag state</a:t>
            </a:r>
          </a:p>
          <a:p>
            <a:pPr marL="857250" lvl="1" indent="-457200">
              <a:buFont typeface="Wingdings" panose="05000000000000000000" pitchFamily="2" charset="2"/>
              <a:buChar char="Ø"/>
              <a:defRPr/>
            </a:pPr>
            <a:r>
              <a:rPr lang="en-GB" sz="2800" dirty="0"/>
              <a:t>international community </a:t>
            </a:r>
          </a:p>
          <a:p>
            <a:pPr marL="1155700" lvl="2" indent="-355600">
              <a:buFont typeface="Wingdings" panose="05000000000000000000" pitchFamily="2" charset="2"/>
              <a:buChar char="ü"/>
              <a:defRPr/>
            </a:pPr>
            <a:r>
              <a:rPr lang="en-GB" sz="2400" dirty="0"/>
              <a:t>IMO can provide a coordinating role</a:t>
            </a:r>
          </a:p>
          <a:p>
            <a:pPr marL="755650" lvl="1" indent="-355600">
              <a:buFont typeface="Arial" charset="0"/>
              <a:buChar char="–"/>
              <a:defRPr/>
            </a:pPr>
            <a:endParaRPr lang="en-GB" sz="3200" dirty="0"/>
          </a:p>
          <a:p>
            <a:pPr marL="755650" lvl="1" indent="-355600">
              <a:buFont typeface="Arial" charset="0"/>
              <a:buChar char="–"/>
              <a:defRPr/>
            </a:pPr>
            <a:endParaRPr lang="en-GB" sz="3200" dirty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411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err="1" smtClean="0"/>
              <a:t>Proforma</a:t>
            </a:r>
            <a:r>
              <a:rPr lang="en-GB" altLang="en-US" b="1" dirty="0" smtClean="0"/>
              <a:t> </a:t>
            </a:r>
            <a:r>
              <a:rPr lang="en-GB" altLang="en-US" b="1" dirty="0" smtClean="0"/>
              <a:t>Documents</a:t>
            </a:r>
            <a:endParaRPr lang="en-GB" altLang="en-US" b="1" dirty="0" smtClean="0"/>
          </a:p>
        </p:txBody>
      </p:sp>
      <p:sp>
        <p:nvSpPr>
          <p:cNvPr id="3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902208" y="126784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3200" dirty="0">
                <a:ea typeface="+mn-ea"/>
              </a:rPr>
              <a:t>Consider having a suite of documents pre-prepared.</a:t>
            </a:r>
          </a:p>
          <a:p>
            <a:pPr marL="0" indent="0">
              <a:buNone/>
              <a:defRPr/>
            </a:pPr>
            <a:endParaRPr lang="en-GB" sz="3200" dirty="0">
              <a:ea typeface="+mn-ea"/>
            </a:endParaRPr>
          </a:p>
          <a:p>
            <a:pPr marL="0" indent="0">
              <a:buNone/>
              <a:defRPr/>
            </a:pPr>
            <a:r>
              <a:rPr lang="en-GB" sz="3200" dirty="0">
                <a:ea typeface="+mn-ea"/>
              </a:rPr>
              <a:t>These can include: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incident report forms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senior government information statement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media information statement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Fact sheets on response options and capabilities</a:t>
            </a:r>
          </a:p>
          <a:p>
            <a:pPr marL="0" indent="0">
              <a:buNone/>
              <a:defRPr/>
            </a:pPr>
            <a:endParaRPr lang="en-GB" sz="3200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052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err="1" smtClean="0"/>
              <a:t>Proforma</a:t>
            </a:r>
            <a:r>
              <a:rPr lang="en-GB" altLang="en-US" b="1" dirty="0" smtClean="0"/>
              <a:t> </a:t>
            </a:r>
            <a:r>
              <a:rPr lang="en-GB" altLang="en-US" b="1" dirty="0" smtClean="0"/>
              <a:t>Documents</a:t>
            </a:r>
            <a:endParaRPr lang="en-GB" altLang="en-US" b="1" dirty="0" smtClean="0"/>
          </a:p>
        </p:txBody>
      </p:sp>
      <p:sp>
        <p:nvSpPr>
          <p:cNvPr id="3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1075944" y="1276985"/>
            <a:ext cx="10515600" cy="435133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dirty="0">
                <a:ea typeface="+mn-ea"/>
              </a:rPr>
              <a:t>Useful for:</a:t>
            </a:r>
          </a:p>
          <a:p>
            <a:pPr>
              <a:defRPr/>
            </a:pPr>
            <a:r>
              <a:rPr lang="en-GB" dirty="0">
                <a:ea typeface="+mn-ea"/>
              </a:rPr>
              <a:t>focusing on the important information</a:t>
            </a:r>
          </a:p>
          <a:p>
            <a:pPr>
              <a:defRPr/>
            </a:pPr>
            <a:r>
              <a:rPr lang="en-GB" dirty="0">
                <a:ea typeface="+mn-ea"/>
              </a:rPr>
              <a:t>acting as prompt to capture information</a:t>
            </a:r>
          </a:p>
          <a:p>
            <a:pPr>
              <a:defRPr/>
            </a:pPr>
            <a:r>
              <a:rPr lang="en-GB" dirty="0">
                <a:ea typeface="+mn-ea"/>
              </a:rPr>
              <a:t>can be electronically stored for retrieval and transmission</a:t>
            </a:r>
          </a:p>
          <a:p>
            <a:pPr>
              <a:defRPr/>
            </a:pPr>
            <a:r>
              <a:rPr lang="en-GB" dirty="0">
                <a:ea typeface="+mn-ea"/>
              </a:rPr>
              <a:t>helps overcome terminology interpretations</a:t>
            </a:r>
          </a:p>
          <a:p>
            <a:pPr>
              <a:buFont typeface="Arial" charset="0"/>
              <a:buNone/>
              <a:defRPr/>
            </a:pPr>
            <a:endParaRPr lang="en-GB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930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Report </a:t>
            </a:r>
            <a:r>
              <a:rPr lang="en-GB" altLang="en-US" b="1" dirty="0" err="1"/>
              <a:t>P</a:t>
            </a:r>
            <a:r>
              <a:rPr lang="en-GB" altLang="en-US" b="1" dirty="0" err="1" smtClean="0"/>
              <a:t>roforma</a:t>
            </a:r>
            <a:endParaRPr lang="en-GB" altLang="en-US" b="1" dirty="0" smtClean="0"/>
          </a:p>
        </p:txBody>
      </p:sp>
      <p:sp>
        <p:nvSpPr>
          <p:cNvPr id="3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984504" y="120383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3200" dirty="0">
                <a:ea typeface="+mn-ea"/>
              </a:rPr>
              <a:t>Not useful if: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sz="3200" dirty="0">
                <a:ea typeface="+mn-ea"/>
              </a:rPr>
              <a:t> they are too complex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sz="3200" dirty="0">
                <a:ea typeface="+mn-ea"/>
              </a:rPr>
              <a:t> they are too simplistic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sz="3200" dirty="0">
                <a:ea typeface="+mn-ea"/>
              </a:rPr>
              <a:t> compiling them is burdensome or ineffective</a:t>
            </a:r>
          </a:p>
          <a:p>
            <a:pPr marL="273050" indent="-273050">
              <a:buFont typeface="Arial" charset="0"/>
              <a:buChar char="•"/>
              <a:defRPr/>
            </a:pPr>
            <a:r>
              <a:rPr lang="en-GB" sz="3200" dirty="0">
                <a:ea typeface="+mn-ea"/>
              </a:rPr>
              <a:t> compiling them is time-consuming</a:t>
            </a:r>
          </a:p>
          <a:p>
            <a:pPr marL="177800" indent="-177800">
              <a:buFont typeface="Arial" charset="0"/>
              <a:buChar char="•"/>
              <a:defRPr/>
            </a:pPr>
            <a:endParaRPr lang="en-GB" sz="3200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85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Summary </a:t>
            </a:r>
          </a:p>
        </p:txBody>
      </p:sp>
      <p:sp>
        <p:nvSpPr>
          <p:cNvPr id="25603" name="Content Placeholder 3">
            <a:extLst/>
          </p:cNvPr>
          <p:cNvSpPr>
            <a:spLocks noGrp="1"/>
          </p:cNvSpPr>
          <p:nvPr>
            <p:ph idx="1"/>
          </p:nvPr>
        </p:nvSpPr>
        <p:spPr>
          <a:xfrm>
            <a:off x="1075944" y="1081787"/>
            <a:ext cx="10052304" cy="1993366"/>
          </a:xfrm>
        </p:spPr>
        <p:txBody>
          <a:bodyPr wrap="square">
            <a:spAutoFit/>
          </a:bodyPr>
          <a:lstStyle/>
          <a:p>
            <a:pPr algn="just">
              <a:buFont typeface="Arial" charset="0"/>
              <a:buNone/>
              <a:defRPr/>
            </a:pPr>
            <a:endParaRPr lang="en-GB" sz="3200" dirty="0">
              <a:ea typeface="+mn-ea"/>
            </a:endParaRPr>
          </a:p>
          <a:p>
            <a:pPr marL="0" indent="0" algn="just">
              <a:buNone/>
              <a:defRPr/>
            </a:pPr>
            <a:r>
              <a:rPr lang="en-US" sz="3200" dirty="0">
                <a:ea typeface="+mn-ea"/>
              </a:rPr>
              <a:t>In this lesson we have considered the type of internal communications that we may be using and the need for an internal communications plan.</a:t>
            </a:r>
            <a:endParaRPr lang="en-GB" sz="3200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188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1031</Words>
  <Application>Microsoft Office PowerPoint</Application>
  <PresentationFormat>Widescreen</PresentationFormat>
  <Paragraphs>264</Paragraphs>
  <Slides>24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MS PGothic</vt:lpstr>
      <vt:lpstr>Arial</vt:lpstr>
      <vt:lpstr>Calibri</vt:lpstr>
      <vt:lpstr>Courier New</vt:lpstr>
      <vt:lpstr>inherit</vt:lpstr>
      <vt:lpstr>Tahoma</vt:lpstr>
      <vt:lpstr>Wingdings</vt:lpstr>
      <vt:lpstr>Office Theme</vt:lpstr>
      <vt:lpstr>Clip</vt:lpstr>
      <vt:lpstr>PowerPoint Presentation</vt:lpstr>
      <vt:lpstr>Objective</vt:lpstr>
      <vt:lpstr>Two Plans</vt:lpstr>
      <vt:lpstr>Internal Challenges</vt:lpstr>
      <vt:lpstr>Internal Challenges</vt:lpstr>
      <vt:lpstr>Internal Challenges</vt:lpstr>
      <vt:lpstr>Communications</vt:lpstr>
      <vt:lpstr>Communications</vt:lpstr>
      <vt:lpstr>Communications</vt:lpstr>
      <vt:lpstr>Communications</vt:lpstr>
      <vt:lpstr>Communications</vt:lpstr>
      <vt:lpstr>Storage of Communications</vt:lpstr>
      <vt:lpstr>Manage Communications</vt:lpstr>
      <vt:lpstr>Incident communications network</vt:lpstr>
      <vt:lpstr>Vertical Reporting</vt:lpstr>
      <vt:lpstr>Vertical Reporting</vt:lpstr>
      <vt:lpstr>Vertical Reporting</vt:lpstr>
      <vt:lpstr>Vertical Reporting</vt:lpstr>
      <vt:lpstr>Vertical Reporting</vt:lpstr>
      <vt:lpstr>Proforma Documents</vt:lpstr>
      <vt:lpstr>Proforma Documents</vt:lpstr>
      <vt:lpstr>Report Proforma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143</cp:revision>
  <dcterms:created xsi:type="dcterms:W3CDTF">2024-09-27T05:40:49Z</dcterms:created>
  <dcterms:modified xsi:type="dcterms:W3CDTF">2025-06-04T07:21:54Z</dcterms:modified>
</cp:coreProperties>
</file>
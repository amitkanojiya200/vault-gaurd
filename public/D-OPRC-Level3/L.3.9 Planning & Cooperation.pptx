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70" r:id="rId21"/>
    <p:sldId id="271" r:id="rId22"/>
    <p:sldId id="284" r:id="rId23"/>
    <p:sldId id="285" r:id="rId24"/>
    <p:sldId id="286" r:id="rId25"/>
    <p:sldId id="287" r:id="rId26"/>
    <p:sldId id="288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893746-E524-4267-86B4-5E3A10BF787E}" type="doc">
      <dgm:prSet loTypeId="urn:microsoft.com/office/officeart/2005/8/layout/pyramid1" loCatId="pyramid" qsTypeId="urn:microsoft.com/office/officeart/2005/8/quickstyle/simple1" qsCatId="simple" csTypeId="urn:microsoft.com/office/officeart/2005/8/colors/accent1_3" csCatId="accent1" phldr="1"/>
      <dgm:spPr/>
    </dgm:pt>
    <dgm:pt modelId="{B46ABB2A-0B81-41B6-83B8-32DBD945C40B}">
      <dgm:prSet phldrT="[Text]"/>
      <dgm:spPr/>
      <dgm:t>
        <a:bodyPr/>
        <a:lstStyle/>
        <a:p>
          <a:r>
            <a:rPr lang="en-GB" dirty="0"/>
            <a:t>National Plan</a:t>
          </a:r>
        </a:p>
      </dgm:t>
    </dgm:pt>
    <dgm:pt modelId="{CA7820C5-2114-45B8-B451-56E72E57D346}" type="parTrans" cxnId="{92C15855-F1B3-44B7-96DF-1835A6B00D0A}">
      <dgm:prSet/>
      <dgm:spPr/>
      <dgm:t>
        <a:bodyPr/>
        <a:lstStyle/>
        <a:p>
          <a:endParaRPr lang="en-GB"/>
        </a:p>
      </dgm:t>
    </dgm:pt>
    <dgm:pt modelId="{A102539D-A833-4291-A35F-BAEBB78AF36A}" type="sibTrans" cxnId="{92C15855-F1B3-44B7-96DF-1835A6B00D0A}">
      <dgm:prSet/>
      <dgm:spPr/>
      <dgm:t>
        <a:bodyPr/>
        <a:lstStyle/>
        <a:p>
          <a:endParaRPr lang="en-GB"/>
        </a:p>
      </dgm:t>
    </dgm:pt>
    <dgm:pt modelId="{7133B188-6F3E-4B24-A372-6A9CE0D34109}">
      <dgm:prSet phldrT="[Text]"/>
      <dgm:spPr/>
      <dgm:t>
        <a:bodyPr/>
        <a:lstStyle/>
        <a:p>
          <a:r>
            <a:rPr lang="en-GB" dirty="0"/>
            <a:t>Area or Port Plans</a:t>
          </a:r>
        </a:p>
      </dgm:t>
    </dgm:pt>
    <dgm:pt modelId="{22BC1680-4FC5-4F3D-AABC-787B62DC28A6}" type="parTrans" cxnId="{BC55C2F6-5D88-47F9-83E5-20AA68F0FC98}">
      <dgm:prSet/>
      <dgm:spPr/>
      <dgm:t>
        <a:bodyPr/>
        <a:lstStyle/>
        <a:p>
          <a:endParaRPr lang="en-GB"/>
        </a:p>
      </dgm:t>
    </dgm:pt>
    <dgm:pt modelId="{C4F70553-4EC5-4CB9-A00F-BBCE8BB2DC5C}" type="sibTrans" cxnId="{BC55C2F6-5D88-47F9-83E5-20AA68F0FC98}">
      <dgm:prSet/>
      <dgm:spPr/>
      <dgm:t>
        <a:bodyPr/>
        <a:lstStyle/>
        <a:p>
          <a:endParaRPr lang="en-GB"/>
        </a:p>
      </dgm:t>
    </dgm:pt>
    <dgm:pt modelId="{737D221D-4693-4915-8280-1257CC2438E8}">
      <dgm:prSet phldrT="[Text]"/>
      <dgm:spPr/>
      <dgm:t>
        <a:bodyPr/>
        <a:lstStyle/>
        <a:p>
          <a:r>
            <a:rPr lang="en-GB" dirty="0"/>
            <a:t>Terminal, Installation, Vessel Plans</a:t>
          </a:r>
        </a:p>
      </dgm:t>
    </dgm:pt>
    <dgm:pt modelId="{4A5DA1A5-6BB3-4103-9164-5E2376F25057}" type="parTrans" cxnId="{6705178F-E320-4A92-B7CB-C18F978D54D3}">
      <dgm:prSet/>
      <dgm:spPr/>
      <dgm:t>
        <a:bodyPr/>
        <a:lstStyle/>
        <a:p>
          <a:endParaRPr lang="en-GB"/>
        </a:p>
      </dgm:t>
    </dgm:pt>
    <dgm:pt modelId="{067100B9-7EE3-4C4B-8B6F-27235FCC8BD1}" type="sibTrans" cxnId="{6705178F-E320-4A92-B7CB-C18F978D54D3}">
      <dgm:prSet/>
      <dgm:spPr/>
      <dgm:t>
        <a:bodyPr/>
        <a:lstStyle/>
        <a:p>
          <a:endParaRPr lang="en-GB"/>
        </a:p>
      </dgm:t>
    </dgm:pt>
    <dgm:pt modelId="{C0E54E7E-CDB6-4A1E-8DD9-473C89C32002}">
      <dgm:prSet/>
      <dgm:spPr/>
      <dgm:t>
        <a:bodyPr/>
        <a:lstStyle/>
        <a:p>
          <a:r>
            <a:rPr lang="en-GB" dirty="0"/>
            <a:t>International Plans</a:t>
          </a:r>
        </a:p>
      </dgm:t>
    </dgm:pt>
    <dgm:pt modelId="{2036FB9C-1137-416E-B1F7-906FEACE31A8}" type="parTrans" cxnId="{C697C1C4-1D6B-4229-9037-F827E5AC3575}">
      <dgm:prSet/>
      <dgm:spPr/>
      <dgm:t>
        <a:bodyPr/>
        <a:lstStyle/>
        <a:p>
          <a:endParaRPr lang="en-GB"/>
        </a:p>
      </dgm:t>
    </dgm:pt>
    <dgm:pt modelId="{AB04AEA6-6ED1-49E5-A8F1-5511E4FAEDB3}" type="sibTrans" cxnId="{C697C1C4-1D6B-4229-9037-F827E5AC3575}">
      <dgm:prSet/>
      <dgm:spPr/>
      <dgm:t>
        <a:bodyPr/>
        <a:lstStyle/>
        <a:p>
          <a:endParaRPr lang="en-GB"/>
        </a:p>
      </dgm:t>
    </dgm:pt>
    <dgm:pt modelId="{3E92478B-2647-4A5A-91F4-EE1F5F718350}" type="pres">
      <dgm:prSet presAssocID="{81893746-E524-4267-86B4-5E3A10BF787E}" presName="Name0" presStyleCnt="0">
        <dgm:presLayoutVars>
          <dgm:dir/>
          <dgm:animLvl val="lvl"/>
          <dgm:resizeHandles val="exact"/>
        </dgm:presLayoutVars>
      </dgm:prSet>
      <dgm:spPr/>
    </dgm:pt>
    <dgm:pt modelId="{43E91F95-235A-4DB8-B15D-42DA27C08037}" type="pres">
      <dgm:prSet presAssocID="{C0E54E7E-CDB6-4A1E-8DD9-473C89C32002}" presName="Name8" presStyleCnt="0"/>
      <dgm:spPr/>
    </dgm:pt>
    <dgm:pt modelId="{06E7F468-F83B-434D-99BD-BC8B99FE4A21}" type="pres">
      <dgm:prSet presAssocID="{C0E54E7E-CDB6-4A1E-8DD9-473C89C32002}" presName="level" presStyleLbl="node1" presStyleIdx="0" presStyleCnt="4" custScaleX="97087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28D0827-7184-4AEF-97AB-FB1B8A9173A6}" type="pres">
      <dgm:prSet presAssocID="{C0E54E7E-CDB6-4A1E-8DD9-473C89C32002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EC5BD7F-951B-4F56-816D-80DCE6B75FF6}" type="pres">
      <dgm:prSet presAssocID="{B46ABB2A-0B81-41B6-83B8-32DBD945C40B}" presName="Name8" presStyleCnt="0"/>
      <dgm:spPr/>
    </dgm:pt>
    <dgm:pt modelId="{89FB206C-C3F4-4D92-B0D9-B3673AB36D1A}" type="pres">
      <dgm:prSet presAssocID="{B46ABB2A-0B81-41B6-83B8-32DBD945C40B}" presName="level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2952054-3456-472E-910A-097837F4162B}" type="pres">
      <dgm:prSet presAssocID="{B46ABB2A-0B81-41B6-83B8-32DBD945C40B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9FEB8E3-D322-4DDD-8099-6A4D8630AB36}" type="pres">
      <dgm:prSet presAssocID="{7133B188-6F3E-4B24-A372-6A9CE0D34109}" presName="Name8" presStyleCnt="0"/>
      <dgm:spPr/>
    </dgm:pt>
    <dgm:pt modelId="{BCB0CC00-B7AF-4329-A6C6-3F8E275952E7}" type="pres">
      <dgm:prSet presAssocID="{7133B188-6F3E-4B24-A372-6A9CE0D34109}" presName="level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D068903-A860-445D-B9E9-D885825CAD54}" type="pres">
      <dgm:prSet presAssocID="{7133B188-6F3E-4B24-A372-6A9CE0D34109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D973852-CB94-40D8-AFE9-96736CFA6AFA}" type="pres">
      <dgm:prSet presAssocID="{737D221D-4693-4915-8280-1257CC2438E8}" presName="Name8" presStyleCnt="0"/>
      <dgm:spPr/>
    </dgm:pt>
    <dgm:pt modelId="{ED773F7B-2E2B-4B40-9FDA-2FEEF9BF868D}" type="pres">
      <dgm:prSet presAssocID="{737D221D-4693-4915-8280-1257CC2438E8}" presName="level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12D75ED-AC1F-4F90-9CD1-91AA16E7BCE5}" type="pres">
      <dgm:prSet presAssocID="{737D221D-4693-4915-8280-1257CC2438E8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B1520645-B9FC-428D-A2CB-3245499460E1}" type="presOf" srcId="{81893746-E524-4267-86B4-5E3A10BF787E}" destId="{3E92478B-2647-4A5A-91F4-EE1F5F718350}" srcOrd="0" destOrd="0" presId="urn:microsoft.com/office/officeart/2005/8/layout/pyramid1"/>
    <dgm:cxn modelId="{6618210D-7F08-4498-A3D3-53143599606E}" type="presOf" srcId="{B46ABB2A-0B81-41B6-83B8-32DBD945C40B}" destId="{89FB206C-C3F4-4D92-B0D9-B3673AB36D1A}" srcOrd="0" destOrd="0" presId="urn:microsoft.com/office/officeart/2005/8/layout/pyramid1"/>
    <dgm:cxn modelId="{EC43C4FC-7895-4F35-A906-83E9DA751937}" type="presOf" srcId="{B46ABB2A-0B81-41B6-83B8-32DBD945C40B}" destId="{E2952054-3456-472E-910A-097837F4162B}" srcOrd="1" destOrd="0" presId="urn:microsoft.com/office/officeart/2005/8/layout/pyramid1"/>
    <dgm:cxn modelId="{6CC824EF-BAB3-4695-A30F-F10CAC997F8C}" type="presOf" srcId="{7133B188-6F3E-4B24-A372-6A9CE0D34109}" destId="{ED068903-A860-445D-B9E9-D885825CAD54}" srcOrd="1" destOrd="0" presId="urn:microsoft.com/office/officeart/2005/8/layout/pyramid1"/>
    <dgm:cxn modelId="{3EC29275-6D15-46C8-9FB2-6E85A86A1573}" type="presOf" srcId="{C0E54E7E-CDB6-4A1E-8DD9-473C89C32002}" destId="{628D0827-7184-4AEF-97AB-FB1B8A9173A6}" srcOrd="1" destOrd="0" presId="urn:microsoft.com/office/officeart/2005/8/layout/pyramid1"/>
    <dgm:cxn modelId="{6705178F-E320-4A92-B7CB-C18F978D54D3}" srcId="{81893746-E524-4267-86B4-5E3A10BF787E}" destId="{737D221D-4693-4915-8280-1257CC2438E8}" srcOrd="3" destOrd="0" parTransId="{4A5DA1A5-6BB3-4103-9164-5E2376F25057}" sibTransId="{067100B9-7EE3-4C4B-8B6F-27235FCC8BD1}"/>
    <dgm:cxn modelId="{6F48DEA6-54D8-40A2-B57B-E83314ECCB7B}" type="presOf" srcId="{737D221D-4693-4915-8280-1257CC2438E8}" destId="{ED773F7B-2E2B-4B40-9FDA-2FEEF9BF868D}" srcOrd="0" destOrd="0" presId="urn:microsoft.com/office/officeart/2005/8/layout/pyramid1"/>
    <dgm:cxn modelId="{BC55C2F6-5D88-47F9-83E5-20AA68F0FC98}" srcId="{81893746-E524-4267-86B4-5E3A10BF787E}" destId="{7133B188-6F3E-4B24-A372-6A9CE0D34109}" srcOrd="2" destOrd="0" parTransId="{22BC1680-4FC5-4F3D-AABC-787B62DC28A6}" sibTransId="{C4F70553-4EC5-4CB9-A00F-BBCE8BB2DC5C}"/>
    <dgm:cxn modelId="{92C15855-F1B3-44B7-96DF-1835A6B00D0A}" srcId="{81893746-E524-4267-86B4-5E3A10BF787E}" destId="{B46ABB2A-0B81-41B6-83B8-32DBD945C40B}" srcOrd="1" destOrd="0" parTransId="{CA7820C5-2114-45B8-B451-56E72E57D346}" sibTransId="{A102539D-A833-4291-A35F-BAEBB78AF36A}"/>
    <dgm:cxn modelId="{C697C1C4-1D6B-4229-9037-F827E5AC3575}" srcId="{81893746-E524-4267-86B4-5E3A10BF787E}" destId="{C0E54E7E-CDB6-4A1E-8DD9-473C89C32002}" srcOrd="0" destOrd="0" parTransId="{2036FB9C-1137-416E-B1F7-906FEACE31A8}" sibTransId="{AB04AEA6-6ED1-49E5-A8F1-5511E4FAEDB3}"/>
    <dgm:cxn modelId="{B81A3FC4-E423-42F7-8A63-CABFEF7747F9}" type="presOf" srcId="{737D221D-4693-4915-8280-1257CC2438E8}" destId="{F12D75ED-AC1F-4F90-9CD1-91AA16E7BCE5}" srcOrd="1" destOrd="0" presId="urn:microsoft.com/office/officeart/2005/8/layout/pyramid1"/>
    <dgm:cxn modelId="{464A7F7B-79E1-4E0A-8C42-E64D514DC198}" type="presOf" srcId="{7133B188-6F3E-4B24-A372-6A9CE0D34109}" destId="{BCB0CC00-B7AF-4329-A6C6-3F8E275952E7}" srcOrd="0" destOrd="0" presId="urn:microsoft.com/office/officeart/2005/8/layout/pyramid1"/>
    <dgm:cxn modelId="{F5FA4C73-A99F-4FBB-B18A-E8778B8267C5}" type="presOf" srcId="{C0E54E7E-CDB6-4A1E-8DD9-473C89C32002}" destId="{06E7F468-F83B-434D-99BD-BC8B99FE4A21}" srcOrd="0" destOrd="0" presId="urn:microsoft.com/office/officeart/2005/8/layout/pyramid1"/>
    <dgm:cxn modelId="{7DA5E428-89F1-4F8F-BB7A-8BF7FCCB2095}" type="presParOf" srcId="{3E92478B-2647-4A5A-91F4-EE1F5F718350}" destId="{43E91F95-235A-4DB8-B15D-42DA27C08037}" srcOrd="0" destOrd="0" presId="urn:microsoft.com/office/officeart/2005/8/layout/pyramid1"/>
    <dgm:cxn modelId="{3637472D-8F7E-4A0F-923A-B0C66DD843E2}" type="presParOf" srcId="{43E91F95-235A-4DB8-B15D-42DA27C08037}" destId="{06E7F468-F83B-434D-99BD-BC8B99FE4A21}" srcOrd="0" destOrd="0" presId="urn:microsoft.com/office/officeart/2005/8/layout/pyramid1"/>
    <dgm:cxn modelId="{5F2C0136-9F37-46BA-BB2D-B331396305E4}" type="presParOf" srcId="{43E91F95-235A-4DB8-B15D-42DA27C08037}" destId="{628D0827-7184-4AEF-97AB-FB1B8A9173A6}" srcOrd="1" destOrd="0" presId="urn:microsoft.com/office/officeart/2005/8/layout/pyramid1"/>
    <dgm:cxn modelId="{6640F110-7333-4E0C-9446-C0682F59A38E}" type="presParOf" srcId="{3E92478B-2647-4A5A-91F4-EE1F5F718350}" destId="{4EC5BD7F-951B-4F56-816D-80DCE6B75FF6}" srcOrd="1" destOrd="0" presId="urn:microsoft.com/office/officeart/2005/8/layout/pyramid1"/>
    <dgm:cxn modelId="{4E25E7F7-7AD3-4946-90AC-B53FCF1DC28A}" type="presParOf" srcId="{4EC5BD7F-951B-4F56-816D-80DCE6B75FF6}" destId="{89FB206C-C3F4-4D92-B0D9-B3673AB36D1A}" srcOrd="0" destOrd="0" presId="urn:microsoft.com/office/officeart/2005/8/layout/pyramid1"/>
    <dgm:cxn modelId="{54B6E592-B1A5-4D11-A9A2-4AC91FEB221F}" type="presParOf" srcId="{4EC5BD7F-951B-4F56-816D-80DCE6B75FF6}" destId="{E2952054-3456-472E-910A-097837F4162B}" srcOrd="1" destOrd="0" presId="urn:microsoft.com/office/officeart/2005/8/layout/pyramid1"/>
    <dgm:cxn modelId="{9CA8911A-82D7-4418-A270-B4FB2455DC3D}" type="presParOf" srcId="{3E92478B-2647-4A5A-91F4-EE1F5F718350}" destId="{B9FEB8E3-D322-4DDD-8099-6A4D8630AB36}" srcOrd="2" destOrd="0" presId="urn:microsoft.com/office/officeart/2005/8/layout/pyramid1"/>
    <dgm:cxn modelId="{85F929E3-CC4B-4963-84C8-5A89F38A0E61}" type="presParOf" srcId="{B9FEB8E3-D322-4DDD-8099-6A4D8630AB36}" destId="{BCB0CC00-B7AF-4329-A6C6-3F8E275952E7}" srcOrd="0" destOrd="0" presId="urn:microsoft.com/office/officeart/2005/8/layout/pyramid1"/>
    <dgm:cxn modelId="{BC11D86E-F1C0-4DAE-9CA3-BEC71814F38C}" type="presParOf" srcId="{B9FEB8E3-D322-4DDD-8099-6A4D8630AB36}" destId="{ED068903-A860-445D-B9E9-D885825CAD54}" srcOrd="1" destOrd="0" presId="urn:microsoft.com/office/officeart/2005/8/layout/pyramid1"/>
    <dgm:cxn modelId="{E0C0B8CD-C028-41E3-9C57-0525B388BEBE}" type="presParOf" srcId="{3E92478B-2647-4A5A-91F4-EE1F5F718350}" destId="{5D973852-CB94-40D8-AFE9-96736CFA6AFA}" srcOrd="3" destOrd="0" presId="urn:microsoft.com/office/officeart/2005/8/layout/pyramid1"/>
    <dgm:cxn modelId="{59716815-3872-40BA-829C-ABBDDC70C9E6}" type="presParOf" srcId="{5D973852-CB94-40D8-AFE9-96736CFA6AFA}" destId="{ED773F7B-2E2B-4B40-9FDA-2FEEF9BF868D}" srcOrd="0" destOrd="0" presId="urn:microsoft.com/office/officeart/2005/8/layout/pyramid1"/>
    <dgm:cxn modelId="{71E044F5-B3B3-46A8-9C2E-A70A7ABF5F28}" type="presParOf" srcId="{5D973852-CB94-40D8-AFE9-96736CFA6AFA}" destId="{F12D75ED-AC1F-4F90-9CD1-91AA16E7BCE5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7F468-F83B-434D-99BD-BC8B99FE4A21}">
      <dsp:nvSpPr>
        <dsp:cNvPr id="0" name=""/>
        <dsp:cNvSpPr/>
      </dsp:nvSpPr>
      <dsp:spPr>
        <a:xfrm>
          <a:off x="2808315" y="0"/>
          <a:ext cx="1800192" cy="1278142"/>
        </a:xfrm>
        <a:prstGeom prst="trapezoid">
          <a:avLst>
            <a:gd name="adj" fmla="val 72535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/>
            <a:t>International Plans</a:t>
          </a:r>
        </a:p>
      </dsp:txBody>
      <dsp:txXfrm>
        <a:off x="2808315" y="0"/>
        <a:ext cx="1800192" cy="1278142"/>
      </dsp:txXfrm>
    </dsp:sp>
    <dsp:sp modelId="{89FB206C-C3F4-4D92-B0D9-B3673AB36D1A}">
      <dsp:nvSpPr>
        <dsp:cNvPr id="0" name=""/>
        <dsp:cNvSpPr/>
      </dsp:nvSpPr>
      <dsp:spPr>
        <a:xfrm>
          <a:off x="1854206" y="1278142"/>
          <a:ext cx="3708412" cy="1278142"/>
        </a:xfrm>
        <a:prstGeom prst="trapezoid">
          <a:avLst>
            <a:gd name="adj" fmla="val 72535"/>
          </a:avLst>
        </a:prstGeom>
        <a:solidFill>
          <a:schemeClr val="accent1">
            <a:shade val="80000"/>
            <a:hueOff val="90421"/>
            <a:satOff val="1725"/>
            <a:lumOff val="76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/>
            <a:t>National Plan</a:t>
          </a:r>
        </a:p>
      </dsp:txBody>
      <dsp:txXfrm>
        <a:off x="2503178" y="1278142"/>
        <a:ext cx="2410467" cy="1278142"/>
      </dsp:txXfrm>
    </dsp:sp>
    <dsp:sp modelId="{BCB0CC00-B7AF-4329-A6C6-3F8E275952E7}">
      <dsp:nvSpPr>
        <dsp:cNvPr id="0" name=""/>
        <dsp:cNvSpPr/>
      </dsp:nvSpPr>
      <dsp:spPr>
        <a:xfrm>
          <a:off x="927103" y="2556284"/>
          <a:ext cx="5562618" cy="1278142"/>
        </a:xfrm>
        <a:prstGeom prst="trapezoid">
          <a:avLst>
            <a:gd name="adj" fmla="val 72535"/>
          </a:avLst>
        </a:prstGeom>
        <a:solidFill>
          <a:schemeClr val="accent1">
            <a:shade val="80000"/>
            <a:hueOff val="180842"/>
            <a:satOff val="3450"/>
            <a:lumOff val="152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/>
            <a:t>Area or Port Plans</a:t>
          </a:r>
        </a:p>
      </dsp:txBody>
      <dsp:txXfrm>
        <a:off x="1900561" y="2556284"/>
        <a:ext cx="3615701" cy="1278142"/>
      </dsp:txXfrm>
    </dsp:sp>
    <dsp:sp modelId="{ED773F7B-2E2B-4B40-9FDA-2FEEF9BF868D}">
      <dsp:nvSpPr>
        <dsp:cNvPr id="0" name=""/>
        <dsp:cNvSpPr/>
      </dsp:nvSpPr>
      <dsp:spPr>
        <a:xfrm>
          <a:off x="0" y="3834426"/>
          <a:ext cx="7416824" cy="1278142"/>
        </a:xfrm>
        <a:prstGeom prst="trapezoid">
          <a:avLst>
            <a:gd name="adj" fmla="val 72535"/>
          </a:avLst>
        </a:prstGeom>
        <a:solidFill>
          <a:schemeClr val="accent1">
            <a:shade val="80000"/>
            <a:hueOff val="271263"/>
            <a:satOff val="5175"/>
            <a:lumOff val="228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/>
            <a:t>Terminal, Installation, Vessel Plans</a:t>
          </a:r>
        </a:p>
      </dsp:txBody>
      <dsp:txXfrm>
        <a:off x="1297944" y="3834426"/>
        <a:ext cx="4820935" cy="1278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801279" y="2185416"/>
            <a:ext cx="7772400" cy="14173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Lesson 3.9</a:t>
            </a:r>
            <a:br>
              <a:rPr lang="en-GB" altLang="en-US" b="1" dirty="0" smtClean="0"/>
            </a:br>
            <a:r>
              <a:rPr lang="en-GB" altLang="en-US" b="1" dirty="0" smtClean="0"/>
              <a:t>Planning and Cooperation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66622" y="49724"/>
            <a:ext cx="964692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Objective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58952" y="1342749"/>
            <a:ext cx="1040587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dirty="0" smtClean="0"/>
              <a:t>To understand the organizational aspects to be considered when implementing national and/or regional contingency planning.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dirty="0" smtClean="0"/>
              <a:t>To understand the role of the Competent National Authority, how to establish a response organization, the benefits of cooperation with industry and the development of a tiered response system.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6152" y="49724"/>
            <a:ext cx="98298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Introduction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65376" y="1160187"/>
            <a:ext cx="98298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dirty="0" smtClean="0"/>
              <a:t>Overview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 smtClean="0"/>
              <a:t>Purpose of a contingency plan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 smtClean="0"/>
              <a:t>Hierarchy of plans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 smtClean="0"/>
              <a:t>Tiered response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 smtClean="0"/>
              <a:t>Planning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 smtClean="0"/>
              <a:t>Cooperation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 smtClean="0"/>
              <a:t>Plan development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 smtClean="0"/>
              <a:t>Plan content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71016" y="0"/>
            <a:ext cx="975664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Planning Overview</a:t>
            </a:r>
            <a:endParaRPr lang="en-GB" altLang="en-US" b="1" dirty="0" smtClean="0"/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211758" y="1083560"/>
            <a:ext cx="975664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charset="0"/>
              <a:buNone/>
              <a:defRPr/>
            </a:pPr>
            <a:r>
              <a:rPr lang="en-GB" dirty="0" smtClean="0"/>
              <a:t>Responding to oil spills demands that a variety of decisions are made very quickly.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GB" dirty="0" smtClean="0"/>
              <a:t>This can only be achieved if all participants:</a:t>
            </a:r>
          </a:p>
          <a:p>
            <a:pPr marL="449263" indent="-263525" algn="just">
              <a:buFont typeface="Arial" charset="0"/>
              <a:buChar char="•"/>
              <a:defRPr/>
            </a:pPr>
            <a:r>
              <a:rPr lang="en-GB" dirty="0" smtClean="0"/>
              <a:t>are prepared</a:t>
            </a:r>
          </a:p>
          <a:p>
            <a:pPr marL="449263" indent="-263525" algn="just">
              <a:buFont typeface="Arial" charset="0"/>
              <a:buChar char="•"/>
              <a:defRPr/>
            </a:pPr>
            <a:r>
              <a:rPr lang="en-GB" dirty="0" smtClean="0"/>
              <a:t>can make crucial decisions</a:t>
            </a:r>
          </a:p>
          <a:p>
            <a:pPr marL="449263" indent="-263525" algn="just">
              <a:buFont typeface="Arial" charset="0"/>
              <a:buChar char="•"/>
              <a:defRPr/>
            </a:pPr>
            <a:r>
              <a:rPr lang="en-GB" dirty="0" smtClean="0"/>
              <a:t>can mobilize appropriate resources without hesitation and minimal delay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GB" dirty="0" smtClean="0"/>
              <a:t>A fully developed and tested contingency plan will assist in achieving these goals.</a:t>
            </a:r>
          </a:p>
          <a:p>
            <a:pPr marL="449263" indent="-263525" algn="just">
              <a:buFont typeface="Arial" charset="0"/>
              <a:buNone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53527" y="0"/>
            <a:ext cx="9873551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Purpose of a Contingency </a:t>
            </a:r>
            <a:r>
              <a:rPr lang="en-GB" altLang="en-US" b="1" dirty="0"/>
              <a:t>P</a:t>
            </a:r>
            <a:r>
              <a:rPr lang="en-GB" altLang="en-US" b="1" dirty="0" smtClean="0"/>
              <a:t>lan</a:t>
            </a:r>
            <a:endParaRPr lang="en-GB" altLang="en-US" b="1" dirty="0" smtClean="0"/>
          </a:p>
        </p:txBody>
      </p:sp>
      <p:sp>
        <p:nvSpPr>
          <p:cNvPr id="6" name="Content Placeholder 6">
            <a:extLst/>
          </p:cNvPr>
          <p:cNvSpPr txBox="1">
            <a:spLocks/>
          </p:cNvSpPr>
          <p:nvPr/>
        </p:nvSpPr>
        <p:spPr>
          <a:xfrm>
            <a:off x="796690" y="1231624"/>
            <a:ext cx="10586784" cy="53292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charset="0"/>
              <a:buNone/>
              <a:defRPr/>
            </a:pPr>
            <a:r>
              <a:rPr lang="ja-JP" altLang="en-GB" dirty="0" smtClean="0"/>
              <a:t>“</a:t>
            </a:r>
            <a:r>
              <a:rPr lang="en-GB" altLang="ja-JP" dirty="0" smtClean="0"/>
              <a:t>A predetermined sequence of communications and actions which can be quickly initiated to cope with an event of possible but uncertain occurrence.</a:t>
            </a:r>
            <a:r>
              <a:rPr lang="ja-JP" altLang="en-GB" dirty="0" smtClean="0"/>
              <a:t>”</a:t>
            </a:r>
            <a:endParaRPr lang="en-GB" altLang="ja-JP" dirty="0" smtClean="0"/>
          </a:p>
          <a:p>
            <a:pPr algn="just">
              <a:defRPr/>
            </a:pPr>
            <a:r>
              <a:rPr lang="en-GB" dirty="0" smtClean="0"/>
              <a:t>Provide a framework to respond to an oil spill or potential spill</a:t>
            </a:r>
          </a:p>
          <a:p>
            <a:pPr algn="just">
              <a:defRPr/>
            </a:pPr>
            <a:r>
              <a:rPr lang="en-GB" dirty="0" smtClean="0"/>
              <a:t>Ensure that broad consensus has been achieved on response measures, prior to the incident</a:t>
            </a:r>
          </a:p>
          <a:p>
            <a:pPr algn="just">
              <a:defRPr/>
            </a:pPr>
            <a:r>
              <a:rPr lang="en-GB" dirty="0" smtClean="0"/>
              <a:t>Meet or set legislative requirements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79170" y="0"/>
            <a:ext cx="1002182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Hierarchy of Contingency </a:t>
            </a:r>
            <a:r>
              <a:rPr lang="en-GB" altLang="en-US" b="1" dirty="0"/>
              <a:t>P</a:t>
            </a:r>
            <a:r>
              <a:rPr lang="en-GB" altLang="en-US" b="1" dirty="0" smtClean="0"/>
              <a:t>lans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22521" y="1231624"/>
            <a:ext cx="10515600" cy="53292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GB" altLang="en-US" sz="3200" dirty="0" smtClean="0"/>
              <a:t>Preparation of detailed and specific plans</a:t>
            </a:r>
          </a:p>
          <a:p>
            <a:pPr>
              <a:lnSpc>
                <a:spcPct val="150000"/>
              </a:lnSpc>
            </a:pPr>
            <a:r>
              <a:rPr lang="en-GB" altLang="en-US" sz="3200" dirty="0" smtClean="0"/>
              <a:t>International level – bilateral or regional</a:t>
            </a:r>
          </a:p>
          <a:p>
            <a:pPr>
              <a:lnSpc>
                <a:spcPct val="150000"/>
              </a:lnSpc>
            </a:pPr>
            <a:r>
              <a:rPr lang="en-GB" altLang="en-US" sz="3200" dirty="0" smtClean="0"/>
              <a:t>National level – the strategic plan</a:t>
            </a:r>
          </a:p>
          <a:p>
            <a:pPr>
              <a:lnSpc>
                <a:spcPct val="150000"/>
              </a:lnSpc>
            </a:pPr>
            <a:r>
              <a:rPr lang="en-GB" altLang="en-US" sz="3200" dirty="0" smtClean="0"/>
              <a:t>Local level – the operational plans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Ports, oil handling installations, offshore units, vessels</a:t>
            </a:r>
          </a:p>
          <a:p>
            <a:pPr>
              <a:buFontTx/>
              <a:buNone/>
            </a:pPr>
            <a:endParaRPr lang="en-GB" altLang="en-US" sz="3200" dirty="0" smtClean="0"/>
          </a:p>
          <a:p>
            <a:pPr>
              <a:buFontTx/>
              <a:buNone/>
            </a:pPr>
            <a:endParaRPr lang="en-GB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76072" y="66715"/>
            <a:ext cx="1088136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Hierarchy of Contingency </a:t>
            </a:r>
            <a:r>
              <a:rPr lang="en-GB" altLang="en-US" b="1" dirty="0"/>
              <a:t>P</a:t>
            </a:r>
            <a:r>
              <a:rPr lang="en-GB" altLang="en-US" b="1" dirty="0" smtClean="0"/>
              <a:t>lans</a:t>
            </a:r>
            <a:endParaRPr lang="en-GB" altLang="en-US" b="1" dirty="0" smtClean="0"/>
          </a:p>
        </p:txBody>
      </p:sp>
      <p:graphicFrame>
        <p:nvGraphicFramePr>
          <p:cNvPr id="6" name="Diagram 5">
            <a:extLst/>
          </p:cNvPr>
          <p:cNvGraphicFramePr/>
          <p:nvPr>
            <p:extLst>
              <p:ext uri="{D42A27DB-BD31-4B8C-83A1-F6EECF244321}">
                <p14:modId xmlns:p14="http://schemas.microsoft.com/office/powerpoint/2010/main" val="3382558068"/>
              </p:ext>
            </p:extLst>
          </p:nvPr>
        </p:nvGraphicFramePr>
        <p:xfrm>
          <a:off x="2128328" y="1052736"/>
          <a:ext cx="7416824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15746" y="14937"/>
            <a:ext cx="99486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Hierarchy of Contingency </a:t>
            </a:r>
            <a:r>
              <a:rPr lang="en-GB" altLang="en-US" b="1" dirty="0"/>
              <a:t>P</a:t>
            </a:r>
            <a:r>
              <a:rPr lang="en-GB" altLang="en-US" b="1" dirty="0" smtClean="0"/>
              <a:t>lans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05840" y="1167616"/>
            <a:ext cx="10552176" cy="53292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Tx/>
              <a:buNone/>
            </a:pPr>
            <a:r>
              <a:rPr lang="en-GB" altLang="en-US" dirty="0" smtClean="0"/>
              <a:t>Plans to be coordinated under a national system.</a:t>
            </a:r>
          </a:p>
          <a:p>
            <a:pPr marL="0" indent="0" algn="just">
              <a:buFontTx/>
              <a:buNone/>
            </a:pPr>
            <a:r>
              <a:rPr lang="en-GB" altLang="en-US" dirty="0" smtClean="0"/>
              <a:t>The framework of interlocking plans is often referred to as </a:t>
            </a:r>
            <a:r>
              <a:rPr lang="ja-JP" altLang="en-GB" dirty="0" smtClean="0"/>
              <a:t>“</a:t>
            </a:r>
            <a:r>
              <a:rPr lang="en-GB" altLang="ja-JP" dirty="0" smtClean="0"/>
              <a:t>tiered response</a:t>
            </a:r>
            <a:r>
              <a:rPr lang="ja-JP" altLang="en-GB" dirty="0" smtClean="0"/>
              <a:t>”</a:t>
            </a:r>
            <a:r>
              <a:rPr lang="en-GB" altLang="ja-JP" dirty="0" smtClean="0"/>
              <a:t>.</a:t>
            </a:r>
          </a:p>
          <a:p>
            <a:pPr marL="0" indent="0" algn="just">
              <a:buFontTx/>
              <a:buNone/>
            </a:pPr>
            <a:r>
              <a:rPr lang="en-GB" altLang="en-US" dirty="0" smtClean="0"/>
              <a:t>This is intended to ensure that the response undertaken reflects the scale of the incident.</a:t>
            </a:r>
          </a:p>
          <a:p>
            <a:pPr marL="0" indent="0" algn="just">
              <a:buFontTx/>
              <a:buNone/>
            </a:pPr>
            <a:r>
              <a:rPr lang="en-GB" altLang="en-US" dirty="0" smtClean="0"/>
              <a:t>Typically three tiers of response are recognized but different countries may have differing approaches.</a:t>
            </a:r>
          </a:p>
          <a:p>
            <a:pPr marL="0" indent="0" algn="just">
              <a:buFontTx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3112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1"/>
          <p:cNvSpPr txBox="1">
            <a:spLocks/>
          </p:cNvSpPr>
          <p:nvPr/>
        </p:nvSpPr>
        <p:spPr>
          <a:xfrm>
            <a:off x="676656" y="65088"/>
            <a:ext cx="106893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b="1" dirty="0" smtClean="0"/>
              <a:t>Tiered Response </a:t>
            </a:r>
            <a:r>
              <a:rPr lang="en-GB" altLang="en-US" b="1" dirty="0"/>
              <a:t>C</a:t>
            </a:r>
            <a:r>
              <a:rPr lang="en-GB" altLang="en-US" b="1" dirty="0" smtClean="0"/>
              <a:t>oncept</a:t>
            </a:r>
            <a:endParaRPr lang="en-GB" altLang="en-US" b="1" dirty="0" smtClean="0"/>
          </a:p>
        </p:txBody>
      </p:sp>
      <p:sp>
        <p:nvSpPr>
          <p:cNvPr id="6" name="Content Placeholder 7">
            <a:extLst/>
          </p:cNvPr>
          <p:cNvSpPr txBox="1">
            <a:spLocks/>
          </p:cNvSpPr>
          <p:nvPr/>
        </p:nvSpPr>
        <p:spPr>
          <a:xfrm>
            <a:off x="676656" y="989327"/>
            <a:ext cx="1035100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defRPr/>
            </a:pPr>
            <a:r>
              <a:rPr lang="en-GB" altLang="en-US" sz="3200" dirty="0" smtClean="0"/>
              <a:t>Tier One</a:t>
            </a:r>
          </a:p>
          <a:p>
            <a:pPr lvl="1" indent="-420688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en-GB" altLang="en-US" sz="2800" dirty="0" smtClean="0"/>
              <a:t>Resources necessary to handle a local spill and/or provide an initial response</a:t>
            </a:r>
          </a:p>
          <a:p>
            <a:pPr lvl="1" indent="-420688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en-GB" altLang="en-US" sz="2800" dirty="0" smtClean="0"/>
              <a:t>Generally a minor </a:t>
            </a:r>
            <a:r>
              <a:rPr lang="ja-JP" altLang="en-GB" sz="2800" dirty="0" smtClean="0"/>
              <a:t>“</a:t>
            </a:r>
            <a:r>
              <a:rPr lang="en-GB" altLang="ja-JP" sz="2800" dirty="0" smtClean="0"/>
              <a:t>operational</a:t>
            </a:r>
            <a:r>
              <a:rPr lang="ja-JP" altLang="en-GB" sz="2800" dirty="0" smtClean="0"/>
              <a:t>”</a:t>
            </a:r>
            <a:r>
              <a:rPr lang="en-GB" altLang="ja-JP" sz="2800" dirty="0" smtClean="0"/>
              <a:t> spill </a:t>
            </a:r>
          </a:p>
          <a:p>
            <a:pPr lvl="2" indent="-430213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altLang="en-US" sz="2400" dirty="0" smtClean="0"/>
              <a:t>Hose burst, tank overflow, leaking flange</a:t>
            </a:r>
          </a:p>
          <a:p>
            <a:pPr lvl="1" indent="-420688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en-GB" altLang="en-US" sz="2800" dirty="0" smtClean="0"/>
              <a:t>Contained locally </a:t>
            </a:r>
          </a:p>
          <a:p>
            <a:pPr lvl="1" indent="-420688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en-GB" altLang="en-US" sz="2800" dirty="0" smtClean="0"/>
              <a:t>Local response with resources immediately available on site</a:t>
            </a:r>
          </a:p>
          <a:p>
            <a:pPr lvl="1" indent="-420688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en-GB" sz="2800" dirty="0" smtClean="0"/>
              <a:t>Local Contingency Plan</a:t>
            </a:r>
          </a:p>
          <a:p>
            <a:pPr lvl="2" indent="-430213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2400" dirty="0" smtClean="0"/>
              <a:t>reflects the local risk assessments</a:t>
            </a:r>
          </a:p>
          <a:p>
            <a:pPr lvl="2" indent="-430213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2400" dirty="0" smtClean="0"/>
              <a:t>reflects the local environmental sensitivities</a:t>
            </a:r>
          </a:p>
          <a:p>
            <a:pPr lvl="2" indent="-430213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sz="2400" dirty="0" smtClean="0"/>
              <a:t>compatible with area contingency plan</a:t>
            </a:r>
          </a:p>
          <a:p>
            <a:pPr indent="-249238">
              <a:spcBef>
                <a:spcPts val="600"/>
              </a:spcBef>
              <a:buFont typeface="Arial" charset="0"/>
              <a:buNone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596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9"/>
          <p:cNvSpPr txBox="1">
            <a:spLocks/>
          </p:cNvSpPr>
          <p:nvPr/>
        </p:nvSpPr>
        <p:spPr>
          <a:xfrm>
            <a:off x="731520" y="47879"/>
            <a:ext cx="1093622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b="1" dirty="0" smtClean="0"/>
              <a:t>Tiered Response </a:t>
            </a:r>
            <a:r>
              <a:rPr lang="en-GB" altLang="en-US" b="1" dirty="0"/>
              <a:t>C</a:t>
            </a:r>
            <a:r>
              <a:rPr lang="en-GB" altLang="en-US" b="1" dirty="0" smtClean="0"/>
              <a:t>oncept</a:t>
            </a:r>
            <a:endParaRPr lang="en-GB" altLang="en-US" b="1" dirty="0" smtClean="0"/>
          </a:p>
        </p:txBody>
      </p:sp>
      <p:sp>
        <p:nvSpPr>
          <p:cNvPr id="6" name="Content Placeholder 14">
            <a:extLst/>
          </p:cNvPr>
          <p:cNvSpPr txBox="1">
            <a:spLocks/>
          </p:cNvSpPr>
          <p:nvPr/>
        </p:nvSpPr>
        <p:spPr>
          <a:xfrm>
            <a:off x="731520" y="904600"/>
            <a:ext cx="10149840" cy="54737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GB" sz="3200" dirty="0" smtClean="0"/>
              <a:t>Tier Two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sz="2800" dirty="0" smtClean="0"/>
              <a:t>National or regional resources necessary to supplement a Tier One response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sz="2800" dirty="0" smtClean="0"/>
              <a:t>Generally a medium-sized spill or a spill that is not contained locally </a:t>
            </a:r>
          </a:p>
          <a:p>
            <a:pPr lvl="2" indent="-430213" algn="just">
              <a:buFont typeface="Wingdings" panose="05000000000000000000" pitchFamily="2" charset="2"/>
              <a:buChar char="ü"/>
              <a:defRPr/>
            </a:pPr>
            <a:r>
              <a:rPr lang="en-GB" sz="2400" dirty="0" smtClean="0"/>
              <a:t>Collision, grounding, sub-sea leak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sz="2800" dirty="0" smtClean="0"/>
              <a:t>Requiring additional resources from outside those immediately available on site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sz="2800" dirty="0" smtClean="0"/>
              <a:t>Area Contingency Plan </a:t>
            </a:r>
          </a:p>
          <a:p>
            <a:pPr lvl="2" indent="-430213" algn="just">
              <a:buFont typeface="Wingdings" panose="05000000000000000000" pitchFamily="2" charset="2"/>
              <a:buChar char="ü"/>
              <a:defRPr/>
            </a:pPr>
            <a:r>
              <a:rPr lang="en-GB" sz="2400" dirty="0" smtClean="0"/>
              <a:t>reflects area risk assessments</a:t>
            </a:r>
          </a:p>
          <a:p>
            <a:pPr lvl="2" indent="-430213" algn="just">
              <a:buFont typeface="Wingdings" panose="05000000000000000000" pitchFamily="2" charset="2"/>
              <a:buChar char="ü"/>
              <a:defRPr/>
            </a:pPr>
            <a:r>
              <a:rPr lang="en-GB" sz="2400" dirty="0" smtClean="0"/>
              <a:t>reflects area environmental sensitivities</a:t>
            </a:r>
          </a:p>
          <a:p>
            <a:pPr lvl="2" indent="-430213" algn="just">
              <a:buFont typeface="Wingdings" panose="05000000000000000000" pitchFamily="2" charset="2"/>
              <a:buChar char="ü"/>
              <a:defRPr/>
            </a:pPr>
            <a:r>
              <a:rPr lang="en-GB" sz="2400" dirty="0" smtClean="0"/>
              <a:t>compatible with national contingency plan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3069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1"/>
          <p:cNvSpPr txBox="1">
            <a:spLocks/>
          </p:cNvSpPr>
          <p:nvPr/>
        </p:nvSpPr>
        <p:spPr>
          <a:xfrm>
            <a:off x="503098" y="0"/>
            <a:ext cx="1117396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b="1" dirty="0" smtClean="0"/>
              <a:t>Tiered Response </a:t>
            </a:r>
            <a:r>
              <a:rPr lang="en-GB" altLang="en-US" b="1" dirty="0"/>
              <a:t>C</a:t>
            </a:r>
            <a:r>
              <a:rPr lang="en-GB" altLang="en-US" b="1" dirty="0" smtClean="0"/>
              <a:t>oncept</a:t>
            </a:r>
            <a:endParaRPr lang="en-GB" altLang="en-US" b="1" dirty="0" smtClean="0"/>
          </a:p>
        </p:txBody>
      </p:sp>
      <p:sp>
        <p:nvSpPr>
          <p:cNvPr id="6" name="Content Placeholder 28">
            <a:extLst/>
          </p:cNvPr>
          <p:cNvSpPr txBox="1">
            <a:spLocks/>
          </p:cNvSpPr>
          <p:nvPr/>
        </p:nvSpPr>
        <p:spPr>
          <a:xfrm>
            <a:off x="658368" y="963402"/>
            <a:ext cx="1060704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GB" altLang="en-US" sz="3200" dirty="0" smtClean="0"/>
              <a:t>Tier Three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altLang="en-US" sz="2800" dirty="0" smtClean="0"/>
              <a:t>Global resources necessary for spills that require a substantial additional response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altLang="en-US" sz="2800" dirty="0" smtClean="0"/>
              <a:t>Generally a significant spill with national consequences or regional consequences </a:t>
            </a:r>
          </a:p>
          <a:p>
            <a:pPr lvl="2" indent="-430213" algn="just">
              <a:buFont typeface="Wingdings" panose="05000000000000000000" pitchFamily="2" charset="2"/>
              <a:buChar char="ü"/>
              <a:defRPr/>
            </a:pPr>
            <a:r>
              <a:rPr lang="en-GB" altLang="en-US" sz="2400" dirty="0" smtClean="0"/>
              <a:t>Grounding or loss of vessel, blow-out, major sub-sea leak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altLang="en-US" sz="2800" dirty="0" smtClean="0"/>
              <a:t>Not contained locally, possible cross-boundary movement 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altLang="en-US" sz="2800" dirty="0" smtClean="0"/>
              <a:t>National, Bilateral or Regional Plans activated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sz="2800" dirty="0" smtClean="0"/>
              <a:t>National Contingency Plan</a:t>
            </a:r>
          </a:p>
          <a:p>
            <a:pPr lvl="2" indent="-430213" algn="just">
              <a:buFont typeface="Wingdings" panose="05000000000000000000" pitchFamily="2" charset="2"/>
              <a:buChar char="ü"/>
              <a:defRPr/>
            </a:pPr>
            <a:r>
              <a:rPr lang="en-GB" sz="2400" dirty="0" smtClean="0"/>
              <a:t>reflects national risk assessments</a:t>
            </a:r>
          </a:p>
          <a:p>
            <a:pPr lvl="2" indent="-430213" algn="just">
              <a:buFont typeface="Wingdings" panose="05000000000000000000" pitchFamily="2" charset="2"/>
              <a:buChar char="ü"/>
              <a:defRPr/>
            </a:pPr>
            <a:r>
              <a:rPr lang="en-GB" sz="2400" dirty="0" smtClean="0"/>
              <a:t>reflects national environmental sensitivities</a:t>
            </a:r>
          </a:p>
          <a:p>
            <a:pPr lvl="2" indent="-430213" algn="just">
              <a:buFont typeface="Wingdings" panose="05000000000000000000" pitchFamily="2" charset="2"/>
              <a:buChar char="ü"/>
              <a:defRPr/>
            </a:pPr>
            <a:r>
              <a:rPr lang="en-GB" sz="2400" dirty="0" smtClean="0"/>
              <a:t>compatible with regional contingency plan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305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25880" y="49724"/>
            <a:ext cx="970178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Planning Overview</a:t>
            </a:r>
            <a:endParaRPr lang="en-GB" altLang="en-US" b="1" dirty="0" smtClean="0"/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005840" y="1005268"/>
            <a:ext cx="1012240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charset="0"/>
              <a:buNone/>
              <a:defRPr/>
            </a:pPr>
            <a:r>
              <a:rPr lang="en-GB" dirty="0" smtClean="0"/>
              <a:t>Contingency plans provide the structure under which the response will be managed.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GB" dirty="0" smtClean="0"/>
              <a:t>They should:</a:t>
            </a:r>
          </a:p>
          <a:p>
            <a:pPr marL="357188" indent="-263525" algn="just">
              <a:buFont typeface="Arial" charset="0"/>
              <a:buChar char="•"/>
              <a:defRPr/>
            </a:pPr>
            <a:r>
              <a:rPr lang="en-GB" dirty="0" smtClean="0"/>
              <a:t>reflect the needs of the country</a:t>
            </a:r>
          </a:p>
          <a:p>
            <a:pPr marL="357188" indent="-263525" algn="just">
              <a:buFont typeface="Arial" charset="0"/>
              <a:buChar char="•"/>
              <a:defRPr/>
            </a:pPr>
            <a:r>
              <a:rPr lang="en-GB" dirty="0" smtClean="0"/>
              <a:t>reflect the working culture of the country</a:t>
            </a:r>
          </a:p>
          <a:p>
            <a:pPr marL="357188" indent="-263525" algn="just">
              <a:buFont typeface="Arial" charset="0"/>
              <a:buChar char="•"/>
              <a:defRPr/>
            </a:pPr>
            <a:r>
              <a:rPr lang="en-GB" dirty="0" smtClean="0"/>
              <a:t>be concise</a:t>
            </a:r>
          </a:p>
          <a:p>
            <a:pPr marL="357188" indent="-263525" algn="just">
              <a:buFont typeface="Arial" charset="0"/>
              <a:buChar char="•"/>
              <a:defRPr/>
            </a:pPr>
            <a:r>
              <a:rPr lang="en-GB" dirty="0" smtClean="0"/>
              <a:t>be accessible </a:t>
            </a:r>
          </a:p>
          <a:p>
            <a:pPr marL="357188" indent="-263525" algn="just">
              <a:buFont typeface="Arial" charset="0"/>
              <a:buChar char="•"/>
              <a:defRPr/>
            </a:pPr>
            <a:r>
              <a:rPr lang="en-GB" dirty="0" smtClean="0"/>
              <a:t>be easily updated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332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43584" y="49724"/>
            <a:ext cx="992124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Planning Overview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50570" y="1160187"/>
            <a:ext cx="1047902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A contingency plan need not be one volume.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One volume plans may be appropriate at the local level but are often too large at the national level.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They should be developed to meet the needs and policies of the country but be adaptable to meet any changes in the future.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1722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15568" y="49724"/>
            <a:ext cx="989380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Cooperation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05256" y="1098705"/>
            <a:ext cx="1035100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Cooperation is essential in both the planning and response phases.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Within the national context </a:t>
            </a:r>
            <a:r>
              <a:rPr lang="en-GB" altLang="en-US" dirty="0" smtClean="0">
                <a:solidFill>
                  <a:srgbClr val="FF0000"/>
                </a:solidFill>
              </a:rPr>
              <a:t>all stakeholders </a:t>
            </a:r>
            <a:r>
              <a:rPr lang="en-GB" altLang="en-US" dirty="0" smtClean="0"/>
              <a:t>need to be included in the national plan.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There are many possible stakeholders, some with significant input, some with lesser input.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In order to manage the national plan and the input of stakeholders, consideration may be given to creating a coordinating committee plan.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208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97280" y="49724"/>
            <a:ext cx="1012240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Coordinating Committee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05256" y="1077891"/>
            <a:ext cx="1012240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The coordinating committee should comprise key stakeholders with responsibility for spill response.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It should be chaired by the national competent authority.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  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The committee should invite other stakeholders, as required.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The function of the committee is to manage the national preparedness including preparation, training and exercising. 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820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98448" y="49724"/>
            <a:ext cx="986637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Planning Overview</a:t>
            </a:r>
            <a:endParaRPr lang="en-GB" altLang="en-US" b="1" dirty="0" smtClean="0"/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941832" y="1063414"/>
            <a:ext cx="1045159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charset="0"/>
              <a:buNone/>
              <a:defRPr/>
            </a:pPr>
            <a:r>
              <a:rPr lang="en-GB" dirty="0" smtClean="0"/>
              <a:t>The planning process is very important:</a:t>
            </a:r>
          </a:p>
          <a:p>
            <a:pPr marL="550863" indent="-457200" algn="just">
              <a:defRPr/>
            </a:pPr>
            <a:r>
              <a:rPr lang="en-GB" dirty="0" smtClean="0"/>
              <a:t>It raises awareness of the issues likely to be faced.</a:t>
            </a:r>
          </a:p>
          <a:p>
            <a:pPr marL="550863" indent="-457200" algn="just">
              <a:defRPr/>
            </a:pPr>
            <a:r>
              <a:rPr lang="en-GB" dirty="0" smtClean="0"/>
              <a:t>It brings stakeholders together to discuss and resolve potential conflicts.</a:t>
            </a:r>
          </a:p>
          <a:p>
            <a:pPr marL="550863" indent="-457200" algn="just">
              <a:defRPr/>
            </a:pPr>
            <a:r>
              <a:rPr lang="en-GB" dirty="0" smtClean="0"/>
              <a:t>It allows for plans to be drafted outside of the intensity of response operations.</a:t>
            </a:r>
          </a:p>
          <a:p>
            <a:pPr marL="550863" indent="-457200" algn="just">
              <a:defRPr/>
            </a:pPr>
            <a:r>
              <a:rPr lang="en-GB" dirty="0" smtClean="0"/>
              <a:t>It is best drafted by the users.</a:t>
            </a:r>
          </a:p>
          <a:p>
            <a:pPr marL="357188" indent="-263525" algn="just">
              <a:buFont typeface="Arial" charset="0"/>
              <a:buChar char="•"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939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 bwMode="auto">
          <a:xfrm>
            <a:off x="466522" y="70891"/>
            <a:ext cx="1124712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bg1"/>
                </a:solidFill>
                <a:latin typeface="+mj-lt"/>
                <a:ea typeface="MS PGothic" pitchFamily="34" charset="-128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  <a:ea typeface="MS PGothic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  <a:ea typeface="MS PGothic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  <a:ea typeface="MS PGothic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  <a:ea typeface="MS PGothic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GB" altLang="en-US" b="1" dirty="0" smtClean="0">
                <a:solidFill>
                  <a:schemeClr val="tx1"/>
                </a:solidFill>
              </a:rPr>
              <a:t>Seven Steps in Plan </a:t>
            </a:r>
            <a:r>
              <a:rPr lang="en-GB" altLang="en-US" b="1" dirty="0">
                <a:solidFill>
                  <a:schemeClr val="tx1"/>
                </a:solidFill>
              </a:rPr>
              <a:t>D</a:t>
            </a:r>
            <a:r>
              <a:rPr lang="en-GB" altLang="en-US" b="1" dirty="0" smtClean="0">
                <a:solidFill>
                  <a:schemeClr val="tx1"/>
                </a:solidFill>
              </a:rPr>
              <a:t>evelopment</a:t>
            </a:r>
            <a:endParaRPr lang="en-US" altLang="en-US" b="1" dirty="0" smtClean="0">
              <a:solidFill>
                <a:schemeClr val="tx1"/>
              </a:solidFill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690" y="806895"/>
            <a:ext cx="9251951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509903" y="5659882"/>
            <a:ext cx="5991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1. Define scope of the plan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2305241" y="4867720"/>
            <a:ext cx="7939087" cy="569912"/>
            <a:chOff x="-23" y="3385"/>
            <a:chExt cx="3039" cy="363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204" y="3385"/>
              <a:ext cx="258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-23" y="3414"/>
              <a:ext cx="30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latin typeface="Tahoma" panose="020B0604030504040204" pitchFamily="34" charset="0"/>
                </a:rPr>
                <a:t>2. Conduct the risk assessments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3024378" y="4193032"/>
            <a:ext cx="4087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3. Develop a strategy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grpSp>
        <p:nvGrpSpPr>
          <p:cNvPr id="12" name="Group 14"/>
          <p:cNvGrpSpPr>
            <a:grpSpLocks/>
          </p:cNvGrpSpPr>
          <p:nvPr/>
        </p:nvGrpSpPr>
        <p:grpSpPr bwMode="auto">
          <a:xfrm>
            <a:off x="3745103" y="3426270"/>
            <a:ext cx="6804025" cy="715962"/>
            <a:chOff x="884" y="2614"/>
            <a:chExt cx="2812" cy="363"/>
          </a:xfrm>
        </p:grpSpPr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1066" y="2614"/>
              <a:ext cx="244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884" y="2659"/>
              <a:ext cx="28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latin typeface="Tahoma" panose="020B0604030504040204" pitchFamily="34" charset="0"/>
                </a:rPr>
                <a:t>4. Decide structure and layout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4535678" y="2778570"/>
            <a:ext cx="6013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5. Procure appropriate equipment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5257991" y="2057845"/>
            <a:ext cx="5291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6. Conduct training and exercise 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grpSp>
        <p:nvGrpSpPr>
          <p:cNvPr id="17" name="Group 23"/>
          <p:cNvGrpSpPr>
            <a:grpSpLocks/>
          </p:cNvGrpSpPr>
          <p:nvPr/>
        </p:nvGrpSpPr>
        <p:grpSpPr bwMode="auto">
          <a:xfrm>
            <a:off x="5618353" y="1267270"/>
            <a:ext cx="3887788" cy="576262"/>
            <a:chOff x="2155" y="1525"/>
            <a:chExt cx="2449" cy="363"/>
          </a:xfrm>
        </p:grpSpPr>
        <p:sp>
          <p:nvSpPr>
            <p:cNvPr id="18" name="Rectangle 24"/>
            <p:cNvSpPr>
              <a:spLocks noChangeArrowheads="1"/>
            </p:cNvSpPr>
            <p:nvPr/>
          </p:nvSpPr>
          <p:spPr bwMode="auto">
            <a:xfrm>
              <a:off x="2155" y="1525"/>
              <a:ext cx="244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9" name="Text Box 25"/>
            <p:cNvSpPr txBox="1">
              <a:spLocks noChangeArrowheads="1"/>
            </p:cNvSpPr>
            <p:nvPr/>
          </p:nvSpPr>
          <p:spPr bwMode="auto">
            <a:xfrm>
              <a:off x="2426" y="1570"/>
              <a:ext cx="16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latin typeface="Tahoma" panose="020B0604030504040204" pitchFamily="34" charset="0"/>
                </a:rPr>
                <a:t>7. Update plan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962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01752" y="0"/>
            <a:ext cx="1159459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Development Process</a:t>
            </a:r>
            <a:endParaRPr lang="en-GB" altLang="en-US" b="1" dirty="0" smtClean="0"/>
          </a:p>
        </p:txBody>
      </p:sp>
      <p:graphicFrame>
        <p:nvGraphicFramePr>
          <p:cNvPr id="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786396"/>
              </p:ext>
            </p:extLst>
          </p:nvPr>
        </p:nvGraphicFramePr>
        <p:xfrm>
          <a:off x="3285173" y="822325"/>
          <a:ext cx="5400675" cy="550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Visio" r:id="rId3" imgW="6041514" imgH="6154765" progId="Visio.Drawing.11">
                  <p:embed/>
                </p:oleObj>
              </mc:Choice>
              <mc:Fallback>
                <p:oleObj name="Visio" r:id="rId3" imgW="6041514" imgH="6154765" progId="Visio.Drawing.11">
                  <p:embed/>
                  <p:pic>
                    <p:nvPicPr>
                      <p:cNvPr id="4915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5173" y="822325"/>
                        <a:ext cx="5400675" cy="550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787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7942" y="12418"/>
            <a:ext cx="1138428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Development Process</a:t>
            </a:r>
            <a:endParaRPr lang="en-GB" altLang="en-US" b="1" dirty="0" smtClean="0"/>
          </a:p>
        </p:txBody>
      </p:sp>
      <p:pic>
        <p:nvPicPr>
          <p:cNvPr id="6" name="Picture 2" descr="C:\Users\Joe\Desktop\IMO Received Material\Pictures from ITOPF\intcomms_malaysi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917" y="908050"/>
            <a:ext cx="7089394" cy="529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441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2104" y="38735"/>
            <a:ext cx="1026871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Plan Contents 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655064" y="1237234"/>
            <a:ext cx="973836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Risk assessment</a:t>
            </a:r>
          </a:p>
          <a:p>
            <a:r>
              <a:rPr lang="en-GB" altLang="en-US" dirty="0" smtClean="0"/>
              <a:t>Determine</a:t>
            </a:r>
            <a:r>
              <a:rPr lang="en-GB" altLang="en-US" sz="3200" dirty="0" smtClean="0"/>
              <a:t> 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600" dirty="0" smtClean="0"/>
              <a:t>the likelihood of a spill occurring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600" dirty="0" smtClean="0"/>
              <a:t>the probable consequences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600" dirty="0" smtClean="0"/>
              <a:t>likely scenarios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600" dirty="0" smtClean="0"/>
              <a:t>plan requirements 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600" dirty="0" smtClean="0"/>
              <a:t>plan scope</a:t>
            </a:r>
            <a:endParaRPr lang="en-GB" alt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74520" y="57023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Plan Contents</a:t>
            </a:r>
            <a:endParaRPr lang="en-GB" altLang="en-US" b="1" dirty="0" smtClean="0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2454339" y="993775"/>
            <a:ext cx="6994525" cy="5099050"/>
            <a:chOff x="1600200" y="1498600"/>
            <a:chExt cx="6994525" cy="5099050"/>
          </a:xfrm>
        </p:grpSpPr>
        <p:grpSp>
          <p:nvGrpSpPr>
            <p:cNvPr id="7" name="Group 75"/>
            <p:cNvGrpSpPr>
              <a:grpSpLocks/>
            </p:cNvGrpSpPr>
            <p:nvPr/>
          </p:nvGrpSpPr>
          <p:grpSpPr bwMode="auto">
            <a:xfrm>
              <a:off x="2320925" y="1498600"/>
              <a:ext cx="5326063" cy="595313"/>
              <a:chOff x="1045" y="944"/>
              <a:chExt cx="3355" cy="375"/>
            </a:xfrm>
          </p:grpSpPr>
          <p:sp>
            <p:nvSpPr>
              <p:cNvPr id="48" name="Freeform 42"/>
              <p:cNvSpPr>
                <a:spLocks/>
              </p:cNvSpPr>
              <p:nvPr/>
            </p:nvSpPr>
            <p:spPr bwMode="auto">
              <a:xfrm>
                <a:off x="1045" y="944"/>
                <a:ext cx="3355" cy="375"/>
              </a:xfrm>
              <a:custGeom>
                <a:avLst/>
                <a:gdLst>
                  <a:gd name="T0" fmla="*/ 0 w 393"/>
                  <a:gd name="T1" fmla="*/ 0 h 44"/>
                  <a:gd name="T2" fmla="*/ 2147483646 w 393"/>
                  <a:gd name="T3" fmla="*/ 0 h 44"/>
                  <a:gd name="T4" fmla="*/ 2147483646 w 393"/>
                  <a:gd name="T5" fmla="*/ 2147483646 h 44"/>
                  <a:gd name="T6" fmla="*/ 2147483646 w 393"/>
                  <a:gd name="T7" fmla="*/ 2147483646 h 44"/>
                  <a:gd name="T8" fmla="*/ 2147483646 w 393"/>
                  <a:gd name="T9" fmla="*/ 2147483646 h 44"/>
                  <a:gd name="T10" fmla="*/ 0 w 393"/>
                  <a:gd name="T11" fmla="*/ 2147483646 h 44"/>
                  <a:gd name="T12" fmla="*/ 0 w 393"/>
                  <a:gd name="T13" fmla="*/ 0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93"/>
                  <a:gd name="T22" fmla="*/ 0 h 44"/>
                  <a:gd name="T23" fmla="*/ 393 w 393"/>
                  <a:gd name="T24" fmla="*/ 44 h 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93" h="44">
                    <a:moveTo>
                      <a:pt x="0" y="0"/>
                    </a:moveTo>
                    <a:lnTo>
                      <a:pt x="377" y="0"/>
                    </a:lnTo>
                    <a:cubicBezTo>
                      <a:pt x="385" y="0"/>
                      <a:pt x="393" y="8"/>
                      <a:pt x="393" y="17"/>
                    </a:cubicBezTo>
                    <a:lnTo>
                      <a:pt x="393" y="44"/>
                    </a:lnTo>
                    <a:lnTo>
                      <a:pt x="16" y="44"/>
                    </a:lnTo>
                    <a:cubicBezTo>
                      <a:pt x="7" y="44"/>
                      <a:pt x="0" y="37"/>
                      <a:pt x="0" y="2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7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Rectangle 47"/>
              <p:cNvSpPr>
                <a:spLocks noChangeArrowheads="1"/>
              </p:cNvSpPr>
              <p:nvPr/>
            </p:nvSpPr>
            <p:spPr bwMode="auto">
              <a:xfrm>
                <a:off x="1332" y="1011"/>
                <a:ext cx="157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Analyse hazards and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0" name="Rectangle 48"/>
              <p:cNvSpPr>
                <a:spLocks noChangeArrowheads="1"/>
              </p:cNvSpPr>
              <p:nvPr/>
            </p:nvSpPr>
            <p:spPr bwMode="auto">
              <a:xfrm>
                <a:off x="2927" y="1011"/>
                <a:ext cx="133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possible scenarios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8" name="Group 78"/>
            <p:cNvGrpSpPr>
              <a:grpSpLocks/>
            </p:cNvGrpSpPr>
            <p:nvPr/>
          </p:nvGrpSpPr>
          <p:grpSpPr bwMode="auto">
            <a:xfrm>
              <a:off x="1600200" y="2093913"/>
              <a:ext cx="3128963" cy="830262"/>
              <a:chOff x="591" y="1319"/>
              <a:chExt cx="1971" cy="523"/>
            </a:xfrm>
          </p:grpSpPr>
          <p:sp>
            <p:nvSpPr>
              <p:cNvPr id="42" name="Line 61"/>
              <p:cNvSpPr>
                <a:spLocks noChangeShapeType="1"/>
              </p:cNvSpPr>
              <p:nvPr/>
            </p:nvSpPr>
            <p:spPr bwMode="auto">
              <a:xfrm>
                <a:off x="1600" y="1319"/>
                <a:ext cx="1" cy="137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43" name="Group 76"/>
              <p:cNvGrpSpPr>
                <a:grpSpLocks/>
              </p:cNvGrpSpPr>
              <p:nvPr/>
            </p:nvGrpSpPr>
            <p:grpSpPr bwMode="auto">
              <a:xfrm>
                <a:off x="591" y="1390"/>
                <a:ext cx="1971" cy="452"/>
                <a:chOff x="576" y="1370"/>
                <a:chExt cx="1971" cy="452"/>
              </a:xfrm>
            </p:grpSpPr>
            <p:sp>
              <p:nvSpPr>
                <p:cNvPr id="44" name="Freeform 44"/>
                <p:cNvSpPr>
                  <a:spLocks/>
                </p:cNvSpPr>
                <p:nvPr/>
              </p:nvSpPr>
              <p:spPr bwMode="auto">
                <a:xfrm>
                  <a:off x="576" y="1456"/>
                  <a:ext cx="1971" cy="366"/>
                </a:xfrm>
                <a:custGeom>
                  <a:avLst/>
                  <a:gdLst>
                    <a:gd name="T0" fmla="*/ 0 w 231"/>
                    <a:gd name="T1" fmla="*/ 0 h 43"/>
                    <a:gd name="T2" fmla="*/ 2147483646 w 231"/>
                    <a:gd name="T3" fmla="*/ 0 h 43"/>
                    <a:gd name="T4" fmla="*/ 2147483646 w 231"/>
                    <a:gd name="T5" fmla="*/ 2147483646 h 43"/>
                    <a:gd name="T6" fmla="*/ 2147483646 w 231"/>
                    <a:gd name="T7" fmla="*/ 2147483646 h 43"/>
                    <a:gd name="T8" fmla="*/ 2147483646 w 231"/>
                    <a:gd name="T9" fmla="*/ 2147483646 h 43"/>
                    <a:gd name="T10" fmla="*/ 0 w 231"/>
                    <a:gd name="T11" fmla="*/ 2147483646 h 43"/>
                    <a:gd name="T12" fmla="*/ 0 w 231"/>
                    <a:gd name="T13" fmla="*/ 0 h 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1"/>
                    <a:gd name="T22" fmla="*/ 0 h 43"/>
                    <a:gd name="T23" fmla="*/ 231 w 231"/>
                    <a:gd name="T24" fmla="*/ 43 h 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1" h="43">
                      <a:moveTo>
                        <a:pt x="0" y="0"/>
                      </a:moveTo>
                      <a:lnTo>
                        <a:pt x="215" y="0"/>
                      </a:lnTo>
                      <a:cubicBezTo>
                        <a:pt x="224" y="0"/>
                        <a:pt x="231" y="7"/>
                        <a:pt x="231" y="16"/>
                      </a:cubicBezTo>
                      <a:lnTo>
                        <a:pt x="231" y="43"/>
                      </a:lnTo>
                      <a:lnTo>
                        <a:pt x="16" y="43"/>
                      </a:lnTo>
                      <a:cubicBezTo>
                        <a:pt x="8" y="43"/>
                        <a:pt x="0" y="36"/>
                        <a:pt x="0" y="2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8C37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5" name="Rectangle 49"/>
                <p:cNvSpPr>
                  <a:spLocks noChangeArrowheads="1"/>
                </p:cNvSpPr>
                <p:nvPr/>
              </p:nvSpPr>
              <p:spPr bwMode="auto">
                <a:xfrm>
                  <a:off x="845" y="1515"/>
                  <a:ext cx="621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100">
                      <a:solidFill>
                        <a:srgbClr val="24282B"/>
                      </a:solidFill>
                      <a:latin typeface="Tahoma" panose="020B0604030504040204" pitchFamily="34" charset="0"/>
                    </a:rPr>
                    <a:t>Analyse </a:t>
                  </a: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6" name="Rectangle 50"/>
                <p:cNvSpPr>
                  <a:spLocks noChangeArrowheads="1"/>
                </p:cNvSpPr>
                <p:nvPr/>
              </p:nvSpPr>
              <p:spPr bwMode="auto">
                <a:xfrm>
                  <a:off x="1488" y="1515"/>
                  <a:ext cx="890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100">
                      <a:solidFill>
                        <a:srgbClr val="24282B"/>
                      </a:solidFill>
                      <a:latin typeface="Tahoma" panose="020B0604030504040204" pitchFamily="34" charset="0"/>
                    </a:rPr>
                    <a:t>probabilities</a:t>
                  </a: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7" name="Freeform 62"/>
                <p:cNvSpPr>
                  <a:spLocks/>
                </p:cNvSpPr>
                <p:nvPr/>
              </p:nvSpPr>
              <p:spPr bwMode="auto">
                <a:xfrm>
                  <a:off x="1549" y="1370"/>
                  <a:ext cx="94" cy="86"/>
                </a:xfrm>
                <a:custGeom>
                  <a:avLst/>
                  <a:gdLst>
                    <a:gd name="T0" fmla="*/ 51 w 94"/>
                    <a:gd name="T1" fmla="*/ 86 h 86"/>
                    <a:gd name="T2" fmla="*/ 94 w 94"/>
                    <a:gd name="T3" fmla="*/ 0 h 86"/>
                    <a:gd name="T4" fmla="*/ 0 w 94"/>
                    <a:gd name="T5" fmla="*/ 0 h 86"/>
                    <a:gd name="T6" fmla="*/ 51 w 94"/>
                    <a:gd name="T7" fmla="*/ 86 h 8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4"/>
                    <a:gd name="T13" fmla="*/ 0 h 86"/>
                    <a:gd name="T14" fmla="*/ 94 w 94"/>
                    <a:gd name="T15" fmla="*/ 86 h 8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4" h="86">
                      <a:moveTo>
                        <a:pt x="51" y="86"/>
                      </a:moveTo>
                      <a:lnTo>
                        <a:pt x="94" y="0"/>
                      </a:lnTo>
                      <a:lnTo>
                        <a:pt x="0" y="0"/>
                      </a:lnTo>
                      <a:lnTo>
                        <a:pt x="51" y="86"/>
                      </a:lnTo>
                      <a:close/>
                    </a:path>
                  </a:pathLst>
                </a:custGeom>
                <a:solidFill>
                  <a:srgbClr val="6062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grpSp>
          <p:nvGrpSpPr>
            <p:cNvPr id="9" name="Group 77"/>
            <p:cNvGrpSpPr>
              <a:grpSpLocks/>
            </p:cNvGrpSpPr>
            <p:nvPr/>
          </p:nvGrpSpPr>
          <p:grpSpPr bwMode="auto">
            <a:xfrm>
              <a:off x="5464175" y="2093913"/>
              <a:ext cx="3130550" cy="798512"/>
              <a:chOff x="3025" y="1319"/>
              <a:chExt cx="1972" cy="503"/>
            </a:xfrm>
          </p:grpSpPr>
          <p:sp>
            <p:nvSpPr>
              <p:cNvPr id="37" name="Freeform 43"/>
              <p:cNvSpPr>
                <a:spLocks/>
              </p:cNvSpPr>
              <p:nvPr/>
            </p:nvSpPr>
            <p:spPr bwMode="auto">
              <a:xfrm>
                <a:off x="3025" y="1456"/>
                <a:ext cx="1972" cy="366"/>
              </a:xfrm>
              <a:custGeom>
                <a:avLst/>
                <a:gdLst>
                  <a:gd name="T0" fmla="*/ 0 w 231"/>
                  <a:gd name="T1" fmla="*/ 0 h 43"/>
                  <a:gd name="T2" fmla="*/ 2147483646 w 231"/>
                  <a:gd name="T3" fmla="*/ 0 h 43"/>
                  <a:gd name="T4" fmla="*/ 2147483646 w 231"/>
                  <a:gd name="T5" fmla="*/ 2147483646 h 43"/>
                  <a:gd name="T6" fmla="*/ 2147483646 w 231"/>
                  <a:gd name="T7" fmla="*/ 2147483646 h 43"/>
                  <a:gd name="T8" fmla="*/ 2147483646 w 231"/>
                  <a:gd name="T9" fmla="*/ 2147483646 h 43"/>
                  <a:gd name="T10" fmla="*/ 0 w 231"/>
                  <a:gd name="T11" fmla="*/ 2147483646 h 43"/>
                  <a:gd name="T12" fmla="*/ 0 w 231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1"/>
                  <a:gd name="T22" fmla="*/ 0 h 43"/>
                  <a:gd name="T23" fmla="*/ 231 w 231"/>
                  <a:gd name="T24" fmla="*/ 43 h 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1" h="43">
                    <a:moveTo>
                      <a:pt x="0" y="0"/>
                    </a:moveTo>
                    <a:lnTo>
                      <a:pt x="215" y="0"/>
                    </a:lnTo>
                    <a:cubicBezTo>
                      <a:pt x="223" y="0"/>
                      <a:pt x="231" y="7"/>
                      <a:pt x="231" y="16"/>
                    </a:cubicBezTo>
                    <a:lnTo>
                      <a:pt x="231" y="43"/>
                    </a:lnTo>
                    <a:lnTo>
                      <a:pt x="16" y="43"/>
                    </a:lnTo>
                    <a:cubicBezTo>
                      <a:pt x="7" y="43"/>
                      <a:pt x="0" y="36"/>
                      <a:pt x="0" y="2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C3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Rectangle 51"/>
              <p:cNvSpPr>
                <a:spLocks noChangeArrowheads="1"/>
              </p:cNvSpPr>
              <p:nvPr/>
            </p:nvSpPr>
            <p:spPr bwMode="auto">
              <a:xfrm>
                <a:off x="3226" y="1515"/>
                <a:ext cx="621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Analyse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" name="Rectangle 52"/>
              <p:cNvSpPr>
                <a:spLocks noChangeArrowheads="1"/>
              </p:cNvSpPr>
              <p:nvPr/>
            </p:nvSpPr>
            <p:spPr bwMode="auto">
              <a:xfrm>
                <a:off x="3873" y="1515"/>
                <a:ext cx="103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consequences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" name="Line 63"/>
              <p:cNvSpPr>
                <a:spLocks noChangeShapeType="1"/>
              </p:cNvSpPr>
              <p:nvPr/>
            </p:nvSpPr>
            <p:spPr bwMode="auto">
              <a:xfrm>
                <a:off x="3836" y="1319"/>
                <a:ext cx="1" cy="137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64"/>
              <p:cNvSpPr>
                <a:spLocks/>
              </p:cNvSpPr>
              <p:nvPr/>
            </p:nvSpPr>
            <p:spPr bwMode="auto">
              <a:xfrm>
                <a:off x="3794" y="1370"/>
                <a:ext cx="93" cy="86"/>
              </a:xfrm>
              <a:custGeom>
                <a:avLst/>
                <a:gdLst>
                  <a:gd name="T0" fmla="*/ 42 w 93"/>
                  <a:gd name="T1" fmla="*/ 86 h 86"/>
                  <a:gd name="T2" fmla="*/ 93 w 93"/>
                  <a:gd name="T3" fmla="*/ 0 h 86"/>
                  <a:gd name="T4" fmla="*/ 0 w 93"/>
                  <a:gd name="T5" fmla="*/ 0 h 86"/>
                  <a:gd name="T6" fmla="*/ 42 w 93"/>
                  <a:gd name="T7" fmla="*/ 86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86"/>
                  <a:gd name="T14" fmla="*/ 93 w 93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86">
                    <a:moveTo>
                      <a:pt x="42" y="86"/>
                    </a:moveTo>
                    <a:lnTo>
                      <a:pt x="93" y="0"/>
                    </a:lnTo>
                    <a:lnTo>
                      <a:pt x="0" y="0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79"/>
            <p:cNvGrpSpPr>
              <a:grpSpLocks/>
            </p:cNvGrpSpPr>
            <p:nvPr/>
          </p:nvGrpSpPr>
          <p:grpSpPr bwMode="auto">
            <a:xfrm>
              <a:off x="2320925" y="2921000"/>
              <a:ext cx="5326063" cy="825500"/>
              <a:chOff x="1045" y="1840"/>
              <a:chExt cx="3355" cy="520"/>
            </a:xfrm>
          </p:grpSpPr>
          <p:sp>
            <p:nvSpPr>
              <p:cNvPr id="31" name="Freeform 41"/>
              <p:cNvSpPr>
                <a:spLocks/>
              </p:cNvSpPr>
              <p:nvPr/>
            </p:nvSpPr>
            <p:spPr bwMode="auto">
              <a:xfrm>
                <a:off x="1045" y="1993"/>
                <a:ext cx="3355" cy="367"/>
              </a:xfrm>
              <a:custGeom>
                <a:avLst/>
                <a:gdLst>
                  <a:gd name="T0" fmla="*/ 0 w 393"/>
                  <a:gd name="T1" fmla="*/ 0 h 43"/>
                  <a:gd name="T2" fmla="*/ 2147483646 w 393"/>
                  <a:gd name="T3" fmla="*/ 0 h 43"/>
                  <a:gd name="T4" fmla="*/ 2147483646 w 393"/>
                  <a:gd name="T5" fmla="*/ 2147483646 h 43"/>
                  <a:gd name="T6" fmla="*/ 2147483646 w 393"/>
                  <a:gd name="T7" fmla="*/ 2147483646 h 43"/>
                  <a:gd name="T8" fmla="*/ 2147483646 w 393"/>
                  <a:gd name="T9" fmla="*/ 2147483646 h 43"/>
                  <a:gd name="T10" fmla="*/ 0 w 393"/>
                  <a:gd name="T11" fmla="*/ 2147483646 h 43"/>
                  <a:gd name="T12" fmla="*/ 0 w 393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93"/>
                  <a:gd name="T22" fmla="*/ 0 h 43"/>
                  <a:gd name="T23" fmla="*/ 393 w 393"/>
                  <a:gd name="T24" fmla="*/ 43 h 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93" h="43">
                    <a:moveTo>
                      <a:pt x="0" y="0"/>
                    </a:moveTo>
                    <a:lnTo>
                      <a:pt x="377" y="0"/>
                    </a:lnTo>
                    <a:cubicBezTo>
                      <a:pt x="385" y="0"/>
                      <a:pt x="393" y="7"/>
                      <a:pt x="393" y="16"/>
                    </a:cubicBezTo>
                    <a:lnTo>
                      <a:pt x="393" y="43"/>
                    </a:lnTo>
                    <a:lnTo>
                      <a:pt x="16" y="43"/>
                    </a:lnTo>
                    <a:cubicBezTo>
                      <a:pt x="7" y="43"/>
                      <a:pt x="0" y="36"/>
                      <a:pt x="0" y="2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C1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Rectangle 53"/>
              <p:cNvSpPr>
                <a:spLocks noChangeArrowheads="1"/>
              </p:cNvSpPr>
              <p:nvPr/>
            </p:nvSpPr>
            <p:spPr bwMode="auto">
              <a:xfrm>
                <a:off x="2040" y="2070"/>
                <a:ext cx="1518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Characterize the risk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3" name="Line 65"/>
              <p:cNvSpPr>
                <a:spLocks noChangeShapeType="1"/>
              </p:cNvSpPr>
              <p:nvPr/>
            </p:nvSpPr>
            <p:spPr bwMode="auto">
              <a:xfrm>
                <a:off x="1600" y="1840"/>
                <a:ext cx="1" cy="136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66"/>
              <p:cNvSpPr>
                <a:spLocks/>
              </p:cNvSpPr>
              <p:nvPr/>
            </p:nvSpPr>
            <p:spPr bwMode="auto">
              <a:xfrm>
                <a:off x="1549" y="1894"/>
                <a:ext cx="94" cy="85"/>
              </a:xfrm>
              <a:custGeom>
                <a:avLst/>
                <a:gdLst>
                  <a:gd name="T0" fmla="*/ 51 w 94"/>
                  <a:gd name="T1" fmla="*/ 85 h 85"/>
                  <a:gd name="T2" fmla="*/ 94 w 94"/>
                  <a:gd name="T3" fmla="*/ 0 h 85"/>
                  <a:gd name="T4" fmla="*/ 0 w 94"/>
                  <a:gd name="T5" fmla="*/ 0 h 85"/>
                  <a:gd name="T6" fmla="*/ 51 w 94"/>
                  <a:gd name="T7" fmla="*/ 85 h 8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4"/>
                  <a:gd name="T13" fmla="*/ 0 h 85"/>
                  <a:gd name="T14" fmla="*/ 94 w 94"/>
                  <a:gd name="T15" fmla="*/ 85 h 8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4" h="85">
                    <a:moveTo>
                      <a:pt x="51" y="85"/>
                    </a:moveTo>
                    <a:lnTo>
                      <a:pt x="94" y="0"/>
                    </a:lnTo>
                    <a:lnTo>
                      <a:pt x="0" y="0"/>
                    </a:lnTo>
                    <a:lnTo>
                      <a:pt x="51" y="85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Line 67"/>
              <p:cNvSpPr>
                <a:spLocks noChangeShapeType="1"/>
              </p:cNvSpPr>
              <p:nvPr/>
            </p:nvSpPr>
            <p:spPr bwMode="auto">
              <a:xfrm>
                <a:off x="3836" y="1840"/>
                <a:ext cx="1" cy="136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68"/>
              <p:cNvSpPr>
                <a:spLocks/>
              </p:cNvSpPr>
              <p:nvPr/>
            </p:nvSpPr>
            <p:spPr bwMode="auto">
              <a:xfrm>
                <a:off x="3794" y="1891"/>
                <a:ext cx="93" cy="85"/>
              </a:xfrm>
              <a:custGeom>
                <a:avLst/>
                <a:gdLst>
                  <a:gd name="T0" fmla="*/ 42 w 93"/>
                  <a:gd name="T1" fmla="*/ 85 h 85"/>
                  <a:gd name="T2" fmla="*/ 93 w 93"/>
                  <a:gd name="T3" fmla="*/ 0 h 85"/>
                  <a:gd name="T4" fmla="*/ 0 w 93"/>
                  <a:gd name="T5" fmla="*/ 0 h 85"/>
                  <a:gd name="T6" fmla="*/ 42 w 93"/>
                  <a:gd name="T7" fmla="*/ 85 h 8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85"/>
                  <a:gd name="T14" fmla="*/ 93 w 93"/>
                  <a:gd name="T15" fmla="*/ 85 h 8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85">
                    <a:moveTo>
                      <a:pt x="42" y="85"/>
                    </a:moveTo>
                    <a:lnTo>
                      <a:pt x="93" y="0"/>
                    </a:lnTo>
                    <a:lnTo>
                      <a:pt x="0" y="0"/>
                    </a:lnTo>
                    <a:lnTo>
                      <a:pt x="42" y="85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80"/>
            <p:cNvGrpSpPr>
              <a:grpSpLocks/>
            </p:cNvGrpSpPr>
            <p:nvPr/>
          </p:nvGrpSpPr>
          <p:grpSpPr bwMode="auto">
            <a:xfrm>
              <a:off x="3378200" y="3760788"/>
              <a:ext cx="3319463" cy="1165225"/>
              <a:chOff x="1711" y="2369"/>
              <a:chExt cx="2091" cy="734"/>
            </a:xfrm>
          </p:grpSpPr>
          <p:sp>
            <p:nvSpPr>
              <p:cNvPr id="26" name="Freeform 40"/>
              <p:cNvSpPr>
                <a:spLocks/>
              </p:cNvSpPr>
              <p:nvPr/>
            </p:nvSpPr>
            <p:spPr bwMode="auto">
              <a:xfrm>
                <a:off x="1711" y="2531"/>
                <a:ext cx="2091" cy="572"/>
              </a:xfrm>
              <a:custGeom>
                <a:avLst/>
                <a:gdLst>
                  <a:gd name="T0" fmla="*/ 0 w 245"/>
                  <a:gd name="T1" fmla="*/ 0 h 67"/>
                  <a:gd name="T2" fmla="*/ 2147483646 w 245"/>
                  <a:gd name="T3" fmla="*/ 0 h 67"/>
                  <a:gd name="T4" fmla="*/ 2147483646 w 245"/>
                  <a:gd name="T5" fmla="*/ 2147483646 h 67"/>
                  <a:gd name="T6" fmla="*/ 2147483646 w 245"/>
                  <a:gd name="T7" fmla="*/ 2147483646 h 67"/>
                  <a:gd name="T8" fmla="*/ 2147483646 w 245"/>
                  <a:gd name="T9" fmla="*/ 2147483646 h 67"/>
                  <a:gd name="T10" fmla="*/ 0 w 245"/>
                  <a:gd name="T11" fmla="*/ 2147483646 h 67"/>
                  <a:gd name="T12" fmla="*/ 0 w 245"/>
                  <a:gd name="T13" fmla="*/ 0 h 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45"/>
                  <a:gd name="T22" fmla="*/ 0 h 67"/>
                  <a:gd name="T23" fmla="*/ 245 w 245"/>
                  <a:gd name="T24" fmla="*/ 67 h 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45" h="67">
                    <a:moveTo>
                      <a:pt x="0" y="0"/>
                    </a:moveTo>
                    <a:lnTo>
                      <a:pt x="229" y="0"/>
                    </a:lnTo>
                    <a:cubicBezTo>
                      <a:pt x="238" y="0"/>
                      <a:pt x="245" y="7"/>
                      <a:pt x="245" y="16"/>
                    </a:cubicBezTo>
                    <a:lnTo>
                      <a:pt x="245" y="67"/>
                    </a:lnTo>
                    <a:lnTo>
                      <a:pt x="16" y="67"/>
                    </a:lnTo>
                    <a:cubicBezTo>
                      <a:pt x="8" y="67"/>
                      <a:pt x="0" y="59"/>
                      <a:pt x="0" y="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7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Rectangle 45"/>
              <p:cNvSpPr>
                <a:spLocks noChangeArrowheads="1"/>
              </p:cNvSpPr>
              <p:nvPr/>
            </p:nvSpPr>
            <p:spPr bwMode="auto">
              <a:xfrm>
                <a:off x="2135" y="2693"/>
                <a:ext cx="35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Risk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" name="Rectangle 46"/>
              <p:cNvSpPr>
                <a:spLocks noChangeArrowheads="1"/>
              </p:cNvSpPr>
              <p:nvPr/>
            </p:nvSpPr>
            <p:spPr bwMode="auto">
              <a:xfrm>
                <a:off x="2514" y="2693"/>
                <a:ext cx="971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management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9" name="Line 69"/>
              <p:cNvSpPr>
                <a:spLocks noChangeShapeType="1"/>
              </p:cNvSpPr>
              <p:nvPr/>
            </p:nvSpPr>
            <p:spPr bwMode="auto">
              <a:xfrm>
                <a:off x="2752" y="2369"/>
                <a:ext cx="1" cy="162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70"/>
              <p:cNvSpPr>
                <a:spLocks/>
              </p:cNvSpPr>
              <p:nvPr/>
            </p:nvSpPr>
            <p:spPr bwMode="auto">
              <a:xfrm>
                <a:off x="2710" y="2445"/>
                <a:ext cx="85" cy="86"/>
              </a:xfrm>
              <a:custGeom>
                <a:avLst/>
                <a:gdLst>
                  <a:gd name="T0" fmla="*/ 42 w 85"/>
                  <a:gd name="T1" fmla="*/ 86 h 86"/>
                  <a:gd name="T2" fmla="*/ 85 w 85"/>
                  <a:gd name="T3" fmla="*/ 0 h 86"/>
                  <a:gd name="T4" fmla="*/ 0 w 85"/>
                  <a:gd name="T5" fmla="*/ 0 h 86"/>
                  <a:gd name="T6" fmla="*/ 42 w 85"/>
                  <a:gd name="T7" fmla="*/ 86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5"/>
                  <a:gd name="T13" fmla="*/ 0 h 86"/>
                  <a:gd name="T14" fmla="*/ 85 w 85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5" h="86">
                    <a:moveTo>
                      <a:pt x="42" y="86"/>
                    </a:moveTo>
                    <a:lnTo>
                      <a:pt x="85" y="0"/>
                    </a:lnTo>
                    <a:lnTo>
                      <a:pt x="0" y="0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2" name="Group 81"/>
            <p:cNvGrpSpPr>
              <a:grpSpLocks/>
            </p:cNvGrpSpPr>
            <p:nvPr/>
          </p:nvGrpSpPr>
          <p:grpSpPr bwMode="auto">
            <a:xfrm>
              <a:off x="1920875" y="4911725"/>
              <a:ext cx="2166938" cy="1679575"/>
              <a:chOff x="793" y="3094"/>
              <a:chExt cx="1365" cy="1058"/>
            </a:xfrm>
          </p:grpSpPr>
          <p:sp>
            <p:nvSpPr>
              <p:cNvPr id="20" name="Freeform 57"/>
              <p:cNvSpPr>
                <a:spLocks/>
              </p:cNvSpPr>
              <p:nvPr/>
            </p:nvSpPr>
            <p:spPr bwMode="auto">
              <a:xfrm>
                <a:off x="793" y="3282"/>
                <a:ext cx="1365" cy="870"/>
              </a:xfrm>
              <a:custGeom>
                <a:avLst/>
                <a:gdLst>
                  <a:gd name="T0" fmla="*/ 2147483646 w 160"/>
                  <a:gd name="T1" fmla="*/ 0 h 102"/>
                  <a:gd name="T2" fmla="*/ 2147483646 w 160"/>
                  <a:gd name="T3" fmla="*/ 0 h 102"/>
                  <a:gd name="T4" fmla="*/ 2147483646 w 160"/>
                  <a:gd name="T5" fmla="*/ 2147483646 h 102"/>
                  <a:gd name="T6" fmla="*/ 2147483646 w 160"/>
                  <a:gd name="T7" fmla="*/ 2147483646 h 102"/>
                  <a:gd name="T8" fmla="*/ 2147483646 w 160"/>
                  <a:gd name="T9" fmla="*/ 2147483646 h 102"/>
                  <a:gd name="T10" fmla="*/ 2147483646 w 160"/>
                  <a:gd name="T11" fmla="*/ 2147483646 h 102"/>
                  <a:gd name="T12" fmla="*/ 0 w 160"/>
                  <a:gd name="T13" fmla="*/ 2147483646 h 102"/>
                  <a:gd name="T14" fmla="*/ 0 w 160"/>
                  <a:gd name="T15" fmla="*/ 2147483646 h 102"/>
                  <a:gd name="T16" fmla="*/ 2147483646 w 160"/>
                  <a:gd name="T17" fmla="*/ 0 h 10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0"/>
                  <a:gd name="T28" fmla="*/ 0 h 102"/>
                  <a:gd name="T29" fmla="*/ 160 w 160"/>
                  <a:gd name="T30" fmla="*/ 102 h 10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0" h="102">
                    <a:moveTo>
                      <a:pt x="8" y="0"/>
                    </a:moveTo>
                    <a:lnTo>
                      <a:pt x="153" y="0"/>
                    </a:lnTo>
                    <a:cubicBezTo>
                      <a:pt x="157" y="0"/>
                      <a:pt x="160" y="4"/>
                      <a:pt x="160" y="8"/>
                    </a:cubicBezTo>
                    <a:lnTo>
                      <a:pt x="160" y="94"/>
                    </a:lnTo>
                    <a:cubicBezTo>
                      <a:pt x="160" y="98"/>
                      <a:pt x="157" y="102"/>
                      <a:pt x="153" y="102"/>
                    </a:cubicBezTo>
                    <a:lnTo>
                      <a:pt x="8" y="102"/>
                    </a:lnTo>
                    <a:cubicBezTo>
                      <a:pt x="4" y="102"/>
                      <a:pt x="0" y="98"/>
                      <a:pt x="0" y="94"/>
                    </a:cubicBezTo>
                    <a:lnTo>
                      <a:pt x="0" y="8"/>
                    </a:ln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009E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>
                <a:off x="1035" y="3384"/>
                <a:ext cx="92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Options to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2" name="Rectangle 59"/>
              <p:cNvSpPr>
                <a:spLocks noChangeArrowheads="1"/>
              </p:cNvSpPr>
              <p:nvPr/>
            </p:nvSpPr>
            <p:spPr bwMode="auto">
              <a:xfrm>
                <a:off x="1163" y="3597"/>
                <a:ext cx="62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reduce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3" name="Rectangle 60"/>
              <p:cNvSpPr>
                <a:spLocks noChangeArrowheads="1"/>
              </p:cNvSpPr>
              <p:nvPr/>
            </p:nvSpPr>
            <p:spPr bwMode="auto">
              <a:xfrm>
                <a:off x="1035" y="3802"/>
                <a:ext cx="91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probability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4" name="Line 71"/>
              <p:cNvSpPr>
                <a:spLocks noChangeShapeType="1"/>
              </p:cNvSpPr>
              <p:nvPr/>
            </p:nvSpPr>
            <p:spPr bwMode="auto">
              <a:xfrm>
                <a:off x="1941" y="3094"/>
                <a:ext cx="1" cy="171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72"/>
              <p:cNvSpPr>
                <a:spLocks/>
              </p:cNvSpPr>
              <p:nvPr/>
            </p:nvSpPr>
            <p:spPr bwMode="auto">
              <a:xfrm>
                <a:off x="1890" y="3171"/>
                <a:ext cx="94" cy="94"/>
              </a:xfrm>
              <a:custGeom>
                <a:avLst/>
                <a:gdLst>
                  <a:gd name="T0" fmla="*/ 51 w 94"/>
                  <a:gd name="T1" fmla="*/ 94 h 94"/>
                  <a:gd name="T2" fmla="*/ 94 w 94"/>
                  <a:gd name="T3" fmla="*/ 0 h 94"/>
                  <a:gd name="T4" fmla="*/ 0 w 94"/>
                  <a:gd name="T5" fmla="*/ 0 h 94"/>
                  <a:gd name="T6" fmla="*/ 51 w 94"/>
                  <a:gd name="T7" fmla="*/ 94 h 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4"/>
                  <a:gd name="T13" fmla="*/ 0 h 94"/>
                  <a:gd name="T14" fmla="*/ 94 w 94"/>
                  <a:gd name="T15" fmla="*/ 94 h 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4" h="94">
                    <a:moveTo>
                      <a:pt x="51" y="94"/>
                    </a:moveTo>
                    <a:lnTo>
                      <a:pt x="94" y="0"/>
                    </a:lnTo>
                    <a:lnTo>
                      <a:pt x="0" y="0"/>
                    </a:lnTo>
                    <a:lnTo>
                      <a:pt x="51" y="94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3" name="Group 82"/>
            <p:cNvGrpSpPr>
              <a:grpSpLocks/>
            </p:cNvGrpSpPr>
            <p:nvPr/>
          </p:nvGrpSpPr>
          <p:grpSpPr bwMode="auto">
            <a:xfrm>
              <a:off x="6242050" y="4918075"/>
              <a:ext cx="2154238" cy="1679575"/>
              <a:chOff x="3515" y="3094"/>
              <a:chExt cx="1357" cy="1058"/>
            </a:xfrm>
          </p:grpSpPr>
          <p:sp>
            <p:nvSpPr>
              <p:cNvPr id="14" name="Freeform 39"/>
              <p:cNvSpPr>
                <a:spLocks/>
              </p:cNvSpPr>
              <p:nvPr/>
            </p:nvSpPr>
            <p:spPr bwMode="auto">
              <a:xfrm>
                <a:off x="3515" y="3282"/>
                <a:ext cx="1357" cy="870"/>
              </a:xfrm>
              <a:custGeom>
                <a:avLst/>
                <a:gdLst>
                  <a:gd name="T0" fmla="*/ 2147483646 w 159"/>
                  <a:gd name="T1" fmla="*/ 0 h 102"/>
                  <a:gd name="T2" fmla="*/ 2147483646 w 159"/>
                  <a:gd name="T3" fmla="*/ 0 h 102"/>
                  <a:gd name="T4" fmla="*/ 2147483646 w 159"/>
                  <a:gd name="T5" fmla="*/ 2147483646 h 102"/>
                  <a:gd name="T6" fmla="*/ 2147483646 w 159"/>
                  <a:gd name="T7" fmla="*/ 2147483646 h 102"/>
                  <a:gd name="T8" fmla="*/ 2147483646 w 159"/>
                  <a:gd name="T9" fmla="*/ 2147483646 h 102"/>
                  <a:gd name="T10" fmla="*/ 2147483646 w 159"/>
                  <a:gd name="T11" fmla="*/ 2147483646 h 102"/>
                  <a:gd name="T12" fmla="*/ 0 w 159"/>
                  <a:gd name="T13" fmla="*/ 2147483646 h 102"/>
                  <a:gd name="T14" fmla="*/ 0 w 159"/>
                  <a:gd name="T15" fmla="*/ 2147483646 h 102"/>
                  <a:gd name="T16" fmla="*/ 2147483646 w 159"/>
                  <a:gd name="T17" fmla="*/ 0 h 10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9"/>
                  <a:gd name="T28" fmla="*/ 0 h 102"/>
                  <a:gd name="T29" fmla="*/ 159 w 159"/>
                  <a:gd name="T30" fmla="*/ 102 h 10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9" h="102">
                    <a:moveTo>
                      <a:pt x="7" y="0"/>
                    </a:moveTo>
                    <a:lnTo>
                      <a:pt x="152" y="0"/>
                    </a:lnTo>
                    <a:cubicBezTo>
                      <a:pt x="156" y="0"/>
                      <a:pt x="159" y="4"/>
                      <a:pt x="159" y="8"/>
                    </a:cubicBezTo>
                    <a:lnTo>
                      <a:pt x="159" y="94"/>
                    </a:lnTo>
                    <a:cubicBezTo>
                      <a:pt x="159" y="98"/>
                      <a:pt x="156" y="102"/>
                      <a:pt x="152" y="102"/>
                    </a:cubicBezTo>
                    <a:lnTo>
                      <a:pt x="7" y="102"/>
                    </a:lnTo>
                    <a:cubicBezTo>
                      <a:pt x="3" y="102"/>
                      <a:pt x="0" y="98"/>
                      <a:pt x="0" y="94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009E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Rectangle 54"/>
              <p:cNvSpPr>
                <a:spLocks noChangeArrowheads="1"/>
              </p:cNvSpPr>
              <p:nvPr/>
            </p:nvSpPr>
            <p:spPr bwMode="auto">
              <a:xfrm>
                <a:off x="3868" y="3597"/>
                <a:ext cx="62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reduce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" name="Rectangle 55"/>
              <p:cNvSpPr>
                <a:spLocks noChangeArrowheads="1"/>
              </p:cNvSpPr>
              <p:nvPr/>
            </p:nvSpPr>
            <p:spPr bwMode="auto">
              <a:xfrm>
                <a:off x="3610" y="3802"/>
                <a:ext cx="11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consequences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7" name="Rectangle 56"/>
              <p:cNvSpPr>
                <a:spLocks noChangeArrowheads="1"/>
              </p:cNvSpPr>
              <p:nvPr/>
            </p:nvSpPr>
            <p:spPr bwMode="auto">
              <a:xfrm>
                <a:off x="3739" y="3384"/>
                <a:ext cx="92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Options to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" name="Line 73"/>
              <p:cNvSpPr>
                <a:spLocks noChangeShapeType="1"/>
              </p:cNvSpPr>
              <p:nvPr/>
            </p:nvSpPr>
            <p:spPr bwMode="auto">
              <a:xfrm>
                <a:off x="3691" y="3094"/>
                <a:ext cx="1" cy="171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74"/>
              <p:cNvSpPr>
                <a:spLocks/>
              </p:cNvSpPr>
              <p:nvPr/>
            </p:nvSpPr>
            <p:spPr bwMode="auto">
              <a:xfrm>
                <a:off x="3648" y="3171"/>
                <a:ext cx="86" cy="94"/>
              </a:xfrm>
              <a:custGeom>
                <a:avLst/>
                <a:gdLst>
                  <a:gd name="T0" fmla="*/ 43 w 86"/>
                  <a:gd name="T1" fmla="*/ 94 h 94"/>
                  <a:gd name="T2" fmla="*/ 86 w 86"/>
                  <a:gd name="T3" fmla="*/ 0 h 94"/>
                  <a:gd name="T4" fmla="*/ 0 w 86"/>
                  <a:gd name="T5" fmla="*/ 0 h 94"/>
                  <a:gd name="T6" fmla="*/ 43 w 86"/>
                  <a:gd name="T7" fmla="*/ 94 h 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94"/>
                  <a:gd name="T14" fmla="*/ 86 w 86"/>
                  <a:gd name="T15" fmla="*/ 94 h 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94">
                    <a:moveTo>
                      <a:pt x="43" y="94"/>
                    </a:moveTo>
                    <a:lnTo>
                      <a:pt x="86" y="0"/>
                    </a:lnTo>
                    <a:lnTo>
                      <a:pt x="0" y="0"/>
                    </a:lnTo>
                    <a:lnTo>
                      <a:pt x="43" y="94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45920" y="57023"/>
            <a:ext cx="93908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Plan Contents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50086" y="1012567"/>
            <a:ext cx="939088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Strategic policy</a:t>
            </a:r>
          </a:p>
          <a:p>
            <a:r>
              <a:rPr lang="en-GB" altLang="en-US" dirty="0" smtClean="0"/>
              <a:t>plan overview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 smtClean="0"/>
              <a:t>regulatory framework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 smtClean="0"/>
              <a:t>lead and key organization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 smtClean="0"/>
              <a:t>geographical limits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 smtClean="0"/>
              <a:t>interaction with other plans</a:t>
            </a:r>
          </a:p>
          <a:p>
            <a:r>
              <a:rPr lang="en-GB" altLang="en-US" dirty="0" smtClean="0"/>
              <a:t>response techniques</a:t>
            </a:r>
          </a:p>
          <a:p>
            <a:r>
              <a:rPr lang="en-GB" altLang="en-US" dirty="0" smtClean="0"/>
              <a:t>management</a:t>
            </a:r>
          </a:p>
          <a:p>
            <a:r>
              <a:rPr lang="en-GB" altLang="en-US" dirty="0" smtClean="0"/>
              <a:t>resources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1919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63624" y="49724"/>
            <a:ext cx="955548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Plan Contents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63624" y="908050"/>
            <a:ext cx="955548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GB" altLang="en-US" dirty="0" smtClean="0"/>
              <a:t>Operational procedures</a:t>
            </a:r>
          </a:p>
          <a:p>
            <a:r>
              <a:rPr lang="en-GB" altLang="en-US" dirty="0" smtClean="0"/>
              <a:t>notification</a:t>
            </a:r>
          </a:p>
          <a:p>
            <a:r>
              <a:rPr lang="en-GB" altLang="en-US" dirty="0" smtClean="0"/>
              <a:t>evaluation</a:t>
            </a:r>
          </a:p>
          <a:p>
            <a:r>
              <a:rPr lang="en-GB" altLang="en-US" dirty="0" smtClean="0"/>
              <a:t>initiation</a:t>
            </a:r>
          </a:p>
          <a:p>
            <a:r>
              <a:rPr lang="en-GB" altLang="en-US" dirty="0" smtClean="0"/>
              <a:t>mobilization</a:t>
            </a:r>
          </a:p>
          <a:p>
            <a:r>
              <a:rPr lang="en-GB" altLang="en-US" dirty="0" smtClean="0"/>
              <a:t>logistical support</a:t>
            </a:r>
          </a:p>
          <a:p>
            <a:r>
              <a:rPr lang="en-GB" altLang="en-US" dirty="0" smtClean="0"/>
              <a:t>response management</a:t>
            </a:r>
          </a:p>
          <a:p>
            <a:r>
              <a:rPr lang="en-GB" altLang="en-US" dirty="0" smtClean="0"/>
              <a:t>termination</a:t>
            </a:r>
          </a:p>
          <a:p>
            <a:r>
              <a:rPr lang="en-GB" altLang="en-US" dirty="0" smtClean="0"/>
              <a:t>post-incident operations</a:t>
            </a:r>
          </a:p>
          <a:p>
            <a:endParaRPr lang="en-GB" alt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18950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71600" y="0"/>
            <a:ext cx="97200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Plan Contents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2886" y="1160187"/>
            <a:ext cx="999439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GB" altLang="en-US" dirty="0" smtClean="0"/>
              <a:t>Information directory</a:t>
            </a:r>
          </a:p>
          <a:p>
            <a:r>
              <a:rPr lang="en-GB" altLang="en-US" dirty="0" smtClean="0"/>
              <a:t>contact details</a:t>
            </a:r>
          </a:p>
          <a:p>
            <a:r>
              <a:rPr lang="en-GB" altLang="en-US" dirty="0" smtClean="0"/>
              <a:t>inventory of resources</a:t>
            </a:r>
          </a:p>
          <a:p>
            <a:r>
              <a:rPr lang="en-GB" altLang="en-US" dirty="0" smtClean="0"/>
              <a:t>third party suppliers </a:t>
            </a:r>
          </a:p>
          <a:p>
            <a:r>
              <a:rPr lang="en-GB" altLang="en-US" dirty="0" smtClean="0"/>
              <a:t>environmental sensitivity maps (GIS)</a:t>
            </a:r>
          </a:p>
          <a:p>
            <a:r>
              <a:rPr lang="en-GB" altLang="en-US" dirty="0" err="1" smtClean="0"/>
              <a:t>proforma</a:t>
            </a:r>
            <a:r>
              <a:rPr lang="en-GB" altLang="en-US" dirty="0" smtClean="0"/>
              <a:t> reports and forms</a:t>
            </a:r>
          </a:p>
          <a:p>
            <a:r>
              <a:rPr lang="en-GB" altLang="en-US" dirty="0" err="1" smtClean="0"/>
              <a:t>proforma</a:t>
            </a:r>
            <a:r>
              <a:rPr lang="en-GB" altLang="en-US" dirty="0" smtClean="0"/>
              <a:t> charter or hire agreements</a:t>
            </a:r>
          </a:p>
          <a:p>
            <a:r>
              <a:rPr lang="en-GB" altLang="en-US" dirty="0" smtClean="0"/>
              <a:t>appropriate supplementary information</a:t>
            </a:r>
          </a:p>
          <a:p>
            <a:endParaRPr lang="en-GB" alt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331193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93776" y="37180"/>
            <a:ext cx="1105509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Seven Steps in Plan </a:t>
            </a:r>
            <a:r>
              <a:rPr lang="en-GB" altLang="en-US" b="1" dirty="0"/>
              <a:t>D</a:t>
            </a:r>
            <a:r>
              <a:rPr lang="en-GB" altLang="en-US" b="1" dirty="0" smtClean="0"/>
              <a:t>evelopment</a:t>
            </a:r>
            <a:endParaRPr lang="en-US" altLang="en-US" b="1" dirty="0" smtClean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746" y="782511"/>
            <a:ext cx="9251951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576959" y="5635498"/>
            <a:ext cx="5991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1. Define scope of the plan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2372297" y="4843336"/>
            <a:ext cx="7939087" cy="569912"/>
            <a:chOff x="-23" y="3385"/>
            <a:chExt cx="3039" cy="363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204" y="3385"/>
              <a:ext cx="258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-23" y="3414"/>
              <a:ext cx="30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latin typeface="Tahoma" panose="020B0604030504040204" pitchFamily="34" charset="0"/>
                </a:rPr>
                <a:t>2. Conduct the risk assessments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3091434" y="4168648"/>
            <a:ext cx="4087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3. Develop a strategy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grpSp>
        <p:nvGrpSpPr>
          <p:cNvPr id="12" name="Group 14"/>
          <p:cNvGrpSpPr>
            <a:grpSpLocks/>
          </p:cNvGrpSpPr>
          <p:nvPr/>
        </p:nvGrpSpPr>
        <p:grpSpPr bwMode="auto">
          <a:xfrm>
            <a:off x="3812159" y="3401886"/>
            <a:ext cx="6804025" cy="715962"/>
            <a:chOff x="884" y="2614"/>
            <a:chExt cx="2812" cy="363"/>
          </a:xfrm>
        </p:grpSpPr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1066" y="2614"/>
              <a:ext cx="244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884" y="2659"/>
              <a:ext cx="28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latin typeface="Tahoma" panose="020B0604030504040204" pitchFamily="34" charset="0"/>
                </a:rPr>
                <a:t>4. Decide structure and layout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4602734" y="2754186"/>
            <a:ext cx="6013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5. Procure appropriate equipment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5325047" y="2033461"/>
            <a:ext cx="5291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6. Conduct training and exercise 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grpSp>
        <p:nvGrpSpPr>
          <p:cNvPr id="17" name="Group 23"/>
          <p:cNvGrpSpPr>
            <a:grpSpLocks/>
          </p:cNvGrpSpPr>
          <p:nvPr/>
        </p:nvGrpSpPr>
        <p:grpSpPr bwMode="auto">
          <a:xfrm>
            <a:off x="5685409" y="1242886"/>
            <a:ext cx="3887788" cy="576262"/>
            <a:chOff x="2155" y="1525"/>
            <a:chExt cx="2449" cy="363"/>
          </a:xfrm>
        </p:grpSpPr>
        <p:sp>
          <p:nvSpPr>
            <p:cNvPr id="18" name="Rectangle 24"/>
            <p:cNvSpPr>
              <a:spLocks noChangeArrowheads="1"/>
            </p:cNvSpPr>
            <p:nvPr/>
          </p:nvSpPr>
          <p:spPr bwMode="auto">
            <a:xfrm>
              <a:off x="2155" y="1525"/>
              <a:ext cx="244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9" name="Text Box 25"/>
            <p:cNvSpPr txBox="1">
              <a:spLocks noChangeArrowheads="1"/>
            </p:cNvSpPr>
            <p:nvPr/>
          </p:nvSpPr>
          <p:spPr bwMode="auto">
            <a:xfrm>
              <a:off x="2426" y="1570"/>
              <a:ext cx="16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latin typeface="Tahoma" panose="020B0604030504040204" pitchFamily="34" charset="0"/>
                </a:rPr>
                <a:t>7. Update plan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481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98448" y="38735"/>
            <a:ext cx="982065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Summary 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58952" y="1160187"/>
            <a:ext cx="1043330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dirty="0" smtClean="0"/>
              <a:t>We have considered the organizational aspects to be considered when implementing National and/or Regional Contingency Planning.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dirty="0" smtClean="0"/>
              <a:t>We have looked at the role of the Competent National Authority, how to establish a response organization, the benefits of cooperation with industry and the development of a tiered response system.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4694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1371</Words>
  <Application>Microsoft Office PowerPoint</Application>
  <PresentationFormat>Widescreen</PresentationFormat>
  <Paragraphs>209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MS PGothic</vt:lpstr>
      <vt:lpstr>Arial</vt:lpstr>
      <vt:lpstr>Calibri</vt:lpstr>
      <vt:lpstr>inherit</vt:lpstr>
      <vt:lpstr>Tahoma</vt:lpstr>
      <vt:lpstr>Wingdings</vt:lpstr>
      <vt:lpstr>Office Theme</vt:lpstr>
      <vt:lpstr>Microsoft Office Visio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149</cp:revision>
  <dcterms:created xsi:type="dcterms:W3CDTF">2024-09-27T05:40:49Z</dcterms:created>
  <dcterms:modified xsi:type="dcterms:W3CDTF">2025-06-03T06:38:49Z</dcterms:modified>
</cp:coreProperties>
</file>
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65" r:id="rId4"/>
    <p:sldId id="266" r:id="rId5"/>
    <p:sldId id="267" r:id="rId6"/>
    <p:sldId id="268" r:id="rId7"/>
    <p:sldId id="269" r:id="rId8"/>
    <p:sldId id="270" r:id="rId9"/>
    <p:sldId id="272" r:id="rId10"/>
    <p:sldId id="273" r:id="rId11"/>
    <p:sldId id="274" r:id="rId12"/>
    <p:sldId id="275" r:id="rId13"/>
    <p:sldId id="280" r:id="rId14"/>
    <p:sldId id="282" r:id="rId15"/>
    <p:sldId id="281" r:id="rId16"/>
    <p:sldId id="283" r:id="rId17"/>
    <p:sldId id="284" r:id="rId18"/>
    <p:sldId id="285" r:id="rId19"/>
    <p:sldId id="286" r:id="rId20"/>
    <p:sldId id="287" r:id="rId21"/>
    <p:sldId id="288" r:id="rId22"/>
    <p:sldId id="289" r:id="rId23"/>
    <p:sldId id="290" r:id="rId24"/>
    <p:sldId id="291" r:id="rId25"/>
    <p:sldId id="292" r:id="rId26"/>
    <p:sldId id="293" r:id="rId27"/>
    <p:sldId id="26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76DB58-1268-4CF2-9124-94C2B4EBA62A}" type="doc">
      <dgm:prSet loTypeId="urn:microsoft.com/office/officeart/2005/8/layout/cycle5" loCatId="cycle" qsTypeId="urn:microsoft.com/office/officeart/2005/8/quickstyle/3d3" qsCatId="3D" csTypeId="urn:microsoft.com/office/officeart/2005/8/colors/colorful1#1" csCatId="colorful" phldr="1"/>
      <dgm:spPr/>
      <dgm:t>
        <a:bodyPr/>
        <a:lstStyle/>
        <a:p>
          <a:endParaRPr lang="en-GB"/>
        </a:p>
      </dgm:t>
    </dgm:pt>
    <dgm:pt modelId="{A18EA5AC-832A-47CD-8801-5C97A6952AD2}">
      <dgm:prSet phldrT="[Text]"/>
      <dgm:spPr/>
      <dgm:t>
        <a:bodyPr/>
        <a:lstStyle/>
        <a:p>
          <a:r>
            <a:rPr lang="en-GB" dirty="0"/>
            <a:t>Response </a:t>
          </a:r>
          <a:r>
            <a:rPr lang="en-GB" dirty="0" smtClean="0"/>
            <a:t>strategy</a:t>
          </a:r>
          <a:endParaRPr lang="en-GB" dirty="0"/>
        </a:p>
      </dgm:t>
    </dgm:pt>
    <dgm:pt modelId="{29C2A11C-E6A1-42A4-9E29-676AD787108C}" type="parTrans" cxnId="{4B057592-7616-45C6-A740-D5D58FCA871D}">
      <dgm:prSet/>
      <dgm:spPr/>
      <dgm:t>
        <a:bodyPr/>
        <a:lstStyle/>
        <a:p>
          <a:endParaRPr lang="en-GB"/>
        </a:p>
      </dgm:t>
    </dgm:pt>
    <dgm:pt modelId="{51FEF70B-2D95-40CE-B14F-CAE0B7C5FD5C}" type="sibTrans" cxnId="{4B057592-7616-45C6-A740-D5D58FCA871D}">
      <dgm:prSet/>
      <dgm:spPr/>
      <dgm:t>
        <a:bodyPr/>
        <a:lstStyle/>
        <a:p>
          <a:endParaRPr lang="en-GB"/>
        </a:p>
      </dgm:t>
    </dgm:pt>
    <dgm:pt modelId="{EFB0C615-7B01-4F26-84BD-92213C1BF1D7}">
      <dgm:prSet phldrT="[Text]"/>
      <dgm:spPr/>
      <dgm:t>
        <a:bodyPr/>
        <a:lstStyle/>
        <a:p>
          <a:r>
            <a:rPr lang="en-GB" dirty="0"/>
            <a:t>Response </a:t>
          </a:r>
          <a:r>
            <a:rPr lang="en-GB" dirty="0" smtClean="0"/>
            <a:t>priorities</a:t>
          </a:r>
          <a:endParaRPr lang="en-GB" dirty="0"/>
        </a:p>
      </dgm:t>
    </dgm:pt>
    <dgm:pt modelId="{D43B45CA-38BC-4D79-8708-B7B6E0ECD5B0}" type="parTrans" cxnId="{3BAEC3E6-E73A-4C77-92CC-1593DACCCCD3}">
      <dgm:prSet/>
      <dgm:spPr/>
      <dgm:t>
        <a:bodyPr/>
        <a:lstStyle/>
        <a:p>
          <a:endParaRPr lang="en-GB"/>
        </a:p>
      </dgm:t>
    </dgm:pt>
    <dgm:pt modelId="{19FE1944-1A43-4C8F-8739-86904B66BEF1}" type="sibTrans" cxnId="{3BAEC3E6-E73A-4C77-92CC-1593DACCCCD3}">
      <dgm:prSet/>
      <dgm:spPr/>
      <dgm:t>
        <a:bodyPr/>
        <a:lstStyle/>
        <a:p>
          <a:endParaRPr lang="en-GB"/>
        </a:p>
      </dgm:t>
    </dgm:pt>
    <dgm:pt modelId="{9F371C7A-16D8-4215-80A9-56B8132286F1}">
      <dgm:prSet phldrT="[Text]"/>
      <dgm:spPr/>
      <dgm:t>
        <a:bodyPr/>
        <a:lstStyle/>
        <a:p>
          <a:r>
            <a:rPr lang="en-GB" dirty="0"/>
            <a:t>Management </a:t>
          </a:r>
          <a:r>
            <a:rPr lang="en-GB" dirty="0" smtClean="0"/>
            <a:t>objectives</a:t>
          </a:r>
          <a:endParaRPr lang="en-GB" dirty="0"/>
        </a:p>
      </dgm:t>
    </dgm:pt>
    <dgm:pt modelId="{ADBDF2E1-E390-4AF3-9340-0BEE90B75CB7}" type="parTrans" cxnId="{AFF4312A-FBF8-44B5-9630-30CD3830555F}">
      <dgm:prSet/>
      <dgm:spPr/>
      <dgm:t>
        <a:bodyPr/>
        <a:lstStyle/>
        <a:p>
          <a:endParaRPr lang="en-GB"/>
        </a:p>
      </dgm:t>
    </dgm:pt>
    <dgm:pt modelId="{848814BB-B780-429C-8677-EC514A623E03}" type="sibTrans" cxnId="{AFF4312A-FBF8-44B5-9630-30CD3830555F}">
      <dgm:prSet/>
      <dgm:spPr/>
      <dgm:t>
        <a:bodyPr/>
        <a:lstStyle/>
        <a:p>
          <a:endParaRPr lang="en-GB"/>
        </a:p>
      </dgm:t>
    </dgm:pt>
    <dgm:pt modelId="{E821E17B-455C-4F75-BF50-973A12877A2A}">
      <dgm:prSet phldrT="[Text]"/>
      <dgm:spPr/>
      <dgm:t>
        <a:bodyPr/>
        <a:lstStyle/>
        <a:p>
          <a:r>
            <a:rPr lang="en-GB" dirty="0"/>
            <a:t>Clean-Up </a:t>
          </a:r>
          <a:r>
            <a:rPr lang="en-GB" dirty="0" smtClean="0"/>
            <a:t>objectives</a:t>
          </a:r>
          <a:endParaRPr lang="en-GB" dirty="0"/>
        </a:p>
      </dgm:t>
    </dgm:pt>
    <dgm:pt modelId="{F14096DC-6DC4-4CAF-B946-0C4CC25E4AF1}" type="parTrans" cxnId="{3E7E3C9C-631A-476D-AF09-4D832FD8E799}">
      <dgm:prSet/>
      <dgm:spPr/>
      <dgm:t>
        <a:bodyPr/>
        <a:lstStyle/>
        <a:p>
          <a:endParaRPr lang="en-GB"/>
        </a:p>
      </dgm:t>
    </dgm:pt>
    <dgm:pt modelId="{8726D396-A6A5-4DE9-9BAB-C5BAB5584784}" type="sibTrans" cxnId="{3E7E3C9C-631A-476D-AF09-4D832FD8E799}">
      <dgm:prSet/>
      <dgm:spPr/>
      <dgm:t>
        <a:bodyPr/>
        <a:lstStyle/>
        <a:p>
          <a:endParaRPr lang="en-GB"/>
        </a:p>
      </dgm:t>
    </dgm:pt>
    <dgm:pt modelId="{242859C5-EA6A-46FF-9311-371A45BC5F3F}">
      <dgm:prSet phldrT="[Text]"/>
      <dgm:spPr/>
      <dgm:t>
        <a:bodyPr/>
        <a:lstStyle/>
        <a:p>
          <a:r>
            <a:rPr lang="en-GB" dirty="0"/>
            <a:t>Policy </a:t>
          </a:r>
          <a:r>
            <a:rPr lang="en-GB" dirty="0" smtClean="0"/>
            <a:t>issues</a:t>
          </a:r>
          <a:endParaRPr lang="en-GB" dirty="0"/>
        </a:p>
      </dgm:t>
    </dgm:pt>
    <dgm:pt modelId="{F4F48EB4-3C27-48C6-A68C-4BD206FFE7C3}" type="parTrans" cxnId="{E09D4292-7879-404F-9C18-EEC0A9BB4AEF}">
      <dgm:prSet/>
      <dgm:spPr/>
      <dgm:t>
        <a:bodyPr/>
        <a:lstStyle/>
        <a:p>
          <a:endParaRPr lang="en-GB"/>
        </a:p>
      </dgm:t>
    </dgm:pt>
    <dgm:pt modelId="{554E36C3-DB06-4C7C-845E-68574515C137}" type="sibTrans" cxnId="{E09D4292-7879-404F-9C18-EEC0A9BB4AEF}">
      <dgm:prSet/>
      <dgm:spPr/>
      <dgm:t>
        <a:bodyPr/>
        <a:lstStyle/>
        <a:p>
          <a:endParaRPr lang="en-GB"/>
        </a:p>
      </dgm:t>
    </dgm:pt>
    <dgm:pt modelId="{D9EA55FD-897B-4845-96AB-DC9DA8326D83}">
      <dgm:prSet/>
      <dgm:spPr/>
      <dgm:t>
        <a:bodyPr/>
        <a:lstStyle/>
        <a:p>
          <a:r>
            <a:rPr lang="en-GB" dirty="0"/>
            <a:t>NEBA</a:t>
          </a:r>
        </a:p>
      </dgm:t>
    </dgm:pt>
    <dgm:pt modelId="{37AF7C9A-51B6-4950-A296-EC99C5297BD7}" type="parTrans" cxnId="{92805065-8B40-4331-8B6E-0AA33C744410}">
      <dgm:prSet/>
      <dgm:spPr/>
      <dgm:t>
        <a:bodyPr/>
        <a:lstStyle/>
        <a:p>
          <a:endParaRPr lang="en-GB"/>
        </a:p>
      </dgm:t>
    </dgm:pt>
    <dgm:pt modelId="{19997765-8555-494A-8C47-CF92716FFB12}" type="sibTrans" cxnId="{92805065-8B40-4331-8B6E-0AA33C744410}">
      <dgm:prSet/>
      <dgm:spPr/>
      <dgm:t>
        <a:bodyPr/>
        <a:lstStyle/>
        <a:p>
          <a:endParaRPr lang="en-GB"/>
        </a:p>
      </dgm:t>
    </dgm:pt>
    <dgm:pt modelId="{45E16E4E-0F50-43B9-B32B-A917E8546E22}" type="pres">
      <dgm:prSet presAssocID="{DD76DB58-1268-4CF2-9124-94C2B4EBA62A}" presName="cycle" presStyleCnt="0">
        <dgm:presLayoutVars>
          <dgm:dir/>
          <dgm:resizeHandles val="exact"/>
        </dgm:presLayoutVars>
      </dgm:prSet>
      <dgm:spPr/>
      <dgm:t>
        <a:bodyPr/>
        <a:lstStyle/>
        <a:p>
          <a:endParaRPr lang="en-GB"/>
        </a:p>
      </dgm:t>
    </dgm:pt>
    <dgm:pt modelId="{B14B7EE9-D2C4-492E-9B0E-EBFADB17C94F}" type="pres">
      <dgm:prSet presAssocID="{A18EA5AC-832A-47CD-8801-5C97A6952AD2}" presName="node" presStyleLbl="node1" presStyleIdx="0" presStyleCnt="6">
        <dgm:presLayoutVars>
          <dgm:bulletEnabled val="1"/>
        </dgm:presLayoutVars>
      </dgm:prSet>
      <dgm:spPr/>
      <dgm:t>
        <a:bodyPr/>
        <a:lstStyle/>
        <a:p>
          <a:endParaRPr lang="en-GB"/>
        </a:p>
      </dgm:t>
    </dgm:pt>
    <dgm:pt modelId="{BB52E667-028B-4E72-B557-CD7BE2FAE723}" type="pres">
      <dgm:prSet presAssocID="{A18EA5AC-832A-47CD-8801-5C97A6952AD2}" presName="spNode" presStyleCnt="0"/>
      <dgm:spPr/>
      <dgm:t>
        <a:bodyPr/>
        <a:lstStyle/>
        <a:p>
          <a:endParaRPr lang="en-US"/>
        </a:p>
      </dgm:t>
    </dgm:pt>
    <dgm:pt modelId="{8269E208-F561-4499-BE61-9CEF987F7104}" type="pres">
      <dgm:prSet presAssocID="{51FEF70B-2D95-40CE-B14F-CAE0B7C5FD5C}" presName="sibTrans" presStyleLbl="sibTrans1D1" presStyleIdx="0" presStyleCnt="6"/>
      <dgm:spPr/>
      <dgm:t>
        <a:bodyPr/>
        <a:lstStyle/>
        <a:p>
          <a:endParaRPr lang="en-GB"/>
        </a:p>
      </dgm:t>
    </dgm:pt>
    <dgm:pt modelId="{E859D203-CB30-48B1-B88F-3B1A6CDC87EB}" type="pres">
      <dgm:prSet presAssocID="{EFB0C615-7B01-4F26-84BD-92213C1BF1D7}" presName="node" presStyleLbl="node1" presStyleIdx="1" presStyleCnt="6">
        <dgm:presLayoutVars>
          <dgm:bulletEnabled val="1"/>
        </dgm:presLayoutVars>
      </dgm:prSet>
      <dgm:spPr/>
      <dgm:t>
        <a:bodyPr/>
        <a:lstStyle/>
        <a:p>
          <a:endParaRPr lang="en-GB"/>
        </a:p>
      </dgm:t>
    </dgm:pt>
    <dgm:pt modelId="{851796C3-3B27-4CA1-8706-4BA8EB99F8AD}" type="pres">
      <dgm:prSet presAssocID="{EFB0C615-7B01-4F26-84BD-92213C1BF1D7}" presName="spNode" presStyleCnt="0"/>
      <dgm:spPr/>
      <dgm:t>
        <a:bodyPr/>
        <a:lstStyle/>
        <a:p>
          <a:endParaRPr lang="en-US"/>
        </a:p>
      </dgm:t>
    </dgm:pt>
    <dgm:pt modelId="{C92A1D6D-E5E3-4026-8F37-EA23AF0AAB94}" type="pres">
      <dgm:prSet presAssocID="{19FE1944-1A43-4C8F-8739-86904B66BEF1}" presName="sibTrans" presStyleLbl="sibTrans1D1" presStyleIdx="1" presStyleCnt="6"/>
      <dgm:spPr/>
      <dgm:t>
        <a:bodyPr/>
        <a:lstStyle/>
        <a:p>
          <a:endParaRPr lang="en-GB"/>
        </a:p>
      </dgm:t>
    </dgm:pt>
    <dgm:pt modelId="{B942E75F-A685-4BA2-8DF5-24282A08C7AA}" type="pres">
      <dgm:prSet presAssocID="{9F371C7A-16D8-4215-80A9-56B8132286F1}" presName="node" presStyleLbl="node1" presStyleIdx="2" presStyleCnt="6">
        <dgm:presLayoutVars>
          <dgm:bulletEnabled val="1"/>
        </dgm:presLayoutVars>
      </dgm:prSet>
      <dgm:spPr/>
      <dgm:t>
        <a:bodyPr/>
        <a:lstStyle/>
        <a:p>
          <a:endParaRPr lang="en-GB"/>
        </a:p>
      </dgm:t>
    </dgm:pt>
    <dgm:pt modelId="{F95CB2EF-71DA-46E0-AFAF-9AB81CA72D89}" type="pres">
      <dgm:prSet presAssocID="{9F371C7A-16D8-4215-80A9-56B8132286F1}" presName="spNode" presStyleCnt="0"/>
      <dgm:spPr/>
      <dgm:t>
        <a:bodyPr/>
        <a:lstStyle/>
        <a:p>
          <a:endParaRPr lang="en-US"/>
        </a:p>
      </dgm:t>
    </dgm:pt>
    <dgm:pt modelId="{221ED31C-71FA-47CF-893B-60A4EB843AFD}" type="pres">
      <dgm:prSet presAssocID="{848814BB-B780-429C-8677-EC514A623E03}" presName="sibTrans" presStyleLbl="sibTrans1D1" presStyleIdx="2" presStyleCnt="6"/>
      <dgm:spPr/>
      <dgm:t>
        <a:bodyPr/>
        <a:lstStyle/>
        <a:p>
          <a:endParaRPr lang="en-GB"/>
        </a:p>
      </dgm:t>
    </dgm:pt>
    <dgm:pt modelId="{138C1868-E0B1-439A-9FDC-188088C25141}" type="pres">
      <dgm:prSet presAssocID="{E821E17B-455C-4F75-BF50-973A12877A2A}" presName="node" presStyleLbl="node1" presStyleIdx="3" presStyleCnt="6">
        <dgm:presLayoutVars>
          <dgm:bulletEnabled val="1"/>
        </dgm:presLayoutVars>
      </dgm:prSet>
      <dgm:spPr/>
      <dgm:t>
        <a:bodyPr/>
        <a:lstStyle/>
        <a:p>
          <a:endParaRPr lang="en-GB"/>
        </a:p>
      </dgm:t>
    </dgm:pt>
    <dgm:pt modelId="{8F5D2987-0B82-4F35-870D-333EBBAB5468}" type="pres">
      <dgm:prSet presAssocID="{E821E17B-455C-4F75-BF50-973A12877A2A}" presName="spNode" presStyleCnt="0"/>
      <dgm:spPr/>
      <dgm:t>
        <a:bodyPr/>
        <a:lstStyle/>
        <a:p>
          <a:endParaRPr lang="en-US"/>
        </a:p>
      </dgm:t>
    </dgm:pt>
    <dgm:pt modelId="{56647736-E2D3-4E53-A1BF-43D80C3EE2FC}" type="pres">
      <dgm:prSet presAssocID="{8726D396-A6A5-4DE9-9BAB-C5BAB5584784}" presName="sibTrans" presStyleLbl="sibTrans1D1" presStyleIdx="3" presStyleCnt="6"/>
      <dgm:spPr/>
      <dgm:t>
        <a:bodyPr/>
        <a:lstStyle/>
        <a:p>
          <a:endParaRPr lang="en-GB"/>
        </a:p>
      </dgm:t>
    </dgm:pt>
    <dgm:pt modelId="{89BD6C84-A629-4C9E-8F5F-74A529C07D5D}" type="pres">
      <dgm:prSet presAssocID="{242859C5-EA6A-46FF-9311-371A45BC5F3F}" presName="node" presStyleLbl="node1" presStyleIdx="4" presStyleCnt="6">
        <dgm:presLayoutVars>
          <dgm:bulletEnabled val="1"/>
        </dgm:presLayoutVars>
      </dgm:prSet>
      <dgm:spPr/>
      <dgm:t>
        <a:bodyPr/>
        <a:lstStyle/>
        <a:p>
          <a:endParaRPr lang="en-GB"/>
        </a:p>
      </dgm:t>
    </dgm:pt>
    <dgm:pt modelId="{9ACA7CBA-6EF3-47E9-AFA4-ACDE2C849A16}" type="pres">
      <dgm:prSet presAssocID="{242859C5-EA6A-46FF-9311-371A45BC5F3F}" presName="spNode" presStyleCnt="0"/>
      <dgm:spPr/>
      <dgm:t>
        <a:bodyPr/>
        <a:lstStyle/>
        <a:p>
          <a:endParaRPr lang="en-US"/>
        </a:p>
      </dgm:t>
    </dgm:pt>
    <dgm:pt modelId="{C5C2165F-10DE-4543-8C05-526291EE04BA}" type="pres">
      <dgm:prSet presAssocID="{554E36C3-DB06-4C7C-845E-68574515C137}" presName="sibTrans" presStyleLbl="sibTrans1D1" presStyleIdx="4" presStyleCnt="6"/>
      <dgm:spPr/>
      <dgm:t>
        <a:bodyPr/>
        <a:lstStyle/>
        <a:p>
          <a:endParaRPr lang="en-GB"/>
        </a:p>
      </dgm:t>
    </dgm:pt>
    <dgm:pt modelId="{13DD6237-A6BA-42B3-88F3-245CF4D41F66}" type="pres">
      <dgm:prSet presAssocID="{D9EA55FD-897B-4845-96AB-DC9DA8326D83}" presName="node" presStyleLbl="node1" presStyleIdx="5" presStyleCnt="6">
        <dgm:presLayoutVars>
          <dgm:bulletEnabled val="1"/>
        </dgm:presLayoutVars>
      </dgm:prSet>
      <dgm:spPr/>
      <dgm:t>
        <a:bodyPr/>
        <a:lstStyle/>
        <a:p>
          <a:endParaRPr lang="en-GB"/>
        </a:p>
      </dgm:t>
    </dgm:pt>
    <dgm:pt modelId="{BAF51738-6410-4DE9-BA8A-0C510CE2DEDF}" type="pres">
      <dgm:prSet presAssocID="{D9EA55FD-897B-4845-96AB-DC9DA8326D83}" presName="spNode" presStyleCnt="0"/>
      <dgm:spPr/>
      <dgm:t>
        <a:bodyPr/>
        <a:lstStyle/>
        <a:p>
          <a:endParaRPr lang="en-US"/>
        </a:p>
      </dgm:t>
    </dgm:pt>
    <dgm:pt modelId="{8E3E4737-4C76-4CA8-938E-47D95FB165A1}" type="pres">
      <dgm:prSet presAssocID="{19997765-8555-494A-8C47-CF92716FFB12}" presName="sibTrans" presStyleLbl="sibTrans1D1" presStyleIdx="5" presStyleCnt="6"/>
      <dgm:spPr/>
      <dgm:t>
        <a:bodyPr/>
        <a:lstStyle/>
        <a:p>
          <a:endParaRPr lang="en-GB"/>
        </a:p>
      </dgm:t>
    </dgm:pt>
  </dgm:ptLst>
  <dgm:cxnLst>
    <dgm:cxn modelId="{55DC29F5-E506-4137-AE53-F8AF29C4ED5F}" type="presOf" srcId="{19997765-8555-494A-8C47-CF92716FFB12}" destId="{8E3E4737-4C76-4CA8-938E-47D95FB165A1}" srcOrd="0" destOrd="0" presId="urn:microsoft.com/office/officeart/2005/8/layout/cycle5"/>
    <dgm:cxn modelId="{5BC21EA7-C263-4C27-A7E4-79FF5792B11D}" type="presOf" srcId="{8726D396-A6A5-4DE9-9BAB-C5BAB5584784}" destId="{56647736-E2D3-4E53-A1BF-43D80C3EE2FC}" srcOrd="0" destOrd="0" presId="urn:microsoft.com/office/officeart/2005/8/layout/cycle5"/>
    <dgm:cxn modelId="{D1370D13-DAA4-4DA3-92FE-C61AE8328C5E}" type="presOf" srcId="{19FE1944-1A43-4C8F-8739-86904B66BEF1}" destId="{C92A1D6D-E5E3-4026-8F37-EA23AF0AAB94}" srcOrd="0" destOrd="0" presId="urn:microsoft.com/office/officeart/2005/8/layout/cycle5"/>
    <dgm:cxn modelId="{28C87A5B-6834-4857-AE67-28B6AA4A5BF6}" type="presOf" srcId="{554E36C3-DB06-4C7C-845E-68574515C137}" destId="{C5C2165F-10DE-4543-8C05-526291EE04BA}" srcOrd="0" destOrd="0" presId="urn:microsoft.com/office/officeart/2005/8/layout/cycle5"/>
    <dgm:cxn modelId="{47845488-E463-47C0-9BAD-2C41F991AB44}" type="presOf" srcId="{A18EA5AC-832A-47CD-8801-5C97A6952AD2}" destId="{B14B7EE9-D2C4-492E-9B0E-EBFADB17C94F}" srcOrd="0" destOrd="0" presId="urn:microsoft.com/office/officeart/2005/8/layout/cycle5"/>
    <dgm:cxn modelId="{4B057592-7616-45C6-A740-D5D58FCA871D}" srcId="{DD76DB58-1268-4CF2-9124-94C2B4EBA62A}" destId="{A18EA5AC-832A-47CD-8801-5C97A6952AD2}" srcOrd="0" destOrd="0" parTransId="{29C2A11C-E6A1-42A4-9E29-676AD787108C}" sibTransId="{51FEF70B-2D95-40CE-B14F-CAE0B7C5FD5C}"/>
    <dgm:cxn modelId="{3BDD372C-029E-4011-B626-FEB28BC363E5}" type="presOf" srcId="{EFB0C615-7B01-4F26-84BD-92213C1BF1D7}" destId="{E859D203-CB30-48B1-B88F-3B1A6CDC87EB}" srcOrd="0" destOrd="0" presId="urn:microsoft.com/office/officeart/2005/8/layout/cycle5"/>
    <dgm:cxn modelId="{3E7E3C9C-631A-476D-AF09-4D832FD8E799}" srcId="{DD76DB58-1268-4CF2-9124-94C2B4EBA62A}" destId="{E821E17B-455C-4F75-BF50-973A12877A2A}" srcOrd="3" destOrd="0" parTransId="{F14096DC-6DC4-4CAF-B946-0C4CC25E4AF1}" sibTransId="{8726D396-A6A5-4DE9-9BAB-C5BAB5584784}"/>
    <dgm:cxn modelId="{AFF4312A-FBF8-44B5-9630-30CD3830555F}" srcId="{DD76DB58-1268-4CF2-9124-94C2B4EBA62A}" destId="{9F371C7A-16D8-4215-80A9-56B8132286F1}" srcOrd="2" destOrd="0" parTransId="{ADBDF2E1-E390-4AF3-9340-0BEE90B75CB7}" sibTransId="{848814BB-B780-429C-8677-EC514A623E03}"/>
    <dgm:cxn modelId="{92805065-8B40-4331-8B6E-0AA33C744410}" srcId="{DD76DB58-1268-4CF2-9124-94C2B4EBA62A}" destId="{D9EA55FD-897B-4845-96AB-DC9DA8326D83}" srcOrd="5" destOrd="0" parTransId="{37AF7C9A-51B6-4950-A296-EC99C5297BD7}" sibTransId="{19997765-8555-494A-8C47-CF92716FFB12}"/>
    <dgm:cxn modelId="{573569C0-0CF0-4275-AB24-57388ED0DA74}" type="presOf" srcId="{9F371C7A-16D8-4215-80A9-56B8132286F1}" destId="{B942E75F-A685-4BA2-8DF5-24282A08C7AA}" srcOrd="0" destOrd="0" presId="urn:microsoft.com/office/officeart/2005/8/layout/cycle5"/>
    <dgm:cxn modelId="{7FB8F64E-91EB-4877-ADC5-A79BFA93D203}" type="presOf" srcId="{51FEF70B-2D95-40CE-B14F-CAE0B7C5FD5C}" destId="{8269E208-F561-4499-BE61-9CEF987F7104}" srcOrd="0" destOrd="0" presId="urn:microsoft.com/office/officeart/2005/8/layout/cycle5"/>
    <dgm:cxn modelId="{A7C0571D-3F83-4AA8-8229-2C61C1F47FB9}" type="presOf" srcId="{E821E17B-455C-4F75-BF50-973A12877A2A}" destId="{138C1868-E0B1-439A-9FDC-188088C25141}" srcOrd="0" destOrd="0" presId="urn:microsoft.com/office/officeart/2005/8/layout/cycle5"/>
    <dgm:cxn modelId="{E09D4292-7879-404F-9C18-EEC0A9BB4AEF}" srcId="{DD76DB58-1268-4CF2-9124-94C2B4EBA62A}" destId="{242859C5-EA6A-46FF-9311-371A45BC5F3F}" srcOrd="4" destOrd="0" parTransId="{F4F48EB4-3C27-48C6-A68C-4BD206FFE7C3}" sibTransId="{554E36C3-DB06-4C7C-845E-68574515C137}"/>
    <dgm:cxn modelId="{C01481C9-3C9D-41EE-998E-E25A6D7EC98B}" type="presOf" srcId="{242859C5-EA6A-46FF-9311-371A45BC5F3F}" destId="{89BD6C84-A629-4C9E-8F5F-74A529C07D5D}" srcOrd="0" destOrd="0" presId="urn:microsoft.com/office/officeart/2005/8/layout/cycle5"/>
    <dgm:cxn modelId="{E65C1634-921F-46B3-98EF-A09DFDD3CF01}" type="presOf" srcId="{848814BB-B780-429C-8677-EC514A623E03}" destId="{221ED31C-71FA-47CF-893B-60A4EB843AFD}" srcOrd="0" destOrd="0" presId="urn:microsoft.com/office/officeart/2005/8/layout/cycle5"/>
    <dgm:cxn modelId="{944327B3-7C48-450F-824A-F27F61FD1631}" type="presOf" srcId="{D9EA55FD-897B-4845-96AB-DC9DA8326D83}" destId="{13DD6237-A6BA-42B3-88F3-245CF4D41F66}" srcOrd="0" destOrd="0" presId="urn:microsoft.com/office/officeart/2005/8/layout/cycle5"/>
    <dgm:cxn modelId="{3BAEC3E6-E73A-4C77-92CC-1593DACCCCD3}" srcId="{DD76DB58-1268-4CF2-9124-94C2B4EBA62A}" destId="{EFB0C615-7B01-4F26-84BD-92213C1BF1D7}" srcOrd="1" destOrd="0" parTransId="{D43B45CA-38BC-4D79-8708-B7B6E0ECD5B0}" sibTransId="{19FE1944-1A43-4C8F-8739-86904B66BEF1}"/>
    <dgm:cxn modelId="{3499DEFC-FC02-4927-9126-33223C8239C9}" type="presOf" srcId="{DD76DB58-1268-4CF2-9124-94C2B4EBA62A}" destId="{45E16E4E-0F50-43B9-B32B-A917E8546E22}" srcOrd="0" destOrd="0" presId="urn:microsoft.com/office/officeart/2005/8/layout/cycle5"/>
    <dgm:cxn modelId="{4B48195D-772C-4F90-8353-4BE59FE28BDA}" type="presParOf" srcId="{45E16E4E-0F50-43B9-B32B-A917E8546E22}" destId="{B14B7EE9-D2C4-492E-9B0E-EBFADB17C94F}" srcOrd="0" destOrd="0" presId="urn:microsoft.com/office/officeart/2005/8/layout/cycle5"/>
    <dgm:cxn modelId="{A4A932CA-29D7-4D5E-B5AE-996B281495F1}" type="presParOf" srcId="{45E16E4E-0F50-43B9-B32B-A917E8546E22}" destId="{BB52E667-028B-4E72-B557-CD7BE2FAE723}" srcOrd="1" destOrd="0" presId="urn:microsoft.com/office/officeart/2005/8/layout/cycle5"/>
    <dgm:cxn modelId="{EB964D54-3579-4719-B44B-FBDBDF240011}" type="presParOf" srcId="{45E16E4E-0F50-43B9-B32B-A917E8546E22}" destId="{8269E208-F561-4499-BE61-9CEF987F7104}" srcOrd="2" destOrd="0" presId="urn:microsoft.com/office/officeart/2005/8/layout/cycle5"/>
    <dgm:cxn modelId="{8896F0F3-7658-4C7E-A87A-57A62588C3AF}" type="presParOf" srcId="{45E16E4E-0F50-43B9-B32B-A917E8546E22}" destId="{E859D203-CB30-48B1-B88F-3B1A6CDC87EB}" srcOrd="3" destOrd="0" presId="urn:microsoft.com/office/officeart/2005/8/layout/cycle5"/>
    <dgm:cxn modelId="{616E7282-C171-4F0D-8A90-2E538DBD8397}" type="presParOf" srcId="{45E16E4E-0F50-43B9-B32B-A917E8546E22}" destId="{851796C3-3B27-4CA1-8706-4BA8EB99F8AD}" srcOrd="4" destOrd="0" presId="urn:microsoft.com/office/officeart/2005/8/layout/cycle5"/>
    <dgm:cxn modelId="{F9E61F85-4B72-43C2-93DA-972B4FA63FB7}" type="presParOf" srcId="{45E16E4E-0F50-43B9-B32B-A917E8546E22}" destId="{C92A1D6D-E5E3-4026-8F37-EA23AF0AAB94}" srcOrd="5" destOrd="0" presId="urn:microsoft.com/office/officeart/2005/8/layout/cycle5"/>
    <dgm:cxn modelId="{6CED45E9-9B8B-40FC-A10B-CC3715F5BC19}" type="presParOf" srcId="{45E16E4E-0F50-43B9-B32B-A917E8546E22}" destId="{B942E75F-A685-4BA2-8DF5-24282A08C7AA}" srcOrd="6" destOrd="0" presId="urn:microsoft.com/office/officeart/2005/8/layout/cycle5"/>
    <dgm:cxn modelId="{B5B04D90-CC48-4B4B-8940-1A59FCFD9E06}" type="presParOf" srcId="{45E16E4E-0F50-43B9-B32B-A917E8546E22}" destId="{F95CB2EF-71DA-46E0-AFAF-9AB81CA72D89}" srcOrd="7" destOrd="0" presId="urn:microsoft.com/office/officeart/2005/8/layout/cycle5"/>
    <dgm:cxn modelId="{6E3591DD-692F-4985-84AF-6B05A450F74A}" type="presParOf" srcId="{45E16E4E-0F50-43B9-B32B-A917E8546E22}" destId="{221ED31C-71FA-47CF-893B-60A4EB843AFD}" srcOrd="8" destOrd="0" presId="urn:microsoft.com/office/officeart/2005/8/layout/cycle5"/>
    <dgm:cxn modelId="{C983F753-6702-483F-9ADB-A7C2E6F3B8CF}" type="presParOf" srcId="{45E16E4E-0F50-43B9-B32B-A917E8546E22}" destId="{138C1868-E0B1-439A-9FDC-188088C25141}" srcOrd="9" destOrd="0" presId="urn:microsoft.com/office/officeart/2005/8/layout/cycle5"/>
    <dgm:cxn modelId="{B5B58C2E-57C4-4DE7-A7B5-3D8C7142E608}" type="presParOf" srcId="{45E16E4E-0F50-43B9-B32B-A917E8546E22}" destId="{8F5D2987-0B82-4F35-870D-333EBBAB5468}" srcOrd="10" destOrd="0" presId="urn:microsoft.com/office/officeart/2005/8/layout/cycle5"/>
    <dgm:cxn modelId="{FFDDD11A-A109-48DE-B5D4-CA420E546F9D}" type="presParOf" srcId="{45E16E4E-0F50-43B9-B32B-A917E8546E22}" destId="{56647736-E2D3-4E53-A1BF-43D80C3EE2FC}" srcOrd="11" destOrd="0" presId="urn:microsoft.com/office/officeart/2005/8/layout/cycle5"/>
    <dgm:cxn modelId="{7A7481F1-4143-46F5-976B-BDC0CD70FF61}" type="presParOf" srcId="{45E16E4E-0F50-43B9-B32B-A917E8546E22}" destId="{89BD6C84-A629-4C9E-8F5F-74A529C07D5D}" srcOrd="12" destOrd="0" presId="urn:microsoft.com/office/officeart/2005/8/layout/cycle5"/>
    <dgm:cxn modelId="{4F2631DF-04FF-487B-B1A7-418EF874CDC1}" type="presParOf" srcId="{45E16E4E-0F50-43B9-B32B-A917E8546E22}" destId="{9ACA7CBA-6EF3-47E9-AFA4-ACDE2C849A16}" srcOrd="13" destOrd="0" presId="urn:microsoft.com/office/officeart/2005/8/layout/cycle5"/>
    <dgm:cxn modelId="{9CD53D15-99BC-46F1-BB68-96F8AB3ED899}" type="presParOf" srcId="{45E16E4E-0F50-43B9-B32B-A917E8546E22}" destId="{C5C2165F-10DE-4543-8C05-526291EE04BA}" srcOrd="14" destOrd="0" presId="urn:microsoft.com/office/officeart/2005/8/layout/cycle5"/>
    <dgm:cxn modelId="{1E3A483C-B84A-43F8-9980-1A43D40AEC5C}" type="presParOf" srcId="{45E16E4E-0F50-43B9-B32B-A917E8546E22}" destId="{13DD6237-A6BA-42B3-88F3-245CF4D41F66}" srcOrd="15" destOrd="0" presId="urn:microsoft.com/office/officeart/2005/8/layout/cycle5"/>
    <dgm:cxn modelId="{A84A8932-59DE-45F1-B30F-60926FC099E3}" type="presParOf" srcId="{45E16E4E-0F50-43B9-B32B-A917E8546E22}" destId="{BAF51738-6410-4DE9-BA8A-0C510CE2DEDF}" srcOrd="16" destOrd="0" presId="urn:microsoft.com/office/officeart/2005/8/layout/cycle5"/>
    <dgm:cxn modelId="{E09DF64E-C668-420C-A329-C9A17954E96A}" type="presParOf" srcId="{45E16E4E-0F50-43B9-B32B-A917E8546E22}" destId="{8E3E4737-4C76-4CA8-938E-47D95FB165A1}"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B7EE9-D2C4-492E-9B0E-EBFADB17C94F}">
      <dsp:nvSpPr>
        <dsp:cNvPr id="0" name=""/>
        <dsp:cNvSpPr/>
      </dsp:nvSpPr>
      <dsp:spPr>
        <a:xfrm>
          <a:off x="3412591" y="2414"/>
          <a:ext cx="1404416" cy="91287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Response </a:t>
          </a:r>
          <a:r>
            <a:rPr lang="en-GB" sz="1600" kern="1200" dirty="0" smtClean="0"/>
            <a:t>strategy</a:t>
          </a:r>
          <a:endParaRPr lang="en-GB" sz="1600" kern="1200" dirty="0"/>
        </a:p>
      </dsp:txBody>
      <dsp:txXfrm>
        <a:off x="3457154" y="46977"/>
        <a:ext cx="1315290" cy="823744"/>
      </dsp:txXfrm>
    </dsp:sp>
    <dsp:sp modelId="{8269E208-F561-4499-BE61-9CEF987F7104}">
      <dsp:nvSpPr>
        <dsp:cNvPr id="0" name=""/>
        <dsp:cNvSpPr/>
      </dsp:nvSpPr>
      <dsp:spPr>
        <a:xfrm>
          <a:off x="1964593" y="458850"/>
          <a:ext cx="4300412" cy="4300412"/>
        </a:xfrm>
        <a:custGeom>
          <a:avLst/>
          <a:gdLst/>
          <a:ahLst/>
          <a:cxnLst/>
          <a:rect l="0" t="0" r="0" b="0"/>
          <a:pathLst>
            <a:path>
              <a:moveTo>
                <a:pt x="3028981" y="187773"/>
              </a:moveTo>
              <a:arcTo wR="2150206" hR="2150206" stAng="17647367" swAng="923716"/>
            </a:path>
          </a:pathLst>
        </a:custGeom>
        <a:noFill/>
        <a:ln w="6350" cap="flat" cmpd="sng" algn="ctr">
          <a:solidFill>
            <a:schemeClr val="accent2">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E859D203-CB30-48B1-B88F-3B1A6CDC87EB}">
      <dsp:nvSpPr>
        <dsp:cNvPr id="0" name=""/>
        <dsp:cNvSpPr/>
      </dsp:nvSpPr>
      <dsp:spPr>
        <a:xfrm>
          <a:off x="5274724" y="1077518"/>
          <a:ext cx="1404416" cy="91287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Response </a:t>
          </a:r>
          <a:r>
            <a:rPr lang="en-GB" sz="1600" kern="1200" dirty="0" smtClean="0"/>
            <a:t>priorities</a:t>
          </a:r>
          <a:endParaRPr lang="en-GB" sz="1600" kern="1200" dirty="0"/>
        </a:p>
      </dsp:txBody>
      <dsp:txXfrm>
        <a:off x="5319287" y="1122081"/>
        <a:ext cx="1315290" cy="823744"/>
      </dsp:txXfrm>
    </dsp:sp>
    <dsp:sp modelId="{C92A1D6D-E5E3-4026-8F37-EA23AF0AAB94}">
      <dsp:nvSpPr>
        <dsp:cNvPr id="0" name=""/>
        <dsp:cNvSpPr/>
      </dsp:nvSpPr>
      <dsp:spPr>
        <a:xfrm>
          <a:off x="1964593" y="458850"/>
          <a:ext cx="4300412" cy="4300412"/>
        </a:xfrm>
        <a:custGeom>
          <a:avLst/>
          <a:gdLst/>
          <a:ahLst/>
          <a:cxnLst/>
          <a:rect l="0" t="0" r="0" b="0"/>
          <a:pathLst>
            <a:path>
              <a:moveTo>
                <a:pt x="4266908" y="1772110"/>
              </a:moveTo>
              <a:arcTo wR="2150206" hR="2150206" stAng="20992342" swAng="1215315"/>
            </a:path>
          </a:pathLst>
        </a:custGeom>
        <a:noFill/>
        <a:ln w="6350" cap="flat" cmpd="sng" algn="ctr">
          <a:solidFill>
            <a:schemeClr val="accent3">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B942E75F-A685-4BA2-8DF5-24282A08C7AA}">
      <dsp:nvSpPr>
        <dsp:cNvPr id="0" name=""/>
        <dsp:cNvSpPr/>
      </dsp:nvSpPr>
      <dsp:spPr>
        <a:xfrm>
          <a:off x="5274724" y="3227724"/>
          <a:ext cx="1404416" cy="912870"/>
        </a:xfrm>
        <a:prstGeom prst="round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Management </a:t>
          </a:r>
          <a:r>
            <a:rPr lang="en-GB" sz="1600" kern="1200" dirty="0" smtClean="0"/>
            <a:t>objectives</a:t>
          </a:r>
          <a:endParaRPr lang="en-GB" sz="1600" kern="1200" dirty="0"/>
        </a:p>
      </dsp:txBody>
      <dsp:txXfrm>
        <a:off x="5319287" y="3272287"/>
        <a:ext cx="1315290" cy="823744"/>
      </dsp:txXfrm>
    </dsp:sp>
    <dsp:sp modelId="{221ED31C-71FA-47CF-893B-60A4EB843AFD}">
      <dsp:nvSpPr>
        <dsp:cNvPr id="0" name=""/>
        <dsp:cNvSpPr/>
      </dsp:nvSpPr>
      <dsp:spPr>
        <a:xfrm>
          <a:off x="1964593" y="458850"/>
          <a:ext cx="4300412" cy="4300412"/>
        </a:xfrm>
        <a:custGeom>
          <a:avLst/>
          <a:gdLst/>
          <a:ahLst/>
          <a:cxnLst/>
          <a:rect l="0" t="0" r="0" b="0"/>
          <a:pathLst>
            <a:path>
              <a:moveTo>
                <a:pt x="3518427" y="3808927"/>
              </a:moveTo>
              <a:arcTo wR="2150206" hR="2150206" stAng="3028917" swAng="923716"/>
            </a:path>
          </a:pathLst>
        </a:custGeom>
        <a:noFill/>
        <a:ln w="6350" cap="flat" cmpd="sng" algn="ctr">
          <a:solidFill>
            <a:schemeClr val="accent4">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138C1868-E0B1-439A-9FDC-188088C25141}">
      <dsp:nvSpPr>
        <dsp:cNvPr id="0" name=""/>
        <dsp:cNvSpPr/>
      </dsp:nvSpPr>
      <dsp:spPr>
        <a:xfrm>
          <a:off x="3412591" y="4302827"/>
          <a:ext cx="1404416" cy="912870"/>
        </a:xfrm>
        <a:prstGeom prst="round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Clean-Up </a:t>
          </a:r>
          <a:r>
            <a:rPr lang="en-GB" sz="1600" kern="1200" dirty="0" smtClean="0"/>
            <a:t>objectives</a:t>
          </a:r>
          <a:endParaRPr lang="en-GB" sz="1600" kern="1200" dirty="0"/>
        </a:p>
      </dsp:txBody>
      <dsp:txXfrm>
        <a:off x="3457154" y="4347390"/>
        <a:ext cx="1315290" cy="823744"/>
      </dsp:txXfrm>
    </dsp:sp>
    <dsp:sp modelId="{56647736-E2D3-4E53-A1BF-43D80C3EE2FC}">
      <dsp:nvSpPr>
        <dsp:cNvPr id="0" name=""/>
        <dsp:cNvSpPr/>
      </dsp:nvSpPr>
      <dsp:spPr>
        <a:xfrm>
          <a:off x="1964593" y="458850"/>
          <a:ext cx="4300412" cy="4300412"/>
        </a:xfrm>
        <a:custGeom>
          <a:avLst/>
          <a:gdLst/>
          <a:ahLst/>
          <a:cxnLst/>
          <a:rect l="0" t="0" r="0" b="0"/>
          <a:pathLst>
            <a:path>
              <a:moveTo>
                <a:pt x="1271431" y="4112638"/>
              </a:moveTo>
              <a:arcTo wR="2150206" hR="2150206" stAng="6847367" swAng="923716"/>
            </a:path>
          </a:pathLst>
        </a:custGeom>
        <a:noFill/>
        <a:ln w="6350" cap="flat" cmpd="sng" algn="ctr">
          <a:solidFill>
            <a:schemeClr val="accent5">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89BD6C84-A629-4C9E-8F5F-74A529C07D5D}">
      <dsp:nvSpPr>
        <dsp:cNvPr id="0" name=""/>
        <dsp:cNvSpPr/>
      </dsp:nvSpPr>
      <dsp:spPr>
        <a:xfrm>
          <a:off x="1550458" y="3227724"/>
          <a:ext cx="1404416" cy="912870"/>
        </a:xfrm>
        <a:prstGeom prst="round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Policy </a:t>
          </a:r>
          <a:r>
            <a:rPr lang="en-GB" sz="1600" kern="1200" dirty="0" smtClean="0"/>
            <a:t>issues</a:t>
          </a:r>
          <a:endParaRPr lang="en-GB" sz="1600" kern="1200" dirty="0"/>
        </a:p>
      </dsp:txBody>
      <dsp:txXfrm>
        <a:off x="1595021" y="3272287"/>
        <a:ext cx="1315290" cy="823744"/>
      </dsp:txXfrm>
    </dsp:sp>
    <dsp:sp modelId="{C5C2165F-10DE-4543-8C05-526291EE04BA}">
      <dsp:nvSpPr>
        <dsp:cNvPr id="0" name=""/>
        <dsp:cNvSpPr/>
      </dsp:nvSpPr>
      <dsp:spPr>
        <a:xfrm>
          <a:off x="1964593" y="458850"/>
          <a:ext cx="4300412" cy="4300412"/>
        </a:xfrm>
        <a:custGeom>
          <a:avLst/>
          <a:gdLst/>
          <a:ahLst/>
          <a:cxnLst/>
          <a:rect l="0" t="0" r="0" b="0"/>
          <a:pathLst>
            <a:path>
              <a:moveTo>
                <a:pt x="33503" y="2528301"/>
              </a:moveTo>
              <a:arcTo wR="2150206" hR="2150206" stAng="10192342" swAng="1215315"/>
            </a:path>
          </a:pathLst>
        </a:custGeom>
        <a:noFill/>
        <a:ln w="6350" cap="flat" cmpd="sng" algn="ctr">
          <a:solidFill>
            <a:schemeClr val="accent6">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13DD6237-A6BA-42B3-88F3-245CF4D41F66}">
      <dsp:nvSpPr>
        <dsp:cNvPr id="0" name=""/>
        <dsp:cNvSpPr/>
      </dsp:nvSpPr>
      <dsp:spPr>
        <a:xfrm>
          <a:off x="1550458" y="1077518"/>
          <a:ext cx="1404416" cy="91287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a:t>NEBA</a:t>
          </a:r>
        </a:p>
      </dsp:txBody>
      <dsp:txXfrm>
        <a:off x="1595021" y="1122081"/>
        <a:ext cx="1315290" cy="823744"/>
      </dsp:txXfrm>
    </dsp:sp>
    <dsp:sp modelId="{8E3E4737-4C76-4CA8-938E-47D95FB165A1}">
      <dsp:nvSpPr>
        <dsp:cNvPr id="0" name=""/>
        <dsp:cNvSpPr/>
      </dsp:nvSpPr>
      <dsp:spPr>
        <a:xfrm>
          <a:off x="1964593" y="458850"/>
          <a:ext cx="4300412" cy="4300412"/>
        </a:xfrm>
        <a:custGeom>
          <a:avLst/>
          <a:gdLst/>
          <a:ahLst/>
          <a:cxnLst/>
          <a:rect l="0" t="0" r="0" b="0"/>
          <a:pathLst>
            <a:path>
              <a:moveTo>
                <a:pt x="781984" y="491485"/>
              </a:moveTo>
              <a:arcTo wR="2150206" hR="2150206" stAng="13828917" swAng="923716"/>
            </a:path>
          </a:pathLst>
        </a:custGeom>
        <a:noFill/>
        <a:ln w="6350" cap="flat" cmpd="sng" algn="ctr">
          <a:solidFill>
            <a:schemeClr val="accent2">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DE783-5DD7-4480-B3C9-C38566432AF1}" type="datetimeFigureOut">
              <a:rPr lang="en-IN" smtClean="0"/>
              <a:t>03-06-2025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9E34BB-FEE0-4CD4-8DE3-2827CF613D16}" type="slidenum">
              <a:rPr lang="en-IN" smtClean="0"/>
              <a:t>‹#›</a:t>
            </a:fld>
            <a:endParaRPr lang="en-IN"/>
          </a:p>
        </p:txBody>
      </p:sp>
    </p:spTree>
    <p:extLst>
      <p:ext uri="{BB962C8B-B14F-4D97-AF65-F5344CB8AC3E}">
        <p14:creationId xmlns:p14="http://schemas.microsoft.com/office/powerpoint/2010/main" val="3340433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808760C-5660-468E-B648-D268C0E335FF}" type="slidenum">
              <a:rPr lang="en-GB" altLang="en-US" sz="1300" smtClean="0"/>
              <a:pPr>
                <a:spcBef>
                  <a:spcPct val="0"/>
                </a:spcBef>
              </a:pPr>
              <a:t>13</a:t>
            </a:fld>
            <a:endParaRPr lang="en-GB" altLang="en-US" sz="1300"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2796586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D0A9DC7-2BF4-4CDE-A1A3-AACD63F5BBB8}" type="slidenum">
              <a:rPr lang="en-GB" altLang="en-US" sz="1300" smtClean="0"/>
              <a:pPr>
                <a:spcBef>
                  <a:spcPct val="0"/>
                </a:spcBef>
              </a:pPr>
              <a:t>14</a:t>
            </a:fld>
            <a:endParaRPr lang="en-GB" altLang="en-US" sz="1300"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161959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noTextEdit="1"/>
          </p:cNvSpPr>
          <p:nvPr>
            <p:ph type="sldImg"/>
          </p:nvPr>
        </p:nvSpPr>
        <p:spPr>
          <a:xfrm>
            <a:off x="2370138" y="552450"/>
            <a:ext cx="4860925" cy="2735263"/>
          </a:xfrm>
          <a:ln/>
        </p:spPr>
      </p:sp>
      <p:sp>
        <p:nvSpPr>
          <p:cNvPr id="39939" name="Rectangle 3"/>
          <p:cNvSpPr>
            <a:spLocks noGrp="1" noChangeArrowheads="1"/>
          </p:cNvSpPr>
          <p:nvPr>
            <p:ph type="body" idx="1"/>
          </p:nvPr>
        </p:nvSpPr>
        <p:spPr>
          <a:xfrm>
            <a:off x="1279525" y="3475038"/>
            <a:ext cx="7042150"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en-US" altLang="en-US" smtClean="0">
              <a:solidFill>
                <a:srgbClr val="CC0000"/>
              </a:solidFill>
              <a:latin typeface="Arial" panose="020B0604020202020204" pitchFamily="34" charset="0"/>
            </a:endParaRPr>
          </a:p>
        </p:txBody>
      </p:sp>
    </p:spTree>
    <p:extLst>
      <p:ext uri="{BB962C8B-B14F-4D97-AF65-F5344CB8AC3E}">
        <p14:creationId xmlns:p14="http://schemas.microsoft.com/office/powerpoint/2010/main" val="1043945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5BE8DF5-26C2-43BB-B5E7-644249746C67}" type="slidenum">
              <a:rPr lang="en-GB" altLang="en-US" sz="1300" smtClean="0"/>
              <a:pPr>
                <a:spcBef>
                  <a:spcPct val="0"/>
                </a:spcBef>
              </a:pPr>
              <a:t>16</a:t>
            </a:fld>
            <a:endParaRPr lang="en-GB" altLang="en-US" sz="1300" smtClean="0"/>
          </a:p>
        </p:txBody>
      </p:sp>
      <p:sp>
        <p:nvSpPr>
          <p:cNvPr id="44035" name="Rectangle 1026"/>
          <p:cNvSpPr>
            <a:spLocks noGrp="1" noRot="1" noChangeAspect="1" noChangeArrowheads="1" noTextEdit="1"/>
          </p:cNvSpPr>
          <p:nvPr>
            <p:ph type="sldImg"/>
          </p:nvPr>
        </p:nvSpPr>
        <p:spPr>
          <a:ln/>
        </p:spPr>
      </p:sp>
      <p:sp>
        <p:nvSpPr>
          <p:cNvPr id="4403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2577320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3BB47D8-E154-4F39-9D83-3AEB56A053AF}" type="slidenum">
              <a:rPr lang="en-GB" altLang="en-US" sz="1300" smtClean="0"/>
              <a:pPr>
                <a:spcBef>
                  <a:spcPct val="0"/>
                </a:spcBef>
              </a:pPr>
              <a:t>17</a:t>
            </a:fld>
            <a:endParaRPr lang="en-GB" altLang="en-US" sz="1300"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844858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ChangeArrowheads="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6DDC50F-5F87-4204-822C-70CAFCD1E5C1}" type="slidenum">
              <a:rPr lang="en-GB" altLang="en-US" sz="1300" smtClean="0"/>
              <a:pPr>
                <a:spcBef>
                  <a:spcPct val="0"/>
                </a:spcBef>
              </a:pPr>
              <a:t>18</a:t>
            </a:fld>
            <a:endParaRPr lang="en-GB" altLang="en-US" sz="1300" smtClean="0"/>
          </a:p>
        </p:txBody>
      </p:sp>
    </p:spTree>
    <p:extLst>
      <p:ext uri="{BB962C8B-B14F-4D97-AF65-F5344CB8AC3E}">
        <p14:creationId xmlns:p14="http://schemas.microsoft.com/office/powerpoint/2010/main" val="1090646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ChangeArrowheads="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CF43768-32FF-44C1-ADB3-51B115BDAF2A}" type="slidenum">
              <a:rPr lang="en-GB" altLang="en-US" sz="1300" smtClean="0"/>
              <a:pPr>
                <a:spcBef>
                  <a:spcPct val="0"/>
                </a:spcBef>
              </a:pPr>
              <a:t>19</a:t>
            </a:fld>
            <a:endParaRPr lang="en-GB" altLang="en-US" sz="1300" smtClean="0"/>
          </a:p>
        </p:txBody>
      </p:sp>
    </p:spTree>
    <p:extLst>
      <p:ext uri="{BB962C8B-B14F-4D97-AF65-F5344CB8AC3E}">
        <p14:creationId xmlns:p14="http://schemas.microsoft.com/office/powerpoint/2010/main" val="408752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ChangeArrowheads="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C54F416-90E6-44D3-86BB-4AFA51DAC451}" type="slidenum">
              <a:rPr lang="en-GB" altLang="en-US" sz="1300" smtClean="0"/>
              <a:pPr>
                <a:spcBef>
                  <a:spcPct val="0"/>
                </a:spcBef>
              </a:pPr>
              <a:t>20</a:t>
            </a:fld>
            <a:endParaRPr lang="en-GB" altLang="en-US" sz="1300" smtClean="0"/>
          </a:p>
        </p:txBody>
      </p:sp>
    </p:spTree>
    <p:extLst>
      <p:ext uri="{BB962C8B-B14F-4D97-AF65-F5344CB8AC3E}">
        <p14:creationId xmlns:p14="http://schemas.microsoft.com/office/powerpoint/2010/main" val="4180260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ChangeArrowheads="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1100" smtClean="0">
              <a:latin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808BBC6-B179-42BF-A14B-B01AD881FAD5}" type="slidenum">
              <a:rPr lang="en-GB" altLang="en-US" sz="1300" smtClean="0"/>
              <a:pPr>
                <a:spcBef>
                  <a:spcPct val="0"/>
                </a:spcBef>
              </a:pPr>
              <a:t>21</a:t>
            </a:fld>
            <a:endParaRPr lang="en-GB" altLang="en-US" sz="1300" smtClean="0"/>
          </a:p>
        </p:txBody>
      </p:sp>
    </p:spTree>
    <p:extLst>
      <p:ext uri="{BB962C8B-B14F-4D97-AF65-F5344CB8AC3E}">
        <p14:creationId xmlns:p14="http://schemas.microsoft.com/office/powerpoint/2010/main" val="82204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ChangeArrowheads="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smtClean="0">
              <a:latin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A346795-D3B7-4B17-9B4E-0181ADF374AE}" type="slidenum">
              <a:rPr lang="en-GB" altLang="en-US" sz="1300" smtClean="0"/>
              <a:pPr>
                <a:spcBef>
                  <a:spcPct val="0"/>
                </a:spcBef>
              </a:pPr>
              <a:t>22</a:t>
            </a:fld>
            <a:endParaRPr lang="en-GB" altLang="en-US" sz="1300" smtClean="0"/>
          </a:p>
        </p:txBody>
      </p:sp>
    </p:spTree>
    <p:extLst>
      <p:ext uri="{BB962C8B-B14F-4D97-AF65-F5344CB8AC3E}">
        <p14:creationId xmlns:p14="http://schemas.microsoft.com/office/powerpoint/2010/main" val="2679960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ChangeArrowheads="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2813">
              <a:lnSpc>
                <a:spcPct val="90000"/>
              </a:lnSpc>
            </a:pPr>
            <a:endParaRPr lang="en-US" altLang="en-US" smtClean="0">
              <a:latin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9F6A126-C3C5-41F4-9F4B-395C4F7473DB}" type="slidenum">
              <a:rPr lang="en-GB" altLang="en-US" sz="1300" smtClean="0"/>
              <a:pPr>
                <a:spcBef>
                  <a:spcPct val="0"/>
                </a:spcBef>
              </a:pPr>
              <a:t>23</a:t>
            </a:fld>
            <a:endParaRPr lang="en-GB" altLang="en-US" sz="1300" smtClean="0"/>
          </a:p>
        </p:txBody>
      </p:sp>
    </p:spTree>
    <p:extLst>
      <p:ext uri="{BB962C8B-B14F-4D97-AF65-F5344CB8AC3E}">
        <p14:creationId xmlns:p14="http://schemas.microsoft.com/office/powerpoint/2010/main" val="325788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ChangeArrowheads="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6427B08-FB4C-44C9-9CAB-9DE56BCA17B5}" type="slidenum">
              <a:rPr lang="en-GB" altLang="en-US" sz="1300" smtClean="0"/>
              <a:pPr>
                <a:spcBef>
                  <a:spcPct val="0"/>
                </a:spcBef>
              </a:pPr>
              <a:t>24</a:t>
            </a:fld>
            <a:endParaRPr lang="en-GB" altLang="en-US" sz="1300" smtClean="0"/>
          </a:p>
        </p:txBody>
      </p:sp>
    </p:spTree>
    <p:extLst>
      <p:ext uri="{BB962C8B-B14F-4D97-AF65-F5344CB8AC3E}">
        <p14:creationId xmlns:p14="http://schemas.microsoft.com/office/powerpoint/2010/main" val="2261326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9060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90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E4F3519-3EC0-468D-AE34-C19787038187}" type="slidenum">
              <a:rPr lang="en-GB" altLang="en-US" sz="1300" smtClean="0"/>
              <a:pPr>
                <a:spcBef>
                  <a:spcPct val="0"/>
                </a:spcBef>
              </a:pPr>
              <a:t>26</a:t>
            </a:fld>
            <a:endParaRPr lang="en-GB" altLang="en-US" sz="1300" smtClean="0"/>
          </a:p>
        </p:txBody>
      </p:sp>
    </p:spTree>
    <p:extLst>
      <p:ext uri="{BB962C8B-B14F-4D97-AF65-F5344CB8AC3E}">
        <p14:creationId xmlns:p14="http://schemas.microsoft.com/office/powerpoint/2010/main" val="2899362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6184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10589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23628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98675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DD1F7B-0C96-49B7-BB03-29AB0B73B640}" type="datetimeFigureOut">
              <a:rPr lang="en-IN" smtClean="0"/>
              <a:t>03-06-2025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71758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DD1F7B-0C96-49B7-BB03-29AB0B73B640}" type="datetimeFigureOut">
              <a:rPr lang="en-IN" smtClean="0"/>
              <a:t>03-06-2025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046559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D1F7B-0C96-49B7-BB03-29AB0B73B640}" type="datetimeFigureOut">
              <a:rPr lang="en-IN" smtClean="0"/>
              <a:t>03-06-2025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428747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10069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80677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635961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69700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gs>
            <a:gs pos="50000">
              <a:schemeClr val="accent2"/>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D1F7B-0C96-49B7-BB03-29AB0B73B640}" type="datetimeFigureOut">
              <a:rPr lang="en-IN" smtClean="0"/>
              <a:t>03-06-2025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83F58-AF5F-4FE2-9C7E-DA9D3F7CC1A5}" type="slidenum">
              <a:rPr lang="en-IN" smtClean="0"/>
              <a:t>‹#›</a:t>
            </a:fld>
            <a:endParaRPr lang="en-IN"/>
          </a:p>
        </p:txBody>
      </p:sp>
    </p:spTree>
    <p:extLst>
      <p:ext uri="{BB962C8B-B14F-4D97-AF65-F5344CB8AC3E}">
        <p14:creationId xmlns:p14="http://schemas.microsoft.com/office/powerpoint/2010/main" val="34455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33165" y="6378300"/>
            <a:ext cx="1193158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6" name="Rectangle 2"/>
          <p:cNvSpPr txBox="1">
            <a:spLocks/>
          </p:cNvSpPr>
          <p:nvPr/>
        </p:nvSpPr>
        <p:spPr>
          <a:xfrm>
            <a:off x="1385957" y="1947672"/>
            <a:ext cx="9279700" cy="21671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
            </a:r>
            <a:br>
              <a:rPr lang="en-GB" altLang="en-US" b="1" dirty="0" smtClean="0"/>
            </a:br>
            <a:r>
              <a:rPr lang="en-GB" altLang="en-US" b="1" dirty="0" smtClean="0"/>
              <a:t>Lesson 3.10</a:t>
            </a:r>
            <a:br>
              <a:rPr lang="en-GB" altLang="en-US" b="1" dirty="0" smtClean="0"/>
            </a:br>
            <a:r>
              <a:rPr lang="en-GB" altLang="en-US" b="1" dirty="0" smtClean="0"/>
              <a:t>Strategic Directions and Policies</a:t>
            </a:r>
            <a:endParaRPr lang="en-GB" altLang="en-US" b="1" dirty="0" smtClean="0"/>
          </a:p>
        </p:txBody>
      </p:sp>
    </p:spTree>
    <p:extLst>
      <p:ext uri="{BB962C8B-B14F-4D97-AF65-F5344CB8AC3E}">
        <p14:creationId xmlns:p14="http://schemas.microsoft.com/office/powerpoint/2010/main" val="367483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694944" y="20447"/>
            <a:ext cx="1012240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Objective</a:t>
            </a:r>
            <a:endParaRPr lang="en-GB" altLang="en-US" b="1" dirty="0" smtClean="0"/>
          </a:p>
        </p:txBody>
      </p:sp>
      <p:sp>
        <p:nvSpPr>
          <p:cNvPr id="6" name="Content Placeholder 2"/>
          <p:cNvSpPr txBox="1">
            <a:spLocks/>
          </p:cNvSpPr>
          <p:nvPr/>
        </p:nvSpPr>
        <p:spPr>
          <a:xfrm>
            <a:off x="694944" y="1429259"/>
            <a:ext cx="10479024" cy="23197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altLang="en-US" dirty="0" smtClean="0"/>
              <a:t>To understand the role of the administration and its senior management.</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US" altLang="en-US" dirty="0" smtClean="0"/>
              <a:t>To understand the role of government in an oil spill.</a:t>
            </a:r>
            <a:endParaRPr lang="en-GB" altLang="en-US" dirty="0" smtClean="0"/>
          </a:p>
          <a:p>
            <a:pPr marL="0" indent="0" algn="just">
              <a:buFont typeface="Arial" panose="020B0604020202020204" pitchFamily="34" charset="0"/>
              <a:buNone/>
            </a:pPr>
            <a:endParaRPr lang="en-GB" altLang="en-US" dirty="0" smtClean="0"/>
          </a:p>
        </p:txBody>
      </p:sp>
    </p:spTree>
    <p:extLst>
      <p:ext uri="{BB962C8B-B14F-4D97-AF65-F5344CB8AC3E}">
        <p14:creationId xmlns:p14="http://schemas.microsoft.com/office/powerpoint/2010/main" val="996444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2103120" y="29591"/>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Strategy</a:t>
            </a:r>
            <a:endParaRPr lang="en-GB" altLang="en-US" b="1" dirty="0" smtClean="0"/>
          </a:p>
        </p:txBody>
      </p:sp>
      <p:grpSp>
        <p:nvGrpSpPr>
          <p:cNvPr id="6" name="Group 3"/>
          <p:cNvGrpSpPr>
            <a:grpSpLocks/>
          </p:cNvGrpSpPr>
          <p:nvPr/>
        </p:nvGrpSpPr>
        <p:grpSpPr bwMode="auto">
          <a:xfrm>
            <a:off x="2463483" y="993775"/>
            <a:ext cx="6994525" cy="5099050"/>
            <a:chOff x="1600200" y="1498600"/>
            <a:chExt cx="6994525" cy="5099050"/>
          </a:xfrm>
        </p:grpSpPr>
        <p:grpSp>
          <p:nvGrpSpPr>
            <p:cNvPr id="7" name="Group 75"/>
            <p:cNvGrpSpPr>
              <a:grpSpLocks/>
            </p:cNvGrpSpPr>
            <p:nvPr/>
          </p:nvGrpSpPr>
          <p:grpSpPr bwMode="auto">
            <a:xfrm>
              <a:off x="2320925" y="1498600"/>
              <a:ext cx="5326063" cy="595313"/>
              <a:chOff x="1045" y="944"/>
              <a:chExt cx="3355" cy="375"/>
            </a:xfrm>
          </p:grpSpPr>
          <p:sp>
            <p:nvSpPr>
              <p:cNvPr id="48" name="Freeform 42"/>
              <p:cNvSpPr>
                <a:spLocks/>
              </p:cNvSpPr>
              <p:nvPr/>
            </p:nvSpPr>
            <p:spPr bwMode="auto">
              <a:xfrm>
                <a:off x="1045" y="944"/>
                <a:ext cx="3355" cy="375"/>
              </a:xfrm>
              <a:custGeom>
                <a:avLst/>
                <a:gdLst>
                  <a:gd name="T0" fmla="*/ 0 w 393"/>
                  <a:gd name="T1" fmla="*/ 0 h 44"/>
                  <a:gd name="T2" fmla="*/ 2147483646 w 393"/>
                  <a:gd name="T3" fmla="*/ 0 h 44"/>
                  <a:gd name="T4" fmla="*/ 2147483646 w 393"/>
                  <a:gd name="T5" fmla="*/ 2147483646 h 44"/>
                  <a:gd name="T6" fmla="*/ 2147483646 w 393"/>
                  <a:gd name="T7" fmla="*/ 2147483646 h 44"/>
                  <a:gd name="T8" fmla="*/ 2147483646 w 393"/>
                  <a:gd name="T9" fmla="*/ 2147483646 h 44"/>
                  <a:gd name="T10" fmla="*/ 0 w 393"/>
                  <a:gd name="T11" fmla="*/ 2147483646 h 44"/>
                  <a:gd name="T12" fmla="*/ 0 w 393"/>
                  <a:gd name="T13" fmla="*/ 0 h 44"/>
                  <a:gd name="T14" fmla="*/ 0 60000 65536"/>
                  <a:gd name="T15" fmla="*/ 0 60000 65536"/>
                  <a:gd name="T16" fmla="*/ 0 60000 65536"/>
                  <a:gd name="T17" fmla="*/ 0 60000 65536"/>
                  <a:gd name="T18" fmla="*/ 0 60000 65536"/>
                  <a:gd name="T19" fmla="*/ 0 60000 65536"/>
                  <a:gd name="T20" fmla="*/ 0 60000 65536"/>
                  <a:gd name="T21" fmla="*/ 0 w 393"/>
                  <a:gd name="T22" fmla="*/ 0 h 44"/>
                  <a:gd name="T23" fmla="*/ 393 w 393"/>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3" h="44">
                    <a:moveTo>
                      <a:pt x="0" y="0"/>
                    </a:moveTo>
                    <a:lnTo>
                      <a:pt x="377" y="0"/>
                    </a:lnTo>
                    <a:cubicBezTo>
                      <a:pt x="385" y="0"/>
                      <a:pt x="393" y="8"/>
                      <a:pt x="393" y="17"/>
                    </a:cubicBezTo>
                    <a:lnTo>
                      <a:pt x="393" y="44"/>
                    </a:lnTo>
                    <a:lnTo>
                      <a:pt x="16" y="44"/>
                    </a:lnTo>
                    <a:cubicBezTo>
                      <a:pt x="7" y="44"/>
                      <a:pt x="0" y="37"/>
                      <a:pt x="0" y="28"/>
                    </a:cubicBezTo>
                    <a:lnTo>
                      <a:pt x="0" y="0"/>
                    </a:lnTo>
                    <a:close/>
                  </a:path>
                </a:pathLst>
              </a:custGeom>
              <a:solidFill>
                <a:srgbClr val="93C7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9" name="Rectangle 47"/>
              <p:cNvSpPr>
                <a:spLocks noChangeArrowheads="1"/>
              </p:cNvSpPr>
              <p:nvPr/>
            </p:nvSpPr>
            <p:spPr bwMode="auto">
              <a:xfrm>
                <a:off x="1332" y="1011"/>
                <a:ext cx="157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Analyse hazards and </a:t>
                </a:r>
                <a:endParaRPr lang="en-US" altLang="en-US" sz="2400">
                  <a:latin typeface="Tahoma" panose="020B0604030504040204" pitchFamily="34" charset="0"/>
                </a:endParaRPr>
              </a:p>
            </p:txBody>
          </p:sp>
          <p:sp>
            <p:nvSpPr>
              <p:cNvPr id="50" name="Rectangle 48"/>
              <p:cNvSpPr>
                <a:spLocks noChangeArrowheads="1"/>
              </p:cNvSpPr>
              <p:nvPr/>
            </p:nvSpPr>
            <p:spPr bwMode="auto">
              <a:xfrm>
                <a:off x="2927" y="1011"/>
                <a:ext cx="133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possible scenarios</a:t>
                </a:r>
                <a:endParaRPr lang="en-US" altLang="en-US" sz="2400">
                  <a:latin typeface="Tahoma" panose="020B0604030504040204" pitchFamily="34" charset="0"/>
                </a:endParaRPr>
              </a:p>
            </p:txBody>
          </p:sp>
        </p:grpSp>
        <p:grpSp>
          <p:nvGrpSpPr>
            <p:cNvPr id="8" name="Group 78"/>
            <p:cNvGrpSpPr>
              <a:grpSpLocks/>
            </p:cNvGrpSpPr>
            <p:nvPr/>
          </p:nvGrpSpPr>
          <p:grpSpPr bwMode="auto">
            <a:xfrm>
              <a:off x="1600200" y="2093913"/>
              <a:ext cx="3128963" cy="830262"/>
              <a:chOff x="591" y="1319"/>
              <a:chExt cx="1971" cy="523"/>
            </a:xfrm>
          </p:grpSpPr>
          <p:sp>
            <p:nvSpPr>
              <p:cNvPr id="42" name="Line 61"/>
              <p:cNvSpPr>
                <a:spLocks noChangeShapeType="1"/>
              </p:cNvSpPr>
              <p:nvPr/>
            </p:nvSpPr>
            <p:spPr bwMode="auto">
              <a:xfrm>
                <a:off x="1600" y="1319"/>
                <a:ext cx="1" cy="137"/>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43" name="Group 76"/>
              <p:cNvGrpSpPr>
                <a:grpSpLocks/>
              </p:cNvGrpSpPr>
              <p:nvPr/>
            </p:nvGrpSpPr>
            <p:grpSpPr bwMode="auto">
              <a:xfrm>
                <a:off x="591" y="1390"/>
                <a:ext cx="1971" cy="452"/>
                <a:chOff x="576" y="1370"/>
                <a:chExt cx="1971" cy="452"/>
              </a:xfrm>
            </p:grpSpPr>
            <p:sp>
              <p:nvSpPr>
                <p:cNvPr id="44" name="Freeform 44"/>
                <p:cNvSpPr>
                  <a:spLocks/>
                </p:cNvSpPr>
                <p:nvPr/>
              </p:nvSpPr>
              <p:spPr bwMode="auto">
                <a:xfrm>
                  <a:off x="576" y="1456"/>
                  <a:ext cx="1971" cy="366"/>
                </a:xfrm>
                <a:custGeom>
                  <a:avLst/>
                  <a:gdLst>
                    <a:gd name="T0" fmla="*/ 0 w 231"/>
                    <a:gd name="T1" fmla="*/ 0 h 43"/>
                    <a:gd name="T2" fmla="*/ 2147483646 w 231"/>
                    <a:gd name="T3" fmla="*/ 0 h 43"/>
                    <a:gd name="T4" fmla="*/ 2147483646 w 231"/>
                    <a:gd name="T5" fmla="*/ 2147483646 h 43"/>
                    <a:gd name="T6" fmla="*/ 2147483646 w 231"/>
                    <a:gd name="T7" fmla="*/ 2147483646 h 43"/>
                    <a:gd name="T8" fmla="*/ 2147483646 w 231"/>
                    <a:gd name="T9" fmla="*/ 2147483646 h 43"/>
                    <a:gd name="T10" fmla="*/ 0 w 231"/>
                    <a:gd name="T11" fmla="*/ 2147483646 h 43"/>
                    <a:gd name="T12" fmla="*/ 0 w 231"/>
                    <a:gd name="T13" fmla="*/ 0 h 43"/>
                    <a:gd name="T14" fmla="*/ 0 60000 65536"/>
                    <a:gd name="T15" fmla="*/ 0 60000 65536"/>
                    <a:gd name="T16" fmla="*/ 0 60000 65536"/>
                    <a:gd name="T17" fmla="*/ 0 60000 65536"/>
                    <a:gd name="T18" fmla="*/ 0 60000 65536"/>
                    <a:gd name="T19" fmla="*/ 0 60000 65536"/>
                    <a:gd name="T20" fmla="*/ 0 60000 65536"/>
                    <a:gd name="T21" fmla="*/ 0 w 231"/>
                    <a:gd name="T22" fmla="*/ 0 h 43"/>
                    <a:gd name="T23" fmla="*/ 231 w 231"/>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 h="43">
                      <a:moveTo>
                        <a:pt x="0" y="0"/>
                      </a:moveTo>
                      <a:lnTo>
                        <a:pt x="215" y="0"/>
                      </a:lnTo>
                      <a:cubicBezTo>
                        <a:pt x="224" y="0"/>
                        <a:pt x="231" y="7"/>
                        <a:pt x="231" y="16"/>
                      </a:cubicBezTo>
                      <a:lnTo>
                        <a:pt x="231" y="43"/>
                      </a:lnTo>
                      <a:lnTo>
                        <a:pt x="16" y="43"/>
                      </a:lnTo>
                      <a:cubicBezTo>
                        <a:pt x="8" y="43"/>
                        <a:pt x="0" y="36"/>
                        <a:pt x="0" y="27"/>
                      </a:cubicBezTo>
                      <a:lnTo>
                        <a:pt x="0" y="0"/>
                      </a:lnTo>
                      <a:close/>
                    </a:path>
                  </a:pathLst>
                </a:custGeom>
                <a:solidFill>
                  <a:srgbClr val="C8C3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5" name="Rectangle 49"/>
                <p:cNvSpPr>
                  <a:spLocks noChangeArrowheads="1"/>
                </p:cNvSpPr>
                <p:nvPr/>
              </p:nvSpPr>
              <p:spPr bwMode="auto">
                <a:xfrm>
                  <a:off x="845" y="1515"/>
                  <a:ext cx="6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Analyse </a:t>
                  </a:r>
                  <a:endParaRPr lang="en-US" altLang="en-US" sz="2400">
                    <a:latin typeface="Tahoma" panose="020B0604030504040204" pitchFamily="34" charset="0"/>
                  </a:endParaRPr>
                </a:p>
              </p:txBody>
            </p:sp>
            <p:sp>
              <p:nvSpPr>
                <p:cNvPr id="46" name="Rectangle 50"/>
                <p:cNvSpPr>
                  <a:spLocks noChangeArrowheads="1"/>
                </p:cNvSpPr>
                <p:nvPr/>
              </p:nvSpPr>
              <p:spPr bwMode="auto">
                <a:xfrm>
                  <a:off x="1488" y="1515"/>
                  <a:ext cx="89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probabilities</a:t>
                  </a:r>
                  <a:endParaRPr lang="en-US" altLang="en-US" sz="2400">
                    <a:latin typeface="Tahoma" panose="020B0604030504040204" pitchFamily="34" charset="0"/>
                  </a:endParaRPr>
                </a:p>
              </p:txBody>
            </p:sp>
            <p:sp>
              <p:nvSpPr>
                <p:cNvPr id="47" name="Freeform 62"/>
                <p:cNvSpPr>
                  <a:spLocks/>
                </p:cNvSpPr>
                <p:nvPr/>
              </p:nvSpPr>
              <p:spPr bwMode="auto">
                <a:xfrm>
                  <a:off x="1549" y="1370"/>
                  <a:ext cx="94" cy="86"/>
                </a:xfrm>
                <a:custGeom>
                  <a:avLst/>
                  <a:gdLst>
                    <a:gd name="T0" fmla="*/ 51 w 94"/>
                    <a:gd name="T1" fmla="*/ 86 h 86"/>
                    <a:gd name="T2" fmla="*/ 94 w 94"/>
                    <a:gd name="T3" fmla="*/ 0 h 86"/>
                    <a:gd name="T4" fmla="*/ 0 w 94"/>
                    <a:gd name="T5" fmla="*/ 0 h 86"/>
                    <a:gd name="T6" fmla="*/ 51 w 94"/>
                    <a:gd name="T7" fmla="*/ 86 h 86"/>
                    <a:gd name="T8" fmla="*/ 0 60000 65536"/>
                    <a:gd name="T9" fmla="*/ 0 60000 65536"/>
                    <a:gd name="T10" fmla="*/ 0 60000 65536"/>
                    <a:gd name="T11" fmla="*/ 0 60000 65536"/>
                    <a:gd name="T12" fmla="*/ 0 w 94"/>
                    <a:gd name="T13" fmla="*/ 0 h 86"/>
                    <a:gd name="T14" fmla="*/ 94 w 94"/>
                    <a:gd name="T15" fmla="*/ 86 h 86"/>
                  </a:gdLst>
                  <a:ahLst/>
                  <a:cxnLst>
                    <a:cxn ang="T8">
                      <a:pos x="T0" y="T1"/>
                    </a:cxn>
                    <a:cxn ang="T9">
                      <a:pos x="T2" y="T3"/>
                    </a:cxn>
                    <a:cxn ang="T10">
                      <a:pos x="T4" y="T5"/>
                    </a:cxn>
                    <a:cxn ang="T11">
                      <a:pos x="T6" y="T7"/>
                    </a:cxn>
                  </a:cxnLst>
                  <a:rect l="T12" t="T13" r="T14" b="T15"/>
                  <a:pathLst>
                    <a:path w="94" h="86">
                      <a:moveTo>
                        <a:pt x="51" y="86"/>
                      </a:moveTo>
                      <a:lnTo>
                        <a:pt x="94" y="0"/>
                      </a:lnTo>
                      <a:lnTo>
                        <a:pt x="0" y="0"/>
                      </a:lnTo>
                      <a:lnTo>
                        <a:pt x="51" y="86"/>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grpSp>
          <p:nvGrpSpPr>
            <p:cNvPr id="9" name="Group 77"/>
            <p:cNvGrpSpPr>
              <a:grpSpLocks/>
            </p:cNvGrpSpPr>
            <p:nvPr/>
          </p:nvGrpSpPr>
          <p:grpSpPr bwMode="auto">
            <a:xfrm>
              <a:off x="5464175" y="2093913"/>
              <a:ext cx="3130550" cy="798512"/>
              <a:chOff x="3025" y="1319"/>
              <a:chExt cx="1972" cy="503"/>
            </a:xfrm>
          </p:grpSpPr>
          <p:sp>
            <p:nvSpPr>
              <p:cNvPr id="37" name="Freeform 43"/>
              <p:cNvSpPr>
                <a:spLocks/>
              </p:cNvSpPr>
              <p:nvPr/>
            </p:nvSpPr>
            <p:spPr bwMode="auto">
              <a:xfrm>
                <a:off x="3025" y="1456"/>
                <a:ext cx="1972" cy="366"/>
              </a:xfrm>
              <a:custGeom>
                <a:avLst/>
                <a:gdLst>
                  <a:gd name="T0" fmla="*/ 0 w 231"/>
                  <a:gd name="T1" fmla="*/ 0 h 43"/>
                  <a:gd name="T2" fmla="*/ 2147483646 w 231"/>
                  <a:gd name="T3" fmla="*/ 0 h 43"/>
                  <a:gd name="T4" fmla="*/ 2147483646 w 231"/>
                  <a:gd name="T5" fmla="*/ 2147483646 h 43"/>
                  <a:gd name="T6" fmla="*/ 2147483646 w 231"/>
                  <a:gd name="T7" fmla="*/ 2147483646 h 43"/>
                  <a:gd name="T8" fmla="*/ 2147483646 w 231"/>
                  <a:gd name="T9" fmla="*/ 2147483646 h 43"/>
                  <a:gd name="T10" fmla="*/ 0 w 231"/>
                  <a:gd name="T11" fmla="*/ 2147483646 h 43"/>
                  <a:gd name="T12" fmla="*/ 0 w 231"/>
                  <a:gd name="T13" fmla="*/ 0 h 43"/>
                  <a:gd name="T14" fmla="*/ 0 60000 65536"/>
                  <a:gd name="T15" fmla="*/ 0 60000 65536"/>
                  <a:gd name="T16" fmla="*/ 0 60000 65536"/>
                  <a:gd name="T17" fmla="*/ 0 60000 65536"/>
                  <a:gd name="T18" fmla="*/ 0 60000 65536"/>
                  <a:gd name="T19" fmla="*/ 0 60000 65536"/>
                  <a:gd name="T20" fmla="*/ 0 60000 65536"/>
                  <a:gd name="T21" fmla="*/ 0 w 231"/>
                  <a:gd name="T22" fmla="*/ 0 h 43"/>
                  <a:gd name="T23" fmla="*/ 231 w 231"/>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 h="43">
                    <a:moveTo>
                      <a:pt x="0" y="0"/>
                    </a:moveTo>
                    <a:lnTo>
                      <a:pt x="215" y="0"/>
                    </a:lnTo>
                    <a:cubicBezTo>
                      <a:pt x="223" y="0"/>
                      <a:pt x="231" y="7"/>
                      <a:pt x="231" y="16"/>
                    </a:cubicBezTo>
                    <a:lnTo>
                      <a:pt x="231" y="43"/>
                    </a:lnTo>
                    <a:lnTo>
                      <a:pt x="16" y="43"/>
                    </a:lnTo>
                    <a:cubicBezTo>
                      <a:pt x="7" y="43"/>
                      <a:pt x="0" y="36"/>
                      <a:pt x="0" y="27"/>
                    </a:cubicBezTo>
                    <a:lnTo>
                      <a:pt x="0" y="0"/>
                    </a:lnTo>
                    <a:close/>
                  </a:path>
                </a:pathLst>
              </a:custGeom>
              <a:solidFill>
                <a:srgbClr val="C8C3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8" name="Rectangle 51"/>
              <p:cNvSpPr>
                <a:spLocks noChangeArrowheads="1"/>
              </p:cNvSpPr>
              <p:nvPr/>
            </p:nvSpPr>
            <p:spPr bwMode="auto">
              <a:xfrm>
                <a:off x="3226" y="1515"/>
                <a:ext cx="6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Analyse </a:t>
                </a:r>
                <a:endParaRPr lang="en-US" altLang="en-US" sz="2400">
                  <a:latin typeface="Tahoma" panose="020B0604030504040204" pitchFamily="34" charset="0"/>
                </a:endParaRPr>
              </a:p>
            </p:txBody>
          </p:sp>
          <p:sp>
            <p:nvSpPr>
              <p:cNvPr id="39" name="Rectangle 52"/>
              <p:cNvSpPr>
                <a:spLocks noChangeArrowheads="1"/>
              </p:cNvSpPr>
              <p:nvPr/>
            </p:nvSpPr>
            <p:spPr bwMode="auto">
              <a:xfrm>
                <a:off x="3873" y="1515"/>
                <a:ext cx="10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consequences</a:t>
                </a:r>
                <a:endParaRPr lang="en-US" altLang="en-US" sz="2400">
                  <a:latin typeface="Tahoma" panose="020B0604030504040204" pitchFamily="34" charset="0"/>
                </a:endParaRPr>
              </a:p>
            </p:txBody>
          </p:sp>
          <p:sp>
            <p:nvSpPr>
              <p:cNvPr id="40" name="Line 63"/>
              <p:cNvSpPr>
                <a:spLocks noChangeShapeType="1"/>
              </p:cNvSpPr>
              <p:nvPr/>
            </p:nvSpPr>
            <p:spPr bwMode="auto">
              <a:xfrm>
                <a:off x="3836" y="1319"/>
                <a:ext cx="1" cy="137"/>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 name="Freeform 64"/>
              <p:cNvSpPr>
                <a:spLocks/>
              </p:cNvSpPr>
              <p:nvPr/>
            </p:nvSpPr>
            <p:spPr bwMode="auto">
              <a:xfrm>
                <a:off x="3794" y="1370"/>
                <a:ext cx="93" cy="86"/>
              </a:xfrm>
              <a:custGeom>
                <a:avLst/>
                <a:gdLst>
                  <a:gd name="T0" fmla="*/ 42 w 93"/>
                  <a:gd name="T1" fmla="*/ 86 h 86"/>
                  <a:gd name="T2" fmla="*/ 93 w 93"/>
                  <a:gd name="T3" fmla="*/ 0 h 86"/>
                  <a:gd name="T4" fmla="*/ 0 w 93"/>
                  <a:gd name="T5" fmla="*/ 0 h 86"/>
                  <a:gd name="T6" fmla="*/ 42 w 93"/>
                  <a:gd name="T7" fmla="*/ 86 h 86"/>
                  <a:gd name="T8" fmla="*/ 0 60000 65536"/>
                  <a:gd name="T9" fmla="*/ 0 60000 65536"/>
                  <a:gd name="T10" fmla="*/ 0 60000 65536"/>
                  <a:gd name="T11" fmla="*/ 0 60000 65536"/>
                  <a:gd name="T12" fmla="*/ 0 w 93"/>
                  <a:gd name="T13" fmla="*/ 0 h 86"/>
                  <a:gd name="T14" fmla="*/ 93 w 93"/>
                  <a:gd name="T15" fmla="*/ 86 h 86"/>
                </a:gdLst>
                <a:ahLst/>
                <a:cxnLst>
                  <a:cxn ang="T8">
                    <a:pos x="T0" y="T1"/>
                  </a:cxn>
                  <a:cxn ang="T9">
                    <a:pos x="T2" y="T3"/>
                  </a:cxn>
                  <a:cxn ang="T10">
                    <a:pos x="T4" y="T5"/>
                  </a:cxn>
                  <a:cxn ang="T11">
                    <a:pos x="T6" y="T7"/>
                  </a:cxn>
                </a:cxnLst>
                <a:rect l="T12" t="T13" r="T14" b="T15"/>
                <a:pathLst>
                  <a:path w="93" h="86">
                    <a:moveTo>
                      <a:pt x="42" y="86"/>
                    </a:moveTo>
                    <a:lnTo>
                      <a:pt x="93" y="0"/>
                    </a:lnTo>
                    <a:lnTo>
                      <a:pt x="0" y="0"/>
                    </a:lnTo>
                    <a:lnTo>
                      <a:pt x="42" y="86"/>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0" name="Group 79"/>
            <p:cNvGrpSpPr>
              <a:grpSpLocks/>
            </p:cNvGrpSpPr>
            <p:nvPr/>
          </p:nvGrpSpPr>
          <p:grpSpPr bwMode="auto">
            <a:xfrm>
              <a:off x="2320925" y="2921000"/>
              <a:ext cx="5326063" cy="825500"/>
              <a:chOff x="1045" y="1840"/>
              <a:chExt cx="3355" cy="520"/>
            </a:xfrm>
          </p:grpSpPr>
          <p:sp>
            <p:nvSpPr>
              <p:cNvPr id="31" name="Freeform 41"/>
              <p:cNvSpPr>
                <a:spLocks/>
              </p:cNvSpPr>
              <p:nvPr/>
            </p:nvSpPr>
            <p:spPr bwMode="auto">
              <a:xfrm>
                <a:off x="1045" y="1993"/>
                <a:ext cx="3355" cy="367"/>
              </a:xfrm>
              <a:custGeom>
                <a:avLst/>
                <a:gdLst>
                  <a:gd name="T0" fmla="*/ 0 w 393"/>
                  <a:gd name="T1" fmla="*/ 0 h 43"/>
                  <a:gd name="T2" fmla="*/ 2147483646 w 393"/>
                  <a:gd name="T3" fmla="*/ 0 h 43"/>
                  <a:gd name="T4" fmla="*/ 2147483646 w 393"/>
                  <a:gd name="T5" fmla="*/ 2147483646 h 43"/>
                  <a:gd name="T6" fmla="*/ 2147483646 w 393"/>
                  <a:gd name="T7" fmla="*/ 2147483646 h 43"/>
                  <a:gd name="T8" fmla="*/ 2147483646 w 393"/>
                  <a:gd name="T9" fmla="*/ 2147483646 h 43"/>
                  <a:gd name="T10" fmla="*/ 0 w 393"/>
                  <a:gd name="T11" fmla="*/ 2147483646 h 43"/>
                  <a:gd name="T12" fmla="*/ 0 w 393"/>
                  <a:gd name="T13" fmla="*/ 0 h 43"/>
                  <a:gd name="T14" fmla="*/ 0 60000 65536"/>
                  <a:gd name="T15" fmla="*/ 0 60000 65536"/>
                  <a:gd name="T16" fmla="*/ 0 60000 65536"/>
                  <a:gd name="T17" fmla="*/ 0 60000 65536"/>
                  <a:gd name="T18" fmla="*/ 0 60000 65536"/>
                  <a:gd name="T19" fmla="*/ 0 60000 65536"/>
                  <a:gd name="T20" fmla="*/ 0 60000 65536"/>
                  <a:gd name="T21" fmla="*/ 0 w 393"/>
                  <a:gd name="T22" fmla="*/ 0 h 43"/>
                  <a:gd name="T23" fmla="*/ 393 w 393"/>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3" h="43">
                    <a:moveTo>
                      <a:pt x="0" y="0"/>
                    </a:moveTo>
                    <a:lnTo>
                      <a:pt x="377" y="0"/>
                    </a:lnTo>
                    <a:cubicBezTo>
                      <a:pt x="385" y="0"/>
                      <a:pt x="393" y="7"/>
                      <a:pt x="393" y="16"/>
                    </a:cubicBezTo>
                    <a:lnTo>
                      <a:pt x="393" y="43"/>
                    </a:lnTo>
                    <a:lnTo>
                      <a:pt x="16" y="43"/>
                    </a:lnTo>
                    <a:cubicBezTo>
                      <a:pt x="7" y="43"/>
                      <a:pt x="0" y="36"/>
                      <a:pt x="0" y="27"/>
                    </a:cubicBezTo>
                    <a:lnTo>
                      <a:pt x="0" y="0"/>
                    </a:lnTo>
                    <a:close/>
                  </a:path>
                </a:pathLst>
              </a:custGeom>
              <a:solidFill>
                <a:srgbClr val="77C1C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2" name="Rectangle 53"/>
              <p:cNvSpPr>
                <a:spLocks noChangeArrowheads="1"/>
              </p:cNvSpPr>
              <p:nvPr/>
            </p:nvSpPr>
            <p:spPr bwMode="auto">
              <a:xfrm>
                <a:off x="2034" y="2070"/>
                <a:ext cx="152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Characterize the risk</a:t>
                </a:r>
                <a:endParaRPr lang="en-US" altLang="en-US" sz="2400">
                  <a:latin typeface="Tahoma" panose="020B0604030504040204" pitchFamily="34" charset="0"/>
                </a:endParaRPr>
              </a:p>
            </p:txBody>
          </p:sp>
          <p:sp>
            <p:nvSpPr>
              <p:cNvPr id="33" name="Line 65"/>
              <p:cNvSpPr>
                <a:spLocks noChangeShapeType="1"/>
              </p:cNvSpPr>
              <p:nvPr/>
            </p:nvSpPr>
            <p:spPr bwMode="auto">
              <a:xfrm>
                <a:off x="1600" y="1840"/>
                <a:ext cx="1" cy="136"/>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Freeform 66"/>
              <p:cNvSpPr>
                <a:spLocks/>
              </p:cNvSpPr>
              <p:nvPr/>
            </p:nvSpPr>
            <p:spPr bwMode="auto">
              <a:xfrm>
                <a:off x="1549" y="1894"/>
                <a:ext cx="94" cy="85"/>
              </a:xfrm>
              <a:custGeom>
                <a:avLst/>
                <a:gdLst>
                  <a:gd name="T0" fmla="*/ 51 w 94"/>
                  <a:gd name="T1" fmla="*/ 85 h 85"/>
                  <a:gd name="T2" fmla="*/ 94 w 94"/>
                  <a:gd name="T3" fmla="*/ 0 h 85"/>
                  <a:gd name="T4" fmla="*/ 0 w 94"/>
                  <a:gd name="T5" fmla="*/ 0 h 85"/>
                  <a:gd name="T6" fmla="*/ 51 w 94"/>
                  <a:gd name="T7" fmla="*/ 85 h 85"/>
                  <a:gd name="T8" fmla="*/ 0 60000 65536"/>
                  <a:gd name="T9" fmla="*/ 0 60000 65536"/>
                  <a:gd name="T10" fmla="*/ 0 60000 65536"/>
                  <a:gd name="T11" fmla="*/ 0 60000 65536"/>
                  <a:gd name="T12" fmla="*/ 0 w 94"/>
                  <a:gd name="T13" fmla="*/ 0 h 85"/>
                  <a:gd name="T14" fmla="*/ 94 w 94"/>
                  <a:gd name="T15" fmla="*/ 85 h 85"/>
                </a:gdLst>
                <a:ahLst/>
                <a:cxnLst>
                  <a:cxn ang="T8">
                    <a:pos x="T0" y="T1"/>
                  </a:cxn>
                  <a:cxn ang="T9">
                    <a:pos x="T2" y="T3"/>
                  </a:cxn>
                  <a:cxn ang="T10">
                    <a:pos x="T4" y="T5"/>
                  </a:cxn>
                  <a:cxn ang="T11">
                    <a:pos x="T6" y="T7"/>
                  </a:cxn>
                </a:cxnLst>
                <a:rect l="T12" t="T13" r="T14" b="T15"/>
                <a:pathLst>
                  <a:path w="94" h="85">
                    <a:moveTo>
                      <a:pt x="51" y="85"/>
                    </a:moveTo>
                    <a:lnTo>
                      <a:pt x="94" y="0"/>
                    </a:lnTo>
                    <a:lnTo>
                      <a:pt x="0" y="0"/>
                    </a:lnTo>
                    <a:lnTo>
                      <a:pt x="51" y="85"/>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5" name="Line 67"/>
              <p:cNvSpPr>
                <a:spLocks noChangeShapeType="1"/>
              </p:cNvSpPr>
              <p:nvPr/>
            </p:nvSpPr>
            <p:spPr bwMode="auto">
              <a:xfrm>
                <a:off x="3836" y="1840"/>
                <a:ext cx="1" cy="136"/>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 name="Freeform 68"/>
              <p:cNvSpPr>
                <a:spLocks/>
              </p:cNvSpPr>
              <p:nvPr/>
            </p:nvSpPr>
            <p:spPr bwMode="auto">
              <a:xfrm>
                <a:off x="3794" y="1891"/>
                <a:ext cx="93" cy="85"/>
              </a:xfrm>
              <a:custGeom>
                <a:avLst/>
                <a:gdLst>
                  <a:gd name="T0" fmla="*/ 42 w 93"/>
                  <a:gd name="T1" fmla="*/ 85 h 85"/>
                  <a:gd name="T2" fmla="*/ 93 w 93"/>
                  <a:gd name="T3" fmla="*/ 0 h 85"/>
                  <a:gd name="T4" fmla="*/ 0 w 93"/>
                  <a:gd name="T5" fmla="*/ 0 h 85"/>
                  <a:gd name="T6" fmla="*/ 42 w 93"/>
                  <a:gd name="T7" fmla="*/ 85 h 85"/>
                  <a:gd name="T8" fmla="*/ 0 60000 65536"/>
                  <a:gd name="T9" fmla="*/ 0 60000 65536"/>
                  <a:gd name="T10" fmla="*/ 0 60000 65536"/>
                  <a:gd name="T11" fmla="*/ 0 60000 65536"/>
                  <a:gd name="T12" fmla="*/ 0 w 93"/>
                  <a:gd name="T13" fmla="*/ 0 h 85"/>
                  <a:gd name="T14" fmla="*/ 93 w 93"/>
                  <a:gd name="T15" fmla="*/ 85 h 85"/>
                </a:gdLst>
                <a:ahLst/>
                <a:cxnLst>
                  <a:cxn ang="T8">
                    <a:pos x="T0" y="T1"/>
                  </a:cxn>
                  <a:cxn ang="T9">
                    <a:pos x="T2" y="T3"/>
                  </a:cxn>
                  <a:cxn ang="T10">
                    <a:pos x="T4" y="T5"/>
                  </a:cxn>
                  <a:cxn ang="T11">
                    <a:pos x="T6" y="T7"/>
                  </a:cxn>
                </a:cxnLst>
                <a:rect l="T12" t="T13" r="T14" b="T15"/>
                <a:pathLst>
                  <a:path w="93" h="85">
                    <a:moveTo>
                      <a:pt x="42" y="85"/>
                    </a:moveTo>
                    <a:lnTo>
                      <a:pt x="93" y="0"/>
                    </a:lnTo>
                    <a:lnTo>
                      <a:pt x="0" y="0"/>
                    </a:lnTo>
                    <a:lnTo>
                      <a:pt x="42" y="85"/>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1" name="Group 80"/>
            <p:cNvGrpSpPr>
              <a:grpSpLocks/>
            </p:cNvGrpSpPr>
            <p:nvPr/>
          </p:nvGrpSpPr>
          <p:grpSpPr bwMode="auto">
            <a:xfrm>
              <a:off x="3378200" y="3760788"/>
              <a:ext cx="3319463" cy="1165225"/>
              <a:chOff x="1711" y="2369"/>
              <a:chExt cx="2091" cy="734"/>
            </a:xfrm>
          </p:grpSpPr>
          <p:sp>
            <p:nvSpPr>
              <p:cNvPr id="26" name="Freeform 40"/>
              <p:cNvSpPr>
                <a:spLocks/>
              </p:cNvSpPr>
              <p:nvPr/>
            </p:nvSpPr>
            <p:spPr bwMode="auto">
              <a:xfrm>
                <a:off x="1711" y="2531"/>
                <a:ext cx="2091" cy="572"/>
              </a:xfrm>
              <a:custGeom>
                <a:avLst/>
                <a:gdLst>
                  <a:gd name="T0" fmla="*/ 0 w 245"/>
                  <a:gd name="T1" fmla="*/ 0 h 67"/>
                  <a:gd name="T2" fmla="*/ 2147483646 w 245"/>
                  <a:gd name="T3" fmla="*/ 0 h 67"/>
                  <a:gd name="T4" fmla="*/ 2147483646 w 245"/>
                  <a:gd name="T5" fmla="*/ 2147483646 h 67"/>
                  <a:gd name="T6" fmla="*/ 2147483646 w 245"/>
                  <a:gd name="T7" fmla="*/ 2147483646 h 67"/>
                  <a:gd name="T8" fmla="*/ 2147483646 w 245"/>
                  <a:gd name="T9" fmla="*/ 2147483646 h 67"/>
                  <a:gd name="T10" fmla="*/ 0 w 245"/>
                  <a:gd name="T11" fmla="*/ 2147483646 h 67"/>
                  <a:gd name="T12" fmla="*/ 0 w 245"/>
                  <a:gd name="T13" fmla="*/ 0 h 67"/>
                  <a:gd name="T14" fmla="*/ 0 60000 65536"/>
                  <a:gd name="T15" fmla="*/ 0 60000 65536"/>
                  <a:gd name="T16" fmla="*/ 0 60000 65536"/>
                  <a:gd name="T17" fmla="*/ 0 60000 65536"/>
                  <a:gd name="T18" fmla="*/ 0 60000 65536"/>
                  <a:gd name="T19" fmla="*/ 0 60000 65536"/>
                  <a:gd name="T20" fmla="*/ 0 60000 65536"/>
                  <a:gd name="T21" fmla="*/ 0 w 245"/>
                  <a:gd name="T22" fmla="*/ 0 h 67"/>
                  <a:gd name="T23" fmla="*/ 245 w 245"/>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5" h="67">
                    <a:moveTo>
                      <a:pt x="0" y="0"/>
                    </a:moveTo>
                    <a:lnTo>
                      <a:pt x="229" y="0"/>
                    </a:lnTo>
                    <a:cubicBezTo>
                      <a:pt x="238" y="0"/>
                      <a:pt x="245" y="7"/>
                      <a:pt x="245" y="16"/>
                    </a:cubicBezTo>
                    <a:lnTo>
                      <a:pt x="245" y="67"/>
                    </a:lnTo>
                    <a:lnTo>
                      <a:pt x="16" y="67"/>
                    </a:lnTo>
                    <a:cubicBezTo>
                      <a:pt x="8" y="67"/>
                      <a:pt x="0" y="59"/>
                      <a:pt x="0" y="50"/>
                    </a:cubicBezTo>
                    <a:lnTo>
                      <a:pt x="0" y="0"/>
                    </a:lnTo>
                    <a:close/>
                  </a:path>
                </a:pathLst>
              </a:custGeom>
              <a:solidFill>
                <a:srgbClr val="93C7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7" name="Rectangle 45"/>
              <p:cNvSpPr>
                <a:spLocks noChangeArrowheads="1"/>
              </p:cNvSpPr>
              <p:nvPr/>
            </p:nvSpPr>
            <p:spPr bwMode="auto">
              <a:xfrm>
                <a:off x="2135" y="2693"/>
                <a:ext cx="35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Risk </a:t>
                </a:r>
                <a:endParaRPr lang="en-US" altLang="en-US" sz="2400">
                  <a:latin typeface="Tahoma" panose="020B0604030504040204" pitchFamily="34" charset="0"/>
                </a:endParaRPr>
              </a:p>
            </p:txBody>
          </p:sp>
          <p:sp>
            <p:nvSpPr>
              <p:cNvPr id="28" name="Rectangle 46"/>
              <p:cNvSpPr>
                <a:spLocks noChangeArrowheads="1"/>
              </p:cNvSpPr>
              <p:nvPr/>
            </p:nvSpPr>
            <p:spPr bwMode="auto">
              <a:xfrm>
                <a:off x="2514" y="2693"/>
                <a:ext cx="97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a:solidFill>
                      <a:srgbClr val="24282B"/>
                    </a:solidFill>
                    <a:latin typeface="Tahoma" panose="020B0604030504040204" pitchFamily="34" charset="0"/>
                  </a:rPr>
                  <a:t>management</a:t>
                </a:r>
                <a:endParaRPr lang="en-US" altLang="en-US" sz="2400">
                  <a:latin typeface="Tahoma" panose="020B0604030504040204" pitchFamily="34" charset="0"/>
                </a:endParaRPr>
              </a:p>
            </p:txBody>
          </p:sp>
          <p:sp>
            <p:nvSpPr>
              <p:cNvPr id="29" name="Line 69"/>
              <p:cNvSpPr>
                <a:spLocks noChangeShapeType="1"/>
              </p:cNvSpPr>
              <p:nvPr/>
            </p:nvSpPr>
            <p:spPr bwMode="auto">
              <a:xfrm>
                <a:off x="2752" y="2369"/>
                <a:ext cx="1" cy="162"/>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 name="Freeform 70"/>
              <p:cNvSpPr>
                <a:spLocks/>
              </p:cNvSpPr>
              <p:nvPr/>
            </p:nvSpPr>
            <p:spPr bwMode="auto">
              <a:xfrm>
                <a:off x="2710" y="2445"/>
                <a:ext cx="85" cy="86"/>
              </a:xfrm>
              <a:custGeom>
                <a:avLst/>
                <a:gdLst>
                  <a:gd name="T0" fmla="*/ 42 w 85"/>
                  <a:gd name="T1" fmla="*/ 86 h 86"/>
                  <a:gd name="T2" fmla="*/ 85 w 85"/>
                  <a:gd name="T3" fmla="*/ 0 h 86"/>
                  <a:gd name="T4" fmla="*/ 0 w 85"/>
                  <a:gd name="T5" fmla="*/ 0 h 86"/>
                  <a:gd name="T6" fmla="*/ 42 w 85"/>
                  <a:gd name="T7" fmla="*/ 86 h 86"/>
                  <a:gd name="T8" fmla="*/ 0 60000 65536"/>
                  <a:gd name="T9" fmla="*/ 0 60000 65536"/>
                  <a:gd name="T10" fmla="*/ 0 60000 65536"/>
                  <a:gd name="T11" fmla="*/ 0 60000 65536"/>
                  <a:gd name="T12" fmla="*/ 0 w 85"/>
                  <a:gd name="T13" fmla="*/ 0 h 86"/>
                  <a:gd name="T14" fmla="*/ 85 w 85"/>
                  <a:gd name="T15" fmla="*/ 86 h 86"/>
                </a:gdLst>
                <a:ahLst/>
                <a:cxnLst>
                  <a:cxn ang="T8">
                    <a:pos x="T0" y="T1"/>
                  </a:cxn>
                  <a:cxn ang="T9">
                    <a:pos x="T2" y="T3"/>
                  </a:cxn>
                  <a:cxn ang="T10">
                    <a:pos x="T4" y="T5"/>
                  </a:cxn>
                  <a:cxn ang="T11">
                    <a:pos x="T6" y="T7"/>
                  </a:cxn>
                </a:cxnLst>
                <a:rect l="T12" t="T13" r="T14" b="T15"/>
                <a:pathLst>
                  <a:path w="85" h="86">
                    <a:moveTo>
                      <a:pt x="42" y="86"/>
                    </a:moveTo>
                    <a:lnTo>
                      <a:pt x="85" y="0"/>
                    </a:lnTo>
                    <a:lnTo>
                      <a:pt x="0" y="0"/>
                    </a:lnTo>
                    <a:lnTo>
                      <a:pt x="42" y="86"/>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2" name="Group 81"/>
            <p:cNvGrpSpPr>
              <a:grpSpLocks/>
            </p:cNvGrpSpPr>
            <p:nvPr/>
          </p:nvGrpSpPr>
          <p:grpSpPr bwMode="auto">
            <a:xfrm>
              <a:off x="1920875" y="4911725"/>
              <a:ext cx="2166938" cy="1679575"/>
              <a:chOff x="793" y="3094"/>
              <a:chExt cx="1365" cy="1058"/>
            </a:xfrm>
          </p:grpSpPr>
          <p:sp>
            <p:nvSpPr>
              <p:cNvPr id="20" name="Freeform 57"/>
              <p:cNvSpPr>
                <a:spLocks/>
              </p:cNvSpPr>
              <p:nvPr/>
            </p:nvSpPr>
            <p:spPr bwMode="auto">
              <a:xfrm>
                <a:off x="793" y="3282"/>
                <a:ext cx="1365" cy="870"/>
              </a:xfrm>
              <a:custGeom>
                <a:avLst/>
                <a:gdLst>
                  <a:gd name="T0" fmla="*/ 2147483646 w 160"/>
                  <a:gd name="T1" fmla="*/ 0 h 102"/>
                  <a:gd name="T2" fmla="*/ 2147483646 w 160"/>
                  <a:gd name="T3" fmla="*/ 0 h 102"/>
                  <a:gd name="T4" fmla="*/ 2147483646 w 160"/>
                  <a:gd name="T5" fmla="*/ 2147483646 h 102"/>
                  <a:gd name="T6" fmla="*/ 2147483646 w 160"/>
                  <a:gd name="T7" fmla="*/ 2147483646 h 102"/>
                  <a:gd name="T8" fmla="*/ 2147483646 w 160"/>
                  <a:gd name="T9" fmla="*/ 2147483646 h 102"/>
                  <a:gd name="T10" fmla="*/ 2147483646 w 160"/>
                  <a:gd name="T11" fmla="*/ 2147483646 h 102"/>
                  <a:gd name="T12" fmla="*/ 0 w 160"/>
                  <a:gd name="T13" fmla="*/ 2147483646 h 102"/>
                  <a:gd name="T14" fmla="*/ 0 w 160"/>
                  <a:gd name="T15" fmla="*/ 2147483646 h 102"/>
                  <a:gd name="T16" fmla="*/ 2147483646 w 160"/>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0"/>
                  <a:gd name="T28" fmla="*/ 0 h 102"/>
                  <a:gd name="T29" fmla="*/ 160 w 160"/>
                  <a:gd name="T30" fmla="*/ 102 h 10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0" h="102">
                    <a:moveTo>
                      <a:pt x="8" y="0"/>
                    </a:moveTo>
                    <a:lnTo>
                      <a:pt x="153" y="0"/>
                    </a:lnTo>
                    <a:cubicBezTo>
                      <a:pt x="157" y="0"/>
                      <a:pt x="160" y="4"/>
                      <a:pt x="160" y="8"/>
                    </a:cubicBezTo>
                    <a:lnTo>
                      <a:pt x="160" y="94"/>
                    </a:lnTo>
                    <a:cubicBezTo>
                      <a:pt x="160" y="98"/>
                      <a:pt x="157" y="102"/>
                      <a:pt x="153" y="102"/>
                    </a:cubicBezTo>
                    <a:lnTo>
                      <a:pt x="8" y="102"/>
                    </a:lnTo>
                    <a:cubicBezTo>
                      <a:pt x="4" y="102"/>
                      <a:pt x="0" y="98"/>
                      <a:pt x="0" y="94"/>
                    </a:cubicBezTo>
                    <a:lnTo>
                      <a:pt x="0" y="8"/>
                    </a:lnTo>
                    <a:cubicBezTo>
                      <a:pt x="0" y="4"/>
                      <a:pt x="4" y="0"/>
                      <a:pt x="8" y="0"/>
                    </a:cubicBezTo>
                    <a:close/>
                  </a:path>
                </a:pathLst>
              </a:custGeom>
              <a:solidFill>
                <a:srgbClr val="009E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 name="Rectangle 58"/>
              <p:cNvSpPr>
                <a:spLocks noChangeArrowheads="1"/>
              </p:cNvSpPr>
              <p:nvPr/>
            </p:nvSpPr>
            <p:spPr bwMode="auto">
              <a:xfrm>
                <a:off x="1035" y="3384"/>
                <a:ext cx="92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FFFF"/>
                    </a:solidFill>
                    <a:latin typeface="Tahoma" panose="020B0604030504040204" pitchFamily="34" charset="0"/>
                  </a:rPr>
                  <a:t>Options to </a:t>
                </a:r>
                <a:endParaRPr lang="en-US" altLang="en-US" sz="2400">
                  <a:latin typeface="Tahoma" panose="020B0604030504040204" pitchFamily="34" charset="0"/>
                </a:endParaRPr>
              </a:p>
            </p:txBody>
          </p:sp>
          <p:sp>
            <p:nvSpPr>
              <p:cNvPr id="22" name="Rectangle 59"/>
              <p:cNvSpPr>
                <a:spLocks noChangeArrowheads="1"/>
              </p:cNvSpPr>
              <p:nvPr/>
            </p:nvSpPr>
            <p:spPr bwMode="auto">
              <a:xfrm>
                <a:off x="1163" y="3597"/>
                <a:ext cx="6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FFFF"/>
                    </a:solidFill>
                    <a:latin typeface="Tahoma" panose="020B0604030504040204" pitchFamily="34" charset="0"/>
                  </a:rPr>
                  <a:t>reduce </a:t>
                </a:r>
                <a:endParaRPr lang="en-US" altLang="en-US" sz="2400">
                  <a:latin typeface="Tahoma" panose="020B0604030504040204" pitchFamily="34" charset="0"/>
                </a:endParaRPr>
              </a:p>
            </p:txBody>
          </p:sp>
          <p:sp>
            <p:nvSpPr>
              <p:cNvPr id="23" name="Rectangle 60"/>
              <p:cNvSpPr>
                <a:spLocks noChangeArrowheads="1"/>
              </p:cNvSpPr>
              <p:nvPr/>
            </p:nvSpPr>
            <p:spPr bwMode="auto">
              <a:xfrm>
                <a:off x="1035" y="3802"/>
                <a:ext cx="91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FFFF"/>
                    </a:solidFill>
                    <a:latin typeface="Tahoma" panose="020B0604030504040204" pitchFamily="34" charset="0"/>
                  </a:rPr>
                  <a:t>probability</a:t>
                </a:r>
                <a:endParaRPr lang="en-US" altLang="en-US" sz="2400">
                  <a:latin typeface="Tahoma" panose="020B0604030504040204" pitchFamily="34" charset="0"/>
                </a:endParaRPr>
              </a:p>
            </p:txBody>
          </p:sp>
          <p:sp>
            <p:nvSpPr>
              <p:cNvPr id="24" name="Line 71"/>
              <p:cNvSpPr>
                <a:spLocks noChangeShapeType="1"/>
              </p:cNvSpPr>
              <p:nvPr/>
            </p:nvSpPr>
            <p:spPr bwMode="auto">
              <a:xfrm>
                <a:off x="1941" y="3094"/>
                <a:ext cx="1" cy="171"/>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Freeform 72"/>
              <p:cNvSpPr>
                <a:spLocks/>
              </p:cNvSpPr>
              <p:nvPr/>
            </p:nvSpPr>
            <p:spPr bwMode="auto">
              <a:xfrm>
                <a:off x="1890" y="3171"/>
                <a:ext cx="94" cy="94"/>
              </a:xfrm>
              <a:custGeom>
                <a:avLst/>
                <a:gdLst>
                  <a:gd name="T0" fmla="*/ 51 w 94"/>
                  <a:gd name="T1" fmla="*/ 94 h 94"/>
                  <a:gd name="T2" fmla="*/ 94 w 94"/>
                  <a:gd name="T3" fmla="*/ 0 h 94"/>
                  <a:gd name="T4" fmla="*/ 0 w 94"/>
                  <a:gd name="T5" fmla="*/ 0 h 94"/>
                  <a:gd name="T6" fmla="*/ 51 w 94"/>
                  <a:gd name="T7" fmla="*/ 94 h 94"/>
                  <a:gd name="T8" fmla="*/ 0 60000 65536"/>
                  <a:gd name="T9" fmla="*/ 0 60000 65536"/>
                  <a:gd name="T10" fmla="*/ 0 60000 65536"/>
                  <a:gd name="T11" fmla="*/ 0 60000 65536"/>
                  <a:gd name="T12" fmla="*/ 0 w 94"/>
                  <a:gd name="T13" fmla="*/ 0 h 94"/>
                  <a:gd name="T14" fmla="*/ 94 w 94"/>
                  <a:gd name="T15" fmla="*/ 94 h 94"/>
                </a:gdLst>
                <a:ahLst/>
                <a:cxnLst>
                  <a:cxn ang="T8">
                    <a:pos x="T0" y="T1"/>
                  </a:cxn>
                  <a:cxn ang="T9">
                    <a:pos x="T2" y="T3"/>
                  </a:cxn>
                  <a:cxn ang="T10">
                    <a:pos x="T4" y="T5"/>
                  </a:cxn>
                  <a:cxn ang="T11">
                    <a:pos x="T6" y="T7"/>
                  </a:cxn>
                </a:cxnLst>
                <a:rect l="T12" t="T13" r="T14" b="T15"/>
                <a:pathLst>
                  <a:path w="94" h="94">
                    <a:moveTo>
                      <a:pt x="51" y="94"/>
                    </a:moveTo>
                    <a:lnTo>
                      <a:pt x="94" y="0"/>
                    </a:lnTo>
                    <a:lnTo>
                      <a:pt x="0" y="0"/>
                    </a:lnTo>
                    <a:lnTo>
                      <a:pt x="51" y="94"/>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3" name="Group 82"/>
            <p:cNvGrpSpPr>
              <a:grpSpLocks/>
            </p:cNvGrpSpPr>
            <p:nvPr/>
          </p:nvGrpSpPr>
          <p:grpSpPr bwMode="auto">
            <a:xfrm>
              <a:off x="6242050" y="4918075"/>
              <a:ext cx="2154238" cy="1679575"/>
              <a:chOff x="3515" y="3094"/>
              <a:chExt cx="1357" cy="1058"/>
            </a:xfrm>
          </p:grpSpPr>
          <p:sp>
            <p:nvSpPr>
              <p:cNvPr id="14" name="Freeform 39"/>
              <p:cNvSpPr>
                <a:spLocks/>
              </p:cNvSpPr>
              <p:nvPr/>
            </p:nvSpPr>
            <p:spPr bwMode="auto">
              <a:xfrm>
                <a:off x="3515" y="3282"/>
                <a:ext cx="1357" cy="870"/>
              </a:xfrm>
              <a:custGeom>
                <a:avLst/>
                <a:gdLst>
                  <a:gd name="T0" fmla="*/ 2147483646 w 159"/>
                  <a:gd name="T1" fmla="*/ 0 h 102"/>
                  <a:gd name="T2" fmla="*/ 2147483646 w 159"/>
                  <a:gd name="T3" fmla="*/ 0 h 102"/>
                  <a:gd name="T4" fmla="*/ 2147483646 w 159"/>
                  <a:gd name="T5" fmla="*/ 2147483646 h 102"/>
                  <a:gd name="T6" fmla="*/ 2147483646 w 159"/>
                  <a:gd name="T7" fmla="*/ 2147483646 h 102"/>
                  <a:gd name="T8" fmla="*/ 2147483646 w 159"/>
                  <a:gd name="T9" fmla="*/ 2147483646 h 102"/>
                  <a:gd name="T10" fmla="*/ 2147483646 w 159"/>
                  <a:gd name="T11" fmla="*/ 2147483646 h 102"/>
                  <a:gd name="T12" fmla="*/ 0 w 159"/>
                  <a:gd name="T13" fmla="*/ 2147483646 h 102"/>
                  <a:gd name="T14" fmla="*/ 0 w 159"/>
                  <a:gd name="T15" fmla="*/ 2147483646 h 102"/>
                  <a:gd name="T16" fmla="*/ 2147483646 w 159"/>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102"/>
                  <a:gd name="T29" fmla="*/ 159 w 159"/>
                  <a:gd name="T30" fmla="*/ 102 h 10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102">
                    <a:moveTo>
                      <a:pt x="7" y="0"/>
                    </a:moveTo>
                    <a:lnTo>
                      <a:pt x="152" y="0"/>
                    </a:lnTo>
                    <a:cubicBezTo>
                      <a:pt x="156" y="0"/>
                      <a:pt x="159" y="4"/>
                      <a:pt x="159" y="8"/>
                    </a:cubicBezTo>
                    <a:lnTo>
                      <a:pt x="159" y="94"/>
                    </a:lnTo>
                    <a:cubicBezTo>
                      <a:pt x="159" y="98"/>
                      <a:pt x="156" y="102"/>
                      <a:pt x="152" y="102"/>
                    </a:cubicBezTo>
                    <a:lnTo>
                      <a:pt x="7" y="102"/>
                    </a:lnTo>
                    <a:cubicBezTo>
                      <a:pt x="3" y="102"/>
                      <a:pt x="0" y="98"/>
                      <a:pt x="0" y="94"/>
                    </a:cubicBezTo>
                    <a:lnTo>
                      <a:pt x="0" y="8"/>
                    </a:lnTo>
                    <a:cubicBezTo>
                      <a:pt x="0" y="4"/>
                      <a:pt x="3" y="0"/>
                      <a:pt x="7" y="0"/>
                    </a:cubicBezTo>
                    <a:close/>
                  </a:path>
                </a:pathLst>
              </a:custGeom>
              <a:solidFill>
                <a:srgbClr val="009E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 name="Rectangle 54"/>
              <p:cNvSpPr>
                <a:spLocks noChangeArrowheads="1"/>
              </p:cNvSpPr>
              <p:nvPr/>
            </p:nvSpPr>
            <p:spPr bwMode="auto">
              <a:xfrm>
                <a:off x="3868" y="3597"/>
                <a:ext cx="6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0000"/>
                    </a:solidFill>
                    <a:latin typeface="Tahoma" panose="020B0604030504040204" pitchFamily="34" charset="0"/>
                  </a:rPr>
                  <a:t>reduce </a:t>
                </a:r>
                <a:endParaRPr lang="en-US" altLang="en-US" sz="2400">
                  <a:solidFill>
                    <a:srgbClr val="FF0000"/>
                  </a:solidFill>
                  <a:latin typeface="Tahoma" panose="020B0604030504040204" pitchFamily="34" charset="0"/>
                </a:endParaRPr>
              </a:p>
            </p:txBody>
          </p:sp>
          <p:sp>
            <p:nvSpPr>
              <p:cNvPr id="16" name="Rectangle 55"/>
              <p:cNvSpPr>
                <a:spLocks noChangeArrowheads="1"/>
              </p:cNvSpPr>
              <p:nvPr/>
            </p:nvSpPr>
            <p:spPr bwMode="auto">
              <a:xfrm>
                <a:off x="3610" y="3802"/>
                <a:ext cx="11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0000"/>
                    </a:solidFill>
                    <a:latin typeface="Tahoma" panose="020B0604030504040204" pitchFamily="34" charset="0"/>
                  </a:rPr>
                  <a:t>consequences</a:t>
                </a:r>
                <a:endParaRPr lang="en-US" altLang="en-US" sz="2400">
                  <a:solidFill>
                    <a:srgbClr val="FF0000"/>
                  </a:solidFill>
                  <a:latin typeface="Tahoma" panose="020B0604030504040204" pitchFamily="34" charset="0"/>
                </a:endParaRPr>
              </a:p>
            </p:txBody>
          </p:sp>
          <p:sp>
            <p:nvSpPr>
              <p:cNvPr id="17" name="Rectangle 56"/>
              <p:cNvSpPr>
                <a:spLocks noChangeArrowheads="1"/>
              </p:cNvSpPr>
              <p:nvPr/>
            </p:nvSpPr>
            <p:spPr bwMode="auto">
              <a:xfrm>
                <a:off x="3739" y="3384"/>
                <a:ext cx="92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2100" b="1">
                    <a:solidFill>
                      <a:srgbClr val="FF0000"/>
                    </a:solidFill>
                    <a:latin typeface="Tahoma" panose="020B0604030504040204" pitchFamily="34" charset="0"/>
                  </a:rPr>
                  <a:t>Options to </a:t>
                </a:r>
                <a:endParaRPr lang="en-US" altLang="en-US" sz="2400">
                  <a:solidFill>
                    <a:srgbClr val="FF0000"/>
                  </a:solidFill>
                  <a:latin typeface="Tahoma" panose="020B0604030504040204" pitchFamily="34" charset="0"/>
                </a:endParaRPr>
              </a:p>
            </p:txBody>
          </p:sp>
          <p:sp>
            <p:nvSpPr>
              <p:cNvPr id="18" name="Line 73"/>
              <p:cNvSpPr>
                <a:spLocks noChangeShapeType="1"/>
              </p:cNvSpPr>
              <p:nvPr/>
            </p:nvSpPr>
            <p:spPr bwMode="auto">
              <a:xfrm>
                <a:off x="3691" y="3094"/>
                <a:ext cx="1" cy="171"/>
              </a:xfrm>
              <a:prstGeom prst="line">
                <a:avLst/>
              </a:prstGeom>
              <a:noFill/>
              <a:ln w="0">
                <a:solidFill>
                  <a:srgbClr val="606265"/>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 name="Freeform 74"/>
              <p:cNvSpPr>
                <a:spLocks/>
              </p:cNvSpPr>
              <p:nvPr/>
            </p:nvSpPr>
            <p:spPr bwMode="auto">
              <a:xfrm>
                <a:off x="3648" y="3171"/>
                <a:ext cx="86" cy="94"/>
              </a:xfrm>
              <a:custGeom>
                <a:avLst/>
                <a:gdLst>
                  <a:gd name="T0" fmla="*/ 43 w 86"/>
                  <a:gd name="T1" fmla="*/ 94 h 94"/>
                  <a:gd name="T2" fmla="*/ 86 w 86"/>
                  <a:gd name="T3" fmla="*/ 0 h 94"/>
                  <a:gd name="T4" fmla="*/ 0 w 86"/>
                  <a:gd name="T5" fmla="*/ 0 h 94"/>
                  <a:gd name="T6" fmla="*/ 43 w 86"/>
                  <a:gd name="T7" fmla="*/ 94 h 94"/>
                  <a:gd name="T8" fmla="*/ 0 60000 65536"/>
                  <a:gd name="T9" fmla="*/ 0 60000 65536"/>
                  <a:gd name="T10" fmla="*/ 0 60000 65536"/>
                  <a:gd name="T11" fmla="*/ 0 60000 65536"/>
                  <a:gd name="T12" fmla="*/ 0 w 86"/>
                  <a:gd name="T13" fmla="*/ 0 h 94"/>
                  <a:gd name="T14" fmla="*/ 86 w 86"/>
                  <a:gd name="T15" fmla="*/ 94 h 94"/>
                </a:gdLst>
                <a:ahLst/>
                <a:cxnLst>
                  <a:cxn ang="T8">
                    <a:pos x="T0" y="T1"/>
                  </a:cxn>
                  <a:cxn ang="T9">
                    <a:pos x="T2" y="T3"/>
                  </a:cxn>
                  <a:cxn ang="T10">
                    <a:pos x="T4" y="T5"/>
                  </a:cxn>
                  <a:cxn ang="T11">
                    <a:pos x="T6" y="T7"/>
                  </a:cxn>
                </a:cxnLst>
                <a:rect l="T12" t="T13" r="T14" b="T15"/>
                <a:pathLst>
                  <a:path w="86" h="94">
                    <a:moveTo>
                      <a:pt x="43" y="94"/>
                    </a:moveTo>
                    <a:lnTo>
                      <a:pt x="86" y="0"/>
                    </a:lnTo>
                    <a:lnTo>
                      <a:pt x="0" y="0"/>
                    </a:lnTo>
                    <a:lnTo>
                      <a:pt x="43" y="94"/>
                    </a:lnTo>
                    <a:close/>
                  </a:path>
                </a:pathLst>
              </a:custGeom>
              <a:solidFill>
                <a:srgbClr val="6062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cxnSp>
        <p:nvCxnSpPr>
          <p:cNvPr id="51" name="Straight Arrow Connector 50">
            <a:extLst/>
          </p:cNvPr>
          <p:cNvCxnSpPr/>
          <p:nvPr/>
        </p:nvCxnSpPr>
        <p:spPr>
          <a:xfrm flipV="1">
            <a:off x="9386570" y="4005263"/>
            <a:ext cx="1152525" cy="719137"/>
          </a:xfrm>
          <a:prstGeom prst="straightConnector1">
            <a:avLst/>
          </a:prstGeom>
          <a:ln w="381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36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472184" y="20447"/>
            <a:ext cx="936345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Strategy</a:t>
            </a:r>
            <a:endParaRPr lang="en-GB" altLang="en-US" b="1" dirty="0" smtClean="0"/>
          </a:p>
        </p:txBody>
      </p:sp>
      <p:sp>
        <p:nvSpPr>
          <p:cNvPr id="6" name="Content Placeholder 2">
            <a:extLst/>
          </p:cNvPr>
          <p:cNvSpPr txBox="1">
            <a:spLocks/>
          </p:cNvSpPr>
          <p:nvPr/>
        </p:nvSpPr>
        <p:spPr>
          <a:xfrm>
            <a:off x="1275588" y="1342749"/>
            <a:ext cx="975664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GB" altLang="en-US" dirty="0" smtClean="0"/>
              <a:t>Having identified the risks and the need for a contingency plan, we need to determine the response strategy.</a:t>
            </a:r>
          </a:p>
          <a:p>
            <a:pPr marL="0" indent="0">
              <a:buFont typeface="Arial" panose="020B0604020202020204" pitchFamily="34" charset="0"/>
              <a:buNone/>
              <a:defRPr/>
            </a:pPr>
            <a:endParaRPr lang="en-GB" altLang="en-US" dirty="0" smtClean="0"/>
          </a:p>
          <a:p>
            <a:pPr marL="0" indent="0">
              <a:buFont typeface="Arial" panose="020B0604020202020204" pitchFamily="34" charset="0"/>
              <a:buNone/>
              <a:defRPr/>
            </a:pPr>
            <a:r>
              <a:rPr lang="en-GB" altLang="en-US" dirty="0" smtClean="0"/>
              <a:t>Policy decisions should reflect:</a:t>
            </a:r>
          </a:p>
          <a:p>
            <a:pPr>
              <a:defRPr/>
            </a:pPr>
            <a:r>
              <a:rPr lang="en-GB" altLang="en-US" dirty="0" smtClean="0"/>
              <a:t>local and national civil emergency arrangements</a:t>
            </a:r>
          </a:p>
          <a:p>
            <a:pPr>
              <a:defRPr/>
            </a:pPr>
            <a:r>
              <a:rPr lang="en-GB" altLang="en-US" dirty="0" smtClean="0"/>
              <a:t>bilateral or regional undertakings</a:t>
            </a:r>
            <a:endParaRPr lang="en-GB" altLang="en-US" dirty="0"/>
          </a:p>
        </p:txBody>
      </p:sp>
    </p:spTree>
    <p:extLst>
      <p:ext uri="{BB962C8B-B14F-4D97-AF65-F5344CB8AC3E}">
        <p14:creationId xmlns:p14="http://schemas.microsoft.com/office/powerpoint/2010/main" val="2332505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16736" y="47879"/>
            <a:ext cx="969264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Strategy</a:t>
            </a:r>
            <a:endParaRPr lang="en-GB" altLang="en-US" b="1" dirty="0" smtClean="0"/>
          </a:p>
        </p:txBody>
      </p:sp>
      <p:sp>
        <p:nvSpPr>
          <p:cNvPr id="6" name="Content Placeholder 2">
            <a:extLst/>
          </p:cNvPr>
          <p:cNvSpPr txBox="1">
            <a:spLocks/>
          </p:cNvSpPr>
          <p:nvPr/>
        </p:nvSpPr>
        <p:spPr>
          <a:xfrm>
            <a:off x="822960" y="1160187"/>
            <a:ext cx="1054303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GB" altLang="en-US" dirty="0" smtClean="0"/>
              <a:t>The key policy decision is who leads the response:</a:t>
            </a:r>
          </a:p>
          <a:p>
            <a:pPr>
              <a:defRPr/>
            </a:pPr>
            <a:r>
              <a:rPr lang="en-GB" altLang="en-US" dirty="0" smtClean="0"/>
              <a:t>Government-led </a:t>
            </a:r>
          </a:p>
          <a:p>
            <a:pPr>
              <a:defRPr/>
            </a:pPr>
            <a:r>
              <a:rPr lang="en-GB" altLang="en-US" dirty="0" smtClean="0"/>
              <a:t>Government directing the </a:t>
            </a:r>
            <a:r>
              <a:rPr lang="en-GB" altLang="en-US" dirty="0" err="1" smtClean="0"/>
              <a:t>shipowner</a:t>
            </a:r>
            <a:endParaRPr lang="en-GB" altLang="en-US" dirty="0" smtClean="0"/>
          </a:p>
          <a:p>
            <a:pPr>
              <a:defRPr/>
            </a:pPr>
            <a:r>
              <a:rPr lang="en-GB" altLang="en-US" dirty="0" smtClean="0"/>
              <a:t>Ship/facility owner-led, monitored by government</a:t>
            </a:r>
          </a:p>
          <a:p>
            <a:pPr marL="0" indent="0">
              <a:buFont typeface="Arial" panose="020B0604020202020204" pitchFamily="34" charset="0"/>
              <a:buNone/>
              <a:defRPr/>
            </a:pPr>
            <a:endParaRPr lang="en-GB" altLang="en-US" sz="1200" dirty="0" smtClean="0"/>
          </a:p>
          <a:p>
            <a:pPr marL="0" indent="0">
              <a:buFont typeface="Arial" panose="020B0604020202020204" pitchFamily="34" charset="0"/>
              <a:buNone/>
              <a:defRPr/>
            </a:pPr>
            <a:r>
              <a:rPr lang="en-GB" altLang="en-US" dirty="0" smtClean="0"/>
              <a:t>For the avoidance of doubt the role of government, industry and the </a:t>
            </a:r>
            <a:r>
              <a:rPr lang="en-GB" altLang="en-US" dirty="0" err="1" smtClean="0"/>
              <a:t>shipowner's</a:t>
            </a:r>
            <a:r>
              <a:rPr lang="en-GB" altLang="en-US" dirty="0" smtClean="0"/>
              <a:t> position must be made clear in the national plan</a:t>
            </a:r>
            <a:endParaRPr lang="en-GB" altLang="en-US" dirty="0"/>
          </a:p>
        </p:txBody>
      </p:sp>
    </p:spTree>
    <p:extLst>
      <p:ext uri="{BB962C8B-B14F-4D97-AF65-F5344CB8AC3E}">
        <p14:creationId xmlns:p14="http://schemas.microsoft.com/office/powerpoint/2010/main" val="23394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16736" y="130175"/>
            <a:ext cx="9427464"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Priorities</a:t>
            </a:r>
            <a:endParaRPr lang="en-GB" altLang="en-US" b="1" dirty="0" smtClean="0"/>
          </a:p>
        </p:txBody>
      </p:sp>
      <p:sp>
        <p:nvSpPr>
          <p:cNvPr id="6" name="Content Placeholder 2"/>
          <p:cNvSpPr txBox="1">
            <a:spLocks/>
          </p:cNvSpPr>
          <p:nvPr/>
        </p:nvSpPr>
        <p:spPr>
          <a:xfrm>
            <a:off x="974014" y="1085719"/>
            <a:ext cx="1023213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dirty="0" smtClean="0"/>
              <a:t>Response priorities must be established.</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GB" altLang="en-US" dirty="0" smtClean="0"/>
              <a:t>It is unlikely that all the resources at risk can be protected.</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GB" altLang="en-US" dirty="0" smtClean="0"/>
              <a:t>Vulnerable resources must be ranked according to their importance to the country and local community.</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GB" altLang="en-US" dirty="0" smtClean="0"/>
              <a:t>The desire to protect must take into account the practicalities of defence and protection.</a:t>
            </a:r>
          </a:p>
          <a:p>
            <a:pPr marL="0" indent="0" algn="just">
              <a:buFont typeface="Arial" panose="020B0604020202020204" pitchFamily="34" charset="0"/>
              <a:buNone/>
            </a:pPr>
            <a:endParaRPr lang="en-GB" altLang="en-US" dirty="0" smtClean="0"/>
          </a:p>
        </p:txBody>
      </p:sp>
    </p:spTree>
    <p:extLst>
      <p:ext uri="{BB962C8B-B14F-4D97-AF65-F5344CB8AC3E}">
        <p14:creationId xmlns:p14="http://schemas.microsoft.com/office/powerpoint/2010/main" val="17847500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234440" y="38735"/>
            <a:ext cx="907084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Priorities</a:t>
            </a:r>
            <a:endParaRPr lang="en-GB" altLang="en-US" b="1" dirty="0" smtClean="0"/>
          </a:p>
        </p:txBody>
      </p:sp>
      <p:pic>
        <p:nvPicPr>
          <p:cNvPr id="6" name="Espace réservé du contenu 3" descr="oil port on marina.jpg"/>
          <p:cNvPicPr>
            <a:picLocks noChangeAspect="1" noChangeArrowheads="1"/>
          </p:cNvPicPr>
          <p:nvPr/>
        </p:nvPicPr>
        <p:blipFill>
          <a:blip r:embed="rId2">
            <a:extLst>
              <a:ext uri="{28A0092B-C50C-407E-A947-70E740481C1C}">
                <a14:useLocalDpi xmlns:a14="http://schemas.microsoft.com/office/drawing/2010/main" val="0"/>
              </a:ext>
            </a:extLst>
          </a:blip>
          <a:srcRect t="2397" b="2397"/>
          <a:stretch>
            <a:fillRect/>
          </a:stretch>
        </p:blipFill>
        <p:spPr>
          <a:xfrm>
            <a:off x="1869313" y="1047750"/>
            <a:ext cx="3983038" cy="2525713"/>
          </a:xfrm>
          <a:prstGeom prst="rect">
            <a:avLst/>
          </a:prstGeom>
        </p:spPr>
      </p:pic>
      <p:pic>
        <p:nvPicPr>
          <p:cNvPr id="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0426" y="3516313"/>
            <a:ext cx="3971925"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82588" y="3646488"/>
            <a:ext cx="345281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82588" y="1066800"/>
            <a:ext cx="3443288"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3611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408176" y="20447"/>
            <a:ext cx="940003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Priorities</a:t>
            </a:r>
            <a:endParaRPr lang="en-GB" altLang="en-US" b="1" dirty="0" smtClean="0"/>
          </a:p>
        </p:txBody>
      </p:sp>
      <p:sp>
        <p:nvSpPr>
          <p:cNvPr id="6" name="Content Placeholder 2"/>
          <p:cNvSpPr txBox="1">
            <a:spLocks/>
          </p:cNvSpPr>
          <p:nvPr/>
        </p:nvSpPr>
        <p:spPr>
          <a:xfrm>
            <a:off x="1070026" y="1447546"/>
            <a:ext cx="1004011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dirty="0" smtClean="0"/>
              <a:t>The response priorities are for guidance.</a:t>
            </a:r>
          </a:p>
          <a:p>
            <a:pPr marL="0" indent="0" algn="just">
              <a:buFont typeface="Arial" panose="020B0604020202020204" pitchFamily="34" charset="0"/>
              <a:buNone/>
            </a:pPr>
            <a:r>
              <a:rPr lang="en-GB" altLang="en-US" dirty="0" smtClean="0"/>
              <a:t>They must be adaptable to the circumstances of the incident.</a:t>
            </a:r>
          </a:p>
          <a:p>
            <a:pPr marL="0" indent="0" algn="just">
              <a:buFont typeface="Arial" panose="020B0604020202020204" pitchFamily="34" charset="0"/>
              <a:buNone/>
            </a:pPr>
            <a:r>
              <a:rPr lang="en-GB" altLang="en-US" dirty="0" smtClean="0"/>
              <a:t>Any seasonal variations must be considered.</a:t>
            </a:r>
          </a:p>
          <a:p>
            <a:pPr marL="0" indent="0" algn="just">
              <a:buFont typeface="Arial" panose="020B0604020202020204" pitchFamily="34" charset="0"/>
              <a:buNone/>
            </a:pPr>
            <a:r>
              <a:rPr lang="en-GB" altLang="en-US" dirty="0" smtClean="0"/>
              <a:t>Sensitivity maps should be annotated with any known seasonal variances. </a:t>
            </a:r>
          </a:p>
          <a:p>
            <a:pPr marL="0" indent="0" algn="just">
              <a:buFont typeface="Arial" panose="020B0604020202020204" pitchFamily="34" charset="0"/>
              <a:buNone/>
            </a:pPr>
            <a:endParaRPr lang="en-GB" altLang="en-US" dirty="0" smtClean="0"/>
          </a:p>
        </p:txBody>
      </p:sp>
    </p:spTree>
    <p:extLst>
      <p:ext uri="{BB962C8B-B14F-4D97-AF65-F5344CB8AC3E}">
        <p14:creationId xmlns:p14="http://schemas.microsoft.com/office/powerpoint/2010/main" val="16076191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371600" y="0"/>
            <a:ext cx="950976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algn="ctr" defTabSz="912813"/>
            <a:r>
              <a:rPr lang="en-GB" altLang="en-US" b="1" dirty="0" smtClean="0"/>
              <a:t>Management Objectives</a:t>
            </a:r>
            <a:endParaRPr lang="en-GB" altLang="en-US" b="1" dirty="0" smtClean="0"/>
          </a:p>
        </p:txBody>
      </p:sp>
      <p:sp>
        <p:nvSpPr>
          <p:cNvPr id="6" name="Rectangle 3"/>
          <p:cNvSpPr txBox="1">
            <a:spLocks/>
          </p:cNvSpPr>
          <p:nvPr/>
        </p:nvSpPr>
        <p:spPr>
          <a:xfrm>
            <a:off x="2697480" y="1246378"/>
            <a:ext cx="9884664"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2813">
              <a:buFont typeface="Arial" panose="020B0604020202020204" pitchFamily="34" charset="0"/>
              <a:buNone/>
            </a:pPr>
            <a:r>
              <a:rPr lang="en-GB" altLang="en-US" sz="3200" dirty="0" smtClean="0"/>
              <a:t>Performance targets:</a:t>
            </a:r>
          </a:p>
          <a:p>
            <a:pPr lvl="1" defTabSz="912813"/>
            <a:r>
              <a:rPr lang="en-GB" altLang="en-US" sz="2800" dirty="0" smtClean="0"/>
              <a:t>Operations at sea</a:t>
            </a:r>
          </a:p>
          <a:p>
            <a:pPr lvl="1" defTabSz="912813"/>
            <a:r>
              <a:rPr lang="en-GB" altLang="en-US" sz="2800" dirty="0" smtClean="0"/>
              <a:t>Shoreline clean-up</a:t>
            </a:r>
          </a:p>
          <a:p>
            <a:pPr lvl="1" defTabSz="912813"/>
            <a:r>
              <a:rPr lang="en-GB" altLang="en-US" sz="2800" dirty="0" smtClean="0"/>
              <a:t>Waste management</a:t>
            </a:r>
          </a:p>
          <a:p>
            <a:pPr defTabSz="912813">
              <a:buFont typeface="Arial" panose="020B0604020202020204" pitchFamily="34" charset="0"/>
              <a:buNone/>
            </a:pPr>
            <a:r>
              <a:rPr lang="en-GB" altLang="en-US" sz="3200" dirty="0" smtClean="0"/>
              <a:t>Who assesses performance?</a:t>
            </a:r>
          </a:p>
          <a:p>
            <a:pPr defTabSz="912813">
              <a:buFont typeface="Arial" panose="020B0604020202020204" pitchFamily="34" charset="0"/>
              <a:buNone/>
            </a:pPr>
            <a:r>
              <a:rPr lang="en-GB" altLang="en-US" sz="3200" dirty="0" smtClean="0"/>
              <a:t>Management issues?</a:t>
            </a:r>
          </a:p>
          <a:p>
            <a:pPr defTabSz="912813">
              <a:buFont typeface="Arial" panose="020B0604020202020204" pitchFamily="34" charset="0"/>
              <a:buNone/>
            </a:pPr>
            <a:r>
              <a:rPr lang="en-GB" altLang="en-US" sz="3200" dirty="0" smtClean="0"/>
              <a:t>Response objectives: how clean is </a:t>
            </a:r>
            <a:r>
              <a:rPr lang="ja-JP" altLang="en-GB" sz="3200" dirty="0" smtClean="0"/>
              <a:t>“</a:t>
            </a:r>
            <a:r>
              <a:rPr lang="en-GB" altLang="ja-JP" sz="3200" dirty="0" smtClean="0"/>
              <a:t>clean</a:t>
            </a:r>
            <a:r>
              <a:rPr lang="ja-JP" altLang="en-GB" sz="3200" dirty="0" smtClean="0"/>
              <a:t>”</a:t>
            </a:r>
            <a:r>
              <a:rPr lang="en-GB" altLang="ja-JP" sz="3200" dirty="0" smtClean="0"/>
              <a:t>?</a:t>
            </a:r>
          </a:p>
          <a:p>
            <a:pPr defTabSz="912813"/>
            <a:endParaRPr lang="en-GB" altLang="en-US" sz="3200" dirty="0" smtClean="0"/>
          </a:p>
        </p:txBody>
      </p:sp>
    </p:spTree>
    <p:extLst>
      <p:ext uri="{BB962C8B-B14F-4D97-AF65-F5344CB8AC3E}">
        <p14:creationId xmlns:p14="http://schemas.microsoft.com/office/powerpoint/2010/main" val="18002195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1060704" y="1190901"/>
            <a:ext cx="1012240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125" indent="-280988" algn="just" defTabSz="912813"/>
            <a:r>
              <a:rPr lang="en-GB" altLang="en-US" dirty="0" smtClean="0"/>
              <a:t>What aerial reconnaissance, surveillance and aerial coordination resources are available?</a:t>
            </a:r>
          </a:p>
          <a:p>
            <a:pPr marL="365125" indent="-280988" algn="just" defTabSz="912813"/>
            <a:r>
              <a:rPr lang="en-GB" altLang="en-US" dirty="0" smtClean="0"/>
              <a:t>Effectiveness of mechanical recovery in current and forecast weather and sea conditions</a:t>
            </a:r>
          </a:p>
          <a:p>
            <a:pPr marL="365125" indent="-280988" algn="just" defTabSz="912813"/>
            <a:r>
              <a:rPr lang="en-GB" altLang="en-US" dirty="0" smtClean="0"/>
              <a:t>Is there a policy on dispersant use?</a:t>
            </a:r>
          </a:p>
          <a:p>
            <a:pPr marL="365125" indent="-280988" algn="just" defTabSz="912813"/>
            <a:r>
              <a:rPr lang="en-GB" altLang="en-US" dirty="0" smtClean="0"/>
              <a:t>Is there a policy on in situ burning?</a:t>
            </a:r>
          </a:p>
          <a:p>
            <a:pPr marL="365125" indent="-280988" algn="just" defTabSz="912813"/>
            <a:r>
              <a:rPr lang="en-GB" altLang="en-US" dirty="0" smtClean="0"/>
              <a:t>Is there a </a:t>
            </a:r>
            <a:r>
              <a:rPr lang="ja-JP" altLang="en-GB" dirty="0" smtClean="0"/>
              <a:t>“</a:t>
            </a:r>
            <a:r>
              <a:rPr lang="en-GB" altLang="ja-JP" dirty="0" smtClean="0"/>
              <a:t>correct</a:t>
            </a:r>
            <a:r>
              <a:rPr lang="ja-JP" altLang="en-GB" dirty="0" smtClean="0"/>
              <a:t>”</a:t>
            </a:r>
            <a:r>
              <a:rPr lang="en-GB" altLang="ja-JP" dirty="0" smtClean="0"/>
              <a:t> option?</a:t>
            </a:r>
            <a:endParaRPr lang="en-GB" altLang="en-US" dirty="0" smtClean="0"/>
          </a:p>
        </p:txBody>
      </p:sp>
      <p:sp>
        <p:nvSpPr>
          <p:cNvPr id="6" name="Rectangle 2"/>
          <p:cNvSpPr txBox="1">
            <a:spLocks/>
          </p:cNvSpPr>
          <p:nvPr/>
        </p:nvSpPr>
        <p:spPr>
          <a:xfrm>
            <a:off x="1325880" y="49724"/>
            <a:ext cx="940917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Operations at Sea</a:t>
            </a:r>
            <a:endParaRPr lang="en-GB" altLang="en-US" b="1" dirty="0" smtClean="0"/>
          </a:p>
        </p:txBody>
      </p:sp>
    </p:spTree>
    <p:extLst>
      <p:ext uri="{BB962C8B-B14F-4D97-AF65-F5344CB8AC3E}">
        <p14:creationId xmlns:p14="http://schemas.microsoft.com/office/powerpoint/2010/main" val="904729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a:extLst/>
          </p:cNvPr>
          <p:cNvSpPr txBox="1">
            <a:spLocks noChangeArrowheads="1"/>
          </p:cNvSpPr>
          <p:nvPr/>
        </p:nvSpPr>
        <p:spPr>
          <a:xfrm>
            <a:off x="859536" y="1160187"/>
            <a:ext cx="9994392" cy="5218113"/>
          </a:xfrm>
          <a:prstGeom prst="rect">
            <a:avLst/>
          </a:prstGeom>
          <a:ex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125" indent="-280988" algn="just" defTabSz="912813">
              <a:defRPr/>
            </a:pPr>
            <a:r>
              <a:rPr lang="en-GB" altLang="en-US" dirty="0" smtClean="0"/>
              <a:t>Is there sufficient equipment?</a:t>
            </a:r>
          </a:p>
          <a:p>
            <a:pPr marL="365125" indent="-280988" algn="just" defTabSz="912813">
              <a:defRPr/>
            </a:pPr>
            <a:r>
              <a:rPr lang="en-GB" altLang="en-US" dirty="0" smtClean="0"/>
              <a:t>Are there sufficient trained and experienced response personnel? </a:t>
            </a:r>
          </a:p>
          <a:p>
            <a:pPr marL="365125" indent="-280988" algn="just" defTabSz="912813">
              <a:defRPr/>
            </a:pPr>
            <a:r>
              <a:rPr lang="en-GB" altLang="en-US" dirty="0" smtClean="0"/>
              <a:t>Is the performance of equipment acceptable?</a:t>
            </a:r>
          </a:p>
          <a:p>
            <a:pPr marL="365125" indent="-280988" algn="just" defTabSz="912813">
              <a:defRPr/>
            </a:pPr>
            <a:r>
              <a:rPr lang="en-GB" altLang="en-US" dirty="0" smtClean="0"/>
              <a:t>Are there suitable vessels available?</a:t>
            </a:r>
          </a:p>
          <a:p>
            <a:pPr marL="365125" indent="-280988" algn="just" defTabSz="912813">
              <a:defRPr/>
            </a:pPr>
            <a:r>
              <a:rPr lang="en-GB" altLang="en-US" dirty="0" smtClean="0"/>
              <a:t>Logistical challenges of keeping vessels at</a:t>
            </a:r>
            <a:r>
              <a:rPr lang="en-GB" altLang="en-US" dirty="0" smtClean="0">
                <a:highlight>
                  <a:srgbClr val="FFFF00"/>
                </a:highlight>
              </a:rPr>
              <a:t> </a:t>
            </a:r>
            <a:r>
              <a:rPr lang="en-GB" altLang="en-US" dirty="0" smtClean="0"/>
              <a:t>sea</a:t>
            </a:r>
          </a:p>
          <a:p>
            <a:pPr marL="365125" indent="-280988" algn="just" defTabSz="912813">
              <a:defRPr/>
            </a:pPr>
            <a:r>
              <a:rPr lang="en-GB" altLang="en-US" dirty="0" smtClean="0"/>
              <a:t>When to seek external assistance bearing in mind the mobilization time?</a:t>
            </a:r>
            <a:endParaRPr lang="en-GB" altLang="en-US" dirty="0"/>
          </a:p>
        </p:txBody>
      </p:sp>
      <p:sp>
        <p:nvSpPr>
          <p:cNvPr id="6" name="Rectangle 2"/>
          <p:cNvSpPr txBox="1">
            <a:spLocks/>
          </p:cNvSpPr>
          <p:nvPr/>
        </p:nvSpPr>
        <p:spPr>
          <a:xfrm>
            <a:off x="1545336" y="84455"/>
            <a:ext cx="941832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Operations at Sea</a:t>
            </a:r>
            <a:endParaRPr lang="en-GB" altLang="en-US" b="1" dirty="0" smtClean="0"/>
          </a:p>
        </p:txBody>
      </p:sp>
    </p:spTree>
    <p:extLst>
      <p:ext uri="{BB962C8B-B14F-4D97-AF65-F5344CB8AC3E}">
        <p14:creationId xmlns:p14="http://schemas.microsoft.com/office/powerpoint/2010/main" val="235376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792224" y="13017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b="1" dirty="0" smtClean="0"/>
              <a:t>Operations at Sea</a:t>
            </a:r>
            <a:endParaRPr lang="en-CA" altLang="en-US" b="1" dirty="0" smtClean="0"/>
          </a:p>
        </p:txBody>
      </p:sp>
      <p:pic>
        <p:nvPicPr>
          <p:cNvPr id="6" name="Content Placeholder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91512" y="1004950"/>
            <a:ext cx="7766304" cy="5156842"/>
          </a:xfrm>
          <a:prstGeom prst="rect">
            <a:avLst/>
          </a:prstGeom>
        </p:spPr>
      </p:pic>
    </p:spTree>
    <p:extLst>
      <p:ext uri="{BB962C8B-B14F-4D97-AF65-F5344CB8AC3E}">
        <p14:creationId xmlns:p14="http://schemas.microsoft.com/office/powerpoint/2010/main" val="35847644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6866" name="Rectangle 3"/>
          <p:cNvSpPr>
            <a:spLocks noGrp="1"/>
          </p:cNvSpPr>
          <p:nvPr>
            <p:ph idx="1"/>
          </p:nvPr>
        </p:nvSpPr>
        <p:spPr>
          <a:xfrm>
            <a:off x="755904" y="1396790"/>
            <a:ext cx="10515600" cy="4351338"/>
          </a:xfrm>
        </p:spPr>
        <p:txBody>
          <a:bodyPr/>
          <a:lstStyle/>
          <a:p>
            <a:pPr defTabSz="912813"/>
            <a:r>
              <a:rPr lang="en-GB" altLang="en-US" dirty="0" smtClean="0"/>
              <a:t>Experience of past spills as a measure of what can be expected</a:t>
            </a:r>
          </a:p>
          <a:p>
            <a:pPr defTabSz="912813"/>
            <a:r>
              <a:rPr lang="en-GB" altLang="en-US" dirty="0" smtClean="0"/>
              <a:t>Determining the need for clean-up – and to what extent</a:t>
            </a:r>
          </a:p>
          <a:p>
            <a:pPr defTabSz="912813"/>
            <a:r>
              <a:rPr lang="en-GB" altLang="en-US" dirty="0" smtClean="0"/>
              <a:t>Setting priorities</a:t>
            </a:r>
          </a:p>
          <a:p>
            <a:pPr defTabSz="912813"/>
            <a:r>
              <a:rPr lang="en-GB" altLang="en-US" dirty="0" smtClean="0"/>
              <a:t>Selecting appropriate techniques</a:t>
            </a:r>
          </a:p>
          <a:p>
            <a:pPr defTabSz="912813"/>
            <a:r>
              <a:rPr lang="en-GB" altLang="en-US" dirty="0" smtClean="0"/>
              <a:t>Setting and monitoring targets</a:t>
            </a:r>
          </a:p>
          <a:p>
            <a:pPr defTabSz="912813"/>
            <a:r>
              <a:rPr lang="en-GB" altLang="en-US" dirty="0" smtClean="0"/>
              <a:t>Safe working conditions</a:t>
            </a:r>
          </a:p>
          <a:p>
            <a:pPr defTabSz="912813"/>
            <a:r>
              <a:rPr lang="en-GB" altLang="en-US" dirty="0" smtClean="0"/>
              <a:t>Termination criteria</a:t>
            </a:r>
          </a:p>
        </p:txBody>
      </p:sp>
      <p:sp>
        <p:nvSpPr>
          <p:cNvPr id="36867"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Shoreline </a:t>
            </a:r>
            <a:r>
              <a:rPr lang="en-GB" altLang="en-US" b="1" dirty="0" smtClean="0"/>
              <a:t>Clean-up</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05393186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0962"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Clean-up </a:t>
            </a:r>
            <a:r>
              <a:rPr lang="en-GB" altLang="en-US" b="1" dirty="0" smtClean="0"/>
              <a:t>Objectives</a:t>
            </a:r>
            <a:endParaRPr lang="en-GB" altLang="en-US" b="1" dirty="0" smtClean="0"/>
          </a:p>
        </p:txBody>
      </p:sp>
      <p:sp>
        <p:nvSpPr>
          <p:cNvPr id="46082" name="Rectangle 3">
            <a:extLst/>
          </p:cNvPr>
          <p:cNvSpPr>
            <a:spLocks noGrp="1" noChangeArrowheads="1"/>
          </p:cNvSpPr>
          <p:nvPr>
            <p:ph idx="1"/>
          </p:nvPr>
        </p:nvSpPr>
        <p:spPr>
          <a:xfrm>
            <a:off x="1185672" y="1286129"/>
            <a:ext cx="10515600" cy="4351338"/>
          </a:xfrm>
        </p:spPr>
        <p:txBody>
          <a:bodyPr/>
          <a:lstStyle/>
          <a:p>
            <a:pPr defTabSz="912813">
              <a:lnSpc>
                <a:spcPct val="110000"/>
              </a:lnSpc>
              <a:spcBef>
                <a:spcPct val="50000"/>
              </a:spcBef>
              <a:buFont typeface="Arial" charset="0"/>
              <a:buChar char="•"/>
              <a:defRPr/>
            </a:pPr>
            <a:r>
              <a:rPr lang="en-GB" dirty="0">
                <a:ea typeface="+mn-ea"/>
              </a:rPr>
              <a:t>Restore environment to a pristine level?</a:t>
            </a:r>
          </a:p>
          <a:p>
            <a:pPr defTabSz="912813">
              <a:lnSpc>
                <a:spcPct val="110000"/>
              </a:lnSpc>
              <a:spcBef>
                <a:spcPct val="50000"/>
              </a:spcBef>
              <a:buFont typeface="Arial" charset="0"/>
              <a:buChar char="•"/>
              <a:defRPr/>
            </a:pPr>
            <a:r>
              <a:rPr lang="en-GB" dirty="0">
                <a:ea typeface="+mn-ea"/>
              </a:rPr>
              <a:t>Restore environment to its pre-spill use?</a:t>
            </a:r>
          </a:p>
          <a:p>
            <a:pPr defTabSz="912813">
              <a:lnSpc>
                <a:spcPct val="110000"/>
              </a:lnSpc>
              <a:spcBef>
                <a:spcPct val="50000"/>
              </a:spcBef>
              <a:buFont typeface="Arial" charset="0"/>
              <a:buChar char="•"/>
              <a:defRPr/>
            </a:pPr>
            <a:r>
              <a:rPr lang="en-GB" dirty="0">
                <a:ea typeface="+mn-ea"/>
              </a:rPr>
              <a:t>Leave it alone?</a:t>
            </a:r>
          </a:p>
          <a:p>
            <a:pPr marL="0" indent="0" defTabSz="912813">
              <a:lnSpc>
                <a:spcPct val="110000"/>
              </a:lnSpc>
              <a:spcBef>
                <a:spcPct val="50000"/>
              </a:spcBef>
              <a:buNone/>
              <a:defRPr/>
            </a:pPr>
            <a:r>
              <a:rPr lang="en-GB" dirty="0">
                <a:ea typeface="+mn-ea"/>
              </a:rPr>
              <a:t>Pre-spill condition data is very useful as a benchmark </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80545753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dirty="0">
              <a:solidFill>
                <a:schemeClr val="tx1"/>
              </a:solidFill>
            </a:endParaRPr>
          </a:p>
        </p:txBody>
      </p:sp>
      <p:sp>
        <p:nvSpPr>
          <p:cNvPr id="38914" name="Rectangle 2"/>
          <p:cNvSpPr>
            <a:spLocks noGrp="1"/>
          </p:cNvSpPr>
          <p:nvPr>
            <p:ph type="title"/>
          </p:nvPr>
        </p:nvSpPr>
        <p:spPr>
          <a:xfrm>
            <a:off x="1981200" y="130176"/>
            <a:ext cx="8229600" cy="561975"/>
          </a:xfrm>
        </p:spPr>
        <p:txBody>
          <a:bodyPr>
            <a:normAutofit fontScale="90000"/>
          </a:bodyPr>
          <a:lstStyle/>
          <a:p>
            <a:pPr algn="ctr"/>
            <a:r>
              <a:rPr lang="en-GB" altLang="en-US" b="1" dirty="0" smtClean="0"/>
              <a:t>Shoreline Clean-Up</a:t>
            </a:r>
            <a:endParaRPr lang="en-GB" altLang="en-US" sz="4000" b="1" dirty="0"/>
          </a:p>
        </p:txBody>
      </p:sp>
      <p:grpSp>
        <p:nvGrpSpPr>
          <p:cNvPr id="38915" name="Group 10"/>
          <p:cNvGrpSpPr>
            <a:grpSpLocks/>
          </p:cNvGrpSpPr>
          <p:nvPr/>
        </p:nvGrpSpPr>
        <p:grpSpPr bwMode="auto">
          <a:xfrm>
            <a:off x="1847851" y="1304926"/>
            <a:ext cx="4824413" cy="4359275"/>
            <a:chOff x="323850" y="2133600"/>
            <a:chExt cx="4824413" cy="4359335"/>
          </a:xfrm>
        </p:grpSpPr>
        <p:sp>
          <p:nvSpPr>
            <p:cNvPr id="38917" name="Line 4"/>
            <p:cNvSpPr>
              <a:spLocks noChangeShapeType="1"/>
            </p:cNvSpPr>
            <p:nvPr/>
          </p:nvSpPr>
          <p:spPr bwMode="auto">
            <a:xfrm flipV="1">
              <a:off x="827088" y="2133600"/>
              <a:ext cx="0" cy="3887788"/>
            </a:xfrm>
            <a:prstGeom prst="line">
              <a:avLst/>
            </a:prstGeom>
            <a:noFill/>
            <a:ln w="38100">
              <a:solidFill>
                <a:srgbClr val="1C1C1C"/>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8918" name="Line 5"/>
            <p:cNvSpPr>
              <a:spLocks noChangeShapeType="1"/>
            </p:cNvSpPr>
            <p:nvPr/>
          </p:nvSpPr>
          <p:spPr bwMode="auto">
            <a:xfrm>
              <a:off x="827088" y="6021388"/>
              <a:ext cx="4321175" cy="0"/>
            </a:xfrm>
            <a:prstGeom prst="line">
              <a:avLst/>
            </a:prstGeom>
            <a:noFill/>
            <a:ln w="38100">
              <a:solidFill>
                <a:srgbClr val="1C1C1C"/>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8919" name="Text Box 6"/>
            <p:cNvSpPr txBox="1">
              <a:spLocks noChangeArrowheads="1"/>
            </p:cNvSpPr>
            <p:nvPr/>
          </p:nvSpPr>
          <p:spPr bwMode="auto">
            <a:xfrm>
              <a:off x="1763713" y="6092825"/>
              <a:ext cx="20315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GB" altLang="en-US" sz="2000" b="1" i="1">
                  <a:solidFill>
                    <a:srgbClr val="1C1C1C"/>
                  </a:solidFill>
                  <a:latin typeface="Arial" panose="020B0604020202020204" pitchFamily="34" charset="0"/>
                </a:rPr>
                <a:t>Clean-up Effort</a:t>
              </a:r>
            </a:p>
          </p:txBody>
        </p:sp>
        <p:sp>
          <p:nvSpPr>
            <p:cNvPr id="38920" name="Text Box 7"/>
            <p:cNvSpPr txBox="1">
              <a:spLocks noChangeArrowheads="1"/>
            </p:cNvSpPr>
            <p:nvPr/>
          </p:nvSpPr>
          <p:spPr bwMode="auto">
            <a:xfrm rot="-5400000">
              <a:off x="-588168" y="4053681"/>
              <a:ext cx="2220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GB" altLang="en-US" sz="2000" b="1" i="1">
                  <a:solidFill>
                    <a:srgbClr val="1C1C1C"/>
                  </a:solidFill>
                  <a:latin typeface="Arial" panose="020B0604020202020204" pitchFamily="34" charset="0"/>
                </a:rPr>
                <a:t>Oil Recovered</a:t>
              </a:r>
            </a:p>
          </p:txBody>
        </p:sp>
        <p:sp>
          <p:nvSpPr>
            <p:cNvPr id="38921" name="Arc 8"/>
            <p:cNvSpPr>
              <a:spLocks/>
            </p:cNvSpPr>
            <p:nvPr/>
          </p:nvSpPr>
          <p:spPr bwMode="auto">
            <a:xfrm rot="10800000">
              <a:off x="1331913" y="2781300"/>
              <a:ext cx="1800225" cy="2657475"/>
            </a:xfrm>
            <a:custGeom>
              <a:avLst/>
              <a:gdLst>
                <a:gd name="T0" fmla="*/ 2147483646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36" y="0"/>
                  </a:moveTo>
                  <a:cubicBezTo>
                    <a:pt x="11951" y="20"/>
                    <a:pt x="21600" y="9685"/>
                    <a:pt x="21600" y="21600"/>
                  </a:cubicBezTo>
                </a:path>
                <a:path w="21600" h="21600" stroke="0" extrusionOk="0">
                  <a:moveTo>
                    <a:pt x="36" y="0"/>
                  </a:moveTo>
                  <a:cubicBezTo>
                    <a:pt x="11951" y="20"/>
                    <a:pt x="21600" y="9685"/>
                    <a:pt x="21600" y="21600"/>
                  </a:cubicBezTo>
                  <a:lnTo>
                    <a:pt x="0" y="21600"/>
                  </a:lnTo>
                  <a:lnTo>
                    <a:pt x="36" y="0"/>
                  </a:lnTo>
                  <a:close/>
                </a:path>
              </a:pathLst>
            </a:cu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922" name="Line 9"/>
            <p:cNvSpPr>
              <a:spLocks noChangeShapeType="1"/>
            </p:cNvSpPr>
            <p:nvPr/>
          </p:nvSpPr>
          <p:spPr bwMode="auto">
            <a:xfrm>
              <a:off x="3059113" y="5445125"/>
              <a:ext cx="144145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38916" name="Rectangle 3"/>
          <p:cNvSpPr>
            <a:spLocks noChangeArrowheads="1"/>
          </p:cNvSpPr>
          <p:nvPr/>
        </p:nvSpPr>
        <p:spPr bwMode="auto">
          <a:xfrm>
            <a:off x="6708775" y="908051"/>
            <a:ext cx="3708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92163" indent="-30480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r>
              <a:rPr lang="en-GB" altLang="en-US" sz="2800" dirty="0"/>
              <a:t>Recovery of high </a:t>
            </a:r>
            <a:r>
              <a:rPr lang="en-GB" altLang="en-US" sz="2800" dirty="0">
                <a:latin typeface="+mj-lt"/>
              </a:rPr>
              <a:t>volumes</a:t>
            </a:r>
            <a:r>
              <a:rPr lang="en-GB" altLang="en-US" sz="2800" dirty="0"/>
              <a:t> of oil in the beginning</a:t>
            </a:r>
          </a:p>
          <a:p>
            <a:pPr eaLnBrk="1" hangingPunct="1">
              <a:spcBef>
                <a:spcPct val="0"/>
              </a:spcBef>
            </a:pPr>
            <a:endParaRPr lang="en-GB" altLang="en-US" sz="2800" dirty="0"/>
          </a:p>
          <a:p>
            <a:pPr eaLnBrk="1" hangingPunct="1">
              <a:spcBef>
                <a:spcPct val="0"/>
              </a:spcBef>
            </a:pPr>
            <a:r>
              <a:rPr lang="en-GB" altLang="en-US" sz="2800" dirty="0"/>
              <a:t>As clean-up progresses quantities are decreasing</a:t>
            </a:r>
          </a:p>
          <a:p>
            <a:pPr lvl="1" eaLnBrk="1" hangingPunct="1">
              <a:spcBef>
                <a:spcPct val="0"/>
              </a:spcBef>
              <a:buSzPct val="75000"/>
              <a:buFont typeface="Courier New" panose="02070309020205020404" pitchFamily="49" charset="0"/>
              <a:buChar char="o"/>
            </a:pPr>
            <a:endParaRPr lang="en-GB" altLang="en-US" dirty="0"/>
          </a:p>
          <a:p>
            <a:pPr eaLnBrk="1" hangingPunct="1">
              <a:spcBef>
                <a:spcPct val="0"/>
              </a:spcBef>
            </a:pPr>
            <a:r>
              <a:rPr lang="en-GB" altLang="en-US" sz="2800" dirty="0"/>
              <a:t>At some point the efforts to remove oil are disproportionate to the benefits.</a:t>
            </a:r>
          </a:p>
        </p:txBody>
      </p:sp>
      <p:sp>
        <p:nvSpPr>
          <p:cNvPr id="11"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solidFill>
                  <a:schemeClr val="tx1"/>
                </a:solidFill>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34387822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3010" name="Rectangle 3"/>
          <p:cNvSpPr>
            <a:spLocks noGrp="1"/>
          </p:cNvSpPr>
          <p:nvPr>
            <p:ph idx="1"/>
          </p:nvPr>
        </p:nvSpPr>
        <p:spPr>
          <a:xfrm>
            <a:off x="1843089" y="908051"/>
            <a:ext cx="8505825" cy="5218113"/>
          </a:xfrm>
        </p:spPr>
        <p:txBody>
          <a:bodyPr/>
          <a:lstStyle/>
          <a:p>
            <a:pPr defTabSz="912813"/>
            <a:r>
              <a:rPr lang="en-GB" altLang="en-US" dirty="0" smtClean="0"/>
              <a:t>Is waste segregation effective?</a:t>
            </a:r>
          </a:p>
          <a:p>
            <a:pPr defTabSz="912813"/>
            <a:r>
              <a:rPr lang="en-GB" altLang="en-US" dirty="0" smtClean="0"/>
              <a:t>Are there sufficient means of transport?</a:t>
            </a:r>
          </a:p>
          <a:p>
            <a:pPr defTabSz="912813"/>
            <a:r>
              <a:rPr lang="en-GB" altLang="en-US" dirty="0" smtClean="0"/>
              <a:t>Are </a:t>
            </a:r>
            <a:r>
              <a:rPr lang="ja-JP" altLang="en-GB" dirty="0" smtClean="0"/>
              <a:t>“</a:t>
            </a:r>
            <a:r>
              <a:rPr lang="en-GB" altLang="ja-JP" dirty="0" smtClean="0"/>
              <a:t>clean</a:t>
            </a:r>
            <a:r>
              <a:rPr lang="ja-JP" altLang="en-GB" dirty="0" smtClean="0"/>
              <a:t>”</a:t>
            </a:r>
            <a:r>
              <a:rPr lang="en-GB" altLang="ja-JP" dirty="0" smtClean="0"/>
              <a:t> wastes being reused?</a:t>
            </a:r>
          </a:p>
          <a:p>
            <a:pPr defTabSz="912813"/>
            <a:r>
              <a:rPr lang="en-GB" altLang="en-US" dirty="0" smtClean="0"/>
              <a:t>Are there adequate facilities for </a:t>
            </a:r>
            <a:r>
              <a:rPr lang="ja-JP" altLang="en-GB" dirty="0" smtClean="0"/>
              <a:t>“</a:t>
            </a:r>
            <a:r>
              <a:rPr lang="en-GB" altLang="ja-JP" dirty="0" smtClean="0"/>
              <a:t>dirty</a:t>
            </a:r>
            <a:r>
              <a:rPr lang="ja-JP" altLang="en-GB" dirty="0" smtClean="0"/>
              <a:t>”</a:t>
            </a:r>
            <a:r>
              <a:rPr lang="en-GB" altLang="ja-JP" dirty="0" smtClean="0"/>
              <a:t> wastes?</a:t>
            </a:r>
          </a:p>
          <a:p>
            <a:pPr defTabSz="912813"/>
            <a:r>
              <a:rPr lang="en-GB" altLang="en-US" dirty="0" smtClean="0"/>
              <a:t>Are there regulatory controls over waste disposal?</a:t>
            </a:r>
          </a:p>
        </p:txBody>
      </p:sp>
      <p:sp>
        <p:nvSpPr>
          <p:cNvPr id="43011"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Waste </a:t>
            </a:r>
            <a:r>
              <a:rPr lang="en-GB" altLang="en-US" b="1" dirty="0" smtClean="0"/>
              <a:t>Management</a:t>
            </a:r>
            <a:endParaRPr lang="en-GB" altLang="en-US" b="1" dirty="0" smtClean="0"/>
          </a:p>
        </p:txBody>
      </p:sp>
      <p:pic>
        <p:nvPicPr>
          <p:cNvPr id="4301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39009" y="3517107"/>
            <a:ext cx="4048759" cy="269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289325374"/>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5058" name="Rectangle 3"/>
          <p:cNvSpPr>
            <a:spLocks noGrp="1"/>
          </p:cNvSpPr>
          <p:nvPr>
            <p:ph idx="1"/>
          </p:nvPr>
        </p:nvSpPr>
        <p:spPr>
          <a:xfrm>
            <a:off x="1103376" y="1267841"/>
            <a:ext cx="10515600" cy="4351338"/>
          </a:xfrm>
        </p:spPr>
        <p:txBody>
          <a:bodyPr/>
          <a:lstStyle/>
          <a:p>
            <a:pPr defTabSz="912813">
              <a:buNone/>
            </a:pPr>
            <a:r>
              <a:rPr lang="en-GB" altLang="en-US" dirty="0" smtClean="0"/>
              <a:t>Who assess performance?</a:t>
            </a:r>
          </a:p>
          <a:p>
            <a:pPr defTabSz="912813"/>
            <a:r>
              <a:rPr lang="en-GB" altLang="en-US" dirty="0" smtClean="0"/>
              <a:t>Senior management team </a:t>
            </a:r>
          </a:p>
          <a:p>
            <a:pPr defTabSz="912813"/>
            <a:r>
              <a:rPr lang="en-GB" altLang="en-US" dirty="0" smtClean="0"/>
              <a:t>Incident Commander </a:t>
            </a:r>
          </a:p>
          <a:p>
            <a:pPr defTabSz="912813"/>
            <a:r>
              <a:rPr lang="en-GB" altLang="en-US" dirty="0" smtClean="0"/>
              <a:t>Team leaders (at sea/on shore) </a:t>
            </a:r>
          </a:p>
          <a:p>
            <a:pPr defTabSz="912813">
              <a:buNone/>
            </a:pPr>
            <a:r>
              <a:rPr lang="en-GB" altLang="en-US" dirty="0" smtClean="0"/>
              <a:t>What is the division of responsibilities of the senior management team and the Incident Commander?</a:t>
            </a:r>
          </a:p>
          <a:p>
            <a:pPr defTabSz="912813">
              <a:buNone/>
            </a:pPr>
            <a:r>
              <a:rPr lang="en-GB" altLang="en-US" dirty="0" smtClean="0"/>
              <a:t>Are they clearly defined?</a:t>
            </a:r>
          </a:p>
          <a:p>
            <a:pPr defTabSz="912813"/>
            <a:r>
              <a:rPr lang="en-GB" altLang="en-US" dirty="0" smtClean="0"/>
              <a:t>Strategic vs. tactical</a:t>
            </a:r>
          </a:p>
          <a:p>
            <a:pPr defTabSz="912813">
              <a:buNone/>
            </a:pPr>
            <a:endParaRPr lang="en-GB" altLang="en-US" dirty="0" smtClean="0"/>
          </a:p>
        </p:txBody>
      </p:sp>
      <p:sp>
        <p:nvSpPr>
          <p:cNvPr id="45059"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Management </a:t>
            </a:r>
            <a:r>
              <a:rPr lang="en-GB" altLang="en-US" b="1" dirty="0" smtClean="0"/>
              <a:t>Issues</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89231965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7106" name="Rectangle 3"/>
          <p:cNvSpPr>
            <a:spLocks noGrp="1"/>
          </p:cNvSpPr>
          <p:nvPr>
            <p:ph idx="1"/>
          </p:nvPr>
        </p:nvSpPr>
        <p:spPr>
          <a:xfrm>
            <a:off x="1322832" y="1130681"/>
            <a:ext cx="10515600" cy="4351338"/>
          </a:xfrm>
        </p:spPr>
        <p:txBody>
          <a:bodyPr/>
          <a:lstStyle/>
          <a:p>
            <a:pPr defTabSz="912813">
              <a:lnSpc>
                <a:spcPct val="110000"/>
              </a:lnSpc>
              <a:spcBef>
                <a:spcPct val="30000"/>
              </a:spcBef>
            </a:pPr>
            <a:r>
              <a:rPr lang="en-GB" altLang="en-US" dirty="0" smtClean="0"/>
              <a:t>Fishing bans</a:t>
            </a:r>
          </a:p>
          <a:p>
            <a:pPr defTabSz="912813">
              <a:lnSpc>
                <a:spcPct val="110000"/>
              </a:lnSpc>
              <a:spcBef>
                <a:spcPct val="30000"/>
              </a:spcBef>
            </a:pPr>
            <a:r>
              <a:rPr lang="en-GB" altLang="en-US" dirty="0" smtClean="0"/>
              <a:t>Bathing bans</a:t>
            </a:r>
          </a:p>
          <a:p>
            <a:pPr defTabSz="912813">
              <a:lnSpc>
                <a:spcPct val="110000"/>
              </a:lnSpc>
              <a:spcBef>
                <a:spcPct val="30000"/>
              </a:spcBef>
            </a:pPr>
            <a:r>
              <a:rPr lang="en-GB" altLang="en-US" dirty="0" smtClean="0"/>
              <a:t>Public health issues</a:t>
            </a:r>
          </a:p>
          <a:p>
            <a:pPr defTabSz="912813">
              <a:lnSpc>
                <a:spcPct val="110000"/>
              </a:lnSpc>
              <a:spcBef>
                <a:spcPct val="30000"/>
              </a:spcBef>
            </a:pPr>
            <a:r>
              <a:rPr lang="en-GB" altLang="en-US" dirty="0" smtClean="0"/>
              <a:t>Net Environmental Benefit Analysis (NEBA)</a:t>
            </a:r>
          </a:p>
          <a:p>
            <a:pPr defTabSz="912813">
              <a:lnSpc>
                <a:spcPct val="110000"/>
              </a:lnSpc>
              <a:spcBef>
                <a:spcPct val="30000"/>
              </a:spcBef>
            </a:pPr>
            <a:r>
              <a:rPr lang="en-GB" altLang="en-US" dirty="0" smtClean="0"/>
              <a:t>Use of vessels of opportunity</a:t>
            </a:r>
          </a:p>
          <a:p>
            <a:pPr defTabSz="912813">
              <a:lnSpc>
                <a:spcPct val="110000"/>
              </a:lnSpc>
              <a:spcBef>
                <a:spcPct val="30000"/>
              </a:spcBef>
            </a:pPr>
            <a:r>
              <a:rPr lang="en-GB" altLang="en-US" dirty="0" smtClean="0"/>
              <a:t>Use of volunteers</a:t>
            </a:r>
          </a:p>
        </p:txBody>
      </p:sp>
      <p:sp>
        <p:nvSpPr>
          <p:cNvPr id="47107"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Policy </a:t>
            </a:r>
            <a:r>
              <a:rPr lang="en-GB" altLang="en-US" b="1" dirty="0" smtClean="0"/>
              <a:t>Issues </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89059809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9154" name="Rectangle 3"/>
          <p:cNvSpPr>
            <a:spLocks noGrp="1"/>
          </p:cNvSpPr>
          <p:nvPr>
            <p:ph idx="1"/>
          </p:nvPr>
        </p:nvSpPr>
        <p:spPr>
          <a:xfrm>
            <a:off x="1066800" y="1139825"/>
            <a:ext cx="10515600" cy="4351338"/>
          </a:xfrm>
        </p:spPr>
        <p:txBody>
          <a:bodyPr/>
          <a:lstStyle/>
          <a:p>
            <a:pPr defTabSz="912813"/>
            <a:r>
              <a:rPr lang="en-GB" altLang="en-US" dirty="0" smtClean="0"/>
              <a:t>Protection of human health?</a:t>
            </a:r>
          </a:p>
          <a:p>
            <a:pPr defTabSz="912813"/>
            <a:r>
              <a:rPr lang="en-GB" altLang="en-US" dirty="0" smtClean="0"/>
              <a:t>Avoiding contamination of fishing boats?</a:t>
            </a:r>
          </a:p>
          <a:p>
            <a:pPr defTabSz="912813"/>
            <a:r>
              <a:rPr lang="en-GB" altLang="en-US" dirty="0" smtClean="0"/>
              <a:t>Is a ban justifiable?</a:t>
            </a:r>
          </a:p>
          <a:p>
            <a:pPr defTabSz="912813"/>
            <a:r>
              <a:rPr lang="en-GB" altLang="en-US" dirty="0" smtClean="0"/>
              <a:t>Compensation for loss of earnings</a:t>
            </a:r>
          </a:p>
          <a:p>
            <a:pPr defTabSz="912813"/>
            <a:r>
              <a:rPr lang="en-GB" altLang="en-US" dirty="0" smtClean="0"/>
              <a:t>Who decides?</a:t>
            </a:r>
          </a:p>
          <a:p>
            <a:pPr defTabSz="912813"/>
            <a:r>
              <a:rPr lang="en-GB" altLang="en-US" dirty="0" smtClean="0"/>
              <a:t>Shellfish or free-swimming fish?</a:t>
            </a:r>
          </a:p>
          <a:p>
            <a:pPr defTabSz="912813"/>
            <a:r>
              <a:rPr lang="en-GB" altLang="en-US" dirty="0" smtClean="0"/>
              <a:t>Criteria for imposing and then lifting bans</a:t>
            </a:r>
          </a:p>
          <a:p>
            <a:pPr defTabSz="912813"/>
            <a:r>
              <a:rPr lang="en-GB" altLang="en-US" dirty="0" smtClean="0"/>
              <a:t>How do you police the ban?</a:t>
            </a:r>
          </a:p>
        </p:txBody>
      </p:sp>
      <p:sp>
        <p:nvSpPr>
          <p:cNvPr id="49155"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Fishing </a:t>
            </a:r>
            <a:r>
              <a:rPr lang="en-GB" altLang="en-US" b="1" dirty="0" smtClean="0"/>
              <a:t>Bans</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85448039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1202" name="Rectangle 3"/>
          <p:cNvSpPr>
            <a:spLocks noGrp="1"/>
          </p:cNvSpPr>
          <p:nvPr>
            <p:ph idx="1"/>
          </p:nvPr>
        </p:nvSpPr>
        <p:spPr>
          <a:xfrm>
            <a:off x="1039368" y="1240409"/>
            <a:ext cx="10515600" cy="4351338"/>
          </a:xfrm>
        </p:spPr>
        <p:txBody>
          <a:bodyPr/>
          <a:lstStyle/>
          <a:p>
            <a:pPr defTabSz="912813"/>
            <a:r>
              <a:rPr lang="en-GB" altLang="en-US" dirty="0" smtClean="0"/>
              <a:t> Restrictions on public’</a:t>
            </a:r>
            <a:r>
              <a:rPr lang="en-GB" altLang="ja-JP" dirty="0" smtClean="0"/>
              <a:t>s freedom of movement</a:t>
            </a:r>
          </a:p>
          <a:p>
            <a:pPr defTabSz="912813"/>
            <a:r>
              <a:rPr lang="en-GB" altLang="en-US" dirty="0" smtClean="0"/>
              <a:t> Interference with clean-up response</a:t>
            </a:r>
          </a:p>
          <a:p>
            <a:pPr defTabSz="912813"/>
            <a:r>
              <a:rPr lang="en-GB" altLang="en-US" dirty="0" smtClean="0"/>
              <a:t> Need to liaise with other authorities?</a:t>
            </a:r>
          </a:p>
          <a:p>
            <a:pPr defTabSz="912813"/>
            <a:r>
              <a:rPr lang="en-GB" altLang="en-US" dirty="0" smtClean="0"/>
              <a:t> Public health hazards</a:t>
            </a:r>
          </a:p>
          <a:p>
            <a:pPr defTabSz="912813"/>
            <a:r>
              <a:rPr lang="en-GB" altLang="en-US" dirty="0" smtClean="0"/>
              <a:t> Who decides?</a:t>
            </a:r>
          </a:p>
          <a:p>
            <a:pPr defTabSz="912813"/>
            <a:r>
              <a:rPr lang="en-GB" altLang="en-US" dirty="0" smtClean="0"/>
              <a:t> Criteria for imposing and then lifting bans</a:t>
            </a:r>
          </a:p>
          <a:p>
            <a:pPr defTabSz="912813"/>
            <a:r>
              <a:rPr lang="en-GB" altLang="en-US" dirty="0" smtClean="0"/>
              <a:t> How do you police the ban?</a:t>
            </a:r>
          </a:p>
        </p:txBody>
      </p:sp>
      <p:sp>
        <p:nvSpPr>
          <p:cNvPr id="51203"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Bathing </a:t>
            </a:r>
            <a:r>
              <a:rPr lang="en-GB" altLang="en-US" b="1" dirty="0" smtClean="0"/>
              <a:t>Bans</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73344685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3250" name="Rectangle 3"/>
          <p:cNvSpPr>
            <a:spLocks noGrp="1"/>
          </p:cNvSpPr>
          <p:nvPr>
            <p:ph idx="1"/>
          </p:nvPr>
        </p:nvSpPr>
        <p:spPr>
          <a:xfrm>
            <a:off x="1176528" y="1075817"/>
            <a:ext cx="10515600" cy="4351338"/>
          </a:xfrm>
        </p:spPr>
        <p:txBody>
          <a:bodyPr>
            <a:normAutofit/>
          </a:bodyPr>
          <a:lstStyle/>
          <a:p>
            <a:pPr defTabSz="912813"/>
            <a:r>
              <a:rPr lang="en-GB" altLang="en-US" sz="3200" dirty="0" smtClean="0"/>
              <a:t>What is acceptable level of risk?</a:t>
            </a:r>
          </a:p>
          <a:p>
            <a:pPr lvl="1" indent="-420688" defTabSz="912813">
              <a:buFont typeface="Wingdings" panose="05000000000000000000" pitchFamily="2" charset="2"/>
              <a:buChar char="Ø"/>
            </a:pPr>
            <a:r>
              <a:rPr lang="en-GB" altLang="en-US" sz="2800" dirty="0"/>
              <a:t>Risks of explosion</a:t>
            </a:r>
          </a:p>
          <a:p>
            <a:pPr lvl="1" indent="-420688" defTabSz="912813">
              <a:buFont typeface="Wingdings" panose="05000000000000000000" pitchFamily="2" charset="2"/>
              <a:buChar char="Ø"/>
            </a:pPr>
            <a:r>
              <a:rPr lang="en-GB" altLang="en-US" sz="2800" dirty="0"/>
              <a:t>Inhalation of fumes</a:t>
            </a:r>
          </a:p>
          <a:p>
            <a:pPr lvl="1" indent="-420688" defTabSz="912813">
              <a:buFont typeface="Wingdings" panose="05000000000000000000" pitchFamily="2" charset="2"/>
              <a:buChar char="Ø"/>
            </a:pPr>
            <a:r>
              <a:rPr lang="en-GB" altLang="en-US" sz="2800" dirty="0"/>
              <a:t>Skin disorders</a:t>
            </a:r>
          </a:p>
          <a:p>
            <a:pPr defTabSz="912813"/>
            <a:r>
              <a:rPr lang="en-GB" altLang="en-US" sz="3200" dirty="0" smtClean="0"/>
              <a:t>Contaminated fish – bans?</a:t>
            </a:r>
          </a:p>
          <a:p>
            <a:pPr defTabSz="912813"/>
            <a:r>
              <a:rPr lang="en-GB" altLang="en-US" sz="3200" dirty="0" smtClean="0"/>
              <a:t>Aquaculture products – bans?</a:t>
            </a:r>
          </a:p>
          <a:p>
            <a:pPr defTabSz="912813"/>
            <a:r>
              <a:rPr lang="en-GB" altLang="en-US" sz="3200" dirty="0" smtClean="0"/>
              <a:t>Compensation for personal injury</a:t>
            </a:r>
          </a:p>
          <a:p>
            <a:pPr defTabSz="912813"/>
            <a:r>
              <a:rPr lang="en-GB" altLang="en-US" sz="3200" dirty="0" smtClean="0"/>
              <a:t>Who decides?</a:t>
            </a:r>
          </a:p>
        </p:txBody>
      </p:sp>
      <p:sp>
        <p:nvSpPr>
          <p:cNvPr id="53251"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Public </a:t>
            </a:r>
            <a:r>
              <a:rPr lang="en-GB" altLang="en-US" b="1" dirty="0" smtClean="0"/>
              <a:t>Health </a:t>
            </a:r>
            <a:r>
              <a:rPr lang="en-GB" altLang="en-US" b="1" dirty="0"/>
              <a:t>I</a:t>
            </a:r>
            <a:r>
              <a:rPr lang="en-GB" altLang="en-US" b="1" dirty="0" smtClean="0"/>
              <a:t>ssues</a:t>
            </a:r>
            <a:endParaRPr lang="en-GB" altLang="en-US" b="1"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99983331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5298"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What is NEBA?</a:t>
            </a:r>
          </a:p>
        </p:txBody>
      </p:sp>
      <p:sp>
        <p:nvSpPr>
          <p:cNvPr id="55299" name="Rectangle 3"/>
          <p:cNvSpPr>
            <a:spLocks noGrp="1"/>
          </p:cNvSpPr>
          <p:nvPr>
            <p:ph idx="1"/>
          </p:nvPr>
        </p:nvSpPr>
        <p:spPr>
          <a:xfrm>
            <a:off x="1021080" y="1396790"/>
            <a:ext cx="10515600" cy="4351338"/>
          </a:xfrm>
        </p:spPr>
        <p:txBody>
          <a:bodyPr>
            <a:normAutofit/>
          </a:bodyPr>
          <a:lstStyle/>
          <a:p>
            <a:pPr algn="just" defTabSz="912813">
              <a:buNone/>
            </a:pPr>
            <a:r>
              <a:rPr lang="en-GB" altLang="en-US" sz="3200" dirty="0" smtClean="0"/>
              <a:t>What is NEBA:</a:t>
            </a:r>
          </a:p>
          <a:p>
            <a:pPr marL="0" lvl="1" indent="0" algn="just" defTabSz="912813">
              <a:buClr>
                <a:srgbClr val="800000"/>
              </a:buClr>
              <a:buNone/>
            </a:pPr>
            <a:r>
              <a:rPr lang="en-GB" altLang="en-US" sz="2800" dirty="0"/>
              <a:t>Balancing the advantages and disadvantages of different response options with the aim of minimizing the overall impact on environmental and economic resources and reducing the time for recovery of affected resources by achieving an acceptable standard of clean-up.</a:t>
            </a:r>
          </a:p>
          <a:p>
            <a:pPr marL="0" lvl="1" indent="0" algn="just" defTabSz="912813">
              <a:buClr>
                <a:srgbClr val="800000"/>
              </a:buClr>
              <a:buNone/>
            </a:pPr>
            <a:r>
              <a:rPr lang="en-GB" altLang="en-US" sz="2800" u="sng" dirty="0"/>
              <a:t>Common sense</a:t>
            </a:r>
            <a:r>
              <a:rPr lang="en-GB" altLang="en-US" sz="2800" dirty="0"/>
              <a:t> </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284955019"/>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7346" name="Rectangle 2"/>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What is NEBA?</a:t>
            </a:r>
          </a:p>
        </p:txBody>
      </p:sp>
      <p:sp>
        <p:nvSpPr>
          <p:cNvPr id="57347" name="Rectangle 4"/>
          <p:cNvSpPr>
            <a:spLocks noGrp="1"/>
          </p:cNvSpPr>
          <p:nvPr>
            <p:ph idx="1"/>
          </p:nvPr>
        </p:nvSpPr>
        <p:spPr>
          <a:xfrm>
            <a:off x="920496" y="1295273"/>
            <a:ext cx="10515600" cy="4351338"/>
          </a:xfrm>
        </p:spPr>
        <p:txBody>
          <a:bodyPr/>
          <a:lstStyle/>
          <a:p>
            <a:pPr defTabSz="912813">
              <a:buNone/>
            </a:pPr>
            <a:r>
              <a:rPr lang="en-GB" altLang="en-US" sz="3600" dirty="0"/>
              <a:t>What NEBA is not:</a:t>
            </a:r>
          </a:p>
          <a:p>
            <a:pPr marL="365125" lvl="1" indent="-280988" defTabSz="912813"/>
            <a:r>
              <a:rPr lang="en-GB" altLang="en-US" sz="3200" dirty="0"/>
              <a:t>Not new</a:t>
            </a:r>
          </a:p>
          <a:p>
            <a:pPr marL="365125" lvl="1" indent="-280988" defTabSz="912813"/>
            <a:r>
              <a:rPr lang="en-GB" altLang="en-US" sz="3200" dirty="0"/>
              <a:t>Not complicated</a:t>
            </a:r>
          </a:p>
          <a:p>
            <a:pPr marL="365125" lvl="1" indent="-280988" defTabSz="912813"/>
            <a:r>
              <a:rPr lang="en-GB" altLang="en-US" sz="3200" dirty="0"/>
              <a:t>Not a means of calculating the </a:t>
            </a:r>
            <a:r>
              <a:rPr lang="en-GB" altLang="en-US" sz="3200" u="sng" dirty="0"/>
              <a:t>net </a:t>
            </a:r>
            <a:r>
              <a:rPr lang="en-GB" altLang="en-US" sz="3200" dirty="0"/>
              <a:t>environmental benefit (i.e. not quantitative)</a:t>
            </a:r>
          </a:p>
          <a:p>
            <a:pPr marL="365125" lvl="1" indent="-280988" defTabSz="912813"/>
            <a:r>
              <a:rPr lang="en-GB" altLang="en-US" sz="3200" dirty="0"/>
              <a:t>Not a ‘</a:t>
            </a:r>
            <a:r>
              <a:rPr lang="en-GB" altLang="ja-JP" sz="3200" dirty="0"/>
              <a:t>Cost-Benefit’ Analysis</a:t>
            </a:r>
            <a:endParaRPr lang="en-GB" altLang="en-US" sz="32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62971193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9394" name="Rectangle 1026"/>
          <p:cNvSpPr>
            <a:spLocks noGrp="1"/>
          </p:cNvSpPr>
          <p:nvPr>
            <p:ph type="title"/>
          </p:nvPr>
        </p:nvSpPr>
        <p:spPr>
          <a:xfrm>
            <a:off x="1981200" y="130176"/>
            <a:ext cx="8229600" cy="561975"/>
          </a:xfrm>
        </p:spPr>
        <p:txBody>
          <a:bodyPr>
            <a:normAutofit fontScale="90000"/>
          </a:bodyPr>
          <a:lstStyle/>
          <a:p>
            <a:pPr algn="ctr" defTabSz="912813"/>
            <a:r>
              <a:rPr lang="en-GB" altLang="en-US" b="1" dirty="0" smtClean="0"/>
              <a:t>NEBA in </a:t>
            </a:r>
            <a:r>
              <a:rPr lang="en-GB" altLang="en-US" b="1" dirty="0"/>
              <a:t>P</a:t>
            </a:r>
            <a:r>
              <a:rPr lang="en-GB" altLang="en-US" b="1" dirty="0" smtClean="0"/>
              <a:t>ractice</a:t>
            </a:r>
            <a:endParaRPr lang="en-GB" altLang="en-US" b="1" dirty="0" smtClean="0"/>
          </a:p>
        </p:txBody>
      </p:sp>
      <p:sp>
        <p:nvSpPr>
          <p:cNvPr id="59395" name="Rectangle 1027">
            <a:extLst/>
          </p:cNvPr>
          <p:cNvSpPr>
            <a:spLocks noGrp="1" noChangeArrowheads="1"/>
          </p:cNvSpPr>
          <p:nvPr>
            <p:ph idx="1"/>
          </p:nvPr>
        </p:nvSpPr>
        <p:spPr>
          <a:xfrm>
            <a:off x="1176528" y="1231265"/>
            <a:ext cx="10515600" cy="4351338"/>
          </a:xfrm>
        </p:spPr>
        <p:txBody>
          <a:bodyPr>
            <a:normAutofit/>
          </a:bodyPr>
          <a:lstStyle/>
          <a:p>
            <a:pPr algn="just" defTabSz="912813">
              <a:buNone/>
              <a:defRPr/>
            </a:pPr>
            <a:r>
              <a:rPr lang="en-GB" altLang="en-US" sz="3200" dirty="0"/>
              <a:t>Evaluation of the options includes: </a:t>
            </a:r>
          </a:p>
          <a:p>
            <a:pPr marL="365125" lvl="1" indent="-280988" algn="just" defTabSz="912813">
              <a:spcBef>
                <a:spcPct val="0"/>
              </a:spcBef>
              <a:defRPr/>
            </a:pPr>
            <a:r>
              <a:rPr lang="en-GB" altLang="en-US" sz="2800" dirty="0"/>
              <a:t>Reference to previous information on the area (contingency plans)</a:t>
            </a:r>
          </a:p>
          <a:p>
            <a:pPr marL="365125" lvl="1" indent="-280988" algn="just" defTabSz="912813">
              <a:spcBef>
                <a:spcPct val="0"/>
              </a:spcBef>
              <a:defRPr/>
            </a:pPr>
            <a:r>
              <a:rPr lang="en-GB" altLang="en-US" sz="2800" dirty="0"/>
              <a:t>Reference to relevant oil spill case histories and experiments</a:t>
            </a:r>
          </a:p>
          <a:p>
            <a:pPr marL="365125" lvl="1" indent="-280988" algn="just" defTabSz="912813">
              <a:spcBef>
                <a:spcPct val="0"/>
              </a:spcBef>
              <a:defRPr/>
            </a:pPr>
            <a:r>
              <a:rPr lang="en-GB" altLang="en-US" sz="2800" dirty="0"/>
              <a:t>Consideration of the shoreline sensitivity</a:t>
            </a:r>
          </a:p>
          <a:p>
            <a:pPr marL="365125" lvl="1" indent="-280988" algn="just" defTabSz="912813">
              <a:spcBef>
                <a:spcPct val="0"/>
              </a:spcBef>
              <a:defRPr/>
            </a:pPr>
            <a:r>
              <a:rPr lang="en-GB" altLang="en-US" sz="2800" dirty="0"/>
              <a:t>Consideration of ecological resources</a:t>
            </a:r>
          </a:p>
          <a:p>
            <a:pPr marL="365125" lvl="1" indent="-280988" algn="just" defTabSz="912813">
              <a:spcBef>
                <a:spcPct val="0"/>
              </a:spcBef>
              <a:defRPr/>
            </a:pPr>
            <a:r>
              <a:rPr lang="en-GB" altLang="en-US" sz="2800" dirty="0"/>
              <a:t>Consideration of economic resources</a:t>
            </a:r>
          </a:p>
          <a:p>
            <a:pPr marL="84137" lvl="1" indent="0" algn="just" defTabSz="912813">
              <a:buNone/>
              <a:defRPr/>
            </a:pPr>
            <a:r>
              <a:rPr lang="en-GB" altLang="en-US" sz="2800" dirty="0"/>
              <a:t>All parties must accept that some compromise may be necessary.</a:t>
            </a:r>
          </a:p>
          <a:p>
            <a:pPr marL="365125" lvl="1" indent="-280988" algn="just" defTabSz="912813">
              <a:buNone/>
              <a:defRPr/>
            </a:pPr>
            <a:endParaRPr lang="en-GB" altLang="en-US" sz="28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92347424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1442"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Strategy </a:t>
            </a:r>
            <a:r>
              <a:rPr lang="en-GB" altLang="en-US" b="1" dirty="0" smtClean="0"/>
              <a:t>Summary</a:t>
            </a:r>
            <a:endParaRPr lang="en-GB" altLang="en-US" b="1" dirty="0" smtClean="0"/>
          </a:p>
        </p:txBody>
      </p:sp>
      <p:graphicFrame>
        <p:nvGraphicFramePr>
          <p:cNvPr id="4" name="Content Placeholder 3">
            <a:extLst/>
          </p:cNvPr>
          <p:cNvGraphicFramePr>
            <a:graphicFrameLocks noGrp="1"/>
          </p:cNvGraphicFramePr>
          <p:nvPr>
            <p:ph idx="1"/>
            <p:extLst>
              <p:ext uri="{D42A27DB-BD31-4B8C-83A1-F6EECF244321}">
                <p14:modId xmlns:p14="http://schemas.microsoft.com/office/powerpoint/2010/main" val="1848737826"/>
              </p:ext>
            </p:extLst>
          </p:nvPr>
        </p:nvGraphicFramePr>
        <p:xfrm>
          <a:off x="1981200" y="908051"/>
          <a:ext cx="8229600" cy="5218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101953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2466"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Summary</a:t>
            </a:r>
          </a:p>
        </p:txBody>
      </p:sp>
      <p:sp>
        <p:nvSpPr>
          <p:cNvPr id="62467" name="Content Placeholder 2">
            <a:extLst/>
          </p:cNvPr>
          <p:cNvSpPr>
            <a:spLocks noGrp="1"/>
          </p:cNvSpPr>
          <p:nvPr>
            <p:ph idx="1"/>
          </p:nvPr>
        </p:nvSpPr>
        <p:spPr>
          <a:xfrm>
            <a:off x="1222248" y="1249553"/>
            <a:ext cx="10515600" cy="4351338"/>
          </a:xfrm>
        </p:spPr>
        <p:txBody>
          <a:bodyPr/>
          <a:lstStyle/>
          <a:p>
            <a:pPr marL="0" indent="0">
              <a:buNone/>
              <a:defRPr/>
            </a:pPr>
            <a:r>
              <a:rPr lang="en-US" altLang="en-US" dirty="0"/>
              <a:t>In this lesson we have considered:</a:t>
            </a:r>
          </a:p>
          <a:p>
            <a:pPr marL="0" indent="0">
              <a:buNone/>
              <a:defRPr/>
            </a:pPr>
            <a:endParaRPr lang="en-US" altLang="en-US" dirty="0"/>
          </a:p>
          <a:p>
            <a:pPr>
              <a:defRPr/>
            </a:pPr>
            <a:r>
              <a:rPr lang="en-US" altLang="en-US" dirty="0"/>
              <a:t>the role of the administration and its senior management</a:t>
            </a:r>
          </a:p>
          <a:p>
            <a:pPr>
              <a:defRPr/>
            </a:pPr>
            <a:endParaRPr lang="en-GB" altLang="en-US" dirty="0"/>
          </a:p>
          <a:p>
            <a:pPr>
              <a:defRPr/>
            </a:pPr>
            <a:r>
              <a:rPr lang="en-US" altLang="en-US" dirty="0"/>
              <a:t>the role of government in an oil spill</a:t>
            </a:r>
            <a:endParaRPr lang="en-GB" altLang="en-US" dirty="0"/>
          </a:p>
          <a:p>
            <a:pPr marL="0" indent="0">
              <a:buNone/>
              <a:defRPr/>
            </a:pPr>
            <a:endParaRPr lang="en-GB" altLang="en-US"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862909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0" y="6378300"/>
            <a:ext cx="12192000"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7" name="Rectangle 6"/>
          <p:cNvSpPr/>
          <p:nvPr/>
        </p:nvSpPr>
        <p:spPr>
          <a:xfrm>
            <a:off x="810490" y="2385956"/>
            <a:ext cx="10571019" cy="1938992"/>
          </a:xfrm>
          <a:prstGeom prst="rect">
            <a:avLst/>
          </a:prstGeom>
        </p:spPr>
        <p:txBody>
          <a:bodyPr wrap="square">
            <a:spAutoFit/>
          </a:bodyPr>
          <a:lstStyle/>
          <a:p>
            <a:pPr algn="ctr">
              <a:spcBef>
                <a:spcPct val="50000"/>
              </a:spcBef>
              <a:defRPr/>
            </a:pPr>
            <a:r>
              <a:rPr lang="en-US" altLang="en-US" sz="4000" b="1" dirty="0">
                <a:ln w="0"/>
                <a:latin typeface="Tahoma" panose="020B0604030504040204" pitchFamily="34" charset="0"/>
                <a:ea typeface="Tahoma" panose="020B0604030504040204" pitchFamily="34" charset="0"/>
                <a:cs typeface="Tahoma" panose="020B0604030504040204" pitchFamily="34" charset="0"/>
              </a:rPr>
              <a:t/>
            </a:r>
            <a:br>
              <a:rPr lang="en-US" altLang="en-US" sz="4000" b="1" dirty="0">
                <a:ln w="0"/>
                <a:latin typeface="Tahoma" panose="020B0604030504040204" pitchFamily="34" charset="0"/>
                <a:ea typeface="Tahoma" panose="020B0604030504040204" pitchFamily="34" charset="0"/>
                <a:cs typeface="Tahoma" panose="020B0604030504040204" pitchFamily="34" charset="0"/>
              </a:rPr>
            </a:br>
            <a:r>
              <a:rPr lang="en-GB" sz="4000" b="1" dirty="0">
                <a:ln w="0"/>
                <a:latin typeface="Tahoma" panose="020B0604030504040204" pitchFamily="34" charset="0"/>
                <a:ea typeface="Tahoma" panose="020B0604030504040204" pitchFamily="34" charset="0"/>
                <a:cs typeface="Tahoma" panose="020B0604030504040204" pitchFamily="34" charset="0"/>
              </a:rPr>
              <a:t>Any questions?</a:t>
            </a:r>
          </a:p>
          <a:p>
            <a:pPr lvl="1">
              <a:spcBef>
                <a:spcPct val="0"/>
              </a:spcBef>
            </a:pPr>
            <a:endParaRPr lang="en-GB" altLang="en-US" sz="4000" b="1" dirty="0">
              <a:ln w="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0283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1240</Words>
  <Application>Microsoft Office PowerPoint</Application>
  <PresentationFormat>Widescreen</PresentationFormat>
  <Paragraphs>209</Paragraphs>
  <Slides>27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ＭＳ Ｐゴシック</vt:lpstr>
      <vt:lpstr>Arial</vt:lpstr>
      <vt:lpstr>Calibri</vt:lpstr>
      <vt:lpstr>Courier New</vt:lpstr>
      <vt:lpstr>inherit</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Shoreline Clean-up</vt:lpstr>
      <vt:lpstr>Clean-up Objectives</vt:lpstr>
      <vt:lpstr>Shoreline Clean-Up</vt:lpstr>
      <vt:lpstr>Waste Management</vt:lpstr>
      <vt:lpstr>Management Issues</vt:lpstr>
      <vt:lpstr>Policy Issues </vt:lpstr>
      <vt:lpstr>Fishing Bans</vt:lpstr>
      <vt:lpstr>Bathing Bans</vt:lpstr>
      <vt:lpstr>Public Health Issues</vt:lpstr>
      <vt:lpstr>What is NEBA?</vt:lpstr>
      <vt:lpstr>What is NEBA?</vt:lpstr>
      <vt:lpstr>NEBA in Practice</vt:lpstr>
      <vt:lpstr>Strategy 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Mohammad Muktadar</dc:creator>
  <cp:lastModifiedBy>Sajith, Sadanandan </cp:lastModifiedBy>
  <cp:revision>141</cp:revision>
  <dcterms:created xsi:type="dcterms:W3CDTF">2024-09-27T05:40:49Z</dcterms:created>
  <dcterms:modified xsi:type="dcterms:W3CDTF">2025-06-03T10:18:17Z</dcterms:modified>
</cp:coreProperties>
</file>
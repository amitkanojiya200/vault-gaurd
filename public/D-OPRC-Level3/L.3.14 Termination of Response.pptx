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6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77B1A-BA61-4975-A6CD-1DA38C0A71F3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2C731-7F47-437A-8FF4-91F9DE803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028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1FEF6E1-84D2-4DD8-BD33-6BF7F5B739A1}" type="slidenum">
              <a:rPr lang="en-GB" altLang="en-US" sz="1300" smtClean="0"/>
              <a:pPr>
                <a:spcBef>
                  <a:spcPct val="0"/>
                </a:spcBef>
              </a:pPr>
              <a:t>6</a:t>
            </a:fld>
            <a:endParaRPr lang="en-GB" altLang="en-US" sz="1300" smtClean="0"/>
          </a:p>
        </p:txBody>
      </p:sp>
      <p:sp>
        <p:nvSpPr>
          <p:cNvPr id="2457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286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B81FB7-BA25-4705-AD7F-14D22DB9ACB2}" type="slidenum">
              <a:rPr lang="en-GB" altLang="en-US" sz="1300" smtClean="0"/>
              <a:pPr>
                <a:spcBef>
                  <a:spcPct val="0"/>
                </a:spcBef>
              </a:pPr>
              <a:t>7</a:t>
            </a:fld>
            <a:endParaRPr lang="en-GB" altLang="en-US" sz="1300" smtClean="0"/>
          </a:p>
        </p:txBody>
      </p:sp>
      <p:sp>
        <p:nvSpPr>
          <p:cNvPr id="2662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021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Notes Placeholder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283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D7C724E-618E-4C67-80B6-F1C52AC2C3A9}" type="slidenum">
              <a:rPr lang="en-GB" altLang="en-US" sz="1300" smtClean="0"/>
              <a:pPr>
                <a:spcBef>
                  <a:spcPct val="0"/>
                </a:spcBef>
              </a:pPr>
              <a:t>9</a:t>
            </a:fld>
            <a:endParaRPr lang="en-GB" altLang="en-US" sz="1300" smtClean="0"/>
          </a:p>
        </p:txBody>
      </p:sp>
      <p:sp>
        <p:nvSpPr>
          <p:cNvPr id="3072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333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Notes Placeholder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77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F1233AD-351D-4BB7-8E76-3052D3E0949C}" type="slidenum">
              <a:rPr lang="en-GB" altLang="en-US" sz="1300" smtClean="0"/>
              <a:pPr>
                <a:spcBef>
                  <a:spcPct val="0"/>
                </a:spcBef>
              </a:pPr>
              <a:t>13</a:t>
            </a:fld>
            <a:endParaRPr lang="en-GB" altLang="en-US" sz="1300" smtClean="0"/>
          </a:p>
        </p:txBody>
      </p:sp>
      <p:sp>
        <p:nvSpPr>
          <p:cNvPr id="3686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731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Notes Placeholder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31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0AB3CCD-3E4E-4EF4-B4D6-EDB388708FBD}" type="slidenum">
              <a:rPr lang="en-GB" altLang="en-US" sz="1300" smtClean="0"/>
              <a:pPr>
                <a:spcBef>
                  <a:spcPct val="0"/>
                </a:spcBef>
              </a:pPr>
              <a:t>17</a:t>
            </a:fld>
            <a:endParaRPr lang="en-GB" altLang="en-US" sz="1300" smtClean="0"/>
          </a:p>
        </p:txBody>
      </p:sp>
      <p:sp>
        <p:nvSpPr>
          <p:cNvPr id="4301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505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C4471EB-E5E8-4F3F-8B36-B995B91B5DBB}" type="slidenum">
              <a:rPr lang="en-GB" altLang="en-US" sz="1300" smtClean="0"/>
              <a:pPr>
                <a:spcBef>
                  <a:spcPct val="0"/>
                </a:spcBef>
              </a:pPr>
              <a:t>18</a:t>
            </a:fld>
            <a:endParaRPr lang="en-GB" altLang="en-US" sz="1300" smtClean="0"/>
          </a:p>
        </p:txBody>
      </p:sp>
      <p:sp>
        <p:nvSpPr>
          <p:cNvPr id="4505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459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42848C2-8C3E-4A94-9745-EC63DAC80A79}" type="slidenum">
              <a:rPr lang="en-GB" altLang="en-US" sz="1300" smtClean="0"/>
              <a:pPr>
                <a:spcBef>
                  <a:spcPct val="0"/>
                </a:spcBef>
              </a:pPr>
              <a:t>19</a:t>
            </a:fld>
            <a:endParaRPr lang="en-GB" altLang="en-US" sz="1300" smtClean="0"/>
          </a:p>
        </p:txBody>
      </p:sp>
      <p:sp>
        <p:nvSpPr>
          <p:cNvPr id="4710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89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DB793DA-8B1C-40E5-9843-5B7E43BE9220}" type="slidenum">
              <a:rPr lang="en-GB" altLang="en-US" sz="1300" smtClean="0"/>
              <a:pPr>
                <a:spcBef>
                  <a:spcPct val="0"/>
                </a:spcBef>
              </a:pPr>
              <a:t>21</a:t>
            </a:fld>
            <a:endParaRPr lang="en-GB" altLang="en-US" sz="1300" smtClean="0"/>
          </a:p>
        </p:txBody>
      </p:sp>
      <p:sp>
        <p:nvSpPr>
          <p:cNvPr id="5017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881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k object 16">
            <a:extLst/>
          </p:cNvPr>
          <p:cNvSpPr>
            <a:spLocks noChangeArrowheads="1"/>
          </p:cNvSpPr>
          <p:nvPr/>
        </p:nvSpPr>
        <p:spPr bwMode="auto">
          <a:xfrm>
            <a:off x="3600451" y="1844676"/>
            <a:ext cx="4597400" cy="29495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ja-JP" sz="2400"/>
          </a:p>
        </p:txBody>
      </p:sp>
      <p:sp>
        <p:nvSpPr>
          <p:cNvPr id="6" name="bk object 17">
            <a:extLst/>
          </p:cNvPr>
          <p:cNvSpPr>
            <a:spLocks noChangeArrowheads="1"/>
          </p:cNvSpPr>
          <p:nvPr/>
        </p:nvSpPr>
        <p:spPr bwMode="auto">
          <a:xfrm>
            <a:off x="0" y="5940426"/>
            <a:ext cx="12192000" cy="91757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ja-JP" sz="2400"/>
          </a:p>
        </p:txBody>
      </p:sp>
      <p:sp>
        <p:nvSpPr>
          <p:cNvPr id="7" name="bk object 18"/>
          <p:cNvSpPr>
            <a:spLocks/>
          </p:cNvSpPr>
          <p:nvPr/>
        </p:nvSpPr>
        <p:spPr bwMode="auto">
          <a:xfrm>
            <a:off x="0" y="1"/>
            <a:ext cx="12192000" cy="836613"/>
          </a:xfrm>
          <a:custGeom>
            <a:avLst/>
            <a:gdLst>
              <a:gd name="T0" fmla="*/ 0 w 9144000"/>
              <a:gd name="T1" fmla="*/ 833512 h 836930"/>
              <a:gd name="T2" fmla="*/ 9144000 w 9144000"/>
              <a:gd name="T3" fmla="*/ 833512 h 836930"/>
              <a:gd name="T4" fmla="*/ 9144000 w 9144000"/>
              <a:gd name="T5" fmla="*/ 0 h 836930"/>
              <a:gd name="T6" fmla="*/ 0 w 9144000"/>
              <a:gd name="T7" fmla="*/ 0 h 836930"/>
              <a:gd name="T8" fmla="*/ 0 w 9144000"/>
              <a:gd name="T9" fmla="*/ 833512 h 8369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144000" h="836930">
                <a:moveTo>
                  <a:pt x="0" y="836676"/>
                </a:moveTo>
                <a:lnTo>
                  <a:pt x="9144000" y="836676"/>
                </a:lnTo>
                <a:lnTo>
                  <a:pt x="9144000" y="0"/>
                </a:lnTo>
                <a:lnTo>
                  <a:pt x="0" y="0"/>
                </a:lnTo>
                <a:lnTo>
                  <a:pt x="0" y="836676"/>
                </a:lnTo>
                <a:close/>
              </a:path>
            </a:pathLst>
          </a:custGeom>
          <a:solidFill>
            <a:srgbClr val="4992D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47345" y="1302449"/>
            <a:ext cx="4462780" cy="3700779"/>
          </a:xfrm>
          <a:prstGeom prst="rect">
            <a:avLst/>
          </a:prstGeom>
        </p:spPr>
        <p:txBody>
          <a:bodyPr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0"/>
            <a:ext cx="5303520" cy="45262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Holder 5">
            <a:extLst/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Holder 6">
            <a:extLst/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430061-2E7F-4513-A06B-CCC5B17D937F}" type="datetimeFigureOut">
              <a:rPr lang="en-US"/>
              <a:pPr>
                <a:defRPr/>
              </a:pPr>
              <a:t>6/4/2025</a:t>
            </a:fld>
            <a:endParaRPr lang="en-US"/>
          </a:p>
        </p:txBody>
      </p:sp>
      <p:sp>
        <p:nvSpPr>
          <p:cNvPr id="10" name="Holder 7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0C946CB-67DF-43FB-96FF-FFAD2024401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48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2144332" y="2295144"/>
            <a:ext cx="7772400" cy="27094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smtClean="0"/>
              <a:t>Lesson 3.14</a:t>
            </a:r>
            <a:br>
              <a:rPr lang="en-GB" altLang="en-US" b="1" smtClean="0"/>
            </a:br>
            <a:r>
              <a:rPr lang="en-US" altLang="en-US" b="1" smtClean="0"/>
              <a:t>Termination of Response</a:t>
            </a: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Objective</a:t>
            </a:r>
          </a:p>
        </p:txBody>
      </p:sp>
      <p:sp>
        <p:nvSpPr>
          <p:cNvPr id="2" name="Rectangle 3">
            <a:extLst/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054" y="1193525"/>
            <a:ext cx="10096055" cy="5184775"/>
          </a:xfrm>
        </p:spPr>
        <p:txBody>
          <a:bodyPr>
            <a:normAutofit/>
          </a:bodyPr>
          <a:lstStyle/>
          <a:p>
            <a:pPr marL="0" indent="0" algn="just">
              <a:buNone/>
              <a:defRPr/>
            </a:pPr>
            <a:r>
              <a:rPr lang="en-US" sz="3200" dirty="0">
                <a:cs typeface="ＭＳ Ｐゴシック" charset="0"/>
              </a:rPr>
              <a:t>To understand the issues related to response termination.</a:t>
            </a:r>
          </a:p>
          <a:p>
            <a:pPr marL="0" indent="0" algn="just">
              <a:buNone/>
              <a:defRPr/>
            </a:pPr>
            <a:endParaRPr lang="fr-CA" sz="3200" dirty="0">
              <a:cs typeface="ＭＳ Ｐゴシック" charset="0"/>
            </a:endParaRPr>
          </a:p>
          <a:p>
            <a:pPr marL="0" indent="0" algn="just">
              <a:buNone/>
              <a:defRPr/>
            </a:pPr>
            <a:r>
              <a:rPr lang="en-US" sz="3200" dirty="0">
                <a:cs typeface="ＭＳ Ｐゴシック" charset="0"/>
              </a:rPr>
              <a:t>To understand the selection and definition of termination criteria.</a:t>
            </a:r>
          </a:p>
          <a:p>
            <a:pPr marL="0" indent="0" algn="just">
              <a:buNone/>
              <a:defRPr/>
            </a:pPr>
            <a:endParaRPr lang="fr-CA" sz="3200" dirty="0">
              <a:cs typeface="ＭＳ Ｐゴシック" charset="0"/>
            </a:endParaRPr>
          </a:p>
          <a:p>
            <a:pPr marL="0" indent="0" algn="just">
              <a:buNone/>
              <a:defRPr/>
            </a:pPr>
            <a:r>
              <a:rPr lang="en-US" sz="3200" dirty="0">
                <a:cs typeface="ＭＳ Ｐゴシック" charset="0"/>
              </a:rPr>
              <a:t>To understand the consideration of any post-spill monitoring or studies.</a:t>
            </a:r>
            <a:r>
              <a:rPr lang="fr-CA" sz="3200" dirty="0">
                <a:cs typeface="ＭＳ Ｐゴシック" charset="0"/>
              </a:rPr>
              <a:t> </a:t>
            </a:r>
          </a:p>
          <a:p>
            <a:pPr algn="just" eaLnBrk="1" hangingPunct="1">
              <a:defRPr/>
            </a:pPr>
            <a:endParaRPr lang="en-US" sz="3200" dirty="0">
              <a:latin typeface="Arial" pitchFamily="34" charset="0"/>
              <a:cs typeface="ＭＳ Ｐゴシック" charset="0"/>
            </a:endParaRPr>
          </a:p>
          <a:p>
            <a:pPr algn="just" eaLnBrk="1" hangingPunct="1">
              <a:defRPr/>
            </a:pPr>
            <a:endParaRPr lang="en-US" sz="3200" dirty="0">
              <a:latin typeface="Arial" pitchFamily="34" charset="0"/>
              <a:cs typeface="ＭＳ Ｐゴシック" charset="0"/>
            </a:endParaRPr>
          </a:p>
          <a:p>
            <a:pPr algn="just" eaLnBrk="1" hangingPunct="1">
              <a:defRPr/>
            </a:pPr>
            <a:endParaRPr lang="fr-FR" sz="3200" dirty="0">
              <a:latin typeface="Arial" pitchFamily="34" charset="0"/>
              <a:cs typeface="ＭＳ Ｐゴシック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62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/>
              <a:t>Termination of </a:t>
            </a:r>
            <a:r>
              <a:rPr lang="en-US" altLang="en-US" b="1" dirty="0" smtClean="0"/>
              <a:t>Response</a:t>
            </a:r>
            <a:endParaRPr lang="en-US" altLang="en-US" b="1" dirty="0" smtClean="0"/>
          </a:p>
        </p:txBody>
      </p:sp>
      <p:sp>
        <p:nvSpPr>
          <p:cNvPr id="2" name="Rectangle 3">
            <a:extLst/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8624" y="1088749"/>
            <a:ext cx="9830752" cy="5472113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GB" sz="3200" dirty="0">
                <a:ea typeface="ＭＳ Ｐゴシック" charset="0"/>
                <a:cs typeface="ＭＳ Ｐゴシック" charset="0"/>
              </a:rPr>
              <a:t>Termination of response is one of the most delicate stages of oil spill response</a:t>
            </a:r>
          </a:p>
          <a:p>
            <a:pPr lvl="1" indent="-420688">
              <a:buFont typeface="Wingdings" panose="05000000000000000000" pitchFamily="2" charset="2"/>
              <a:buChar char="Ø"/>
              <a:defRPr/>
            </a:pPr>
            <a:r>
              <a:rPr lang="en-GB" sz="2800" dirty="0">
                <a:ea typeface="ＭＳ Ｐゴシック" charset="0"/>
                <a:cs typeface="+mn-cs"/>
              </a:rPr>
              <a:t>Difficult to reach agreement on completion of clean-up</a:t>
            </a:r>
          </a:p>
          <a:p>
            <a:pPr lvl="2" indent="-430213"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ea typeface="ＭＳ Ｐゴシック" charset="0"/>
                <a:cs typeface="+mn-cs"/>
              </a:rPr>
              <a:t>Offshore waters</a:t>
            </a:r>
          </a:p>
          <a:p>
            <a:pPr lvl="2" indent="-430213"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ea typeface="ＭＳ Ｐゴシック" charset="0"/>
                <a:cs typeface="+mn-cs"/>
              </a:rPr>
              <a:t>Along various diverse shorelines</a:t>
            </a:r>
          </a:p>
          <a:p>
            <a:pPr lvl="1" indent="-420688">
              <a:buFont typeface="Wingdings" panose="05000000000000000000" pitchFamily="2" charset="2"/>
              <a:buChar char="Ø"/>
              <a:defRPr/>
            </a:pPr>
            <a:r>
              <a:rPr lang="en-GB" sz="2800" dirty="0">
                <a:ea typeface="ＭＳ Ｐゴシック" charset="0"/>
                <a:cs typeface="+mn-cs"/>
              </a:rPr>
              <a:t>Competing interests</a:t>
            </a:r>
          </a:p>
          <a:p>
            <a:pPr lvl="2" indent="-430213">
              <a:buFont typeface="Wingdings" panose="05000000000000000000" pitchFamily="2" charset="2"/>
              <a:buChar char="ü"/>
              <a:defRPr/>
            </a:pPr>
            <a:r>
              <a:rPr lang="en-GB" sz="2400" dirty="0">
                <a:ea typeface="ＭＳ Ｐゴシック" charset="0"/>
                <a:cs typeface="+mn-cs"/>
              </a:rPr>
              <a:t>Environmental</a:t>
            </a:r>
          </a:p>
          <a:p>
            <a:pPr lvl="2" indent="-430213">
              <a:buFont typeface="Wingdings" panose="05000000000000000000" pitchFamily="2" charset="2"/>
              <a:buChar char="ü"/>
              <a:defRPr/>
            </a:pPr>
            <a:r>
              <a:rPr lang="en-GB" sz="2400" dirty="0">
                <a:ea typeface="ＭＳ Ｐゴシック" charset="0"/>
                <a:cs typeface="+mn-cs"/>
              </a:rPr>
              <a:t>Technical</a:t>
            </a:r>
          </a:p>
          <a:p>
            <a:pPr lvl="2" indent="-430213">
              <a:buFont typeface="Wingdings" panose="05000000000000000000" pitchFamily="2" charset="2"/>
              <a:buChar char="ü"/>
              <a:defRPr/>
            </a:pPr>
            <a:r>
              <a:rPr lang="en-GB" sz="2400" dirty="0">
                <a:ea typeface="ＭＳ Ｐゴシック" charset="0"/>
                <a:cs typeface="+mn-cs"/>
              </a:rPr>
              <a:t>Economic</a:t>
            </a:r>
          </a:p>
          <a:p>
            <a:pPr lvl="2" indent="-430213">
              <a:buFont typeface="Wingdings" panose="05000000000000000000" pitchFamily="2" charset="2"/>
              <a:buChar char="ü"/>
              <a:defRPr/>
            </a:pPr>
            <a:r>
              <a:rPr lang="en-GB" sz="2400" dirty="0">
                <a:ea typeface="ＭＳ Ｐゴシック" charset="0"/>
                <a:cs typeface="+mn-cs"/>
              </a:rPr>
              <a:t>Political</a:t>
            </a:r>
          </a:p>
          <a:p>
            <a:pPr marL="457200" lvl="1" indent="0">
              <a:buNone/>
              <a:defRPr/>
            </a:pPr>
            <a:endParaRPr lang="en-GB" dirty="0">
              <a:ea typeface="ＭＳ Ｐゴシック" charset="0"/>
              <a:cs typeface="+mn-cs"/>
            </a:endParaRPr>
          </a:p>
          <a:p>
            <a:pPr>
              <a:buFont typeface="Arial" charset="0"/>
              <a:buChar char="•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Arial" charset="0"/>
              <a:buChar char="•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buFont typeface="Arial" charset="0"/>
              <a:buChar char="•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fr-FR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61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/>
              <a:t>Termination of </a:t>
            </a:r>
            <a:r>
              <a:rPr lang="en-US" altLang="en-US" b="1" dirty="0" smtClean="0"/>
              <a:t>Response</a:t>
            </a:r>
            <a:endParaRPr lang="en-US" altLang="en-US" b="1" dirty="0" smtClean="0"/>
          </a:p>
        </p:txBody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>
          <a:xfrm>
            <a:off x="940880" y="1088749"/>
            <a:ext cx="10580560" cy="5472113"/>
          </a:xfrm>
        </p:spPr>
        <p:txBody>
          <a:bodyPr/>
          <a:lstStyle/>
          <a:p>
            <a:pPr algn="just"/>
            <a:r>
              <a:rPr lang="en-GB" altLang="en-US" sz="3200" dirty="0" smtClean="0"/>
              <a:t>Typical questions during a response: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US" altLang="en-US" sz="2800" dirty="0" smtClean="0"/>
              <a:t>If dispersants are being used, when should their application be terminated?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US" altLang="en-US" sz="2800" dirty="0" smtClean="0"/>
              <a:t>At what point is it appropriate to demobilize recovery vessels?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Is further clean-up of sandy beaches necessary?</a:t>
            </a:r>
          </a:p>
          <a:p>
            <a:pPr algn="just"/>
            <a:r>
              <a:rPr lang="en-GB" altLang="en-US" sz="3200" dirty="0" smtClean="0"/>
              <a:t>In initial stages when a significant quantity of oil is present these decisions are easy to make.</a:t>
            </a:r>
          </a:p>
          <a:p>
            <a:pPr algn="just"/>
            <a:r>
              <a:rPr lang="en-GB" altLang="en-US" sz="3200" dirty="0" smtClean="0"/>
              <a:t>When oil quantities on water or shoreline are diminishing the decision is not as easily determined.</a:t>
            </a:r>
            <a:endParaRPr lang="en-US" altLang="en-US" sz="3200" dirty="0" smtClean="0"/>
          </a:p>
          <a:p>
            <a:pPr algn="just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algn="just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algn="just" eaLnBrk="1" hangingPunct="1"/>
            <a:endParaRPr lang="fr-FR" altLang="en-US" dirty="0" smtClean="0">
              <a:latin typeface="Arial" panose="020B0604020202020204" pitchFamily="34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70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Law of </a:t>
            </a:r>
            <a:r>
              <a:rPr lang="en-GB" altLang="en-US" b="1" dirty="0" smtClean="0"/>
              <a:t>Diminishing </a:t>
            </a:r>
            <a:r>
              <a:rPr lang="en-GB" altLang="en-US" b="1" dirty="0"/>
              <a:t>R</a:t>
            </a:r>
            <a:r>
              <a:rPr lang="en-GB" altLang="en-US" b="1" dirty="0" smtClean="0"/>
              <a:t>eturns</a:t>
            </a:r>
            <a:endParaRPr lang="en-GB" altLang="en-US" b="1" dirty="0" smtClean="0"/>
          </a:p>
        </p:txBody>
      </p:sp>
      <p:sp>
        <p:nvSpPr>
          <p:cNvPr id="22531" name="Espace réservé du contenu 1"/>
          <p:cNvSpPr>
            <a:spLocks noGrp="1"/>
          </p:cNvSpPr>
          <p:nvPr>
            <p:ph sz="half" idx="4294967295"/>
          </p:nvPr>
        </p:nvSpPr>
        <p:spPr>
          <a:xfrm>
            <a:off x="6858699" y="981075"/>
            <a:ext cx="4038600" cy="4929188"/>
          </a:xfrm>
        </p:spPr>
        <p:txBody>
          <a:bodyPr/>
          <a:lstStyle/>
          <a:p>
            <a:pPr marL="296863" indent="-296863"/>
            <a:r>
              <a:rPr lang="en-GB" altLang="en-US" dirty="0"/>
              <a:t>Oil plentiful in the early stages:</a:t>
            </a:r>
          </a:p>
          <a:p>
            <a:pPr marL="792163" lvl="1" indent="-304800">
              <a:buSzPct val="75000"/>
              <a:buFont typeface="Courier New" panose="02070309020205020404" pitchFamily="49" charset="0"/>
              <a:buChar char="o"/>
            </a:pPr>
            <a:r>
              <a:rPr lang="en-GB" altLang="en-US" dirty="0"/>
              <a:t>high volume of oil treatment</a:t>
            </a:r>
          </a:p>
          <a:p>
            <a:pPr marL="296863" indent="-296863"/>
            <a:r>
              <a:rPr lang="en-GB" altLang="en-US" dirty="0"/>
              <a:t>As clean-up brought to a close:</a:t>
            </a:r>
          </a:p>
          <a:p>
            <a:pPr marL="792163" lvl="1" indent="-304800">
              <a:buSzPct val="75000"/>
              <a:buFont typeface="Courier New" panose="02070309020205020404" pitchFamily="49" charset="0"/>
              <a:buChar char="o"/>
            </a:pPr>
            <a:r>
              <a:rPr lang="en-GB" altLang="en-US" dirty="0"/>
              <a:t>very little oil remains</a:t>
            </a:r>
          </a:p>
          <a:p>
            <a:pPr marL="296863" indent="-296863"/>
            <a:r>
              <a:rPr lang="en-GB" altLang="en-US" dirty="0"/>
              <a:t>At some point the costs of oil treatment are disproportionate to the benefits.</a:t>
            </a:r>
            <a:endParaRPr lang="fr-FR" altLang="en-US" dirty="0"/>
          </a:p>
        </p:txBody>
      </p:sp>
      <p:sp>
        <p:nvSpPr>
          <p:cNvPr id="22532" name="Text Box 6"/>
          <p:cNvSpPr txBox="1">
            <a:spLocks noChangeArrowheads="1"/>
          </p:cNvSpPr>
          <p:nvPr/>
        </p:nvSpPr>
        <p:spPr bwMode="auto">
          <a:xfrm>
            <a:off x="2720785" y="5247832"/>
            <a:ext cx="20955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 i="1">
                <a:solidFill>
                  <a:srgbClr val="1C1C1C"/>
                </a:solidFill>
                <a:latin typeface="Arial" panose="020B0604020202020204" pitchFamily="34" charset="0"/>
              </a:rPr>
              <a:t>Clean-up Effort</a:t>
            </a:r>
          </a:p>
        </p:txBody>
      </p:sp>
      <p:grpSp>
        <p:nvGrpSpPr>
          <p:cNvPr id="22533" name="Grouper 2"/>
          <p:cNvGrpSpPr>
            <a:grpSpLocks/>
          </p:cNvGrpSpPr>
          <p:nvPr/>
        </p:nvGrpSpPr>
        <p:grpSpPr bwMode="auto">
          <a:xfrm>
            <a:off x="1279335" y="1215582"/>
            <a:ext cx="4826000" cy="3887787"/>
            <a:chOff x="322233" y="2133600"/>
            <a:chExt cx="4826030" cy="3887788"/>
          </a:xfrm>
        </p:grpSpPr>
        <p:sp>
          <p:nvSpPr>
            <p:cNvPr id="22534" name="Line 4"/>
            <p:cNvSpPr>
              <a:spLocks noChangeShapeType="1"/>
            </p:cNvSpPr>
            <p:nvPr/>
          </p:nvSpPr>
          <p:spPr bwMode="auto">
            <a:xfrm flipV="1">
              <a:off x="827088" y="2133600"/>
              <a:ext cx="0" cy="3887788"/>
            </a:xfrm>
            <a:prstGeom prst="line">
              <a:avLst/>
            </a:prstGeom>
            <a:noFill/>
            <a:ln w="38100">
              <a:solidFill>
                <a:srgbClr val="1C1C1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35" name="Line 5"/>
            <p:cNvSpPr>
              <a:spLocks noChangeShapeType="1"/>
            </p:cNvSpPr>
            <p:nvPr/>
          </p:nvSpPr>
          <p:spPr bwMode="auto">
            <a:xfrm>
              <a:off x="827088" y="6021388"/>
              <a:ext cx="4321175" cy="0"/>
            </a:xfrm>
            <a:prstGeom prst="line">
              <a:avLst/>
            </a:prstGeom>
            <a:noFill/>
            <a:ln w="38100">
              <a:solidFill>
                <a:srgbClr val="1C1C1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536" name="Text Box 7"/>
            <p:cNvSpPr txBox="1">
              <a:spLocks noChangeArrowheads="1"/>
            </p:cNvSpPr>
            <p:nvPr/>
          </p:nvSpPr>
          <p:spPr bwMode="auto">
            <a:xfrm rot="-5400000">
              <a:off x="-588168" y="4052064"/>
              <a:ext cx="222091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000" b="1" i="1">
                  <a:solidFill>
                    <a:srgbClr val="1C1C1C"/>
                  </a:solidFill>
                  <a:latin typeface="Arial" panose="020B0604020202020204" pitchFamily="34" charset="0"/>
                </a:rPr>
                <a:t>Oil Treated</a:t>
              </a:r>
            </a:p>
          </p:txBody>
        </p:sp>
        <p:sp>
          <p:nvSpPr>
            <p:cNvPr id="22537" name="Arc 8"/>
            <p:cNvSpPr>
              <a:spLocks/>
            </p:cNvSpPr>
            <p:nvPr/>
          </p:nvSpPr>
          <p:spPr bwMode="auto">
            <a:xfrm rot="10800000">
              <a:off x="1331913" y="2781300"/>
              <a:ext cx="1800225" cy="2657475"/>
            </a:xfrm>
            <a:custGeom>
              <a:avLst/>
              <a:gdLst>
                <a:gd name="T0" fmla="*/ 2147483646 w 21600"/>
                <a:gd name="T1" fmla="*/ 0 h 21600"/>
                <a:gd name="T2" fmla="*/ 2147483646 w 21600"/>
                <a:gd name="T3" fmla="*/ 2147483646 h 21600"/>
                <a:gd name="T4" fmla="*/ 0 w 21600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36" y="0"/>
                  </a:moveTo>
                  <a:cubicBezTo>
                    <a:pt x="11951" y="20"/>
                    <a:pt x="21600" y="9685"/>
                    <a:pt x="21600" y="21600"/>
                  </a:cubicBezTo>
                </a:path>
                <a:path w="21600" h="21600" stroke="0" extrusionOk="0">
                  <a:moveTo>
                    <a:pt x="36" y="0"/>
                  </a:moveTo>
                  <a:cubicBezTo>
                    <a:pt x="11951" y="20"/>
                    <a:pt x="21600" y="9685"/>
                    <a:pt x="21600" y="21600"/>
                  </a:cubicBezTo>
                  <a:lnTo>
                    <a:pt x="0" y="21600"/>
                  </a:lnTo>
                  <a:lnTo>
                    <a:pt x="36" y="0"/>
                  </a:lnTo>
                  <a:close/>
                </a:path>
              </a:pathLst>
            </a:cu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538" name="Line 9"/>
            <p:cNvSpPr>
              <a:spLocks noChangeShapeType="1"/>
            </p:cNvSpPr>
            <p:nvPr/>
          </p:nvSpPr>
          <p:spPr bwMode="auto">
            <a:xfrm>
              <a:off x="3059113" y="5445125"/>
              <a:ext cx="208756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750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Termination of </a:t>
            </a:r>
            <a:r>
              <a:rPr lang="en-GB" altLang="en-US" b="1" dirty="0" smtClean="0"/>
              <a:t>Response</a:t>
            </a:r>
            <a:endParaRPr lang="en-GB" altLang="en-US" b="1" dirty="0" smtClean="0"/>
          </a:p>
        </p:txBody>
      </p:sp>
      <p:sp>
        <p:nvSpPr>
          <p:cNvPr id="23555" name="Rectangle 3"/>
          <p:cNvSpPr>
            <a:spLocks noGrp="1"/>
          </p:cNvSpPr>
          <p:nvPr>
            <p:ph type="body" idx="1"/>
          </p:nvPr>
        </p:nvSpPr>
        <p:spPr>
          <a:xfrm>
            <a:off x="1052448" y="1023240"/>
            <a:ext cx="10478135" cy="4968875"/>
          </a:xfrm>
        </p:spPr>
        <p:txBody>
          <a:bodyPr/>
          <a:lstStyle/>
          <a:p>
            <a:pPr algn="just"/>
            <a:r>
              <a:rPr lang="en-US" altLang="en-US" sz="3200" dirty="0" smtClean="0"/>
              <a:t>Objectives of response must be clearly established, if at all possible, before a spill even occurs, as part of the planning process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Agreement between stakeholders</a:t>
            </a:r>
          </a:p>
          <a:p>
            <a:pPr lvl="2" indent="-430213" algn="just"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Government</a:t>
            </a:r>
          </a:p>
          <a:p>
            <a:pPr lvl="2" indent="-430213" algn="just"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Potential responsible parties including ship/facility owners</a:t>
            </a:r>
          </a:p>
          <a:p>
            <a:pPr lvl="2" indent="-430213" algn="just"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Other key stakeholders such as landowners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Set termination criteria</a:t>
            </a:r>
          </a:p>
          <a:p>
            <a:pPr algn="just"/>
            <a:r>
              <a:rPr lang="en-GB" altLang="en-US" sz="3200" dirty="0" smtClean="0"/>
              <a:t>When these objectives are reached, response should end.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39055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Termination of </a:t>
            </a:r>
            <a:r>
              <a:rPr lang="en-GB" altLang="en-US" b="1" dirty="0" smtClean="0"/>
              <a:t>Response</a:t>
            </a:r>
            <a:r>
              <a:rPr lang="en-GB" altLang="en-US" b="1" dirty="0" smtClean="0"/>
              <a:t>	</a:t>
            </a:r>
          </a:p>
        </p:txBody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xfrm>
            <a:off x="1497012" y="1008507"/>
            <a:ext cx="9631236" cy="4679950"/>
          </a:xfrm>
        </p:spPr>
        <p:txBody>
          <a:bodyPr/>
          <a:lstStyle/>
          <a:p>
            <a:r>
              <a:rPr lang="en-GB" altLang="en-US" sz="3200" dirty="0" smtClean="0"/>
              <a:t>Overall objectives: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At sea</a:t>
            </a:r>
          </a:p>
          <a:p>
            <a:pPr lvl="2" indent="-430213"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Attempt to treat oil to minimize pollution damages</a:t>
            </a:r>
          </a:p>
          <a:p>
            <a:pPr lvl="1" indent="-420688">
              <a:spcBef>
                <a:spcPct val="65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>
                <a:solidFill>
                  <a:srgbClr val="000000"/>
                </a:solidFill>
              </a:rPr>
              <a:t>On shore</a:t>
            </a:r>
          </a:p>
          <a:p>
            <a:pPr lvl="2" indent="-430213"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Restore the use or value of the polluted area whilst minimizing further pollution damages</a:t>
            </a:r>
          </a:p>
          <a:p>
            <a:r>
              <a:rPr lang="en-GB" altLang="en-US" sz="3200" dirty="0" smtClean="0"/>
              <a:t>Need for specific termination criteria</a:t>
            </a:r>
          </a:p>
          <a:p>
            <a:r>
              <a:rPr lang="en-GB" altLang="en-US" sz="3200" dirty="0" smtClean="0"/>
              <a:t>How clean is clean?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68640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bject 4">
            <a:extLst/>
          </p:cNvPr>
          <p:cNvSpPr txBox="1"/>
          <p:nvPr/>
        </p:nvSpPr>
        <p:spPr>
          <a:xfrm>
            <a:off x="3200400" y="44755"/>
            <a:ext cx="6080759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>
              <a:defRPr/>
            </a:pPr>
            <a:r>
              <a:rPr sz="4400" b="1" spc="-35" dirty="0">
                <a:latin typeface="+mj-lt"/>
                <a:ea typeface="MS PGothic" panose="020B0600070205080204" pitchFamily="50" charset="-128"/>
                <a:cs typeface="Calibri"/>
              </a:rPr>
              <a:t>How</a:t>
            </a:r>
            <a:r>
              <a:rPr sz="4400" b="1" spc="-5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4400" b="1" spc="-20" dirty="0">
                <a:latin typeface="+mj-lt"/>
                <a:ea typeface="MS PGothic" panose="020B0600070205080204" pitchFamily="50" charset="-128"/>
                <a:cs typeface="Calibri"/>
              </a:rPr>
              <a:t>clean</a:t>
            </a:r>
            <a:r>
              <a:rPr sz="4400" b="1" spc="10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4400" b="1" dirty="0">
                <a:latin typeface="+mj-lt"/>
                <a:ea typeface="MS PGothic" panose="020B0600070205080204" pitchFamily="50" charset="-128"/>
                <a:cs typeface="Calibri"/>
              </a:rPr>
              <a:t>is</a:t>
            </a:r>
            <a:r>
              <a:rPr sz="4400" b="1" spc="10" dirty="0">
                <a:latin typeface="+mj-lt"/>
                <a:ea typeface="MS PGothic" panose="020B0600070205080204" pitchFamily="50" charset="-128"/>
                <a:cs typeface="Calibri"/>
              </a:rPr>
              <a:t> </a:t>
            </a:r>
            <a:r>
              <a:rPr sz="4400" b="1" spc="-25" dirty="0">
                <a:latin typeface="+mj-lt"/>
                <a:ea typeface="MS PGothic" panose="020B0600070205080204" pitchFamily="50" charset="-128"/>
                <a:cs typeface="MS PGothic"/>
              </a:rPr>
              <a:t>“</a:t>
            </a:r>
            <a:r>
              <a:rPr sz="4400" b="1" spc="-20" dirty="0">
                <a:latin typeface="+mj-lt"/>
                <a:ea typeface="MS PGothic" panose="020B0600070205080204" pitchFamily="50" charset="-128"/>
                <a:cs typeface="Calibri"/>
              </a:rPr>
              <a:t>clea</a:t>
            </a:r>
            <a:r>
              <a:rPr sz="4400" b="1" spc="-30" dirty="0">
                <a:latin typeface="+mj-lt"/>
                <a:ea typeface="MS PGothic" panose="020B0600070205080204" pitchFamily="50" charset="-128"/>
                <a:cs typeface="Calibri"/>
              </a:rPr>
              <a:t>n</a:t>
            </a:r>
            <a:r>
              <a:rPr sz="4400" b="1" spc="-25" dirty="0">
                <a:latin typeface="+mj-lt"/>
                <a:ea typeface="MS PGothic" panose="020B0600070205080204" pitchFamily="50" charset="-128"/>
                <a:cs typeface="MS PGothic"/>
              </a:rPr>
              <a:t>”</a:t>
            </a:r>
            <a:r>
              <a:rPr sz="4400" b="1" dirty="0">
                <a:latin typeface="+mj-lt"/>
                <a:ea typeface="MS PGothic" panose="020B0600070205080204" pitchFamily="50" charset="-128"/>
                <a:cs typeface="Calibri"/>
              </a:rPr>
              <a:t>?</a:t>
            </a:r>
          </a:p>
        </p:txBody>
      </p:sp>
      <p:sp>
        <p:nvSpPr>
          <p:cNvPr id="5" name="object 5">
            <a:extLst/>
          </p:cNvPr>
          <p:cNvSpPr txBox="1"/>
          <p:nvPr/>
        </p:nvSpPr>
        <p:spPr>
          <a:xfrm>
            <a:off x="1098168" y="1040623"/>
            <a:ext cx="10340975" cy="4993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622300" indent="-609600" algn="just">
              <a:buFont typeface="Arial"/>
              <a:buChar char="•"/>
              <a:tabLst>
                <a:tab pos="622300" algn="l"/>
              </a:tabLst>
              <a:defRPr/>
            </a:pPr>
            <a:r>
              <a:rPr sz="3000" spc="-25" dirty="0">
                <a:ea typeface="MS PGothic" panose="020B0600070205080204" pitchFamily="50" charset="-128"/>
                <a:cs typeface="Calibri"/>
              </a:rPr>
              <a:t>D</a:t>
            </a:r>
            <a:r>
              <a:rPr sz="3000" spc="-55" dirty="0">
                <a:ea typeface="MS PGothic" panose="020B0600070205080204" pitchFamily="50" charset="-128"/>
                <a:cs typeface="Calibri"/>
              </a:rPr>
              <a:t>e</a:t>
            </a:r>
            <a:r>
              <a:rPr sz="3000" spc="-5" dirty="0">
                <a:ea typeface="MS PGothic" panose="020B0600070205080204" pitchFamily="50" charset="-128"/>
                <a:cs typeface="Calibri"/>
              </a:rPr>
              <a:t>finitio</a:t>
            </a:r>
            <a:r>
              <a:rPr sz="3000" dirty="0">
                <a:ea typeface="MS PGothic" panose="020B0600070205080204" pitchFamily="50" charset="-128"/>
                <a:cs typeface="Calibri"/>
              </a:rPr>
              <a:t>n</a:t>
            </a:r>
            <a:r>
              <a:rPr sz="3000" spc="40" dirty="0">
                <a:ea typeface="MS PGothic" panose="020B0600070205080204" pitchFamily="50" charset="-128"/>
                <a:cs typeface="Calibri"/>
              </a:rPr>
              <a:t> </a:t>
            </a:r>
            <a:r>
              <a:rPr sz="3000" spc="-25" dirty="0">
                <a:ea typeface="MS PGothic" panose="020B0600070205080204" pitchFamily="50" charset="-128"/>
                <a:cs typeface="Calibri"/>
              </a:rPr>
              <a:t>o</a:t>
            </a:r>
            <a:r>
              <a:rPr sz="3000" spc="-10" dirty="0">
                <a:ea typeface="MS PGothic" panose="020B0600070205080204" pitchFamily="50" charset="-128"/>
                <a:cs typeface="Calibri"/>
              </a:rPr>
              <a:t>f</a:t>
            </a:r>
            <a:r>
              <a:rPr sz="3000" spc="10" dirty="0">
                <a:ea typeface="MS PGothic" panose="020B0600070205080204" pitchFamily="50" charset="-128"/>
                <a:cs typeface="Calibri"/>
              </a:rPr>
              <a:t> </a:t>
            </a:r>
            <a:r>
              <a:rPr sz="3000" spc="-20" dirty="0">
                <a:ea typeface="MS PGothic" panose="020B0600070205080204" pitchFamily="50" charset="-128"/>
                <a:cs typeface="MS PGothic"/>
              </a:rPr>
              <a:t>“</a:t>
            </a:r>
            <a:r>
              <a:rPr sz="3000" spc="-20" dirty="0">
                <a:ea typeface="MS PGothic" panose="020B0600070205080204" pitchFamily="50" charset="-128"/>
                <a:cs typeface="Calibri"/>
              </a:rPr>
              <a:t>clean</a:t>
            </a:r>
            <a:r>
              <a:rPr sz="3000" spc="-20" dirty="0">
                <a:ea typeface="MS PGothic" panose="020B0600070205080204" pitchFamily="50" charset="-128"/>
                <a:cs typeface="MS PGothic"/>
              </a:rPr>
              <a:t>”</a:t>
            </a:r>
            <a:r>
              <a:rPr lang="en-US" sz="3000" spc="-20" dirty="0">
                <a:ea typeface="MS PGothic" panose="020B0600070205080204" pitchFamily="50" charset="-128"/>
                <a:cs typeface="MS PGothic"/>
              </a:rPr>
              <a:t> – must be agreed upon by key stakeholders and should be for specific areas and/or circumstances.  </a:t>
            </a:r>
          </a:p>
          <a:p>
            <a:pPr marL="12700" algn="just">
              <a:tabLst>
                <a:tab pos="622300" algn="l"/>
              </a:tabLst>
              <a:defRPr/>
            </a:pPr>
            <a:r>
              <a:rPr lang="en-US" sz="3000" spc="-20" dirty="0">
                <a:ea typeface="MS PGothic" panose="020B0600070205080204" pitchFamily="50" charset="-128"/>
                <a:cs typeface="MS PGothic"/>
              </a:rPr>
              <a:t>	Considerations include:</a:t>
            </a:r>
            <a:endParaRPr sz="3000" dirty="0">
              <a:ea typeface="MS PGothic" panose="020B0600070205080204" pitchFamily="50" charset="-128"/>
              <a:cs typeface="MS PGothic"/>
            </a:endParaRPr>
          </a:p>
          <a:p>
            <a:pPr marL="1260000" lvl="1" indent="-609600" algn="just">
              <a:spcBef>
                <a:spcPts val="315"/>
              </a:spcBef>
              <a:buFont typeface="Wingdings" panose="05000000000000000000" pitchFamily="2" charset="2"/>
              <a:buChar char="Ø"/>
              <a:tabLst>
                <a:tab pos="622300" algn="l"/>
              </a:tabLst>
              <a:defRPr/>
            </a:pPr>
            <a:r>
              <a:rPr sz="2600" spc="-25" dirty="0">
                <a:latin typeface="Calibri"/>
                <a:ea typeface="MS PGothic" panose="020B0600070205080204" pitchFamily="50" charset="-128"/>
                <a:cs typeface="Calibri"/>
              </a:rPr>
              <a:t>N</a:t>
            </a:r>
            <a:r>
              <a:rPr sz="2600" spc="-60" dirty="0">
                <a:latin typeface="Calibri"/>
                <a:ea typeface="MS PGothic" panose="020B0600070205080204" pitchFamily="50" charset="-128"/>
                <a:cs typeface="Calibri"/>
              </a:rPr>
              <a:t>a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tu</a:t>
            </a:r>
            <a:r>
              <a:rPr sz="2600" spc="-80" dirty="0">
                <a:latin typeface="Calibri"/>
                <a:ea typeface="MS PGothic" panose="020B0600070205080204" pitchFamily="50" charset="-128"/>
                <a:cs typeface="Calibri"/>
              </a:rPr>
              <a:t>r</a:t>
            </a:r>
            <a:r>
              <a:rPr sz="2600" dirty="0">
                <a:latin typeface="Calibri"/>
                <a:ea typeface="MS PGothic" panose="020B0600070205080204" pitchFamily="50" charset="-128"/>
                <a:cs typeface="Calibri"/>
              </a:rPr>
              <a:t>al</a:t>
            </a:r>
            <a:r>
              <a:rPr sz="2600" spc="20" dirty="0">
                <a:latin typeface="Calibri"/>
                <a:ea typeface="MS PGothic" panose="020B0600070205080204" pitchFamily="50" charset="-128"/>
                <a:cs typeface="Calibri"/>
              </a:rPr>
              <a:t> </a:t>
            </a:r>
            <a:r>
              <a:rPr sz="2600" spc="-25" dirty="0">
                <a:latin typeface="Calibri"/>
                <a:ea typeface="MS PGothic" panose="020B0600070205080204" pitchFamily="50" charset="-128"/>
                <a:cs typeface="Calibri"/>
              </a:rPr>
              <a:t>p</a:t>
            </a:r>
            <a:r>
              <a:rPr sz="2600" spc="-70" dirty="0">
                <a:latin typeface="Calibri"/>
                <a:ea typeface="MS PGothic" panose="020B0600070205080204" pitchFamily="50" charset="-128"/>
                <a:cs typeface="Calibri"/>
              </a:rPr>
              <a:t>r</a:t>
            </a:r>
            <a:r>
              <a:rPr sz="2600" spc="-20" dirty="0">
                <a:latin typeface="Calibri"/>
                <a:ea typeface="MS PGothic" panose="020B0600070205080204" pitchFamily="50" charset="-128"/>
                <a:cs typeface="Calibri"/>
              </a:rPr>
              <a:t>ocess</a:t>
            </a:r>
            <a:r>
              <a:rPr sz="2600" spc="-30" dirty="0">
                <a:latin typeface="Calibri"/>
                <a:ea typeface="MS PGothic" panose="020B0600070205080204" pitchFamily="50" charset="-128"/>
                <a:cs typeface="Calibri"/>
              </a:rPr>
              <a:t>e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s</a:t>
            </a:r>
            <a:r>
              <a:rPr sz="2600" spc="-5" dirty="0">
                <a:latin typeface="Calibri"/>
                <a:ea typeface="MS PGothic" panose="020B0600070205080204" pitchFamily="50" charset="-128"/>
                <a:cs typeface="Calibri"/>
              </a:rPr>
              <a:t> </a:t>
            </a:r>
            <a:r>
              <a:rPr sz="2600" spc="-20" dirty="0">
                <a:latin typeface="Calibri"/>
                <a:ea typeface="MS PGothic" panose="020B0600070205080204" pitchFamily="50" charset="-128"/>
                <a:cs typeface="Calibri"/>
              </a:rPr>
              <a:t>and</a:t>
            </a:r>
            <a:r>
              <a:rPr sz="2600" spc="25" dirty="0">
                <a:latin typeface="Calibri"/>
                <a:ea typeface="MS PGothic" panose="020B0600070205080204" pitchFamily="50" charset="-128"/>
                <a:cs typeface="Calibri"/>
              </a:rPr>
              <a:t> 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tim</a:t>
            </a:r>
            <a:r>
              <a:rPr sz="2600" spc="-10" dirty="0">
                <a:latin typeface="Calibri"/>
                <a:ea typeface="MS PGothic" panose="020B0600070205080204" pitchFamily="50" charset="-128"/>
                <a:cs typeface="Calibri"/>
              </a:rPr>
              <a:t>e</a:t>
            </a:r>
            <a:r>
              <a:rPr sz="2600" spc="-20" dirty="0">
                <a:latin typeface="Calibri"/>
                <a:ea typeface="MS PGothic" panose="020B0600070205080204" pitchFamily="50" charset="-128"/>
                <a:cs typeface="Calibri"/>
              </a:rPr>
              <a:t>s</a:t>
            </a:r>
            <a:r>
              <a:rPr sz="2600" spc="-45" dirty="0">
                <a:latin typeface="Calibri"/>
                <a:ea typeface="MS PGothic" panose="020B0600070205080204" pitchFamily="50" charset="-128"/>
                <a:cs typeface="Calibri"/>
              </a:rPr>
              <a:t>c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ale</a:t>
            </a:r>
            <a:endParaRPr sz="2600" dirty="0">
              <a:latin typeface="Calibri"/>
              <a:ea typeface="MS PGothic" panose="020B0600070205080204" pitchFamily="50" charset="-128"/>
              <a:cs typeface="Calibri"/>
            </a:endParaRPr>
          </a:p>
          <a:p>
            <a:pPr marL="1260000" lvl="1" indent="-609600" algn="just">
              <a:spcBef>
                <a:spcPts val="384"/>
              </a:spcBef>
              <a:buFont typeface="Wingdings" panose="05000000000000000000" pitchFamily="2" charset="2"/>
              <a:buChar char="Ø"/>
              <a:tabLst>
                <a:tab pos="622300" algn="l"/>
              </a:tabLst>
              <a:defRPr/>
            </a:pPr>
            <a:r>
              <a:rPr sz="2600" spc="-125" dirty="0">
                <a:latin typeface="Calibri"/>
                <a:ea typeface="MS PGothic" panose="020B0600070205080204" pitchFamily="50" charset="-128"/>
                <a:cs typeface="Calibri"/>
              </a:rPr>
              <a:t>E</a:t>
            </a:r>
            <a:r>
              <a:rPr sz="2600" spc="-40" dirty="0">
                <a:latin typeface="Calibri"/>
                <a:ea typeface="MS PGothic" panose="020B0600070205080204" pitchFamily="50" charset="-128"/>
                <a:cs typeface="Calibri"/>
              </a:rPr>
              <a:t>f</a:t>
            </a:r>
            <a:r>
              <a:rPr sz="2600" spc="-90" dirty="0">
                <a:latin typeface="Calibri"/>
                <a:ea typeface="MS PGothic" panose="020B0600070205080204" pitchFamily="50" charset="-128"/>
                <a:cs typeface="Calibri"/>
              </a:rPr>
              <a:t>f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ecti</a:t>
            </a:r>
            <a:r>
              <a:rPr sz="2600" spc="-55" dirty="0">
                <a:latin typeface="Calibri"/>
                <a:ea typeface="MS PGothic" panose="020B0600070205080204" pitchFamily="50" charset="-128"/>
                <a:cs typeface="Calibri"/>
              </a:rPr>
              <a:t>v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eness </a:t>
            </a:r>
            <a:r>
              <a:rPr sz="2600" spc="-25" dirty="0">
                <a:latin typeface="Calibri"/>
                <a:ea typeface="MS PGothic" panose="020B0600070205080204" pitchFamily="50" charset="-128"/>
                <a:cs typeface="Calibri"/>
              </a:rPr>
              <a:t>o</a:t>
            </a:r>
            <a:r>
              <a:rPr sz="2600" spc="-10" dirty="0">
                <a:latin typeface="Calibri"/>
                <a:ea typeface="MS PGothic" panose="020B0600070205080204" pitchFamily="50" charset="-128"/>
                <a:cs typeface="Calibri"/>
              </a:rPr>
              <a:t>f</a:t>
            </a:r>
            <a:r>
              <a:rPr sz="2600" dirty="0">
                <a:latin typeface="Calibri"/>
                <a:ea typeface="MS PGothic" panose="020B0600070205080204" pitchFamily="50" charset="-128"/>
                <a:cs typeface="Calibri"/>
              </a:rPr>
              <a:t> 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clean-</a:t>
            </a:r>
            <a:r>
              <a:rPr sz="2600" spc="-5" dirty="0">
                <a:latin typeface="Calibri"/>
                <a:ea typeface="MS PGothic" panose="020B0600070205080204" pitchFamily="50" charset="-128"/>
                <a:cs typeface="Calibri"/>
              </a:rPr>
              <a:t>u</a:t>
            </a:r>
            <a:r>
              <a:rPr sz="2600" dirty="0">
                <a:latin typeface="Calibri"/>
                <a:ea typeface="MS PGothic" panose="020B0600070205080204" pitchFamily="50" charset="-128"/>
                <a:cs typeface="Calibri"/>
              </a:rPr>
              <a:t>p</a:t>
            </a:r>
            <a:r>
              <a:rPr sz="2600" spc="30" dirty="0">
                <a:latin typeface="Calibri"/>
                <a:ea typeface="MS PGothic" panose="020B0600070205080204" pitchFamily="50" charset="-128"/>
                <a:cs typeface="Calibri"/>
              </a:rPr>
              <a:t> </a:t>
            </a:r>
            <a:r>
              <a:rPr sz="2600" spc="-30" dirty="0">
                <a:latin typeface="Calibri"/>
                <a:ea typeface="MS PGothic" panose="020B0600070205080204" pitchFamily="50" charset="-128"/>
                <a:cs typeface="Calibri"/>
              </a:rPr>
              <a:t>m</a:t>
            </a:r>
            <a:r>
              <a:rPr sz="2600" spc="-40" dirty="0">
                <a:latin typeface="Calibri"/>
                <a:ea typeface="MS PGothic" panose="020B0600070205080204" pitchFamily="50" charset="-128"/>
                <a:cs typeface="Calibri"/>
              </a:rPr>
              <a:t>e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thods</a:t>
            </a:r>
            <a:endParaRPr sz="2600" dirty="0">
              <a:latin typeface="Calibri"/>
              <a:ea typeface="MS PGothic" panose="020B0600070205080204" pitchFamily="50" charset="-128"/>
              <a:cs typeface="Calibri"/>
            </a:endParaRPr>
          </a:p>
          <a:p>
            <a:pPr marL="1260000" lvl="1" indent="-609600" algn="just"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622300" algn="l"/>
              </a:tabLst>
              <a:defRPr/>
            </a:pPr>
            <a:r>
              <a:rPr sz="2600" spc="-5" dirty="0">
                <a:latin typeface="Calibri"/>
                <a:ea typeface="MS PGothic" panose="020B0600070205080204" pitchFamily="50" charset="-128"/>
                <a:cs typeface="Calibri"/>
              </a:rPr>
              <a:t>Soci</a:t>
            </a:r>
            <a:r>
              <a:rPr sz="2600" dirty="0">
                <a:latin typeface="Calibri"/>
                <a:ea typeface="MS PGothic" panose="020B0600070205080204" pitchFamily="50" charset="-128"/>
                <a:cs typeface="Calibri"/>
              </a:rPr>
              <a:t>o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-</a:t>
            </a:r>
            <a:r>
              <a:rPr sz="2600" spc="-20" dirty="0">
                <a:latin typeface="Calibri"/>
                <a:ea typeface="MS PGothic" panose="020B0600070205080204" pitchFamily="50" charset="-128"/>
                <a:cs typeface="Calibri"/>
              </a:rPr>
              <a:t>e</a:t>
            </a:r>
            <a:r>
              <a:rPr sz="2600" spc="-45" dirty="0">
                <a:latin typeface="Calibri"/>
                <a:ea typeface="MS PGothic" panose="020B0600070205080204" pitchFamily="50" charset="-128"/>
                <a:cs typeface="Calibri"/>
              </a:rPr>
              <a:t>c</a:t>
            </a:r>
            <a:r>
              <a:rPr sz="2600" spc="-25" dirty="0">
                <a:latin typeface="Calibri"/>
                <a:ea typeface="MS PGothic" panose="020B0600070205080204" pitchFamily="50" charset="-128"/>
                <a:cs typeface="Calibri"/>
              </a:rPr>
              <a:t>onomi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c</a:t>
            </a:r>
            <a:r>
              <a:rPr sz="2600" spc="35" dirty="0">
                <a:latin typeface="Calibri"/>
                <a:ea typeface="MS PGothic" panose="020B0600070205080204" pitchFamily="50" charset="-128"/>
                <a:cs typeface="Calibri"/>
              </a:rPr>
              <a:t> </a:t>
            </a:r>
            <a:r>
              <a:rPr sz="2600" spc="-45" dirty="0">
                <a:latin typeface="Calibri"/>
                <a:ea typeface="MS PGothic" panose="020B0600070205080204" pitchFamily="50" charset="-128"/>
                <a:cs typeface="Calibri"/>
              </a:rPr>
              <a:t>c</a:t>
            </a:r>
            <a:r>
              <a:rPr sz="2600" spc="-20" dirty="0">
                <a:latin typeface="Calibri"/>
                <a:ea typeface="MS PGothic" panose="020B0600070205080204" pitchFamily="50" charset="-128"/>
                <a:cs typeface="Calibri"/>
              </a:rPr>
              <a:t>onside</a:t>
            </a:r>
            <a:r>
              <a:rPr sz="2600" spc="-80" dirty="0">
                <a:latin typeface="Calibri"/>
                <a:ea typeface="MS PGothic" panose="020B0600070205080204" pitchFamily="50" charset="-128"/>
                <a:cs typeface="Calibri"/>
              </a:rPr>
              <a:t>r</a:t>
            </a:r>
            <a:r>
              <a:rPr sz="2600" spc="-55" dirty="0">
                <a:latin typeface="Calibri"/>
                <a:ea typeface="MS PGothic" panose="020B0600070205080204" pitchFamily="50" charset="-128"/>
                <a:cs typeface="Calibri"/>
              </a:rPr>
              <a:t>a</a:t>
            </a:r>
            <a:r>
              <a:rPr sz="2600" dirty="0">
                <a:latin typeface="Calibri"/>
                <a:ea typeface="MS PGothic" panose="020B0600070205080204" pitchFamily="50" charset="-128"/>
                <a:cs typeface="Calibri"/>
              </a:rPr>
              <a:t>tions</a:t>
            </a:r>
            <a:endParaRPr lang="en-GB" sz="2600" dirty="0">
              <a:latin typeface="Calibri"/>
              <a:ea typeface="MS PGothic" panose="020B0600070205080204" pitchFamily="50" charset="-128"/>
              <a:cs typeface="Calibri"/>
            </a:endParaRPr>
          </a:p>
          <a:p>
            <a:pPr marL="1260000" lvl="1" indent="-609600" algn="just"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622300" algn="l"/>
              </a:tabLst>
              <a:defRPr/>
            </a:pPr>
            <a:r>
              <a:rPr lang="en-GB" sz="2600" dirty="0">
                <a:latin typeface="Calibri"/>
                <a:ea typeface="MS PGothic" panose="020B0600070205080204" pitchFamily="50" charset="-128"/>
                <a:cs typeface="Calibri"/>
              </a:rPr>
              <a:t>Archaeological and cultural considerations</a:t>
            </a:r>
            <a:endParaRPr sz="2600" dirty="0">
              <a:latin typeface="Calibri"/>
              <a:ea typeface="MS PGothic" panose="020B0600070205080204" pitchFamily="50" charset="-128"/>
              <a:cs typeface="Calibri"/>
            </a:endParaRPr>
          </a:p>
          <a:p>
            <a:pPr marL="1260000" lvl="1" indent="-609600" algn="just">
              <a:spcBef>
                <a:spcPts val="385"/>
              </a:spcBef>
              <a:buFont typeface="Wingdings" panose="05000000000000000000" pitchFamily="2" charset="2"/>
              <a:buChar char="Ø"/>
              <a:tabLst>
                <a:tab pos="622300" algn="l"/>
              </a:tabLst>
              <a:defRPr/>
            </a:pPr>
            <a:r>
              <a:rPr sz="2600" spc="-5" dirty="0">
                <a:latin typeface="Calibri"/>
                <a:ea typeface="MS PGothic" panose="020B0600070205080204" pitchFamily="50" charset="-128"/>
                <a:cs typeface="Calibri"/>
              </a:rPr>
              <a:t>E</a:t>
            </a:r>
            <a:r>
              <a:rPr sz="2600" spc="-60" dirty="0">
                <a:latin typeface="Calibri"/>
                <a:ea typeface="MS PGothic" panose="020B0600070205080204" pitchFamily="50" charset="-128"/>
                <a:cs typeface="Calibri"/>
              </a:rPr>
              <a:t>n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vi</a:t>
            </a:r>
            <a:r>
              <a:rPr sz="2600" spc="-75" dirty="0">
                <a:latin typeface="Calibri"/>
                <a:ea typeface="MS PGothic" panose="020B0600070205080204" pitchFamily="50" charset="-128"/>
                <a:cs typeface="Calibri"/>
              </a:rPr>
              <a:t>r</a:t>
            </a:r>
            <a:r>
              <a:rPr sz="2600" spc="-25" dirty="0">
                <a:latin typeface="Calibri"/>
                <a:ea typeface="MS PGothic" panose="020B0600070205080204" pitchFamily="50" charset="-128"/>
                <a:cs typeface="Calibri"/>
              </a:rPr>
              <a:t>onm</a:t>
            </a:r>
            <a:r>
              <a:rPr sz="2600" spc="-10" dirty="0">
                <a:latin typeface="Calibri"/>
                <a:ea typeface="MS PGothic" panose="020B0600070205080204" pitchFamily="50" charset="-128"/>
                <a:cs typeface="Calibri"/>
              </a:rPr>
              <a:t>e</a:t>
            </a:r>
            <a:r>
              <a:rPr sz="2600" spc="-30" dirty="0">
                <a:latin typeface="Calibri"/>
                <a:ea typeface="MS PGothic" panose="020B0600070205080204" pitchFamily="50" charset="-128"/>
                <a:cs typeface="Calibri"/>
              </a:rPr>
              <a:t>n</a:t>
            </a:r>
            <a:r>
              <a:rPr sz="2600" spc="-50" dirty="0">
                <a:latin typeface="Calibri"/>
                <a:ea typeface="MS PGothic" panose="020B0600070205080204" pitchFamily="50" charset="-128"/>
                <a:cs typeface="Calibri"/>
              </a:rPr>
              <a:t>t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a</a:t>
            </a:r>
            <a:r>
              <a:rPr sz="2600" dirty="0">
                <a:latin typeface="Calibri"/>
                <a:ea typeface="MS PGothic" panose="020B0600070205080204" pitchFamily="50" charset="-128"/>
                <a:cs typeface="Calibri"/>
              </a:rPr>
              <a:t>l</a:t>
            </a:r>
            <a:r>
              <a:rPr sz="2600" spc="20" dirty="0">
                <a:latin typeface="Calibri"/>
                <a:ea typeface="MS PGothic" panose="020B0600070205080204" pitchFamily="50" charset="-128"/>
                <a:cs typeface="Calibri"/>
              </a:rPr>
              <a:t> </a:t>
            </a:r>
            <a:r>
              <a:rPr sz="2600" spc="-25" dirty="0">
                <a:latin typeface="Calibri"/>
                <a:ea typeface="MS PGothic" panose="020B0600070205080204" pitchFamily="50" charset="-128"/>
                <a:cs typeface="Calibri"/>
              </a:rPr>
              <a:t>ben</a:t>
            </a:r>
            <a:r>
              <a:rPr sz="2600" spc="-50" dirty="0">
                <a:latin typeface="Calibri"/>
                <a:ea typeface="MS PGothic" panose="020B0600070205080204" pitchFamily="50" charset="-128"/>
                <a:cs typeface="Calibri"/>
              </a:rPr>
              <a:t>e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fits</a:t>
            </a:r>
            <a:endParaRPr sz="2600" dirty="0">
              <a:latin typeface="Calibri"/>
              <a:ea typeface="MS PGothic" panose="020B0600070205080204" pitchFamily="50" charset="-128"/>
              <a:cs typeface="Calibri"/>
            </a:endParaRPr>
          </a:p>
          <a:p>
            <a:pPr marL="1260000" lvl="1" indent="-609600" algn="just">
              <a:spcBef>
                <a:spcPts val="380"/>
              </a:spcBef>
              <a:buFont typeface="Wingdings" panose="05000000000000000000" pitchFamily="2" charset="2"/>
              <a:buChar char="Ø"/>
              <a:tabLst>
                <a:tab pos="622300" algn="l"/>
              </a:tabLst>
              <a:defRPr/>
            </a:pPr>
            <a:r>
              <a:rPr sz="2600" spc="-90" dirty="0">
                <a:latin typeface="Calibri"/>
                <a:ea typeface="MS PGothic" panose="020B0600070205080204" pitchFamily="50" charset="-128"/>
                <a:cs typeface="Calibri"/>
              </a:rPr>
              <a:t>P</a:t>
            </a:r>
            <a:r>
              <a:rPr sz="2600" spc="-20" dirty="0">
                <a:latin typeface="Calibri"/>
                <a:ea typeface="MS PGothic" panose="020B0600070205080204" pitchFamily="50" charset="-128"/>
                <a:cs typeface="Calibri"/>
              </a:rPr>
              <a:t>e</a:t>
            </a:r>
            <a:r>
              <a:rPr sz="2600" spc="-65" dirty="0">
                <a:latin typeface="Calibri"/>
                <a:ea typeface="MS PGothic" panose="020B0600070205080204" pitchFamily="50" charset="-128"/>
                <a:cs typeface="Calibri"/>
              </a:rPr>
              <a:t>r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ce</a:t>
            </a:r>
            <a:r>
              <a:rPr sz="2600" spc="-40" dirty="0">
                <a:latin typeface="Calibri"/>
                <a:ea typeface="MS PGothic" panose="020B0600070205080204" pitchFamily="50" charset="-128"/>
                <a:cs typeface="Calibri"/>
              </a:rPr>
              <a:t>p</a:t>
            </a:r>
            <a:r>
              <a:rPr sz="2600" dirty="0">
                <a:latin typeface="Calibri"/>
                <a:ea typeface="MS PGothic" panose="020B0600070205080204" pitchFamily="50" charset="-128"/>
                <a:cs typeface="Calibri"/>
              </a:rPr>
              <a:t>tion</a:t>
            </a:r>
            <a:r>
              <a:rPr sz="2600" spc="10" dirty="0">
                <a:latin typeface="Calibri"/>
                <a:ea typeface="MS PGothic" panose="020B0600070205080204" pitchFamily="50" charset="-128"/>
                <a:cs typeface="Calibri"/>
              </a:rPr>
              <a:t> </a:t>
            </a:r>
            <a:r>
              <a:rPr sz="2600" spc="-25" dirty="0">
                <a:latin typeface="Calibri"/>
                <a:ea typeface="MS PGothic" panose="020B0600070205080204" pitchFamily="50" charset="-128"/>
                <a:cs typeface="Calibri"/>
              </a:rPr>
              <a:t>o</a:t>
            </a:r>
            <a:r>
              <a:rPr sz="2600" spc="-10" dirty="0">
                <a:latin typeface="Calibri"/>
                <a:ea typeface="MS PGothic" panose="020B0600070205080204" pitchFamily="50" charset="-128"/>
                <a:cs typeface="Calibri"/>
              </a:rPr>
              <a:t>f</a:t>
            </a:r>
            <a:r>
              <a:rPr sz="2600" dirty="0">
                <a:latin typeface="Calibri"/>
                <a:ea typeface="MS PGothic" panose="020B0600070205080204" pitchFamily="50" charset="-128"/>
                <a:cs typeface="Calibri"/>
              </a:rPr>
              <a:t> </a:t>
            </a:r>
            <a:r>
              <a:rPr sz="2600" spc="-5" dirty="0">
                <a:latin typeface="Calibri"/>
                <a:ea typeface="MS PGothic" panose="020B0600070205080204" pitchFamily="50" charset="-128"/>
                <a:cs typeface="Calibri"/>
              </a:rPr>
              <a:t>pu</a:t>
            </a:r>
            <a:r>
              <a:rPr sz="2600" spc="5" dirty="0">
                <a:latin typeface="Calibri"/>
                <a:ea typeface="MS PGothic" panose="020B0600070205080204" pitchFamily="50" charset="-128"/>
                <a:cs typeface="Calibri"/>
              </a:rPr>
              <a:t>b</a:t>
            </a:r>
            <a:r>
              <a:rPr sz="2600" dirty="0">
                <a:latin typeface="Calibri"/>
                <a:ea typeface="MS PGothic" panose="020B0600070205080204" pitchFamily="50" charset="-128"/>
                <a:cs typeface="Calibri"/>
              </a:rPr>
              <a:t>lic</a:t>
            </a:r>
            <a:r>
              <a:rPr sz="2600" spc="15" dirty="0">
                <a:latin typeface="Calibri"/>
                <a:ea typeface="MS PGothic" panose="020B0600070205080204" pitchFamily="50" charset="-128"/>
                <a:cs typeface="Calibri"/>
              </a:rPr>
              <a:t> </a:t>
            </a:r>
            <a:r>
              <a:rPr sz="2600" spc="-20" dirty="0">
                <a:latin typeface="Calibri"/>
                <a:ea typeface="MS PGothic" panose="020B0600070205080204" pitchFamily="50" charset="-128"/>
                <a:cs typeface="Calibri"/>
              </a:rPr>
              <a:t>and</a:t>
            </a:r>
            <a:r>
              <a:rPr sz="2600" spc="20" dirty="0">
                <a:latin typeface="Calibri"/>
                <a:ea typeface="MS PGothic" panose="020B0600070205080204" pitchFamily="50" charset="-128"/>
                <a:cs typeface="Calibri"/>
              </a:rPr>
              <a:t> 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the</a:t>
            </a:r>
            <a:r>
              <a:rPr sz="2600" spc="5" dirty="0">
                <a:latin typeface="Calibri"/>
                <a:ea typeface="MS PGothic" panose="020B0600070205080204" pitchFamily="50" charset="-128"/>
                <a:cs typeface="Calibri"/>
              </a:rPr>
              <a:t> </a:t>
            </a:r>
            <a:r>
              <a:rPr sz="2600" spc="-20" dirty="0">
                <a:latin typeface="Calibri"/>
                <a:ea typeface="MS PGothic" panose="020B0600070205080204" pitchFamily="50" charset="-128"/>
                <a:cs typeface="Calibri"/>
              </a:rPr>
              <a:t>media</a:t>
            </a:r>
            <a:endParaRPr sz="2600" dirty="0">
              <a:latin typeface="Calibri"/>
              <a:ea typeface="MS PGothic" panose="020B0600070205080204" pitchFamily="50" charset="-128"/>
              <a:cs typeface="Calibri"/>
            </a:endParaRPr>
          </a:p>
          <a:p>
            <a:pPr marL="1260000" lvl="1" indent="-609600" algn="just">
              <a:spcBef>
                <a:spcPts val="384"/>
              </a:spcBef>
              <a:buFont typeface="Wingdings" panose="05000000000000000000" pitchFamily="2" charset="2"/>
              <a:buChar char="Ø"/>
              <a:tabLst>
                <a:tab pos="622300" algn="l"/>
              </a:tabLst>
              <a:defRPr/>
            </a:pPr>
            <a:r>
              <a:rPr sz="2600" spc="-25" dirty="0">
                <a:latin typeface="Calibri"/>
                <a:ea typeface="MS PGothic" panose="020B0600070205080204" pitchFamily="50" charset="-128"/>
                <a:cs typeface="Calibri"/>
              </a:rPr>
              <a:t>Consensu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s</a:t>
            </a:r>
            <a:r>
              <a:rPr sz="2600" spc="30" dirty="0">
                <a:latin typeface="Calibri"/>
                <a:ea typeface="MS PGothic" panose="020B0600070205080204" pitchFamily="50" charset="-128"/>
                <a:cs typeface="Calibri"/>
              </a:rPr>
              <a:t> </a:t>
            </a:r>
            <a:r>
              <a:rPr sz="2600" spc="-20" dirty="0">
                <a:latin typeface="Calibri"/>
                <a:ea typeface="MS PGothic" panose="020B0600070205080204" pitchFamily="50" charset="-128"/>
                <a:cs typeface="Calibri"/>
              </a:rPr>
              <a:t>decis</a:t>
            </a:r>
            <a:r>
              <a:rPr sz="2600" dirty="0">
                <a:latin typeface="Calibri"/>
                <a:ea typeface="MS PGothic" panose="020B0600070205080204" pitchFamily="50" charset="-128"/>
                <a:cs typeface="Calibri"/>
              </a:rPr>
              <a:t>io</a:t>
            </a:r>
            <a:r>
              <a:rPr sz="2600" spc="-5" dirty="0">
                <a:latin typeface="Calibri"/>
                <a:ea typeface="MS PGothic" panose="020B0600070205080204" pitchFamily="50" charset="-128"/>
                <a:cs typeface="Calibri"/>
              </a:rPr>
              <a:t>n</a:t>
            </a:r>
            <a:r>
              <a:rPr sz="2600" spc="-15" dirty="0">
                <a:latin typeface="Calibri"/>
                <a:ea typeface="MS PGothic" panose="020B0600070205080204" pitchFamily="50" charset="-128"/>
                <a:cs typeface="Calibri"/>
              </a:rPr>
              <a:t>-</a:t>
            </a:r>
            <a:r>
              <a:rPr sz="2600" spc="-20" dirty="0">
                <a:latin typeface="Calibri"/>
                <a:ea typeface="MS PGothic" panose="020B0600070205080204" pitchFamily="50" charset="-128"/>
                <a:cs typeface="Calibri"/>
              </a:rPr>
              <a:t>mak</a:t>
            </a:r>
            <a:r>
              <a:rPr sz="2600" spc="-5" dirty="0">
                <a:latin typeface="Calibri"/>
                <a:ea typeface="MS PGothic" panose="020B0600070205080204" pitchFamily="50" charset="-128"/>
                <a:cs typeface="Calibri"/>
              </a:rPr>
              <a:t>i</a:t>
            </a:r>
            <a:r>
              <a:rPr sz="2600" spc="-25" dirty="0">
                <a:latin typeface="Calibri"/>
                <a:ea typeface="MS PGothic" panose="020B0600070205080204" pitchFamily="50" charset="-128"/>
                <a:cs typeface="Calibri"/>
              </a:rPr>
              <a:t>ng</a:t>
            </a:r>
            <a:endParaRPr sz="2600" dirty="0">
              <a:latin typeface="Calibri"/>
              <a:ea typeface="MS PGothic" panose="020B0600070205080204" pitchFamily="50" charset="-128"/>
              <a:cs typeface="Calibri"/>
            </a:endParaRPr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32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Termination </a:t>
            </a:r>
            <a:r>
              <a:rPr lang="en-US" altLang="en-US" b="1" dirty="0" smtClean="0"/>
              <a:t>Considerations</a:t>
            </a:r>
            <a:endParaRPr lang="en-US" altLang="en-US" b="1" dirty="0" smtClean="0"/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719328" y="1176401"/>
            <a:ext cx="10674096" cy="4351338"/>
          </a:xfrm>
        </p:spPr>
        <p:txBody>
          <a:bodyPr>
            <a:normAutofit/>
          </a:bodyPr>
          <a:lstStyle/>
          <a:p>
            <a:pPr algn="just">
              <a:spcBef>
                <a:spcPct val="30000"/>
              </a:spcBef>
            </a:pPr>
            <a:r>
              <a:rPr lang="en-GB" altLang="en-US" sz="3200" dirty="0" smtClean="0"/>
              <a:t>At sea clean-up:</a:t>
            </a:r>
          </a:p>
          <a:p>
            <a:pPr lvl="1" indent="-420688" algn="just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Measures no longer effective</a:t>
            </a:r>
          </a:p>
          <a:p>
            <a:pPr lvl="1" indent="-420688" algn="just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Further clean-up is likely to cause greater damage</a:t>
            </a:r>
          </a:p>
          <a:p>
            <a:pPr lvl="1" indent="-420688" algn="just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Level of response is out of proportion to the amount of oil on the water</a:t>
            </a:r>
          </a:p>
          <a:p>
            <a:pPr lvl="1" indent="-420688" algn="just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When the costs of the response are exceeding the likely benefits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8068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Termination </a:t>
            </a:r>
            <a:r>
              <a:rPr lang="en-US" altLang="en-US" b="1" dirty="0" smtClean="0"/>
              <a:t>Considerations</a:t>
            </a:r>
            <a:endParaRPr lang="en-US" altLang="en-US" b="1" dirty="0" smtClean="0"/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620446" y="1152826"/>
            <a:ext cx="10939272" cy="435133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GB" altLang="en-US" sz="3200" dirty="0" smtClean="0"/>
              <a:t>Shoreline clean-up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Commitments agreed with authorities (in contingency plan) have been satisfied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Further clean-up is likely to cause greater damage</a:t>
            </a:r>
          </a:p>
          <a:p>
            <a:pPr lvl="1" indent="-420688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Point of diminishing returns is reached</a:t>
            </a:r>
          </a:p>
          <a:p>
            <a:pPr lvl="1" indent="-420688"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When cost of clean-up is out of proportion to area</a:t>
            </a:r>
            <a:r>
              <a:rPr lang="en-GB" altLang="ja-JP" sz="2800" dirty="0" smtClean="0">
                <a:latin typeface="Arial" panose="020B0604020202020204" pitchFamily="34" charset="0"/>
              </a:rPr>
              <a:t>’</a:t>
            </a:r>
            <a:r>
              <a:rPr lang="en-GB" altLang="ja-JP" sz="2800" dirty="0" smtClean="0"/>
              <a:t>s importance</a:t>
            </a:r>
          </a:p>
          <a:p>
            <a:pPr lvl="1" indent="-420688"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When economic loss caused by non-use of areas being cleaned exceeds any benefits</a:t>
            </a:r>
          </a:p>
          <a:p>
            <a:pPr lvl="1">
              <a:lnSpc>
                <a:spcPct val="110000"/>
              </a:lnSpc>
              <a:spcBef>
                <a:spcPct val="30000"/>
              </a:spcBef>
            </a:pPr>
            <a:endParaRPr lang="en-US" altLang="en-US" sz="3200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653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Termination </a:t>
            </a:r>
            <a:r>
              <a:rPr lang="en-US" altLang="en-US" b="1" dirty="0" smtClean="0"/>
              <a:t>Considerations</a:t>
            </a:r>
            <a:endParaRPr lang="en-CA" altLang="en-US" b="1" dirty="0" smtClean="0"/>
          </a:p>
        </p:txBody>
      </p:sp>
      <p:pic>
        <p:nvPicPr>
          <p:cNvPr id="32771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7254" y="1444562"/>
            <a:ext cx="5147786" cy="3420506"/>
          </a:xfrm>
        </p:spPr>
      </p:pic>
      <p:pic>
        <p:nvPicPr>
          <p:cNvPr id="3277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977" y="1444562"/>
            <a:ext cx="5143255" cy="342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TextBox 1"/>
          <p:cNvSpPr txBox="1">
            <a:spLocks noChangeArrowheads="1"/>
          </p:cNvSpPr>
          <p:nvPr/>
        </p:nvSpPr>
        <p:spPr bwMode="auto">
          <a:xfrm>
            <a:off x="1524001" y="6308726"/>
            <a:ext cx="27717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600">
                <a:solidFill>
                  <a:schemeClr val="bg1"/>
                </a:solidFill>
                <a:latin typeface="Tahoma" panose="020B0604030504040204" pitchFamily="34" charset="0"/>
              </a:rPr>
              <a:t>Source: </a:t>
            </a:r>
            <a:r>
              <a:rPr lang="en-US" altLang="ja-JP" sz="1600">
                <a:solidFill>
                  <a:schemeClr val="bg1"/>
                </a:solidFill>
                <a:latin typeface="Tahoma" panose="020B0604030504040204" pitchFamily="34" charset="0"/>
              </a:rPr>
              <a:t>Korea</a:t>
            </a:r>
            <a:r>
              <a:rPr lang="ja-JP" altLang="en-US" sz="1600">
                <a:solidFill>
                  <a:schemeClr val="bg1"/>
                </a:solidFill>
                <a:latin typeface="Tahoma" panose="020B0604030504040204" pitchFamily="34" charset="0"/>
              </a:rPr>
              <a:t> </a:t>
            </a:r>
            <a:r>
              <a:rPr lang="en-US" altLang="ja-JP" sz="1600">
                <a:solidFill>
                  <a:schemeClr val="bg1"/>
                </a:solidFill>
                <a:latin typeface="Tahoma" panose="020B0604030504040204" pitchFamily="34" charset="0"/>
              </a:rPr>
              <a:t>Coast</a:t>
            </a:r>
            <a:r>
              <a:rPr lang="ja-JP" altLang="en-US" sz="1600">
                <a:solidFill>
                  <a:schemeClr val="bg1"/>
                </a:solidFill>
                <a:latin typeface="Tahoma" panose="020B0604030504040204" pitchFamily="34" charset="0"/>
              </a:rPr>
              <a:t> </a:t>
            </a:r>
            <a:r>
              <a:rPr lang="en-US" altLang="ja-JP" sz="1600">
                <a:solidFill>
                  <a:schemeClr val="bg1"/>
                </a:solidFill>
                <a:latin typeface="Tahoma" panose="020B0604030504040204" pitchFamily="34" charset="0"/>
              </a:rPr>
              <a:t>Guard</a:t>
            </a:r>
            <a:endParaRPr lang="en-CA" altLang="en-US" sz="16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68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794" name="object 3"/>
          <p:cNvSpPr txBox="1">
            <a:spLocks noChangeArrowheads="1"/>
          </p:cNvSpPr>
          <p:nvPr/>
        </p:nvSpPr>
        <p:spPr bwMode="auto">
          <a:xfrm>
            <a:off x="5523230" y="1256031"/>
            <a:ext cx="4672330" cy="4652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/>
            <a:r>
              <a:rPr lang="en-US" altLang="ja-JP" sz="3200" b="1" dirty="0">
                <a:solidFill>
                  <a:srgbClr val="000000"/>
                </a:solidFill>
                <a:latin typeface="+mj-lt"/>
              </a:rPr>
              <a:t>Criteria</a:t>
            </a:r>
            <a:endParaRPr lang="en-US" altLang="ja-JP" sz="3200" dirty="0">
              <a:solidFill>
                <a:srgbClr val="000000"/>
              </a:solidFill>
              <a:latin typeface="+mj-lt"/>
            </a:endParaRPr>
          </a:p>
          <a:p>
            <a:pPr algn="just">
              <a:spcBef>
                <a:spcPts val="438"/>
              </a:spcBef>
            </a:pPr>
            <a:r>
              <a:rPr lang="en-US" altLang="ja-JP" sz="2800" dirty="0">
                <a:solidFill>
                  <a:srgbClr val="000000"/>
                </a:solidFill>
                <a:latin typeface="+mj-lt"/>
              </a:rPr>
              <a:t>Statutory specifications and taste tests</a:t>
            </a:r>
          </a:p>
          <a:p>
            <a:pPr algn="just">
              <a:spcBef>
                <a:spcPts val="1100"/>
              </a:spcBef>
            </a:pPr>
            <a:r>
              <a:rPr lang="en-US" altLang="ja-JP" sz="2800" dirty="0">
                <a:solidFill>
                  <a:srgbClr val="000000"/>
                </a:solidFill>
                <a:latin typeface="+mj-lt"/>
              </a:rPr>
              <a:t>No visible oil and no oil rubbing off on people or boats</a:t>
            </a:r>
          </a:p>
          <a:p>
            <a:pPr algn="just">
              <a:spcBef>
                <a:spcPts val="700"/>
              </a:spcBef>
            </a:pPr>
            <a:r>
              <a:rPr lang="en-US" altLang="ja-JP" sz="2800" dirty="0">
                <a:solidFill>
                  <a:srgbClr val="000000"/>
                </a:solidFill>
                <a:latin typeface="+mj-lt"/>
              </a:rPr>
              <a:t>No visible oil or sheen that might adhere to feathers or tar balls that could be ingested by marine mammals</a:t>
            </a:r>
          </a:p>
        </p:txBody>
      </p:sp>
      <p:sp>
        <p:nvSpPr>
          <p:cNvPr id="33795" name="object 4"/>
          <p:cNvSpPr>
            <a:spLocks noGrp="1"/>
          </p:cNvSpPr>
          <p:nvPr>
            <p:ph sz="half" idx="2"/>
          </p:nvPr>
        </p:nvSpPr>
        <p:spPr>
          <a:xfrm>
            <a:off x="1381760" y="1256031"/>
            <a:ext cx="3348038" cy="4252913"/>
          </a:xfrm>
        </p:spPr>
        <p:txBody>
          <a:bodyPr>
            <a:normAutofit lnSpcReduction="10000"/>
          </a:bodyPr>
          <a:lstStyle/>
          <a:p>
            <a:pPr marL="12700">
              <a:spcBef>
                <a:spcPct val="0"/>
              </a:spcBef>
            </a:pPr>
            <a:r>
              <a:rPr lang="en-US" altLang="ja-JP" dirty="0" smtClean="0">
                <a:latin typeface="+mj-lt"/>
                <a:cs typeface="Calibri" panose="020F0502020204030204" pitchFamily="34" charset="0"/>
              </a:rPr>
              <a:t>Resource</a:t>
            </a:r>
          </a:p>
          <a:p>
            <a:pPr marL="12700">
              <a:spcBef>
                <a:spcPts val="438"/>
              </a:spcBef>
            </a:pPr>
            <a:r>
              <a:rPr lang="en-US" altLang="ja-JP" sz="2800" b="0" dirty="0">
                <a:latin typeface="+mj-lt"/>
                <a:cs typeface="Calibri" panose="020F0502020204030204" pitchFamily="34" charset="0"/>
              </a:rPr>
              <a:t>Food and water (for human consumption)</a:t>
            </a:r>
            <a:endParaRPr lang="en-US" altLang="ja-JP" sz="2800" dirty="0">
              <a:latin typeface="+mj-lt"/>
              <a:cs typeface="Calibri" panose="020F0502020204030204" pitchFamily="34" charset="0"/>
            </a:endParaRPr>
          </a:p>
          <a:p>
            <a:pPr marL="12700">
              <a:spcBef>
                <a:spcPts val="1075"/>
              </a:spcBef>
            </a:pPr>
            <a:r>
              <a:rPr lang="en-US" altLang="ja-JP" sz="2800" b="0" dirty="0">
                <a:latin typeface="+mj-lt"/>
                <a:cs typeface="Calibri" panose="020F0502020204030204" pitchFamily="34" charset="0"/>
              </a:rPr>
              <a:t>Amenity beaches and structures</a:t>
            </a:r>
            <a:endParaRPr lang="en-US" altLang="ja-JP" sz="2800" dirty="0">
              <a:latin typeface="+mj-lt"/>
              <a:cs typeface="Calibri" panose="020F0502020204030204" pitchFamily="34" charset="0"/>
            </a:endParaRPr>
          </a:p>
          <a:p>
            <a:pPr marL="12700">
              <a:spcBef>
                <a:spcPts val="63"/>
              </a:spcBef>
            </a:pPr>
            <a:endParaRPr lang="en-US" altLang="ja-JP" sz="3500" dirty="0">
              <a:latin typeface="+mj-lt"/>
              <a:cs typeface="Times New Roman" panose="02020603050405020304" pitchFamily="18" charset="0"/>
            </a:endParaRPr>
          </a:p>
          <a:p>
            <a:pPr marL="12700">
              <a:spcBef>
                <a:spcPct val="0"/>
              </a:spcBef>
            </a:pPr>
            <a:r>
              <a:rPr lang="en-US" altLang="ja-JP" sz="2800" b="0" dirty="0">
                <a:latin typeface="+mj-lt"/>
                <a:cs typeface="Calibri" panose="020F0502020204030204" pitchFamily="34" charset="0"/>
              </a:rPr>
              <a:t>Water surface (used by birds, marine mammals)</a:t>
            </a:r>
            <a:endParaRPr lang="en-US" altLang="ja-JP" sz="2800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type="title"/>
          </p:nvPr>
        </p:nvSpPr>
        <p:spPr>
          <a:xfrm>
            <a:off x="1353312" y="87313"/>
            <a:ext cx="9656064" cy="67786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GB" altLang="en-US" b="1" dirty="0" smtClean="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Calibri" panose="020F0502020204030204" pitchFamily="34" charset="0"/>
              </a:rPr>
              <a:t>Example of </a:t>
            </a:r>
            <a:r>
              <a:rPr lang="en-GB" altLang="en-US" b="1" dirty="0" smtClean="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Calibri" panose="020F0502020204030204" pitchFamily="34" charset="0"/>
              </a:rPr>
              <a:t>Termination </a:t>
            </a:r>
            <a:r>
              <a:rPr lang="en-GB" altLang="en-US" b="1" dirty="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Calibri" panose="020F0502020204030204" pitchFamily="34" charset="0"/>
              </a:rPr>
              <a:t>C</a:t>
            </a:r>
            <a:r>
              <a:rPr lang="en-GB" altLang="en-US" b="1" dirty="0" smtClean="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Calibri" panose="020F0502020204030204" pitchFamily="34" charset="0"/>
              </a:rPr>
              <a:t>riteria</a:t>
            </a:r>
            <a:endParaRPr lang="en-GB" altLang="en-US" b="1" dirty="0" smtClean="0">
              <a:solidFill>
                <a:schemeClr val="tx1"/>
              </a:solidFill>
              <a:latin typeface="+mj-lt"/>
              <a:ea typeface="MS PGothic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079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1691641" y="130176"/>
            <a:ext cx="8953748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Example of </a:t>
            </a:r>
            <a:r>
              <a:rPr lang="en-GB" altLang="en-US" b="1" dirty="0" smtClean="0"/>
              <a:t>Termination </a:t>
            </a:r>
            <a:r>
              <a:rPr lang="en-GB" altLang="en-US" b="1" dirty="0"/>
              <a:t>C</a:t>
            </a:r>
            <a:r>
              <a:rPr lang="en-GB" altLang="en-US" b="1" dirty="0" smtClean="0"/>
              <a:t>riteria</a:t>
            </a:r>
            <a:endParaRPr lang="en-GB" altLang="en-US" b="1" dirty="0" smtClean="0"/>
          </a:p>
        </p:txBody>
      </p:sp>
      <p:grpSp>
        <p:nvGrpSpPr>
          <p:cNvPr id="35843" name="Group 21"/>
          <p:cNvGrpSpPr>
            <a:grpSpLocks/>
          </p:cNvGrpSpPr>
          <p:nvPr/>
        </p:nvGrpSpPr>
        <p:grpSpPr bwMode="auto">
          <a:xfrm>
            <a:off x="1531259" y="1043368"/>
            <a:ext cx="9117646" cy="4900231"/>
            <a:chOff x="288" y="912"/>
            <a:chExt cx="5186" cy="3024"/>
          </a:xfrm>
        </p:grpSpPr>
        <p:sp>
          <p:nvSpPr>
            <p:cNvPr id="23" name="Rectangle 4">
              <a:extLst/>
            </p:cNvPr>
            <p:cNvSpPr>
              <a:spLocks noChangeArrowheads="1"/>
            </p:cNvSpPr>
            <p:nvPr/>
          </p:nvSpPr>
          <p:spPr bwMode="auto">
            <a:xfrm>
              <a:off x="2640" y="912"/>
              <a:ext cx="2784" cy="308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fr-CA" sz="2400" b="1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Criteria</a:t>
              </a:r>
              <a:endParaRPr lang="en-GB" sz="2400" b="1" dirty="0">
                <a:solidFill>
                  <a:srgbClr val="000000"/>
                </a:solidFill>
                <a:ea typeface="ＭＳ Ｐゴシック" charset="0"/>
                <a:cs typeface="Arial" charset="0"/>
              </a:endParaRPr>
            </a:p>
          </p:txBody>
        </p:sp>
        <p:sp>
          <p:nvSpPr>
            <p:cNvPr id="24" name="Rectangle 5">
              <a:extLst/>
            </p:cNvPr>
            <p:cNvSpPr>
              <a:spLocks noChangeArrowheads="1"/>
            </p:cNvSpPr>
            <p:nvPr/>
          </p:nvSpPr>
          <p:spPr bwMode="auto">
            <a:xfrm>
              <a:off x="288" y="912"/>
              <a:ext cx="2352" cy="308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400" b="1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Resource</a:t>
              </a:r>
            </a:p>
          </p:txBody>
        </p:sp>
        <p:sp>
          <p:nvSpPr>
            <p:cNvPr id="25" name="Rectangle 6">
              <a:extLst/>
            </p:cNvPr>
            <p:cNvSpPr>
              <a:spLocks noChangeArrowheads="1"/>
            </p:cNvSpPr>
            <p:nvPr/>
          </p:nvSpPr>
          <p:spPr bwMode="auto">
            <a:xfrm>
              <a:off x="2640" y="3120"/>
              <a:ext cx="2834" cy="786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400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Residues must not be mobile to leach to other near-shore areas</a:t>
              </a:r>
            </a:p>
          </p:txBody>
        </p:sp>
        <p:sp>
          <p:nvSpPr>
            <p:cNvPr id="26" name="Rectangle 7">
              <a:extLst/>
            </p:cNvPr>
            <p:cNvSpPr>
              <a:spLocks noChangeArrowheads="1"/>
            </p:cNvSpPr>
            <p:nvPr/>
          </p:nvSpPr>
          <p:spPr bwMode="auto">
            <a:xfrm>
              <a:off x="288" y="3120"/>
              <a:ext cx="2352" cy="768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400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Shoreline (ecosystem interacting with other near-shore systems)</a:t>
              </a:r>
            </a:p>
          </p:txBody>
        </p:sp>
        <p:sp>
          <p:nvSpPr>
            <p:cNvPr id="27" name="Rectangle 8">
              <a:extLst/>
            </p:cNvPr>
            <p:cNvSpPr>
              <a:spLocks noChangeArrowheads="1"/>
            </p:cNvSpPr>
            <p:nvPr/>
          </p:nvSpPr>
          <p:spPr bwMode="auto">
            <a:xfrm>
              <a:off x="2640" y="2064"/>
              <a:ext cx="2834" cy="1056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400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Need not be visibly clean but residues must not inhibit recovery by smothering or toxicity</a:t>
              </a:r>
            </a:p>
          </p:txBody>
        </p:sp>
        <p:sp>
          <p:nvSpPr>
            <p:cNvPr id="28" name="Rectangle 9">
              <a:extLst/>
            </p:cNvPr>
            <p:cNvSpPr>
              <a:spLocks noChangeArrowheads="1"/>
            </p:cNvSpPr>
            <p:nvPr/>
          </p:nvSpPr>
          <p:spPr bwMode="auto">
            <a:xfrm>
              <a:off x="288" y="2064"/>
              <a:ext cx="2352" cy="1008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400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Shoreline (habitat for algae, mangroves, molluscs, etc.)</a:t>
              </a:r>
            </a:p>
          </p:txBody>
        </p:sp>
        <p:sp>
          <p:nvSpPr>
            <p:cNvPr id="29" name="Rectangle 10">
              <a:extLst/>
            </p:cNvPr>
            <p:cNvSpPr>
              <a:spLocks noChangeArrowheads="1"/>
            </p:cNvSpPr>
            <p:nvPr/>
          </p:nvSpPr>
          <p:spPr bwMode="auto">
            <a:xfrm>
              <a:off x="2634" y="1220"/>
              <a:ext cx="2838" cy="844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400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Concentration and background levels. Must not be toxic to key species</a:t>
              </a:r>
            </a:p>
          </p:txBody>
        </p:sp>
        <p:sp>
          <p:nvSpPr>
            <p:cNvPr id="30" name="Rectangle 11">
              <a:extLst/>
            </p:cNvPr>
            <p:cNvSpPr>
              <a:spLocks noChangeArrowheads="1"/>
            </p:cNvSpPr>
            <p:nvPr/>
          </p:nvSpPr>
          <p:spPr bwMode="auto">
            <a:xfrm>
              <a:off x="288" y="1220"/>
              <a:ext cx="2352" cy="748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84573" tIns="42286" rIns="84573" bIns="42286"/>
            <a:lstStyle/>
            <a:p>
              <a:pPr>
                <a:defRPr/>
              </a:pPr>
              <a:r>
                <a:rPr lang="en-GB" sz="2400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Subsurface water (habitat for fish, corals, sea grass, etc.)</a:t>
              </a:r>
            </a:p>
          </p:txBody>
        </p:sp>
        <p:sp>
          <p:nvSpPr>
            <p:cNvPr id="35852" name="Line 12"/>
            <p:cNvSpPr>
              <a:spLocks noChangeShapeType="1"/>
            </p:cNvSpPr>
            <p:nvPr/>
          </p:nvSpPr>
          <p:spPr bwMode="auto">
            <a:xfrm>
              <a:off x="288" y="912"/>
              <a:ext cx="518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35853" name="Line 13"/>
            <p:cNvSpPr>
              <a:spLocks noChangeShapeType="1"/>
            </p:cNvSpPr>
            <p:nvPr/>
          </p:nvSpPr>
          <p:spPr bwMode="auto">
            <a:xfrm>
              <a:off x="288" y="912"/>
              <a:ext cx="0" cy="302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35854" name="Line 14"/>
            <p:cNvSpPr>
              <a:spLocks noChangeShapeType="1"/>
            </p:cNvSpPr>
            <p:nvPr/>
          </p:nvSpPr>
          <p:spPr bwMode="auto">
            <a:xfrm>
              <a:off x="2640" y="912"/>
              <a:ext cx="0" cy="302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35855" name="Line 15"/>
            <p:cNvSpPr>
              <a:spLocks noChangeShapeType="1"/>
            </p:cNvSpPr>
            <p:nvPr/>
          </p:nvSpPr>
          <p:spPr bwMode="auto">
            <a:xfrm>
              <a:off x="5472" y="912"/>
              <a:ext cx="0" cy="302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35856" name="Line 16"/>
            <p:cNvSpPr>
              <a:spLocks noChangeShapeType="1"/>
            </p:cNvSpPr>
            <p:nvPr/>
          </p:nvSpPr>
          <p:spPr bwMode="auto">
            <a:xfrm flipV="1">
              <a:off x="288" y="1248"/>
              <a:ext cx="518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35857" name="Line 17"/>
            <p:cNvSpPr>
              <a:spLocks noChangeShapeType="1"/>
            </p:cNvSpPr>
            <p:nvPr/>
          </p:nvSpPr>
          <p:spPr bwMode="auto">
            <a:xfrm>
              <a:off x="288" y="2064"/>
              <a:ext cx="518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35858" name="Line 18"/>
            <p:cNvSpPr>
              <a:spLocks noChangeShapeType="1"/>
            </p:cNvSpPr>
            <p:nvPr/>
          </p:nvSpPr>
          <p:spPr bwMode="auto">
            <a:xfrm>
              <a:off x="288" y="3168"/>
              <a:ext cx="518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35859" name="Line 19"/>
            <p:cNvSpPr>
              <a:spLocks noChangeShapeType="1"/>
            </p:cNvSpPr>
            <p:nvPr/>
          </p:nvSpPr>
          <p:spPr bwMode="auto">
            <a:xfrm>
              <a:off x="288" y="3936"/>
              <a:ext cx="518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2400"/>
            </a:p>
          </p:txBody>
        </p:sp>
      </p:grpSp>
      <p:sp>
        <p:nvSpPr>
          <p:cNvPr id="20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50799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000" b="1" dirty="0"/>
              <a:t>Termination</a:t>
            </a:r>
            <a:r>
              <a:rPr lang="en-US" altLang="en-US" b="1" dirty="0" smtClean="0"/>
              <a:t> of </a:t>
            </a:r>
            <a:r>
              <a:rPr lang="en-US" altLang="en-US" b="1" dirty="0" smtClean="0"/>
              <a:t>Response</a:t>
            </a:r>
            <a:endParaRPr lang="en-US" altLang="en-US" b="1" dirty="0" smtClean="0"/>
          </a:p>
        </p:txBody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>
          <a:xfrm>
            <a:off x="1068768" y="1119058"/>
            <a:ext cx="10013760" cy="5184775"/>
          </a:xfrm>
        </p:spPr>
        <p:txBody>
          <a:bodyPr>
            <a:normAutofit/>
          </a:bodyPr>
          <a:lstStyle/>
          <a:p>
            <a:r>
              <a:rPr lang="en-GB" altLang="en-US" sz="3200" dirty="0" smtClean="0"/>
              <a:t>Once active clean-up is terminated many tasks must be accomplished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Operational tasks</a:t>
            </a:r>
          </a:p>
          <a:p>
            <a:pPr marL="1252538" lvl="2" indent="-539750"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Remove equipment from field</a:t>
            </a:r>
          </a:p>
          <a:p>
            <a:pPr marL="1252538" lvl="2" indent="-539750"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Clean-up of equipment</a:t>
            </a:r>
          </a:p>
          <a:p>
            <a:pPr marL="1252538" lvl="2" indent="-539750"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Repairs and maintenance</a:t>
            </a:r>
          </a:p>
          <a:p>
            <a:pPr marL="1252538" lvl="2" indent="-539750"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Re-stock  </a:t>
            </a:r>
          </a:p>
          <a:p>
            <a:pPr lvl="2"/>
            <a:endParaRPr lang="en-GB" altLang="en-US" sz="3200" dirty="0" smtClean="0"/>
          </a:p>
          <a:p>
            <a:pPr lvl="1"/>
            <a:endParaRPr lang="en-GB" altLang="en-US" sz="3200" dirty="0" smtClean="0"/>
          </a:p>
          <a:p>
            <a:pPr lvl="1"/>
            <a:endParaRPr lang="en-GB" altLang="en-US" sz="3200" dirty="0" smtClean="0"/>
          </a:p>
          <a:p>
            <a:endParaRPr lang="en-US" altLang="en-US" sz="3200" dirty="0" smtClean="0"/>
          </a:p>
          <a:p>
            <a:endParaRPr lang="en-US" altLang="en-US" sz="3200" dirty="0" smtClean="0"/>
          </a:p>
          <a:p>
            <a:endParaRPr lang="en-US" altLang="en-US" sz="3200" dirty="0" smtClean="0"/>
          </a:p>
          <a:p>
            <a:pPr eaLnBrk="1" hangingPunct="1"/>
            <a:endParaRPr lang="en-US" altLang="en-US" sz="3200" dirty="0" smtClean="0">
              <a:latin typeface="Arial" panose="020B0604020202020204" pitchFamily="34" charset="0"/>
            </a:endParaRPr>
          </a:p>
          <a:p>
            <a:pPr eaLnBrk="1" hangingPunct="1"/>
            <a:endParaRPr lang="en-US" altLang="en-US" sz="3200" dirty="0" smtClean="0">
              <a:latin typeface="Arial" panose="020B0604020202020204" pitchFamily="34" charset="0"/>
            </a:endParaRPr>
          </a:p>
          <a:p>
            <a:pPr eaLnBrk="1" hangingPunct="1"/>
            <a:endParaRPr lang="fr-FR" altLang="en-US" sz="3200" dirty="0" smtClean="0">
              <a:latin typeface="Arial" panose="020B0604020202020204" pitchFamily="34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01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Termination of response</a:t>
            </a:r>
          </a:p>
        </p:txBody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>
          <a:xfrm>
            <a:off x="867600" y="1052514"/>
            <a:ext cx="10105199" cy="5184775"/>
          </a:xfrm>
        </p:spPr>
        <p:txBody>
          <a:bodyPr>
            <a:normAutofit/>
          </a:bodyPr>
          <a:lstStyle/>
          <a:p>
            <a:pPr lvl="1"/>
            <a:r>
              <a:rPr lang="en-GB" altLang="en-US" sz="3200" dirty="0" smtClean="0"/>
              <a:t>Administrative tasks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Demobilization of personnel and equipment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Finalize payments and contracts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Compile costs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Produce final incident report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Prepare claims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Conduct incident debriefing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Implement lessons learned</a:t>
            </a:r>
          </a:p>
          <a:p>
            <a:pPr lvl="2" indent="-430213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Conduct post-spill monitoring studies</a:t>
            </a:r>
          </a:p>
          <a:p>
            <a:pPr lvl="1"/>
            <a:endParaRPr lang="en-GB" altLang="en-US" sz="3200" dirty="0" smtClean="0"/>
          </a:p>
          <a:p>
            <a:endParaRPr lang="en-US" altLang="en-US" sz="3200" dirty="0" smtClean="0"/>
          </a:p>
          <a:p>
            <a:endParaRPr lang="en-US" altLang="en-US" sz="3200" dirty="0" smtClean="0"/>
          </a:p>
          <a:p>
            <a:endParaRPr lang="en-US" altLang="en-US" sz="3200" dirty="0" smtClean="0"/>
          </a:p>
          <a:p>
            <a:pPr eaLnBrk="1" hangingPunct="1"/>
            <a:endParaRPr lang="en-US" altLang="en-US" sz="3200" dirty="0" smtClean="0">
              <a:latin typeface="Arial" panose="020B0604020202020204" pitchFamily="34" charset="0"/>
            </a:endParaRPr>
          </a:p>
          <a:p>
            <a:pPr eaLnBrk="1" hangingPunct="1"/>
            <a:endParaRPr lang="en-US" altLang="en-US" sz="3200" dirty="0" smtClean="0">
              <a:latin typeface="Arial" panose="020B0604020202020204" pitchFamily="34" charset="0"/>
            </a:endParaRPr>
          </a:p>
          <a:p>
            <a:pPr eaLnBrk="1" hangingPunct="1"/>
            <a:endParaRPr lang="fr-FR" altLang="en-US" sz="3200" dirty="0" smtClean="0">
              <a:latin typeface="Arial" panose="020B0604020202020204" pitchFamily="34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68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bject 3">
            <a:extLst/>
          </p:cNvPr>
          <p:cNvSpPr txBox="1">
            <a:spLocks noGrp="1"/>
          </p:cNvSpPr>
          <p:nvPr>
            <p:ph type="title"/>
          </p:nvPr>
        </p:nvSpPr>
        <p:spPr>
          <a:xfrm>
            <a:off x="1981200" y="107257"/>
            <a:ext cx="8229600" cy="609398"/>
          </a:xfrm>
        </p:spPr>
        <p:txBody>
          <a:bodyPr vert="horz" lIns="0" tIns="0" rIns="0" bIns="0" rtlCol="0" anchor="ctr">
            <a:spAutoFit/>
          </a:bodyPr>
          <a:lstStyle/>
          <a:p>
            <a:pPr algn="ctr">
              <a:defRPr/>
            </a:pPr>
            <a:r>
              <a:rPr b="1" spc="-114" dirty="0"/>
              <a:t>P</a:t>
            </a:r>
            <a:r>
              <a:rPr b="1" spc="-5" dirty="0"/>
              <a:t>o</a:t>
            </a:r>
            <a:r>
              <a:rPr b="1" spc="-40" dirty="0"/>
              <a:t>s</a:t>
            </a:r>
            <a:r>
              <a:rPr b="1" spc="-15" dirty="0"/>
              <a:t>t</a:t>
            </a:r>
            <a:r>
              <a:rPr b="1" spc="-5" dirty="0"/>
              <a:t>-spil</a:t>
            </a:r>
            <a:r>
              <a:rPr b="1" dirty="0"/>
              <a:t>l</a:t>
            </a:r>
            <a:r>
              <a:rPr b="1" spc="30" dirty="0"/>
              <a:t> </a:t>
            </a:r>
            <a:r>
              <a:rPr lang="en-IN" b="1" spc="-25" dirty="0" smtClean="0"/>
              <a:t>M</a:t>
            </a:r>
            <a:r>
              <a:rPr b="1" spc="-25" dirty="0" err="1" smtClean="0"/>
              <a:t>oni</a:t>
            </a:r>
            <a:r>
              <a:rPr b="1" spc="-55" dirty="0" err="1" smtClean="0"/>
              <a:t>t</a:t>
            </a:r>
            <a:r>
              <a:rPr b="1" spc="-25" dirty="0" err="1" smtClean="0"/>
              <a:t>oring</a:t>
            </a:r>
            <a:endParaRPr b="1" spc="-25" dirty="0"/>
          </a:p>
        </p:txBody>
      </p:sp>
      <p:sp>
        <p:nvSpPr>
          <p:cNvPr id="39940" name="object 4"/>
          <p:cNvSpPr txBox="1">
            <a:spLocks noChangeArrowheads="1"/>
          </p:cNvSpPr>
          <p:nvPr/>
        </p:nvSpPr>
        <p:spPr bwMode="auto">
          <a:xfrm>
            <a:off x="1085088" y="1089745"/>
            <a:ext cx="9851136" cy="4678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55600" indent="-3429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556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556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3556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3556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556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556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556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3556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ja-JP" dirty="0">
                <a:latin typeface="+mj-lt"/>
              </a:rPr>
              <a:t>Overall objectives</a:t>
            </a:r>
          </a:p>
          <a:p>
            <a:pPr lvl="1" indent="-398463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ja-JP" dirty="0">
                <a:latin typeface="+mj-lt"/>
              </a:rPr>
              <a:t>To determine the nature and extent of damage</a:t>
            </a:r>
          </a:p>
          <a:p>
            <a:pPr lvl="1" indent="-398463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ja-JP" dirty="0">
                <a:latin typeface="+mj-lt"/>
              </a:rPr>
              <a:t>To assess and monitor the recovery processes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ja-JP" dirty="0">
                <a:latin typeface="+mj-lt"/>
              </a:rPr>
              <a:t>Post-spill monitoring must answer specific questions such as:</a:t>
            </a:r>
          </a:p>
          <a:p>
            <a:pPr lvl="1" indent="-398463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ja-JP" dirty="0">
                <a:latin typeface="+mj-lt"/>
              </a:rPr>
              <a:t>What are the levels of contaminants left in the environment by this incident?</a:t>
            </a:r>
          </a:p>
          <a:p>
            <a:pPr lvl="1" indent="-398463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ja-JP" dirty="0">
                <a:latin typeface="+mj-lt"/>
              </a:rPr>
              <a:t>Are there any hydrocarbons in flesh of fish?</a:t>
            </a:r>
          </a:p>
          <a:p>
            <a:pPr lvl="1" indent="-398463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ja-JP" dirty="0">
                <a:latin typeface="+mj-lt"/>
              </a:rPr>
              <a:t>Is there a change in bird populations?  Marine mammals?  Sea turtle nesting sites?  Migratory fish?</a:t>
            </a:r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113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Post-spill </a:t>
            </a:r>
            <a:r>
              <a:rPr lang="en-US" altLang="en-US" b="1" dirty="0" smtClean="0"/>
              <a:t>Monitoring</a:t>
            </a:r>
            <a:endParaRPr lang="en-US" altLang="en-US" b="1" dirty="0" smtClean="0"/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832282" y="1176401"/>
            <a:ext cx="911639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US" altLang="en-US" sz="3200" dirty="0" smtClean="0"/>
              <a:t>Designing a post-spill monitoring study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3000" dirty="0" smtClean="0"/>
              <a:t>Determine monitoring objectives</a:t>
            </a:r>
          </a:p>
          <a:p>
            <a:pPr marL="1314450" lvl="2" indent="-419100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en-US" sz="2600" dirty="0" smtClean="0"/>
              <a:t>Ex: evaluate hydrocarbon levels in sediments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3000" dirty="0" smtClean="0"/>
              <a:t>Determine geographical extent</a:t>
            </a:r>
          </a:p>
          <a:p>
            <a:pPr marL="1314450" lvl="2" indent="-419100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en-US" sz="2600" dirty="0" smtClean="0"/>
              <a:t>Ex: Beach 1 and 5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3000" dirty="0" smtClean="0"/>
              <a:t>Determine study parameters</a:t>
            </a:r>
          </a:p>
          <a:p>
            <a:pPr marL="1314450" lvl="2" indent="-419100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en-US" sz="2600" dirty="0" smtClean="0"/>
              <a:t>Ex: Total hydrocarbons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/>
            </a:pPr>
            <a:r>
              <a:rPr lang="en-US" altLang="en-US" sz="3000" dirty="0" smtClean="0"/>
              <a:t>Elaborate sampling plan</a:t>
            </a:r>
          </a:p>
          <a:p>
            <a:pPr marL="1314450" lvl="2" indent="-419100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en-US" sz="2600" dirty="0" smtClean="0"/>
              <a:t>Ex: Monthly, 5 sampling stations, 3 samples/station 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15033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Post-spill </a:t>
            </a:r>
            <a:r>
              <a:rPr lang="en-US" altLang="en-US" b="1" dirty="0" smtClean="0"/>
              <a:t>Monitoring</a:t>
            </a:r>
            <a:endParaRPr lang="en-US" altLang="en-US" b="1" dirty="0" smtClean="0"/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832282" y="1240409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US" altLang="en-US" sz="3200" dirty="0" smtClean="0"/>
              <a:t>Designing a post-spill monitoring study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 startAt="5"/>
            </a:pPr>
            <a:r>
              <a:rPr lang="en-US" altLang="en-US" sz="3000" dirty="0" smtClean="0"/>
              <a:t>Determine study timeframe</a:t>
            </a:r>
          </a:p>
          <a:p>
            <a:pPr marL="1314450" lvl="2" indent="-327025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</a:pPr>
            <a:r>
              <a:rPr lang="en-US" altLang="en-US" sz="2600" dirty="0" smtClean="0"/>
              <a:t>Ex: 12 months 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 startAt="5"/>
            </a:pPr>
            <a:r>
              <a:rPr lang="en-US" altLang="en-US" sz="3000" dirty="0" smtClean="0"/>
              <a:t>Decide on interpretation of results</a:t>
            </a:r>
          </a:p>
          <a:p>
            <a:pPr marL="1314450" lvl="2" indent="-327025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en-US" sz="2600" dirty="0" smtClean="0"/>
              <a:t>Comparison with pre-spill data</a:t>
            </a:r>
          </a:p>
          <a:p>
            <a:pPr marL="1314450" lvl="2" indent="-327025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en-US" sz="2600" dirty="0" smtClean="0"/>
              <a:t>Comparison with uncontaminated reference sites</a:t>
            </a:r>
          </a:p>
          <a:p>
            <a:pPr marL="1314450" lvl="2" indent="-327025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en-US" sz="2600" dirty="0" smtClean="0"/>
              <a:t>Changes over time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 startAt="5"/>
            </a:pPr>
            <a:r>
              <a:rPr lang="en-US" altLang="en-US" sz="3000" dirty="0" smtClean="0"/>
              <a:t>Carry out study and write report</a:t>
            </a:r>
          </a:p>
          <a:p>
            <a:pPr marL="914400" lvl="1" indent="-514350">
              <a:lnSpc>
                <a:spcPct val="110000"/>
              </a:lnSpc>
              <a:spcBef>
                <a:spcPct val="30000"/>
              </a:spcBef>
              <a:buFont typeface="Calibri" panose="020F0502020204030204" pitchFamily="34" charset="0"/>
              <a:buAutoNum type="arabicPeriod" startAt="5"/>
            </a:pPr>
            <a:r>
              <a:rPr lang="en-US" altLang="en-US" sz="3000" dirty="0" smtClean="0"/>
              <a:t>Identify required restoration measures 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63723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Post-spill </a:t>
            </a:r>
            <a:r>
              <a:rPr lang="en-US" altLang="en-US" b="1" dirty="0" smtClean="0"/>
              <a:t>Monitoring</a:t>
            </a:r>
            <a:endParaRPr lang="en-US" altLang="en-US" b="1" dirty="0" smtClean="0"/>
          </a:p>
        </p:txBody>
      </p:sp>
      <p:sp>
        <p:nvSpPr>
          <p:cNvPr id="46083" name="Rectangle 3"/>
          <p:cNvSpPr>
            <a:spLocks noGrp="1"/>
          </p:cNvSpPr>
          <p:nvPr>
            <p:ph idx="1"/>
          </p:nvPr>
        </p:nvSpPr>
        <p:spPr>
          <a:xfrm>
            <a:off x="987552" y="1143001"/>
            <a:ext cx="10030968" cy="455169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0000"/>
              </a:lnSpc>
              <a:spcBef>
                <a:spcPct val="30000"/>
              </a:spcBef>
            </a:pPr>
            <a:r>
              <a:rPr lang="en-US" altLang="en-US" sz="3200" dirty="0"/>
              <a:t>Collaboration between government and responsible party is desirable during the whole process</a:t>
            </a:r>
          </a:p>
          <a:p>
            <a:pPr algn="just">
              <a:lnSpc>
                <a:spcPct val="110000"/>
              </a:lnSpc>
              <a:spcBef>
                <a:spcPct val="30000"/>
              </a:spcBef>
            </a:pPr>
            <a:r>
              <a:rPr lang="en-US" altLang="en-US" sz="3200" dirty="0"/>
              <a:t>It will avoid:</a:t>
            </a:r>
          </a:p>
          <a:p>
            <a:pPr lvl="1" indent="-420688" algn="just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en-US" sz="2800" dirty="0" smtClean="0"/>
              <a:t>Duplication of efforts</a:t>
            </a:r>
          </a:p>
          <a:p>
            <a:pPr lvl="1" indent="-420688" algn="just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en-US" sz="2800" dirty="0" smtClean="0"/>
              <a:t>Varying results due to differences in methodology</a:t>
            </a:r>
          </a:p>
          <a:p>
            <a:pPr lvl="1" indent="-420688" algn="just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fr-FR" sz="2800" dirty="0" smtClean="0"/>
              <a:t>“</a:t>
            </a:r>
            <a:r>
              <a:rPr lang="en-US" altLang="en-US" sz="2800" dirty="0" smtClean="0"/>
              <a:t>Battle of experts</a:t>
            </a:r>
            <a:r>
              <a:rPr lang="en-US" altLang="fr-FR" sz="2800" dirty="0" smtClean="0"/>
              <a:t>”</a:t>
            </a:r>
            <a:r>
              <a:rPr lang="en-US" altLang="en-US" sz="2800" dirty="0" smtClean="0"/>
              <a:t> </a:t>
            </a:r>
          </a:p>
          <a:p>
            <a:pPr algn="just">
              <a:lnSpc>
                <a:spcPct val="110000"/>
              </a:lnSpc>
              <a:spcBef>
                <a:spcPct val="30000"/>
              </a:spcBef>
            </a:pPr>
            <a:r>
              <a:rPr lang="en-US" altLang="en-US" sz="3200" dirty="0"/>
              <a:t>Collaboration will ensure quicker implementation of restoration measures and treatment of claims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70404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Post-spill </a:t>
            </a:r>
            <a:r>
              <a:rPr lang="en-US" altLang="en-US" b="1" dirty="0" smtClean="0"/>
              <a:t>Monitoring</a:t>
            </a:r>
            <a:endParaRPr lang="en-CA" altLang="en-US" b="1" dirty="0" smtClean="0"/>
          </a:p>
        </p:txBody>
      </p:sp>
      <p:pic>
        <p:nvPicPr>
          <p:cNvPr id="48131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2599" y="1424432"/>
            <a:ext cx="5599176" cy="3732784"/>
          </a:xfrm>
        </p:spPr>
      </p:pic>
      <p:pic>
        <p:nvPicPr>
          <p:cNvPr id="4813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655" y="1424432"/>
            <a:ext cx="5601268" cy="3732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30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15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Restoration</a:t>
            </a:r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748728" y="1085720"/>
            <a:ext cx="10370376" cy="5218113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US" altLang="en-US" dirty="0" smtClean="0"/>
              <a:t>Measures to speed up recovery from environmental damages</a:t>
            </a:r>
          </a:p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US" altLang="en-US" dirty="0" smtClean="0"/>
              <a:t>Aim to bring back environmental function to what it was prior to a spill</a:t>
            </a:r>
          </a:p>
          <a:p>
            <a:pPr>
              <a:lnSpc>
                <a:spcPct val="110000"/>
              </a:lnSpc>
              <a:spcBef>
                <a:spcPct val="30000"/>
              </a:spcBef>
            </a:pPr>
            <a:r>
              <a:rPr lang="en-US" altLang="en-US" dirty="0" smtClean="0"/>
              <a:t>Various methods:</a:t>
            </a:r>
          </a:p>
          <a:p>
            <a:pPr lvl="1" indent="-420688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dirty="0" smtClean="0"/>
              <a:t>Planting (mangroves, marshes)</a:t>
            </a:r>
          </a:p>
          <a:p>
            <a:pPr lvl="1" indent="-420688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dirty="0" smtClean="0"/>
              <a:t>Restricting access to particular habitat</a:t>
            </a:r>
          </a:p>
          <a:p>
            <a:pPr lvl="1" indent="-420688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dirty="0" smtClean="0"/>
              <a:t>Predator control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en-US" dirty="0" smtClean="0"/>
              <a:t>Must have a realistic chance of success for compensation</a:t>
            </a:r>
          </a:p>
          <a:p>
            <a:pPr lvl="1">
              <a:lnSpc>
                <a:spcPct val="110000"/>
              </a:lnSpc>
              <a:spcBef>
                <a:spcPct val="30000"/>
              </a:spcBef>
            </a:pPr>
            <a:endParaRPr lang="en-US" altLang="en-US" dirty="0" smtClean="0"/>
          </a:p>
          <a:p>
            <a:pPr>
              <a:lnSpc>
                <a:spcPct val="110000"/>
              </a:lnSpc>
              <a:spcBef>
                <a:spcPct val="30000"/>
              </a:spcBef>
            </a:pPr>
            <a:endParaRPr lang="en-US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48171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Conclusion</a:t>
            </a: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899338" y="1116250"/>
            <a:ext cx="10381488" cy="460851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550"/>
              </a:spcBef>
            </a:pPr>
            <a:r>
              <a:rPr lang="en-GB" altLang="en-US" dirty="0"/>
              <a:t>Termination of response is often a contentious issue</a:t>
            </a:r>
          </a:p>
          <a:p>
            <a:pPr algn="just">
              <a:lnSpc>
                <a:spcPct val="100000"/>
              </a:lnSpc>
              <a:spcBef>
                <a:spcPts val="550"/>
              </a:spcBef>
            </a:pPr>
            <a:r>
              <a:rPr lang="en-US" altLang="en-US" dirty="0"/>
              <a:t>General response objectives and end-point criteria must be established during the planning process and the specifics of such made clear at the beginning of a spill in a collaborative manner</a:t>
            </a:r>
          </a:p>
          <a:p>
            <a:pPr algn="just">
              <a:lnSpc>
                <a:spcPct val="100000"/>
              </a:lnSpc>
              <a:spcBef>
                <a:spcPts val="550"/>
              </a:spcBef>
            </a:pPr>
            <a:r>
              <a:rPr lang="en-GB" altLang="en-US" dirty="0"/>
              <a:t>Operational and administrative tasks are needed to close a spill</a:t>
            </a:r>
          </a:p>
          <a:p>
            <a:pPr algn="just">
              <a:lnSpc>
                <a:spcPct val="100000"/>
              </a:lnSpc>
              <a:spcBef>
                <a:spcPts val="550"/>
              </a:spcBef>
            </a:pPr>
            <a:r>
              <a:rPr lang="en-GB" altLang="en-US" dirty="0"/>
              <a:t>Adopt a collaborative approach for the design of post-spill monitoring studies.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61204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1283</Words>
  <Application>Microsoft Office PowerPoint</Application>
  <PresentationFormat>Widescreen</PresentationFormat>
  <Paragraphs>209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MS PGothic</vt:lpstr>
      <vt:lpstr>MS PGothic</vt:lpstr>
      <vt:lpstr>游ゴシック</vt:lpstr>
      <vt:lpstr>Arial</vt:lpstr>
      <vt:lpstr>Calibri</vt:lpstr>
      <vt:lpstr>Courier New</vt:lpstr>
      <vt:lpstr>inherit</vt:lpstr>
      <vt:lpstr>Tahoma</vt:lpstr>
      <vt:lpstr>Times New Roman</vt:lpstr>
      <vt:lpstr>Wingdings</vt:lpstr>
      <vt:lpstr>Office Theme</vt:lpstr>
      <vt:lpstr>PowerPoint Presentation</vt:lpstr>
      <vt:lpstr>Objective</vt:lpstr>
      <vt:lpstr>Termination of Response</vt:lpstr>
      <vt:lpstr>Termination of Response</vt:lpstr>
      <vt:lpstr>Law of Diminishing Returns</vt:lpstr>
      <vt:lpstr>Termination of Response</vt:lpstr>
      <vt:lpstr>Termination of Response </vt:lpstr>
      <vt:lpstr>PowerPoint Presentation</vt:lpstr>
      <vt:lpstr>Termination Considerations</vt:lpstr>
      <vt:lpstr>Termination Considerations</vt:lpstr>
      <vt:lpstr>Termination Considerations</vt:lpstr>
      <vt:lpstr>Example of Termination Criteria</vt:lpstr>
      <vt:lpstr>Example of Termination Criteria</vt:lpstr>
      <vt:lpstr>Termination of Response</vt:lpstr>
      <vt:lpstr>Termination of response</vt:lpstr>
      <vt:lpstr>Post-spill Monitoring</vt:lpstr>
      <vt:lpstr>Post-spill Monitoring</vt:lpstr>
      <vt:lpstr>Post-spill Monitoring</vt:lpstr>
      <vt:lpstr>Post-spill Monitoring</vt:lpstr>
      <vt:lpstr>Post-spill Monitoring</vt:lpstr>
      <vt:lpstr>Restoration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154</cp:revision>
  <dcterms:created xsi:type="dcterms:W3CDTF">2024-09-27T05:40:49Z</dcterms:created>
  <dcterms:modified xsi:type="dcterms:W3CDTF">2025-06-04T06:14:05Z</dcterms:modified>
</cp:coreProperties>
</file>
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4204D-DAD4-4AFA-840B-571704C2E712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C801B-541C-4374-8C5F-D3479ECE1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59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E39E5CC-59A8-4BA4-AFE6-713D19835724}" type="slidenum">
              <a:rPr lang="en-GB" altLang="en-US" sz="1300" smtClean="0"/>
              <a:pPr>
                <a:spcBef>
                  <a:spcPct val="0"/>
                </a:spcBef>
              </a:pPr>
              <a:t>2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895969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5BCA68-30E3-43EC-9EAF-ACEA1C54858F}" type="slidenum">
              <a:rPr lang="en-GB" altLang="en-US" sz="1300" smtClean="0"/>
              <a:pPr>
                <a:spcBef>
                  <a:spcPct val="0"/>
                </a:spcBef>
              </a:pPr>
              <a:t>3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546940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5954489-A60A-4216-853D-C96C3CA6F3AD}" type="slidenum">
              <a:rPr lang="en-GB" altLang="en-US" sz="1300" smtClean="0"/>
              <a:pPr>
                <a:spcBef>
                  <a:spcPct val="0"/>
                </a:spcBef>
              </a:pPr>
              <a:t>4</a:t>
            </a:fld>
            <a:endParaRPr lang="en-GB" altLang="en-US" sz="130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220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448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6F3B7E-59EA-4F68-AE75-11321E5F2C6B}" type="slidenum">
              <a:rPr lang="en-GB" altLang="en-US" sz="1300" smtClean="0"/>
              <a:pPr>
                <a:spcBef>
                  <a:spcPct val="0"/>
                </a:spcBef>
              </a:pPr>
              <a:t>5</a:t>
            </a:fld>
            <a:endParaRPr lang="en-GB" altLang="en-US" sz="130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220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44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B74DDB7-4551-4E4D-A3A9-EB76A916F652}" type="slidenum">
              <a:rPr lang="en-GB" altLang="en-US" sz="1300" smtClean="0"/>
              <a:pPr>
                <a:spcBef>
                  <a:spcPct val="0"/>
                </a:spcBef>
              </a:pPr>
              <a:t>6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38146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  <a:defRPr/>
            </a:pPr>
            <a:endParaRPr lang="en-GB" dirty="0">
              <a:cs typeface="+mn-cs"/>
            </a:endParaRPr>
          </a:p>
          <a:p>
            <a:pPr>
              <a:defRPr/>
            </a:pPr>
            <a:endParaRPr lang="en-GB" dirty="0">
              <a:cs typeface="+mn-cs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B061274-0F96-4C41-AE0D-C34AFC365B53}" type="slidenum">
              <a:rPr lang="en-GB" altLang="en-US" sz="1300" smtClean="0"/>
              <a:pPr>
                <a:spcBef>
                  <a:spcPct val="0"/>
                </a:spcBef>
              </a:pPr>
              <a:t>7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051837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D4453D8-F201-4223-824B-1F4AF69BFCE6}" type="slidenum">
              <a:rPr lang="en-GB" altLang="en-US" sz="1300" smtClean="0"/>
              <a:pPr>
                <a:spcBef>
                  <a:spcPct val="0"/>
                </a:spcBef>
              </a:pPr>
              <a:t>8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073156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2144713" y="333375"/>
            <a:ext cx="5316537" cy="2990850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9525" y="3489325"/>
            <a:ext cx="7051675" cy="32575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450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9C32395-AE78-40A3-B8F3-3CE64E8950B8}" type="slidenum">
              <a:rPr lang="en-GB" altLang="en-US" sz="1300" smtClean="0"/>
              <a:pPr>
                <a:spcBef>
                  <a:spcPct val="0"/>
                </a:spcBef>
              </a:pPr>
              <a:t>10</a:t>
            </a:fld>
            <a:endParaRPr lang="en-GB" altLang="en-US" sz="130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955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586A9A7-2976-4965-BF50-77A3DF456CFA}" type="slidenum">
              <a:rPr lang="en-GB" altLang="en-US" sz="1300" smtClean="0"/>
              <a:pPr>
                <a:spcBef>
                  <a:spcPct val="0"/>
                </a:spcBef>
              </a:pPr>
              <a:t>11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630949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CE4E883-999E-4D7C-8AD5-11AB2FC7A38F}" type="slidenum">
              <a:rPr lang="en-GB" altLang="en-US" sz="1300" smtClean="0"/>
              <a:pPr>
                <a:spcBef>
                  <a:spcPct val="0"/>
                </a:spcBef>
              </a:pPr>
              <a:t>12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559135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900" smtClean="0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867207-3794-4A54-BC27-84C224563F67}" type="slidenum">
              <a:rPr lang="en-GB" altLang="en-US" sz="1300" smtClean="0"/>
              <a:pPr>
                <a:spcBef>
                  <a:spcPct val="0"/>
                </a:spcBef>
              </a:pPr>
              <a:t>13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262163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E0A57AD-F138-4278-931F-EE6AD159FAE3}" type="slidenum">
              <a:rPr lang="en-GB" altLang="en-US" sz="1300" smtClean="0"/>
              <a:pPr>
                <a:spcBef>
                  <a:spcPct val="0"/>
                </a:spcBef>
              </a:pPr>
              <a:t>14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835824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3C43DA-D064-4A63-9E78-A65972DB960C}" type="slidenum">
              <a:rPr lang="en-GB" altLang="en-US" sz="1300" smtClean="0"/>
              <a:pPr>
                <a:spcBef>
                  <a:spcPct val="0"/>
                </a:spcBef>
              </a:pPr>
              <a:t>15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085672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>
              <a:cs typeface="+mn-cs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59CE7A-6C1B-4C88-964D-4E0C767DD925}" type="slidenum">
              <a:rPr lang="en-GB" altLang="en-US" sz="1300" smtClean="0"/>
              <a:pPr>
                <a:spcBef>
                  <a:spcPct val="0"/>
                </a:spcBef>
              </a:pPr>
              <a:t>16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8186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66F93F8-F0BD-4265-A53B-32893E1DB80B}" type="slidenum">
              <a:rPr lang="en-GB" altLang="en-US" sz="1300" smtClean="0"/>
              <a:pPr>
                <a:spcBef>
                  <a:spcPct val="0"/>
                </a:spcBef>
              </a:pPr>
              <a:t>17</a:t>
            </a:fld>
            <a:endParaRPr lang="en-GB" altLang="en-US" sz="1300" smtClean="0"/>
          </a:p>
        </p:txBody>
      </p:sp>
      <p:sp>
        <p:nvSpPr>
          <p:cNvPr id="501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904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6A03DA6-B8D0-4698-BCB9-7FBEF5212BED}" type="slidenum">
              <a:rPr lang="en-GB" altLang="en-US" sz="1300" smtClean="0"/>
              <a:pPr>
                <a:spcBef>
                  <a:spcPct val="0"/>
                </a:spcBef>
              </a:pPr>
              <a:t>20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59155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365953" y="2496312"/>
            <a:ext cx="6899084" cy="14813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Lesson 3.15</a:t>
            </a:r>
            <a:br>
              <a:rPr lang="en-GB" altLang="en-US" b="1" dirty="0" smtClean="0"/>
            </a:br>
            <a:r>
              <a:rPr lang="en-GB" altLang="en-US" b="1" dirty="0" smtClean="0"/>
              <a:t>Managing Information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Objective</a:t>
            </a:r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1057656" y="1697609"/>
            <a:ext cx="10515600" cy="114617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3200" dirty="0">
                <a:cs typeface="+mn-cs"/>
              </a:rPr>
              <a:t>To understand the need for a communications plan to gather and disseminate information during an incident. </a:t>
            </a:r>
          </a:p>
          <a:p>
            <a:pPr marL="0" indent="0">
              <a:buNone/>
              <a:defRPr/>
            </a:pPr>
            <a:endParaRPr lang="en-US" sz="3200" dirty="0">
              <a:cs typeface="+mn-cs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GB" sz="3200" dirty="0">
              <a:cs typeface="+mn-cs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39201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Strong visuals….</a:t>
            </a:r>
            <a:endParaRPr lang="en-US" altLang="en-US" b="1" dirty="0" smtClean="0"/>
          </a:p>
        </p:txBody>
      </p:sp>
      <p:pic>
        <p:nvPicPr>
          <p:cNvPr id="20483" name="Picture 4" descr="untitled1"/>
          <p:cNvPicPr>
            <a:picLocks noChangeAspect="1" noChangeArrowheads="1"/>
          </p:cNvPicPr>
          <p:nvPr>
            <p:ph idx="1"/>
          </p:nvPr>
        </p:nvPicPr>
        <p:blipFill>
          <a:blip r:embed="rId3">
            <a:lum bright="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3"/>
          <a:stretch>
            <a:fillRect/>
          </a:stretch>
        </p:blipFill>
        <p:spPr>
          <a:xfrm>
            <a:off x="2557527" y="874714"/>
            <a:ext cx="6911975" cy="5362575"/>
          </a:xfrm>
        </p:spPr>
      </p:pic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151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531" name="Picture 2" descr="Untitled6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40956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7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301288" y="6408739"/>
            <a:ext cx="3667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B82FAB-DEB6-4B6E-AEF7-4226EDEA815D}" type="slidenum">
              <a:rPr lang="en-GB" altLang="en-US" sz="2400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GB" altLang="en-US" sz="2400">
              <a:latin typeface="Tahoma" panose="020B0604030504040204" pitchFamily="34" charset="0"/>
            </a:endParaRPr>
          </a:p>
        </p:txBody>
      </p:sp>
      <p:pic>
        <p:nvPicPr>
          <p:cNvPr id="24579" name="Picture 1027" descr="oiled bird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86575"/>
          </a:xfrm>
        </p:spPr>
      </p:pic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8464550" y="6408739"/>
            <a:ext cx="22034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600">
                <a:solidFill>
                  <a:schemeClr val="bg1"/>
                </a:solidFill>
                <a:latin typeface="Tahoma" panose="020B0604030504040204" pitchFamily="34" charset="0"/>
              </a:rPr>
              <a:t>Source: Greenpeace</a:t>
            </a: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75164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Typical </a:t>
            </a:r>
            <a:r>
              <a:rPr lang="en-GB" altLang="en-US" b="1" dirty="0" smtClean="0"/>
              <a:t>Challenges</a:t>
            </a:r>
            <a:endParaRPr lang="en-GB" altLang="en-US" b="1" dirty="0" smtClean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417498" y="1167257"/>
            <a:ext cx="6930974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Issues common to many incidents:</a:t>
            </a:r>
          </a:p>
          <a:p>
            <a:r>
              <a:rPr lang="en-GB" altLang="en-US" dirty="0" smtClean="0"/>
              <a:t>Flexibility of scale</a:t>
            </a:r>
          </a:p>
          <a:p>
            <a:r>
              <a:rPr lang="en-GB" altLang="en-US" dirty="0" smtClean="0"/>
              <a:t>Response organization</a:t>
            </a:r>
          </a:p>
          <a:p>
            <a:r>
              <a:rPr lang="en-GB" altLang="en-US" b="1" dirty="0" smtClean="0"/>
              <a:t>Internal communication</a:t>
            </a:r>
          </a:p>
          <a:p>
            <a:r>
              <a:rPr lang="en-GB" altLang="en-US" dirty="0" smtClean="0"/>
              <a:t>Management of volunteers</a:t>
            </a:r>
          </a:p>
          <a:p>
            <a:r>
              <a:rPr lang="en-GB" altLang="en-US" dirty="0" smtClean="0"/>
              <a:t>Health and safety</a:t>
            </a:r>
          </a:p>
          <a:p>
            <a:r>
              <a:rPr lang="en-GB" altLang="en-US" b="1" dirty="0" smtClean="0"/>
              <a:t>Media and public relations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82377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Effective </a:t>
            </a:r>
            <a:r>
              <a:rPr lang="en-GB" altLang="en-US" b="1" dirty="0" smtClean="0"/>
              <a:t>Response</a:t>
            </a:r>
            <a:endParaRPr lang="en-GB" altLang="en-US" b="1" dirty="0" smtClean="0"/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929640" y="102095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GB" sz="3200" dirty="0">
                <a:ea typeface="+mn-ea"/>
                <a:cs typeface="+mn-cs"/>
              </a:rPr>
              <a:t>An effective response does not necessarily depend on large amounts of specialist equipment.</a:t>
            </a:r>
          </a:p>
          <a:p>
            <a:pPr marL="0" indent="0">
              <a:buNone/>
              <a:defRPr/>
            </a:pPr>
            <a:r>
              <a:rPr lang="en-GB" sz="3200" dirty="0">
                <a:ea typeface="+mn-ea"/>
                <a:cs typeface="+mn-cs"/>
              </a:rPr>
              <a:t>However it does depend on:</a:t>
            </a:r>
          </a:p>
          <a:p>
            <a:pPr>
              <a:defRPr/>
            </a:pPr>
            <a:r>
              <a:rPr lang="en-GB" sz="3200" dirty="0">
                <a:ea typeface="+mn-ea"/>
                <a:cs typeface="+mn-cs"/>
              </a:rPr>
              <a:t> </a:t>
            </a:r>
            <a:r>
              <a:rPr lang="en-GB" dirty="0">
                <a:ea typeface="+mn-ea"/>
                <a:cs typeface="+mn-cs"/>
              </a:rPr>
              <a:t>organizational infrastructure </a:t>
            </a:r>
          </a:p>
          <a:p>
            <a:pPr marL="857250" lvl="1" indent="-457200">
              <a:buFont typeface="Wingdings" panose="05000000000000000000" pitchFamily="2" charset="2"/>
              <a:buChar char="ü"/>
              <a:defRPr/>
            </a:pPr>
            <a:r>
              <a:rPr lang="en-GB" sz="3200" dirty="0">
                <a:ea typeface="+mn-ea"/>
                <a:cs typeface="+mn-cs"/>
              </a:rPr>
              <a:t> </a:t>
            </a:r>
            <a:r>
              <a:rPr lang="en-GB" dirty="0">
                <a:ea typeface="+mn-ea"/>
                <a:cs typeface="+mn-cs"/>
              </a:rPr>
              <a:t>clearly defined and understood</a:t>
            </a:r>
          </a:p>
          <a:p>
            <a:pPr>
              <a:defRPr/>
            </a:pPr>
            <a:r>
              <a:rPr lang="en-GB" sz="3200" dirty="0">
                <a:ea typeface="+mn-ea"/>
                <a:cs typeface="+mn-cs"/>
              </a:rPr>
              <a:t> </a:t>
            </a:r>
            <a:r>
              <a:rPr lang="en-GB" dirty="0"/>
              <a:t>leadership</a:t>
            </a:r>
          </a:p>
          <a:p>
            <a:pPr marL="857250" lvl="1" indent="-457200">
              <a:buFont typeface="Wingdings" panose="05000000000000000000" pitchFamily="2" charset="2"/>
              <a:buChar char="ü"/>
              <a:defRPr/>
            </a:pPr>
            <a:r>
              <a:rPr lang="en-GB" sz="3200" dirty="0">
                <a:ea typeface="+mn-ea"/>
                <a:cs typeface="+mn-cs"/>
              </a:rPr>
              <a:t> </a:t>
            </a:r>
            <a:r>
              <a:rPr lang="en-GB" dirty="0">
                <a:ea typeface="+mn-ea"/>
                <a:cs typeface="+mn-cs"/>
              </a:rPr>
              <a:t>well managed resources </a:t>
            </a:r>
          </a:p>
          <a:p>
            <a:pPr>
              <a:defRPr/>
            </a:pPr>
            <a:r>
              <a:rPr lang="en-GB" sz="3200" dirty="0">
                <a:ea typeface="+mn-ea"/>
                <a:cs typeface="+mn-cs"/>
              </a:rPr>
              <a:t> </a:t>
            </a:r>
            <a:r>
              <a:rPr lang="en-GB" dirty="0">
                <a:ea typeface="+mn-ea"/>
                <a:cs typeface="+mn-cs"/>
              </a:rPr>
              <a:t>information management</a:t>
            </a:r>
          </a:p>
          <a:p>
            <a:pPr>
              <a:defRPr/>
            </a:pPr>
            <a:endParaRPr lang="en-GB" dirty="0">
              <a:ea typeface="+mn-ea"/>
              <a:cs typeface="+mn-cs"/>
            </a:endParaRPr>
          </a:p>
          <a:p>
            <a:pPr marL="577850" lvl="1" indent="-177800">
              <a:buNone/>
              <a:defRPr/>
            </a:pPr>
            <a:r>
              <a:rPr lang="en-GB" sz="3200" dirty="0">
                <a:ea typeface="+mn-ea"/>
                <a:cs typeface="+mn-cs"/>
              </a:rPr>
              <a:t>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4221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22" name="Picture 2" descr="Scan0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2"/>
          <a:stretch>
            <a:fillRect/>
          </a:stretch>
        </p:blipFill>
        <p:spPr bwMode="auto">
          <a:xfrm>
            <a:off x="2351089" y="981075"/>
            <a:ext cx="36353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4">
            <a:extLst/>
          </p:cNvPr>
          <p:cNvSpPr>
            <a:spLocks noChangeArrowheads="1"/>
          </p:cNvSpPr>
          <p:nvPr/>
        </p:nvSpPr>
        <p:spPr bwMode="auto">
          <a:xfrm>
            <a:off x="6600825" y="1412876"/>
            <a:ext cx="3816350" cy="30464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sv-SE" sz="3200" dirty="0"/>
              <a:t>Often, the real crisis is not in what actually</a:t>
            </a:r>
          </a:p>
          <a:p>
            <a:pPr>
              <a:defRPr/>
            </a:pPr>
            <a:r>
              <a:rPr lang="sv-SE" sz="3200" dirty="0"/>
              <a:t>has happened, but what people and the media believe has happened.</a:t>
            </a:r>
          </a:p>
        </p:txBody>
      </p:sp>
      <p:sp>
        <p:nvSpPr>
          <p:cNvPr id="30724" name="Rectangle 5"/>
          <p:cNvSpPr>
            <a:spLocks noChangeArrowheads="1"/>
          </p:cNvSpPr>
          <p:nvPr/>
        </p:nvSpPr>
        <p:spPr bwMode="auto">
          <a:xfrm>
            <a:off x="1607775" y="0"/>
            <a:ext cx="89646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latin typeface="Tahoma" panose="020B0604030504040204" pitchFamily="34" charset="0"/>
              </a:rPr>
              <a:t>Crisis  </a:t>
            </a:r>
            <a:r>
              <a:rPr lang="en-US" altLang="en-US" sz="4000" b="1" dirty="0">
                <a:latin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4000" b="1" dirty="0">
                <a:latin typeface="Tahoma" panose="020B0604030504040204" pitchFamily="34" charset="0"/>
              </a:rPr>
              <a:t>  </a:t>
            </a:r>
            <a:r>
              <a:rPr lang="en-US" altLang="en-US" sz="4000" b="1" dirty="0" smtClean="0">
                <a:latin typeface="Tahoma" panose="020B0604030504040204" pitchFamily="34" charset="0"/>
              </a:rPr>
              <a:t>Perception </a:t>
            </a:r>
            <a:r>
              <a:rPr lang="en-US" altLang="en-US" sz="4000" b="1" dirty="0">
                <a:latin typeface="Tahoma" panose="020B0604030504040204" pitchFamily="34" charset="0"/>
              </a:rPr>
              <a:t>vs. </a:t>
            </a:r>
            <a:r>
              <a:rPr lang="en-US" altLang="en-US" sz="4000" b="1" dirty="0" smtClean="0">
                <a:latin typeface="Tahoma" panose="020B0604030504040204" pitchFamily="34" charset="0"/>
              </a:rPr>
              <a:t>Reality</a:t>
            </a:r>
            <a:endParaRPr lang="en-US" altLang="en-US" sz="4000" b="1" dirty="0">
              <a:latin typeface="Tahoma" panose="020B0604030504040204" pitchFamily="34" charset="0"/>
            </a:endParaRP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1634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644980"/>
          </a:xfrm>
          <a:noFill/>
        </p:spPr>
        <p:txBody>
          <a:bodyPr vert="horz" lIns="44048" tIns="17619" rIns="44048" bIns="17619" rtlCol="0" anchor="t">
            <a:spAutoFit/>
          </a:bodyPr>
          <a:lstStyle/>
          <a:p>
            <a:pPr algn="ctr" defTabSz="989013"/>
            <a:r>
              <a:rPr lang="en-GB" altLang="en-US" b="1" dirty="0" smtClean="0"/>
              <a:t>Challenges</a:t>
            </a:r>
            <a:endParaRPr lang="en-GB" altLang="en-US" b="1" dirty="0" smtClean="0"/>
          </a:p>
        </p:txBody>
      </p:sp>
      <p:sp>
        <p:nvSpPr>
          <p:cNvPr id="3277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1326643" y="1254378"/>
            <a:ext cx="5472113" cy="4392612"/>
          </a:xfrm>
          <a:noFill/>
        </p:spPr>
        <p:txBody>
          <a:bodyPr vert="horz" lIns="83692" tIns="41112" rIns="83692" bIns="41112" rtlCol="0">
            <a:normAutofit/>
          </a:bodyPr>
          <a:lstStyle/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r>
              <a:rPr lang="en-GB" altLang="en-US" sz="3200" dirty="0" smtClean="0"/>
              <a:t>Emergencies/ </a:t>
            </a:r>
            <a:br>
              <a:rPr lang="en-GB" altLang="en-US" sz="3200" dirty="0" smtClean="0"/>
            </a:br>
            <a:r>
              <a:rPr lang="en-GB" altLang="en-US" sz="3200" dirty="0" smtClean="0"/>
              <a:t>Crisis</a:t>
            </a:r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endParaRPr lang="en-GB" altLang="en-US" sz="3200" dirty="0" smtClean="0"/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r>
              <a:rPr lang="en-GB" altLang="en-US" sz="3200" dirty="0" smtClean="0"/>
              <a:t>Emotional stories</a:t>
            </a:r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endParaRPr lang="en-GB" altLang="en-US" sz="3200" dirty="0" smtClean="0"/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r>
              <a:rPr lang="en-GB" altLang="en-US" sz="3200" dirty="0" smtClean="0"/>
              <a:t>Highly visible</a:t>
            </a:r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  <a:buNone/>
            </a:pPr>
            <a:endParaRPr lang="en-GB" altLang="en-US" sz="3200" dirty="0" smtClean="0"/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r>
              <a:rPr lang="en-GB" altLang="en-US" sz="3200" dirty="0" smtClean="0"/>
              <a:t>Public concerns</a:t>
            </a:r>
          </a:p>
        </p:txBody>
      </p:sp>
      <p:pic>
        <p:nvPicPr>
          <p:cNvPr id="32772" name="Picture 1" descr="image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017" y="1254378"/>
            <a:ext cx="5518339" cy="4257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5195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866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832282" y="1222121"/>
            <a:ext cx="10515600" cy="4351338"/>
          </a:xfrm>
        </p:spPr>
        <p:txBody>
          <a:bodyPr>
            <a:normAutofit/>
          </a:bodyPr>
          <a:lstStyle/>
          <a:p>
            <a:pPr defTabSz="912813">
              <a:buNone/>
              <a:defRPr/>
            </a:pPr>
            <a:r>
              <a:rPr lang="en-GB" sz="3200" dirty="0"/>
              <a:t>Oil spills generate bad publicity</a:t>
            </a:r>
          </a:p>
          <a:p>
            <a:pPr marL="457200" lvl="1" indent="-457200" defTabSz="912813">
              <a:defRPr/>
            </a:pPr>
            <a:r>
              <a:rPr lang="en-GB" sz="2800" dirty="0"/>
              <a:t>Governments and industry</a:t>
            </a:r>
          </a:p>
          <a:p>
            <a:pPr marL="273050" lvl="1" indent="-273050" defTabSz="912813">
              <a:buNone/>
              <a:defRPr/>
            </a:pPr>
            <a:endParaRPr lang="en-GB" sz="3200" dirty="0"/>
          </a:p>
          <a:p>
            <a:pPr marL="0" indent="0" defTabSz="912813">
              <a:buNone/>
              <a:defRPr/>
            </a:pPr>
            <a:r>
              <a:rPr lang="en-GB" sz="3200" dirty="0"/>
              <a:t>Negative impressions can be redressed with good media communications</a:t>
            </a:r>
          </a:p>
          <a:p>
            <a:pPr marL="0" indent="0" defTabSz="912813">
              <a:buNone/>
              <a:defRPr/>
            </a:pPr>
            <a:endParaRPr lang="en-GB" sz="3200" dirty="0"/>
          </a:p>
          <a:p>
            <a:pPr marL="0" indent="0" defTabSz="912813">
              <a:buNone/>
              <a:defRPr/>
            </a:pPr>
            <a:r>
              <a:rPr lang="en-GB" sz="3200" dirty="0"/>
              <a:t>Senior managers and administrators have a responsibility to plan </a:t>
            </a:r>
          </a:p>
        </p:txBody>
      </p:sp>
      <p:sp>
        <p:nvSpPr>
          <p:cNvPr id="27650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defTabSz="914363">
              <a:defRPr/>
            </a:pPr>
            <a:r>
              <a:rPr lang="en-GB" b="1" dirty="0">
                <a:ea typeface="+mj-ea"/>
                <a:cs typeface="+mj-cs"/>
              </a:rPr>
              <a:t>Challenges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61495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 vert="horz" lIns="75749" tIns="37874" rIns="75749" bIns="37874" rtlCol="0" anchor="t">
            <a:normAutofit fontScale="90000"/>
          </a:bodyPr>
          <a:lstStyle/>
          <a:p>
            <a:pPr algn="ctr"/>
            <a:r>
              <a:rPr lang="sv-SE" altLang="en-US" b="1" dirty="0" smtClean="0"/>
              <a:t>Information</a:t>
            </a: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1002792" y="1194689"/>
            <a:ext cx="9942576" cy="4351338"/>
          </a:xfrm>
        </p:spPr>
        <p:txBody>
          <a:bodyPr vert="horz" lIns="75749" tIns="37874" rIns="75749" bIns="37874" rtlCol="0">
            <a:normAutofit/>
          </a:bodyPr>
          <a:lstStyle/>
          <a:p>
            <a:pPr algn="just">
              <a:buFont typeface="Arial" panose="020B0604020202020204" pitchFamily="34" charset="0"/>
              <a:buNone/>
            </a:pPr>
            <a:r>
              <a:rPr lang="sv-SE" altLang="en-US" sz="3200" dirty="0" smtClean="0"/>
              <a:t>Information can be used to:</a:t>
            </a:r>
          </a:p>
          <a:p>
            <a:pPr algn="just"/>
            <a:r>
              <a:rPr lang="sv-SE" altLang="en-US" dirty="0" smtClean="0"/>
              <a:t>warn people threatened by immediate danger</a:t>
            </a:r>
          </a:p>
          <a:p>
            <a:pPr algn="just"/>
            <a:r>
              <a:rPr lang="sv-SE" altLang="en-US" dirty="0" smtClean="0"/>
              <a:t>advise the community on how to act properly to avoid danger/hazard</a:t>
            </a:r>
          </a:p>
          <a:p>
            <a:pPr algn="just"/>
            <a:r>
              <a:rPr lang="sv-SE" altLang="en-US" dirty="0" smtClean="0"/>
              <a:t>informing on the response operation</a:t>
            </a:r>
          </a:p>
          <a:p>
            <a:pPr algn="just"/>
            <a:r>
              <a:rPr lang="sv-SE" altLang="en-US" dirty="0" smtClean="0"/>
              <a:t>create a solid foundation for people’s faith in the response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sv-SE" altLang="en-US" dirty="0" smtClean="0"/>
              <a:t>This requires a </a:t>
            </a:r>
            <a:r>
              <a:rPr lang="sv-SE" altLang="en-US" b="1" dirty="0" smtClean="0"/>
              <a:t>Communications Plan </a:t>
            </a:r>
          </a:p>
          <a:p>
            <a:pPr algn="just">
              <a:buFont typeface="Arial" panose="020B0604020202020204" pitchFamily="34" charset="0"/>
              <a:buNone/>
            </a:pPr>
            <a:endParaRPr lang="sv-SE" altLang="en-US" sz="3000" b="1" dirty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1425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1981200" y="130175"/>
            <a:ext cx="8229600" cy="635000"/>
          </a:xfrm>
        </p:spPr>
        <p:txBody>
          <a:bodyPr vert="horz" lIns="75749" tIns="37874" rIns="75749" bIns="37874" rtlCol="0" anchor="t">
            <a:normAutofit fontScale="90000"/>
          </a:bodyPr>
          <a:lstStyle/>
          <a:p>
            <a:pPr algn="ctr"/>
            <a:r>
              <a:rPr lang="sv-SE" altLang="en-US" b="1" dirty="0" smtClean="0"/>
              <a:t>Information</a:t>
            </a:r>
          </a:p>
        </p:txBody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>
          <a:xfrm>
            <a:off x="1267968" y="1222121"/>
            <a:ext cx="10515600" cy="4351338"/>
          </a:xfrm>
        </p:spPr>
        <p:txBody>
          <a:bodyPr vert="horz" lIns="75749" tIns="37874" rIns="75749" bIns="37874" rtlCol="0"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sv-SE" altLang="en-US" sz="3200" dirty="0" smtClean="0"/>
              <a:t>Information must be: </a:t>
            </a:r>
          </a:p>
          <a:p>
            <a:pPr>
              <a:lnSpc>
                <a:spcPct val="150000"/>
              </a:lnSpc>
            </a:pPr>
            <a:r>
              <a:rPr lang="sv-SE" altLang="en-US" dirty="0" smtClean="0"/>
              <a:t>open and accurate</a:t>
            </a:r>
          </a:p>
          <a:p>
            <a:pPr>
              <a:lnSpc>
                <a:spcPct val="90000"/>
              </a:lnSpc>
            </a:pPr>
            <a:r>
              <a:rPr lang="sv-SE" altLang="en-US" dirty="0" smtClean="0"/>
              <a:t>given swiftly and continuously</a:t>
            </a:r>
          </a:p>
          <a:p>
            <a:pPr>
              <a:lnSpc>
                <a:spcPct val="90000"/>
              </a:lnSpc>
            </a:pPr>
            <a:r>
              <a:rPr lang="sv-SE" altLang="en-US" dirty="0" smtClean="0"/>
              <a:t>simple and easily accessible</a:t>
            </a:r>
          </a:p>
          <a:p>
            <a:pPr>
              <a:lnSpc>
                <a:spcPct val="90000"/>
              </a:lnSpc>
            </a:pPr>
            <a:r>
              <a:rPr lang="sv-SE" altLang="en-US" dirty="0" smtClean="0"/>
              <a:t>clear and concise</a:t>
            </a:r>
          </a:p>
          <a:p>
            <a:pPr>
              <a:lnSpc>
                <a:spcPct val="90000"/>
              </a:lnSpc>
            </a:pPr>
            <a:endParaRPr lang="sv-SE" altLang="en-US" sz="2900" dirty="0"/>
          </a:p>
          <a:p>
            <a:pPr>
              <a:lnSpc>
                <a:spcPct val="90000"/>
              </a:lnSpc>
            </a:pPr>
            <a:endParaRPr lang="sv-SE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2655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Media </a:t>
            </a:r>
            <a:r>
              <a:rPr lang="en-US" altLang="en-US" b="1" dirty="0" smtClean="0"/>
              <a:t>Challenges</a:t>
            </a:r>
            <a:endParaRPr lang="en-US" altLang="en-US" b="1" dirty="0" smtClean="0"/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769665" y="1180258"/>
            <a:ext cx="10642047" cy="4351338"/>
          </a:xfrm>
        </p:spPr>
        <p:txBody>
          <a:bodyPr>
            <a:noAutofit/>
          </a:bodyPr>
          <a:lstStyle/>
          <a:p>
            <a:pPr algn="just">
              <a:buFontTx/>
              <a:buNone/>
            </a:pPr>
            <a:r>
              <a:rPr lang="en-US" altLang="en-US" sz="3200" b="1" dirty="0" smtClean="0"/>
              <a:t>Inequality of an emergency event</a:t>
            </a:r>
          </a:p>
          <a:p>
            <a:pPr algn="just">
              <a:buFontTx/>
              <a:buNone/>
            </a:pPr>
            <a:endParaRPr lang="en-US" altLang="en-US" sz="1100" b="1" dirty="0"/>
          </a:p>
          <a:p>
            <a:pPr marL="355600" lvl="1" indent="-355600" algn="just"/>
            <a:r>
              <a:rPr lang="en-US" altLang="en-US" sz="2800" dirty="0"/>
              <a:t>Circumstances do not </a:t>
            </a:r>
            <a:r>
              <a:rPr lang="en-US" altLang="en-US" sz="2800" dirty="0" err="1"/>
              <a:t>favour</a:t>
            </a:r>
            <a:r>
              <a:rPr lang="en-US" altLang="en-US" sz="2800" dirty="0"/>
              <a:t> the authority dealing with the event</a:t>
            </a:r>
          </a:p>
          <a:p>
            <a:pPr marL="355600" lvl="1" indent="-355600" algn="just"/>
            <a:r>
              <a:rPr lang="en-US" altLang="en-US" sz="2800" dirty="0"/>
              <a:t>It is a golden opportunity for the media</a:t>
            </a:r>
          </a:p>
          <a:p>
            <a:pPr marL="355600" lvl="1" indent="-355600" algn="just"/>
            <a:r>
              <a:rPr lang="en-US" altLang="en-US" sz="2800" dirty="0"/>
              <a:t>Media can talk in approximate terms</a:t>
            </a:r>
          </a:p>
          <a:p>
            <a:pPr marL="355600" lvl="1" indent="-355600" algn="just"/>
            <a:r>
              <a:rPr lang="en-US" altLang="en-US" sz="2800" dirty="0"/>
              <a:t>Technical/scientific information may not have an impact on public opinion</a:t>
            </a:r>
          </a:p>
          <a:p>
            <a:pPr marL="355600" lvl="1" indent="-355600" algn="just"/>
            <a:r>
              <a:rPr lang="en-US" altLang="en-US" sz="2800" dirty="0"/>
              <a:t>Credibility of media can be higher than that of the responsibility authority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19039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r>
              <a:rPr lang="sv-SE" altLang="en-US" smtClean="0"/>
              <a:t>Communcation challenges</a:t>
            </a:r>
          </a:p>
        </p:txBody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xfrm>
            <a:off x="983247" y="1295273"/>
            <a:ext cx="10213670" cy="4351338"/>
          </a:xfrm>
        </p:spPr>
        <p:txBody>
          <a:bodyPr>
            <a:normAutofit/>
          </a:bodyPr>
          <a:lstStyle/>
          <a:p>
            <a:r>
              <a:rPr lang="sv-SE" altLang="en-US" sz="3200" dirty="0" smtClean="0"/>
              <a:t>Credibility</a:t>
            </a:r>
          </a:p>
          <a:p>
            <a:r>
              <a:rPr lang="sv-SE" altLang="en-US" sz="3200" dirty="0" smtClean="0"/>
              <a:t>Clear messages</a:t>
            </a:r>
          </a:p>
          <a:p>
            <a:r>
              <a:rPr lang="sv-SE" altLang="en-US" sz="3200" dirty="0" smtClean="0"/>
              <a:t>Having the correct information and releasing  it at the right time</a:t>
            </a:r>
          </a:p>
          <a:p>
            <a:r>
              <a:rPr lang="sv-SE" altLang="en-US" sz="3200" dirty="0" smtClean="0"/>
              <a:t>Getting the attention </a:t>
            </a:r>
          </a:p>
          <a:p>
            <a:r>
              <a:rPr lang="sv-SE" altLang="en-US" sz="3200" dirty="0" smtClean="0"/>
              <a:t>Seeing the crisis from the perspective of the recipient</a:t>
            </a:r>
          </a:p>
          <a:p>
            <a:endParaRPr lang="sv-SE" altLang="en-US" sz="32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03038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Communication </a:t>
            </a:r>
            <a:r>
              <a:rPr lang="en-US" altLang="en-US" b="1" dirty="0" smtClean="0"/>
              <a:t>Challenges</a:t>
            </a:r>
            <a:endParaRPr lang="en-US" altLang="en-US" b="1" dirty="0" smtClean="0"/>
          </a:p>
        </p:txBody>
      </p:sp>
      <p:sp>
        <p:nvSpPr>
          <p:cNvPr id="4505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1162051" y="1100074"/>
            <a:ext cx="10011917" cy="4157726"/>
          </a:xfrm>
        </p:spPr>
        <p:txBody>
          <a:bodyPr/>
          <a:lstStyle/>
          <a:p>
            <a:pPr algn="just"/>
            <a:r>
              <a:rPr lang="en-US" altLang="en-US" dirty="0" smtClean="0"/>
              <a:t>The public has a right to know</a:t>
            </a:r>
          </a:p>
          <a:p>
            <a:pPr algn="just"/>
            <a:r>
              <a:rPr lang="en-GB" altLang="en-US" dirty="0" smtClean="0"/>
              <a:t>Media is the channel to the general public</a:t>
            </a:r>
            <a:endParaRPr lang="en-US" altLang="en-US" dirty="0" smtClean="0"/>
          </a:p>
          <a:p>
            <a:pPr algn="just"/>
            <a:r>
              <a:rPr lang="en-US" altLang="en-US" dirty="0" smtClean="0"/>
              <a:t>Bad news travels fast</a:t>
            </a:r>
          </a:p>
          <a:p>
            <a:pPr algn="just"/>
            <a:r>
              <a:rPr lang="en-US" altLang="en-US" dirty="0" smtClean="0"/>
              <a:t>Under-siege mentality</a:t>
            </a:r>
          </a:p>
          <a:p>
            <a:pPr algn="just"/>
            <a:r>
              <a:rPr lang="en-US" altLang="en-US" dirty="0" smtClean="0"/>
              <a:t>Media plan not to be improvised</a:t>
            </a:r>
          </a:p>
          <a:p>
            <a:pPr algn="just"/>
            <a:r>
              <a:rPr lang="en-US" altLang="en-US" dirty="0" smtClean="0"/>
              <a:t>If the media is poorly managed, the impression given is that the operation is badly managed</a:t>
            </a:r>
          </a:p>
          <a:p>
            <a:pPr algn="just"/>
            <a:r>
              <a:rPr lang="en-US" altLang="en-US" dirty="0" smtClean="0"/>
              <a:t>Plan, exercise, learn lessons, update plan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872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Effective </a:t>
            </a:r>
            <a:r>
              <a:rPr lang="en-GB" altLang="en-US" b="1" dirty="0" smtClean="0"/>
              <a:t>Response</a:t>
            </a:r>
            <a:endParaRPr lang="en-GB" altLang="en-US" b="1" dirty="0" smtClean="0"/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911352" y="1158113"/>
            <a:ext cx="10792968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  <a:defRPr/>
            </a:pPr>
            <a:r>
              <a:rPr lang="en-GB" sz="3200" dirty="0">
                <a:ea typeface="+mn-ea"/>
                <a:cs typeface="+mn-cs"/>
              </a:rPr>
              <a:t>The management of information is critical.</a:t>
            </a:r>
          </a:p>
          <a:p>
            <a:pPr marL="0" indent="0" algn="just">
              <a:buNone/>
              <a:defRPr/>
            </a:pPr>
            <a:r>
              <a:rPr lang="en-GB" sz="3200" dirty="0">
                <a:ea typeface="+mn-ea"/>
                <a:cs typeface="+mn-cs"/>
              </a:rPr>
              <a:t>Information movement can be considered in two dimensions:</a:t>
            </a:r>
          </a:p>
          <a:p>
            <a:pPr algn="just">
              <a:defRPr/>
            </a:pPr>
            <a:r>
              <a:rPr lang="en-GB" dirty="0">
                <a:ea typeface="+mn-ea"/>
                <a:cs typeface="+mn-cs"/>
              </a:rPr>
              <a:t>Vertical (internal)</a:t>
            </a:r>
          </a:p>
          <a:p>
            <a:pPr marL="742950" lvl="1" indent="-477838" algn="just">
              <a:buFont typeface="Wingdings" panose="05000000000000000000" pitchFamily="2" charset="2"/>
              <a:buChar char="Ø"/>
              <a:defRPr/>
            </a:pPr>
            <a:r>
              <a:rPr lang="en-GB" dirty="0">
                <a:ea typeface="+mn-ea"/>
                <a:cs typeface="+mn-cs"/>
              </a:rPr>
              <a:t>the flow of information up and down the command structure of the incident</a:t>
            </a:r>
          </a:p>
          <a:p>
            <a:pPr marL="323850" indent="-323850" algn="just">
              <a:defRPr/>
            </a:pPr>
            <a:r>
              <a:rPr lang="en-GB" dirty="0">
                <a:ea typeface="+mn-ea"/>
                <a:cs typeface="+mn-cs"/>
              </a:rPr>
              <a:t>Horizontal (external)</a:t>
            </a:r>
          </a:p>
          <a:p>
            <a:pPr marL="742950" lvl="1" indent="-477838" algn="just">
              <a:buFont typeface="Wingdings" panose="05000000000000000000" pitchFamily="2" charset="2"/>
              <a:buChar char="Ø"/>
              <a:defRPr/>
            </a:pPr>
            <a:r>
              <a:rPr lang="en-GB" dirty="0">
                <a:ea typeface="+mn-ea"/>
                <a:cs typeface="+mn-cs"/>
              </a:rPr>
              <a:t>The flow of information out to media and public</a:t>
            </a:r>
          </a:p>
          <a:p>
            <a:pPr marL="742950" lvl="1" indent="-477838" algn="just">
              <a:buFont typeface="Wingdings" panose="05000000000000000000" pitchFamily="2" charset="2"/>
              <a:buChar char="Ø"/>
              <a:defRPr/>
            </a:pPr>
            <a:r>
              <a:rPr lang="en-GB" dirty="0">
                <a:ea typeface="+mn-ea"/>
                <a:cs typeface="+mn-cs"/>
              </a:rPr>
              <a:t> The reaction/feedback from the media and public</a:t>
            </a:r>
          </a:p>
          <a:p>
            <a:pPr marL="577850" lvl="1" indent="-177800" algn="just">
              <a:buNone/>
              <a:defRPr/>
            </a:pPr>
            <a:r>
              <a:rPr lang="en-GB" dirty="0">
                <a:ea typeface="+mn-ea"/>
                <a:cs typeface="+mn-cs"/>
              </a:rPr>
              <a:t>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337915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defTabSz="912813">
              <a:buNone/>
            </a:pPr>
            <a:r>
              <a:rPr lang="en-GB" altLang="en-US" smtClean="0"/>
              <a:t>Communications plan</a:t>
            </a:r>
          </a:p>
          <a:p>
            <a:pPr marL="355600" lvl="1" indent="-355600" defTabSz="912813"/>
            <a:r>
              <a:rPr lang="en-GB" altLang="en-US" sz="3200"/>
              <a:t>Response team</a:t>
            </a:r>
          </a:p>
          <a:p>
            <a:pPr marL="355600" lvl="1" indent="-355600" defTabSz="912813"/>
            <a:r>
              <a:rPr lang="en-GB" altLang="en-US" sz="3200"/>
              <a:t>Response community</a:t>
            </a:r>
          </a:p>
          <a:p>
            <a:pPr marL="355600" lvl="1" indent="-355600" defTabSz="912813"/>
            <a:r>
              <a:rPr lang="en-GB" altLang="en-US" sz="3200"/>
              <a:t>Senior administrators/Ministers</a:t>
            </a:r>
          </a:p>
          <a:p>
            <a:pPr marL="355600" lvl="1" indent="-355600" defTabSz="912813"/>
            <a:r>
              <a:rPr lang="en-GB" altLang="en-US" sz="3200"/>
              <a:t>Regional and international contacts</a:t>
            </a:r>
          </a:p>
          <a:p>
            <a:pPr defTabSz="912813">
              <a:buNone/>
            </a:pPr>
            <a:endParaRPr lang="en-GB" altLang="en-US" smtClean="0"/>
          </a:p>
          <a:p>
            <a:pPr defTabSz="912813">
              <a:buNone/>
            </a:pPr>
            <a:r>
              <a:rPr lang="en-GB" altLang="en-US" smtClean="0"/>
              <a:t>Media relations plan </a:t>
            </a:r>
          </a:p>
          <a:p>
            <a:pPr defTabSz="912813"/>
            <a:r>
              <a:rPr lang="en-GB" altLang="en-US" smtClean="0"/>
              <a:t>Media</a:t>
            </a:r>
          </a:p>
          <a:p>
            <a:pPr defTabSz="912813"/>
            <a:r>
              <a:rPr lang="en-GB" altLang="en-US" smtClean="0"/>
              <a:t>Public</a:t>
            </a: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defTabSz="912813"/>
            <a:r>
              <a:rPr lang="en-GB" altLang="en-US" smtClean="0"/>
              <a:t>Two plans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400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Communication </a:t>
            </a:r>
            <a:r>
              <a:rPr lang="en-GB" altLang="en-US" b="1" dirty="0" smtClean="0"/>
              <a:t>Planning</a:t>
            </a:r>
            <a:endParaRPr lang="en-GB" altLang="en-US" b="1" dirty="0" smtClean="0"/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832282" y="1121537"/>
            <a:ext cx="10515600" cy="4351338"/>
          </a:xfrm>
        </p:spPr>
        <p:txBody>
          <a:bodyPr/>
          <a:lstStyle/>
          <a:p>
            <a:pPr marL="109728" indent="0">
              <a:buNone/>
              <a:defRPr/>
            </a:pPr>
            <a:r>
              <a:rPr lang="en-GB" dirty="0">
                <a:cs typeface="+mn-cs"/>
              </a:rPr>
              <a:t>Five-step approach to communication planning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dirty="0">
                <a:cs typeface="+mn-cs"/>
              </a:rPr>
              <a:t>Audience identification</a:t>
            </a:r>
          </a:p>
          <a:p>
            <a:pPr marL="514350" indent="-514350">
              <a:buFont typeface="Arial" charset="0"/>
              <a:buAutoNum type="arabicPeriod"/>
              <a:defRPr/>
            </a:pPr>
            <a:r>
              <a:rPr lang="en-GB" dirty="0">
                <a:cs typeface="+mn-cs"/>
              </a:rPr>
              <a:t>Objective setting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dirty="0">
                <a:cs typeface="+mn-cs"/>
              </a:rPr>
              <a:t>Information/message development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dirty="0">
                <a:cs typeface="+mn-cs"/>
              </a:rPr>
              <a:t>Choice of appropriate communication channel(s)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dirty="0">
                <a:cs typeface="+mn-cs"/>
              </a:rPr>
              <a:t>Monitoring/evaluation/review</a:t>
            </a:r>
          </a:p>
          <a:p>
            <a:pPr marL="109728" indent="0">
              <a:buNone/>
              <a:defRPr/>
            </a:pPr>
            <a:r>
              <a:rPr lang="en-GB" b="1" dirty="0">
                <a:cs typeface="+mn-cs"/>
              </a:rPr>
              <a:t>Avoid an over-reliance on the mass media</a:t>
            </a:r>
            <a:endParaRPr lang="en-GB" dirty="0">
              <a:cs typeface="+mn-cs"/>
            </a:endParaRPr>
          </a:p>
          <a:p>
            <a:pPr marL="109728" indent="0">
              <a:buNone/>
              <a:defRPr/>
            </a:pPr>
            <a:r>
              <a:rPr lang="en-GB" b="1" dirty="0">
                <a:cs typeface="+mn-cs"/>
              </a:rPr>
              <a:t>Consider  the impact  of social media</a:t>
            </a:r>
            <a:endParaRPr lang="en-GB" dirty="0">
              <a:cs typeface="+mn-cs"/>
            </a:endParaRPr>
          </a:p>
          <a:p>
            <a:pPr>
              <a:buFont typeface="Arial" charset="0"/>
              <a:buNone/>
              <a:defRPr/>
            </a:pPr>
            <a:endParaRPr lang="en-GB" dirty="0">
              <a:cs typeface="+mn-cs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840369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226" name="Picture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726" y="93663"/>
            <a:ext cx="9185275" cy="664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373491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Summary </a:t>
            </a:r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832282" y="139679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n-US" sz="3200" dirty="0">
                <a:cs typeface="+mn-cs"/>
              </a:rPr>
              <a:t>In this lesson we have considered the need for a communications plan to gather and disseminate information during an incident. </a:t>
            </a:r>
          </a:p>
          <a:p>
            <a:pPr marL="0" indent="0" algn="just">
              <a:buNone/>
              <a:defRPr/>
            </a:pPr>
            <a:endParaRPr lang="en-US" sz="3200" dirty="0">
              <a:cs typeface="+mn-cs"/>
            </a:endParaRPr>
          </a:p>
          <a:p>
            <a:pPr marL="0" indent="0" algn="just">
              <a:buNone/>
              <a:defRPr/>
            </a:pPr>
            <a:r>
              <a:rPr lang="en-US" sz="3200" dirty="0">
                <a:cs typeface="+mn-cs"/>
              </a:rPr>
              <a:t>We have also considered how best to address communications planning.</a:t>
            </a:r>
          </a:p>
          <a:p>
            <a:pPr marL="0" indent="0" algn="just">
              <a:buNone/>
              <a:defRPr/>
            </a:pPr>
            <a:endParaRPr lang="en-US" sz="3200" dirty="0">
              <a:cs typeface="+mn-cs"/>
            </a:endParaRPr>
          </a:p>
          <a:p>
            <a:pPr algn="just">
              <a:buFont typeface="Arial" panose="020B0604020202020204" pitchFamily="34" charset="0"/>
              <a:buNone/>
              <a:defRPr/>
            </a:pPr>
            <a:endParaRPr lang="en-GB" sz="3200" dirty="0">
              <a:cs typeface="+mn-cs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80631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796</Words>
  <Application>Microsoft Office PowerPoint</Application>
  <PresentationFormat>Widescreen</PresentationFormat>
  <Paragraphs>147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MS PGothic</vt:lpstr>
      <vt:lpstr>Arial</vt:lpstr>
      <vt:lpstr>Calibri</vt:lpstr>
      <vt:lpstr>inherit</vt:lpstr>
      <vt:lpstr>Symbol</vt:lpstr>
      <vt:lpstr>Tahoma</vt:lpstr>
      <vt:lpstr>Wingdings</vt:lpstr>
      <vt:lpstr>Office Theme</vt:lpstr>
      <vt:lpstr>PowerPoint Presentation</vt:lpstr>
      <vt:lpstr>Objective</vt:lpstr>
      <vt:lpstr>Strong visuals….</vt:lpstr>
      <vt:lpstr>PowerPoint Presentation</vt:lpstr>
      <vt:lpstr>PowerPoint Presentation</vt:lpstr>
      <vt:lpstr>Typical Challenges</vt:lpstr>
      <vt:lpstr>Effective Response</vt:lpstr>
      <vt:lpstr>PowerPoint Presentation</vt:lpstr>
      <vt:lpstr>Challenges</vt:lpstr>
      <vt:lpstr>Challenges</vt:lpstr>
      <vt:lpstr>Information</vt:lpstr>
      <vt:lpstr>Information</vt:lpstr>
      <vt:lpstr>Media Challenges</vt:lpstr>
      <vt:lpstr>Communcation challenges</vt:lpstr>
      <vt:lpstr>Communication Challenges</vt:lpstr>
      <vt:lpstr>Effective Response</vt:lpstr>
      <vt:lpstr>Two plans</vt:lpstr>
      <vt:lpstr>Communication Planning</vt:lpstr>
      <vt:lpstr>PowerPoint Presentation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144</cp:revision>
  <dcterms:created xsi:type="dcterms:W3CDTF">2024-09-27T05:40:49Z</dcterms:created>
  <dcterms:modified xsi:type="dcterms:W3CDTF">2025-06-04T06:51:15Z</dcterms:modified>
</cp:coreProperties>
</file>
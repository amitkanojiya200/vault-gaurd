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733493" y="1892808"/>
            <a:ext cx="8388916" cy="25511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Level 3 </a:t>
            </a:r>
            <a:r>
              <a:rPr lang="en-GB" altLang="en-US" sz="4000" b="1" dirty="0" smtClean="0">
                <a:sym typeface="Symbol" panose="05050102010706020507" pitchFamily="18" charset="2"/>
              </a:rPr>
              <a:t></a:t>
            </a:r>
            <a:r>
              <a:rPr lang="en-GB" altLang="en-US" sz="4000" b="1" dirty="0" smtClean="0"/>
              <a:t> The Strategic Level</a:t>
            </a:r>
            <a:r>
              <a:rPr lang="en-GB" altLang="en-US" b="1" dirty="0" smtClean="0"/>
              <a:t/>
            </a:r>
            <a:br>
              <a:rPr lang="en-GB" altLang="en-US" b="1" dirty="0" smtClean="0"/>
            </a:br>
            <a:r>
              <a:rPr lang="en-GB" altLang="en-US" dirty="0" smtClean="0"/>
              <a:t/>
            </a:r>
            <a:br>
              <a:rPr lang="en-GB" altLang="en-US" dirty="0" smtClean="0"/>
            </a:br>
            <a:r>
              <a:rPr lang="en-GB" altLang="en-US" b="1" dirty="0" smtClean="0">
                <a:solidFill>
                  <a:srgbClr val="0070C0"/>
                </a:solidFill>
              </a:rPr>
              <a:t>Lesson 3.1</a:t>
            </a:r>
            <a:br>
              <a:rPr lang="en-GB" altLang="en-US" b="1" dirty="0" smtClean="0">
                <a:solidFill>
                  <a:srgbClr val="0070C0"/>
                </a:solidFill>
              </a:rPr>
            </a:br>
            <a:r>
              <a:rPr lang="en-GB" altLang="en-US" b="1" dirty="0" smtClean="0">
                <a:solidFill>
                  <a:srgbClr val="0070C0"/>
                </a:solidFill>
              </a:rPr>
              <a:t>Introduction and Orientation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837944" y="204643"/>
            <a:ext cx="822960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Objective</a:t>
            </a:r>
            <a:endParaRPr lang="en-GB" b="1" dirty="0"/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954913" y="1840738"/>
            <a:ext cx="10941431" cy="10779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To understand the aims and objectives of the training course</a:t>
            </a: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179576" y="138387"/>
            <a:ext cx="959439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Course Orientation</a:t>
            </a:r>
            <a:endParaRPr lang="en-GB" b="1" dirty="0"/>
          </a:p>
        </p:txBody>
      </p:sp>
      <p:sp>
        <p:nvSpPr>
          <p:cNvPr id="6" name="Rectangle 5">
            <a:extLst/>
          </p:cNvPr>
          <p:cNvSpPr/>
          <p:nvPr/>
        </p:nvSpPr>
        <p:spPr>
          <a:xfrm>
            <a:off x="1430401" y="1136650"/>
            <a:ext cx="9990455" cy="4524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Welcome</a:t>
            </a: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Domestic </a:t>
            </a:r>
            <a:r>
              <a:rPr lang="en-GB" sz="3200" dirty="0">
                <a:latin typeface="+mn-lt"/>
              </a:rPr>
              <a:t>arrangements</a:t>
            </a: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Aims and </a:t>
            </a:r>
            <a:r>
              <a:rPr lang="en-GB" sz="3200" dirty="0">
                <a:latin typeface="+mn-lt"/>
              </a:rPr>
              <a:t>objectives</a:t>
            </a: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Course </a:t>
            </a:r>
            <a:r>
              <a:rPr lang="en-GB" sz="3200" dirty="0">
                <a:latin typeface="+mn-lt"/>
              </a:rPr>
              <a:t>timetable</a:t>
            </a: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endParaRPr lang="en-GB" sz="3200" dirty="0">
              <a:latin typeface="+mn-lt"/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GB" sz="3200" dirty="0">
                <a:latin typeface="+mn-lt"/>
              </a:rPr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143000" y="165376"/>
            <a:ext cx="10122408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Course Facilitators</a:t>
            </a:r>
            <a:endParaRPr lang="en-GB" b="1" dirty="0"/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441133" y="982663"/>
            <a:ext cx="8677275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IMO </a:t>
            </a:r>
            <a:r>
              <a:rPr lang="en-GB" sz="3200" dirty="0">
                <a:latin typeface="+mn-lt"/>
              </a:rPr>
              <a:t>representative</a:t>
            </a:r>
            <a:endParaRPr lang="en-GB" sz="3200" dirty="0">
              <a:latin typeface="+mn-lt"/>
            </a:endParaRPr>
          </a:p>
          <a:p>
            <a:pPr marL="896938" lvl="1" indent="-439738" eaLnBrk="1" hangingPunct="1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XXX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Facilitators</a:t>
            </a:r>
          </a:p>
          <a:p>
            <a:pPr marL="896938" lvl="1" indent="-439738" eaLnBrk="1" hangingPunct="1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XXX</a:t>
            </a:r>
          </a:p>
          <a:p>
            <a:pPr marL="896938" lvl="1" indent="-439738" eaLnBrk="1" hangingPunct="1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XXX</a:t>
            </a:r>
          </a:p>
          <a:p>
            <a:pPr marL="439738" indent="-439738"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Guest </a:t>
            </a:r>
            <a:r>
              <a:rPr lang="en-GB" sz="3200" dirty="0">
                <a:latin typeface="+mn-lt"/>
              </a:rPr>
              <a:t>speakers</a:t>
            </a:r>
            <a:endParaRPr lang="en-GB" sz="3200" dirty="0">
              <a:latin typeface="+mn-lt"/>
            </a:endParaRPr>
          </a:p>
          <a:p>
            <a:pPr marL="896938" lvl="1" indent="-439738" eaLnBrk="1" hangingPunct="1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XXX</a:t>
            </a:r>
          </a:p>
          <a:p>
            <a:pPr marL="439738" indent="-439738"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Course </a:t>
            </a:r>
            <a:r>
              <a:rPr lang="en-GB" sz="3200" dirty="0">
                <a:latin typeface="+mn-lt"/>
              </a:rPr>
              <a:t>coordinator</a:t>
            </a:r>
            <a:endParaRPr lang="en-GB" sz="3200" dirty="0">
              <a:latin typeface="+mn-lt"/>
            </a:endParaRPr>
          </a:p>
          <a:p>
            <a:pPr marL="896938" lvl="1" indent="-439738" eaLnBrk="1" hangingPunct="1"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453896" y="130175"/>
            <a:ext cx="9418320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Safety Briefing</a:t>
            </a:r>
            <a:endParaRPr lang="en-GB" b="1" dirty="0"/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230821" y="1128967"/>
            <a:ext cx="8677275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Safety and </a:t>
            </a:r>
            <a:r>
              <a:rPr lang="en-GB" sz="3200" dirty="0">
                <a:latin typeface="+mn-lt"/>
              </a:rPr>
              <a:t>fire </a:t>
            </a:r>
            <a:r>
              <a:rPr lang="en-GB" sz="3200" dirty="0">
                <a:latin typeface="+mn-lt"/>
              </a:rPr>
              <a:t>e</a:t>
            </a:r>
            <a:r>
              <a:rPr lang="en-GB" sz="3200" dirty="0">
                <a:latin typeface="+mn-lt"/>
              </a:rPr>
              <a:t>scapes</a:t>
            </a:r>
            <a:endParaRPr lang="en-GB" sz="3200" dirty="0">
              <a:latin typeface="+mn-lt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Fire </a:t>
            </a:r>
            <a:r>
              <a:rPr lang="en-GB" sz="3200" dirty="0">
                <a:latin typeface="+mn-lt"/>
              </a:rPr>
              <a:t>alarm</a:t>
            </a:r>
            <a:endParaRPr lang="en-GB" sz="3200" dirty="0">
              <a:latin typeface="+mn-lt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First </a:t>
            </a:r>
            <a:r>
              <a:rPr lang="en-GB" sz="3200" dirty="0">
                <a:latin typeface="+mn-lt"/>
              </a:rPr>
              <a:t>aid</a:t>
            </a:r>
            <a:endParaRPr lang="en-GB" sz="3200" dirty="0">
              <a:latin typeface="+mn-lt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Any </a:t>
            </a:r>
            <a:r>
              <a:rPr lang="en-GB" sz="3200" dirty="0">
                <a:latin typeface="+mn-lt"/>
              </a:rPr>
              <a:t>security </a:t>
            </a:r>
            <a:r>
              <a:rPr lang="en-GB" sz="3200" dirty="0">
                <a:latin typeface="+mn-lt"/>
              </a:rPr>
              <a:t>c</a:t>
            </a:r>
            <a:r>
              <a:rPr lang="en-GB" sz="3200" dirty="0">
                <a:latin typeface="+mn-lt"/>
              </a:rPr>
              <a:t>onsiderations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467790" y="181112"/>
            <a:ext cx="9244584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Domestic Arrangements</a:t>
            </a:r>
            <a:endParaRPr lang="en-GB" b="1" dirty="0"/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422845" y="908050"/>
            <a:ext cx="8677275" cy="514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Smoking </a:t>
            </a:r>
            <a:r>
              <a:rPr lang="en-GB" sz="3200" dirty="0">
                <a:latin typeface="+mn-lt"/>
              </a:rPr>
              <a:t>areas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Toilets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Refreshments and </a:t>
            </a:r>
            <a:r>
              <a:rPr lang="en-GB" sz="3200" dirty="0">
                <a:latin typeface="+mn-lt"/>
              </a:rPr>
              <a:t>lunches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Cell phones – silent mode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Business </a:t>
            </a:r>
            <a:r>
              <a:rPr lang="en-GB" sz="3200" dirty="0">
                <a:latin typeface="+mn-lt"/>
              </a:rPr>
              <a:t>cards </a:t>
            </a:r>
            <a:r>
              <a:rPr lang="en-GB" sz="3200" dirty="0">
                <a:latin typeface="+mn-lt"/>
              </a:rPr>
              <a:t>or </a:t>
            </a:r>
            <a:r>
              <a:rPr lang="en-GB" sz="3200" dirty="0">
                <a:latin typeface="+mn-lt"/>
              </a:rPr>
              <a:t>contact details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Course </a:t>
            </a:r>
            <a:r>
              <a:rPr lang="en-GB" sz="3200" dirty="0">
                <a:latin typeface="+mn-lt"/>
              </a:rPr>
              <a:t>materials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Course </a:t>
            </a:r>
            <a:r>
              <a:rPr lang="en-GB" sz="3200" dirty="0">
                <a:latin typeface="+mn-lt"/>
              </a:rPr>
              <a:t>photograph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Evaluation </a:t>
            </a:r>
            <a:r>
              <a:rPr lang="en-GB" sz="3200" dirty="0">
                <a:latin typeface="+mn-lt"/>
              </a:rPr>
              <a:t>forms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Certificate of </a:t>
            </a:r>
            <a:r>
              <a:rPr lang="en-GB" sz="3200" dirty="0">
                <a:latin typeface="+mn-lt"/>
              </a:rPr>
              <a:t>attendance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322261" y="157438"/>
            <a:ext cx="9445752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Course Content</a:t>
            </a:r>
            <a:endParaRPr lang="en-GB" b="1" dirty="0"/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322261" y="1138111"/>
            <a:ext cx="86772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Introduction and </a:t>
            </a:r>
            <a:r>
              <a:rPr lang="en-GB" sz="3200" dirty="0">
                <a:latin typeface="+mn-lt"/>
              </a:rPr>
              <a:t>orientation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Video – The </a:t>
            </a:r>
            <a:r>
              <a:rPr lang="en-GB" sz="3200" dirty="0">
                <a:latin typeface="+mn-lt"/>
              </a:rPr>
              <a:t>work </a:t>
            </a:r>
            <a:r>
              <a:rPr lang="en-GB" sz="3200" dirty="0">
                <a:latin typeface="+mn-lt"/>
              </a:rPr>
              <a:t>of IMO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Oil </a:t>
            </a:r>
            <a:r>
              <a:rPr lang="en-GB" sz="3200" dirty="0">
                <a:latin typeface="+mn-lt"/>
              </a:rPr>
              <a:t>spill </a:t>
            </a:r>
            <a:r>
              <a:rPr lang="en-GB" sz="3200" dirty="0">
                <a:latin typeface="+mn-lt"/>
              </a:rPr>
              <a:t>r</a:t>
            </a:r>
            <a:r>
              <a:rPr lang="en-GB" sz="3200" dirty="0">
                <a:latin typeface="+mn-lt"/>
              </a:rPr>
              <a:t>esponse </a:t>
            </a:r>
            <a:r>
              <a:rPr lang="en-GB" sz="3200" dirty="0">
                <a:latin typeface="+mn-lt"/>
              </a:rPr>
              <a:t>p</a:t>
            </a:r>
            <a:r>
              <a:rPr lang="en-GB" sz="3200" dirty="0">
                <a:latin typeface="+mn-lt"/>
              </a:rPr>
              <a:t>reparedness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Planning and </a:t>
            </a:r>
            <a:r>
              <a:rPr lang="en-GB" sz="3200" dirty="0">
                <a:latin typeface="+mn-lt"/>
              </a:rPr>
              <a:t>response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Response </a:t>
            </a:r>
            <a:r>
              <a:rPr lang="en-GB" sz="3200" dirty="0">
                <a:latin typeface="+mn-lt"/>
              </a:rPr>
              <a:t>management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Communication </a:t>
            </a:r>
            <a:r>
              <a:rPr lang="en-GB" sz="3200" dirty="0">
                <a:latin typeface="+mn-lt"/>
              </a:rPr>
              <a:t>issues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Liability and </a:t>
            </a:r>
            <a:r>
              <a:rPr lang="en-GB" sz="3200" dirty="0">
                <a:latin typeface="+mn-lt"/>
              </a:rPr>
              <a:t>compensation</a:t>
            </a:r>
            <a:endParaRPr lang="en-GB" sz="3200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Evaluation and </a:t>
            </a:r>
            <a:r>
              <a:rPr lang="en-GB" sz="3200" dirty="0">
                <a:latin typeface="+mn-lt"/>
              </a:rPr>
              <a:t>review</a:t>
            </a:r>
            <a:endParaRPr lang="en-GB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0">
            <a:extLst/>
          </p:cNvPr>
          <p:cNvSpPr txBox="1">
            <a:spLocks/>
          </p:cNvSpPr>
          <p:nvPr/>
        </p:nvSpPr>
        <p:spPr>
          <a:xfrm>
            <a:off x="1340549" y="167199"/>
            <a:ext cx="9720072" cy="561975"/>
          </a:xfrm>
          <a:prstGeom prst="rect">
            <a:avLst/>
          </a:prstGeom>
        </p:spPr>
        <p:txBody>
          <a:bodyPr rtlCol="0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GB" b="1" dirty="0" smtClean="0"/>
              <a:t>Introductions</a:t>
            </a:r>
            <a:endParaRPr lang="en-GB" b="1" dirty="0"/>
          </a:p>
        </p:txBody>
      </p:sp>
      <p:sp>
        <p:nvSpPr>
          <p:cNvPr id="6" name="Text Box 6">
            <a:extLst/>
          </p:cNvPr>
          <p:cNvSpPr txBox="1">
            <a:spLocks noChangeArrowheads="1"/>
          </p:cNvSpPr>
          <p:nvPr/>
        </p:nvSpPr>
        <p:spPr bwMode="auto">
          <a:xfrm>
            <a:off x="1183291" y="933817"/>
            <a:ext cx="10034587" cy="490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600"/>
              </a:spcBef>
              <a:defRPr/>
            </a:pPr>
            <a:r>
              <a:rPr lang="en-GB" sz="3200" dirty="0">
                <a:latin typeface="+mn-lt"/>
              </a:rPr>
              <a:t>Please introduce yourself: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	Who are you?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	Who do you represent?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	What does your job entail?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	Any previous oil spill response experience?</a:t>
            </a: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  <a:buFont typeface="Arial" pitchFamily="34" charset="0"/>
              <a:buChar char="•"/>
              <a:defRPr/>
            </a:pPr>
            <a:r>
              <a:rPr lang="en-GB" sz="3200" dirty="0">
                <a:latin typeface="+mn-lt"/>
              </a:rPr>
              <a:t>	What are your expectations of this course?</a:t>
            </a:r>
          </a:p>
        </p:txBody>
      </p:sp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279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inherit</vt:lpstr>
      <vt:lpstr>Symbol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138</cp:revision>
  <dcterms:created xsi:type="dcterms:W3CDTF">2024-09-27T05:40:49Z</dcterms:created>
  <dcterms:modified xsi:type="dcterms:W3CDTF">2025-05-29T05:10:16Z</dcterms:modified>
</cp:coreProperties>
</file>
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97" r:id="rId3"/>
    <p:sldId id="257" r:id="rId4"/>
    <p:sldId id="265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26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3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C131A-B1EB-4AEA-BCE3-161F1F36D49C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68B2E-19E3-476B-B4E1-34C08EDC85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984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B22E7D6-D137-4FBB-B63D-FCC81A7F2413}" type="slidenum">
              <a:rPr lang="fr-FR" altLang="en-US" sz="1300" smtClean="0">
                <a:latin typeface="Calibri" panose="020F0502020204030204" pitchFamily="34" charset="0"/>
              </a:rPr>
              <a:pPr>
                <a:spcBef>
                  <a:spcPct val="0"/>
                </a:spcBef>
              </a:pPr>
              <a:t>19</a:t>
            </a:fld>
            <a:endParaRPr lang="fr-FR" altLang="en-US" sz="1300" smtClean="0">
              <a:latin typeface="Calibri" panose="020F0502020204030204" pitchFamily="34" charset="0"/>
            </a:endParaRPr>
          </a:p>
        </p:txBody>
      </p:sp>
      <p:sp>
        <p:nvSpPr>
          <p:cNvPr id="43011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2143125" y="333375"/>
            <a:ext cx="5316538" cy="2990850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9525" y="3475038"/>
            <a:ext cx="7042150" cy="32908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926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DA25068-EEE3-425E-A8D3-0B4738F24EA0}" type="slidenum">
              <a:rPr lang="fr-FR" altLang="en-US" sz="1300" smtClean="0">
                <a:latin typeface="Calibri" panose="020F0502020204030204" pitchFamily="34" charset="0"/>
              </a:rPr>
              <a:pPr>
                <a:spcBef>
                  <a:spcPct val="0"/>
                </a:spcBef>
              </a:pPr>
              <a:t>20</a:t>
            </a:fld>
            <a:endParaRPr lang="fr-FR" altLang="en-US" sz="1300" smtClean="0">
              <a:latin typeface="Calibri" panose="020F0502020204030204" pitchFamily="34" charset="0"/>
            </a:endParaRPr>
          </a:p>
        </p:txBody>
      </p:sp>
      <p:sp>
        <p:nvSpPr>
          <p:cNvPr id="45059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2143125" y="333375"/>
            <a:ext cx="5316538" cy="299085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9525" y="3475038"/>
            <a:ext cx="7042150" cy="32908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0033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D08C63E-A665-45E3-8C5C-AE123D465DCF}" type="slidenum">
              <a:rPr lang="fr-FR" altLang="en-US" sz="1300" smtClean="0">
                <a:latin typeface="Calibri" panose="020F0502020204030204" pitchFamily="34" charset="0"/>
              </a:rPr>
              <a:pPr>
                <a:spcBef>
                  <a:spcPct val="0"/>
                </a:spcBef>
              </a:pPr>
              <a:t>21</a:t>
            </a:fld>
            <a:endParaRPr lang="fr-FR" altLang="en-US" sz="1300" smtClean="0">
              <a:latin typeface="Calibri" panose="020F0502020204030204" pitchFamily="34" charset="0"/>
            </a:endParaRPr>
          </a:p>
        </p:txBody>
      </p:sp>
      <p:sp>
        <p:nvSpPr>
          <p:cNvPr id="47107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2143125" y="333375"/>
            <a:ext cx="5316538" cy="2990850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9525" y="3475038"/>
            <a:ext cx="7042150" cy="32908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598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90F35A1-2990-4F36-BF57-C6774311423E}" type="slidenum">
              <a:rPr lang="fr-FR" altLang="en-US" sz="1300" smtClean="0">
                <a:latin typeface="Calibri" panose="020F0502020204030204" pitchFamily="34" charset="0"/>
              </a:rPr>
              <a:pPr>
                <a:spcBef>
                  <a:spcPct val="0"/>
                </a:spcBef>
              </a:pPr>
              <a:t>22</a:t>
            </a:fld>
            <a:endParaRPr lang="fr-FR" altLang="en-US" sz="1300" smtClean="0">
              <a:latin typeface="Calibri" panose="020F0502020204030204" pitchFamily="34" charset="0"/>
            </a:endParaRPr>
          </a:p>
        </p:txBody>
      </p:sp>
      <p:sp>
        <p:nvSpPr>
          <p:cNvPr id="49155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2143125" y="333375"/>
            <a:ext cx="5316538" cy="2990850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9525" y="3475038"/>
            <a:ext cx="7042150" cy="32908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552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50740A0-D83C-4E99-B4D0-DF24E9418990}" type="slidenum">
              <a:rPr lang="fr-FR" altLang="en-US" sz="1300" smtClean="0">
                <a:latin typeface="Calibri" panose="020F0502020204030204" pitchFamily="34" charset="0"/>
              </a:rPr>
              <a:pPr>
                <a:spcBef>
                  <a:spcPct val="0"/>
                </a:spcBef>
              </a:pPr>
              <a:t>25</a:t>
            </a:fld>
            <a:endParaRPr lang="fr-FR" altLang="en-US" sz="1300" smtClean="0">
              <a:latin typeface="Calibri" panose="020F0502020204030204" pitchFamily="34" charset="0"/>
            </a:endParaRPr>
          </a:p>
        </p:txBody>
      </p:sp>
      <p:sp>
        <p:nvSpPr>
          <p:cNvPr id="53251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2143125" y="333375"/>
            <a:ext cx="5316538" cy="299085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9525" y="3475038"/>
            <a:ext cx="7042150" cy="32908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3459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AC97E3C-2D39-4299-BB8B-304BE80D3568}" type="slidenum">
              <a:rPr lang="fr-FR" altLang="en-US" sz="1300" smtClean="0">
                <a:latin typeface="Calibri" panose="020F0502020204030204" pitchFamily="34" charset="0"/>
              </a:rPr>
              <a:pPr>
                <a:spcBef>
                  <a:spcPct val="0"/>
                </a:spcBef>
              </a:pPr>
              <a:t>27</a:t>
            </a:fld>
            <a:endParaRPr lang="fr-FR" altLang="en-US" sz="1300" smtClean="0">
              <a:latin typeface="Calibri" panose="020F0502020204030204" pitchFamily="34" charset="0"/>
            </a:endParaRPr>
          </a:p>
        </p:txBody>
      </p:sp>
      <p:sp>
        <p:nvSpPr>
          <p:cNvPr id="56323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2143125" y="333375"/>
            <a:ext cx="5316538" cy="2990850"/>
          </a:xfrm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9525" y="3475038"/>
            <a:ext cx="7042150" cy="32908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en-US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026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05-06-2025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1532080" y="2057999"/>
            <a:ext cx="8541865" cy="213137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Lesson 3.4</a:t>
            </a:r>
            <a:br>
              <a:rPr lang="en-GB" altLang="en-US" sz="4000" b="1" dirty="0" smtClean="0"/>
            </a:br>
            <a:r>
              <a:rPr lang="en-US" altLang="en-US" sz="4000" b="1" dirty="0" smtClean="0"/>
              <a:t>Technical Tools for Oil Spill Planning and Response</a:t>
            </a:r>
            <a:endParaRPr lang="en-GB" altLang="en-US" sz="4000" b="1" dirty="0" smtClean="0"/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192584" y="0"/>
            <a:ext cx="10033711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 smtClean="0">
                <a:latin typeface="Arial" panose="020B0604020202020204" pitchFamily="34" charset="0"/>
              </a:rPr>
              <a:t>Objective</a:t>
            </a:r>
          </a:p>
        </p:txBody>
      </p:sp>
      <p:sp>
        <p:nvSpPr>
          <p:cNvPr id="6" name="Rectangle 3">
            <a:extLst/>
          </p:cNvPr>
          <p:cNvSpPr txBox="1">
            <a:spLocks noChangeArrowheads="1"/>
          </p:cNvSpPr>
          <p:nvPr/>
        </p:nvSpPr>
        <p:spPr>
          <a:xfrm>
            <a:off x="993409" y="1621106"/>
            <a:ext cx="10033711" cy="15838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/>
            </a:pPr>
            <a:r>
              <a:rPr lang="en-GB" altLang="en-US" dirty="0" smtClean="0"/>
              <a:t>To understand the technical aspects and tools available for oil spill preparedness and response especially oil behaviour, sensitivity maps and modelling. 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US" altLang="en-US" dirty="0" smtClean="0">
              <a:latin typeface="Arial" panose="020B0604020202020204" pitchFamily="34" charset="0"/>
            </a:endParaRPr>
          </a:p>
          <a:p>
            <a:pPr algn="just">
              <a:defRPr/>
            </a:pPr>
            <a:endParaRPr lang="en-US" altLang="en-US" dirty="0" smtClean="0">
              <a:latin typeface="Arial" panose="020B0604020202020204" pitchFamily="34" charset="0"/>
            </a:endParaRPr>
          </a:p>
          <a:p>
            <a:pPr algn="just">
              <a:defRPr/>
            </a:pPr>
            <a:endParaRPr lang="fr-FR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307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72422" y="84910"/>
            <a:ext cx="9809435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Technical Aspects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937027" y="1223561"/>
            <a:ext cx="9809435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Contingency planning and response must be supported by sound technical knowledge and tools.</a:t>
            </a:r>
          </a:p>
          <a:p>
            <a:pPr algn="just"/>
            <a:r>
              <a:rPr lang="en-GB" altLang="en-US" dirty="0" smtClean="0"/>
              <a:t>These will facilitate decision-making processes.</a:t>
            </a:r>
          </a:p>
          <a:p>
            <a:pPr algn="just"/>
            <a:r>
              <a:rPr lang="en-GB" altLang="en-US" dirty="0" smtClean="0"/>
              <a:t>The main technical aspects to consider are:</a:t>
            </a:r>
          </a:p>
          <a:p>
            <a:pPr lvl="1" indent="-455613" algn="just">
              <a:buFont typeface="Wingdings" panose="05000000000000000000" pitchFamily="2" charset="2"/>
              <a:buChar char="Ø"/>
            </a:pPr>
            <a:r>
              <a:rPr lang="en-GB" altLang="en-US" dirty="0" smtClean="0"/>
              <a:t>Oil fate and behaviour</a:t>
            </a:r>
          </a:p>
          <a:p>
            <a:pPr lvl="1" indent="-455613" algn="just">
              <a:buFont typeface="Wingdings" panose="05000000000000000000" pitchFamily="2" charset="2"/>
              <a:buChar char="Ø"/>
            </a:pPr>
            <a:r>
              <a:rPr lang="en-GB" altLang="en-US" dirty="0" smtClean="0"/>
              <a:t>Oil spill modelling</a:t>
            </a:r>
          </a:p>
          <a:p>
            <a:pPr lvl="1" indent="-455613" algn="just">
              <a:buFont typeface="Wingdings" panose="05000000000000000000" pitchFamily="2" charset="2"/>
              <a:buChar char="Ø"/>
            </a:pPr>
            <a:r>
              <a:rPr lang="en-GB" altLang="en-US" dirty="0" smtClean="0"/>
              <a:t>Sensitivity mapping.</a:t>
            </a:r>
          </a:p>
        </p:txBody>
      </p:sp>
    </p:spTree>
    <p:extLst>
      <p:ext uri="{BB962C8B-B14F-4D97-AF65-F5344CB8AC3E}">
        <p14:creationId xmlns:p14="http://schemas.microsoft.com/office/powerpoint/2010/main" val="99644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2867686" y="2837446"/>
            <a:ext cx="6801415" cy="14700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US" b="1" dirty="0" smtClean="0"/>
              <a:t>Oil Fate and Behaviour</a:t>
            </a:r>
          </a:p>
        </p:txBody>
      </p:sp>
    </p:spTree>
    <p:extLst>
      <p:ext uri="{BB962C8B-B14F-4D97-AF65-F5344CB8AC3E}">
        <p14:creationId xmlns:p14="http://schemas.microsoft.com/office/powerpoint/2010/main" val="37763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118097" y="14937"/>
            <a:ext cx="10153467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Oil Behaviour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960974" y="1160187"/>
            <a:ext cx="1025821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altLang="en-US" dirty="0" smtClean="0"/>
              <a:t>Physical and chemical processes will change oil properties and behaviour once spilled into the environment.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These processes are referred to as </a:t>
            </a:r>
            <a:r>
              <a:rPr lang="en-GB" altLang="fr-FR" dirty="0" smtClean="0"/>
              <a:t>“</a:t>
            </a:r>
            <a:r>
              <a:rPr lang="en-GB" altLang="en-US" dirty="0" smtClean="0"/>
              <a:t>oil weathering</a:t>
            </a:r>
            <a:r>
              <a:rPr lang="en-GB" altLang="fr-FR" dirty="0" smtClean="0"/>
              <a:t>”.</a:t>
            </a:r>
          </a:p>
          <a:p>
            <a:pPr algn="just"/>
            <a:endParaRPr lang="en-GB" altLang="en-US" dirty="0" smtClean="0"/>
          </a:p>
          <a:p>
            <a:pPr algn="just"/>
            <a:r>
              <a:rPr lang="en-GB" altLang="en-US" dirty="0" smtClean="0"/>
              <a:t>Oil weathering will influence the selection of appropriate response strategies, affect operations and oil toxicity.</a:t>
            </a:r>
          </a:p>
        </p:txBody>
      </p:sp>
    </p:spTree>
    <p:extLst>
      <p:ext uri="{BB962C8B-B14F-4D97-AF65-F5344CB8AC3E}">
        <p14:creationId xmlns:p14="http://schemas.microsoft.com/office/powerpoint/2010/main" val="876768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805758" y="130175"/>
            <a:ext cx="10664983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Important Oil </a:t>
            </a:r>
            <a:r>
              <a:rPr lang="en-GB" altLang="en-US" b="1" dirty="0"/>
              <a:t>P</a:t>
            </a:r>
            <a:r>
              <a:rPr lang="en-GB" altLang="en-US" b="1" dirty="0" smtClean="0"/>
              <a:t>roperties</a:t>
            </a:r>
          </a:p>
        </p:txBody>
      </p:sp>
      <p:sp>
        <p:nvSpPr>
          <p:cNvPr id="6" name="Rectangle 3">
            <a:extLst/>
          </p:cNvPr>
          <p:cNvSpPr txBox="1">
            <a:spLocks noChangeArrowheads="1"/>
          </p:cNvSpPr>
          <p:nvPr/>
        </p:nvSpPr>
        <p:spPr>
          <a:xfrm>
            <a:off x="1446082" y="1171591"/>
            <a:ext cx="9590091" cy="54721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charset="0"/>
              <a:buChar char="•"/>
              <a:defRPr/>
            </a:pPr>
            <a:r>
              <a:rPr lang="en-GB" dirty="0" smtClean="0">
                <a:ea typeface="ＭＳ Ｐゴシック" charset="0"/>
                <a:cs typeface="ＭＳ Ｐゴシック" charset="0"/>
              </a:rPr>
              <a:t> </a:t>
            </a:r>
            <a:r>
              <a:rPr lang="en-GB" dirty="0" smtClean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Specific gravity/</a:t>
            </a:r>
            <a:r>
              <a:rPr lang="en-GB" baseline="30000" dirty="0" err="1" smtClean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o</a:t>
            </a:r>
            <a:r>
              <a:rPr lang="en-GB" dirty="0" err="1" smtClean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API</a:t>
            </a:r>
            <a:r>
              <a:rPr lang="en-GB" dirty="0" smtClean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: </a:t>
            </a:r>
          </a:p>
          <a:p>
            <a:pPr lvl="1">
              <a:defRPr/>
            </a:pPr>
            <a:r>
              <a:rPr lang="en-GB" dirty="0" smtClean="0">
                <a:solidFill>
                  <a:srgbClr val="000000"/>
                </a:solidFill>
                <a:ea typeface="ＭＳ Ｐゴシック" charset="0"/>
              </a:rPr>
              <a:t>density</a:t>
            </a:r>
          </a:p>
          <a:p>
            <a:pPr>
              <a:buFont typeface="Arial" charset="0"/>
              <a:buChar char="•"/>
              <a:defRPr/>
            </a:pPr>
            <a:r>
              <a:rPr lang="en-GB" i="1" dirty="0" smtClean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GB" dirty="0" smtClean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Viscosity:</a:t>
            </a:r>
          </a:p>
          <a:p>
            <a:pPr lvl="1">
              <a:buFont typeface="Arial" charset="0"/>
              <a:buChar char="–"/>
              <a:defRPr/>
            </a:pPr>
            <a:r>
              <a:rPr lang="en-GB" dirty="0" smtClean="0">
                <a:solidFill>
                  <a:srgbClr val="000000"/>
                </a:solidFill>
                <a:ea typeface="ＭＳ Ｐゴシック" charset="0"/>
              </a:rPr>
              <a:t>  resistance to flow</a:t>
            </a:r>
          </a:p>
          <a:p>
            <a:pPr>
              <a:buFont typeface="Arial" charset="0"/>
              <a:buChar char="•"/>
              <a:defRPr/>
            </a:pPr>
            <a:r>
              <a:rPr lang="en-GB" dirty="0" smtClean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 Pour point:</a:t>
            </a:r>
          </a:p>
          <a:p>
            <a:pPr lvl="1">
              <a:buFont typeface="Arial" charset="0"/>
              <a:buChar char="–"/>
              <a:defRPr/>
            </a:pPr>
            <a:r>
              <a:rPr lang="en-GB" dirty="0" smtClean="0">
                <a:solidFill>
                  <a:srgbClr val="000000"/>
                </a:solidFill>
                <a:ea typeface="ＭＳ Ｐゴシック" charset="0"/>
              </a:rPr>
              <a:t> temperature below which oil does not flow</a:t>
            </a:r>
          </a:p>
          <a:p>
            <a:pPr>
              <a:buFont typeface="Arial" charset="0"/>
              <a:buChar char="•"/>
              <a:defRPr/>
            </a:pPr>
            <a:r>
              <a:rPr lang="en-GB" dirty="0" smtClean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Volatility:</a:t>
            </a:r>
          </a:p>
          <a:p>
            <a:pPr lvl="1">
              <a:buFont typeface="Arial" charset="0"/>
              <a:buChar char="–"/>
              <a:defRPr/>
            </a:pPr>
            <a:r>
              <a:rPr lang="en-GB" dirty="0" smtClean="0">
                <a:solidFill>
                  <a:srgbClr val="000000"/>
                </a:solidFill>
                <a:ea typeface="ＭＳ Ｐゴシック" charset="0"/>
              </a:rPr>
              <a:t> propensity to evaporate</a:t>
            </a:r>
          </a:p>
          <a:p>
            <a:pPr marL="0" indent="0">
              <a:buFont typeface="Arial" charset="0"/>
              <a:buChar char="•"/>
              <a:defRPr/>
            </a:pPr>
            <a:r>
              <a:rPr lang="en-GB" dirty="0" smtClean="0">
                <a:ea typeface="ＭＳ Ｐゴシック" charset="0"/>
                <a:cs typeface="ＭＳ Ｐゴシック" charset="0"/>
              </a:rPr>
              <a:t> </a:t>
            </a:r>
            <a:r>
              <a:rPr lang="en-GB" dirty="0" err="1" smtClean="0">
                <a:ea typeface="ＭＳ Ｐゴシック" charset="0"/>
                <a:cs typeface="ＭＳ Ｐゴシック" charset="0"/>
              </a:rPr>
              <a:t>Asphaltene</a:t>
            </a:r>
            <a:r>
              <a:rPr lang="en-GB" dirty="0" smtClean="0">
                <a:ea typeface="ＭＳ Ｐゴシック" charset="0"/>
                <a:cs typeface="ＭＳ Ｐゴシック" charset="0"/>
              </a:rPr>
              <a:t> content</a:t>
            </a:r>
            <a:r>
              <a:rPr lang="en-GB" dirty="0" smtClean="0">
                <a:solidFill>
                  <a:srgbClr val="000000"/>
                </a:solidFill>
                <a:ea typeface="ＭＳ Ｐゴシック" charset="0"/>
                <a:cs typeface="ＭＳ Ｐゴシック" charset="0"/>
              </a:rPr>
              <a:t>: </a:t>
            </a:r>
          </a:p>
          <a:p>
            <a:pPr marL="857250" lvl="1" indent="-457200">
              <a:defRPr/>
            </a:pPr>
            <a:r>
              <a:rPr lang="en-GB" dirty="0" smtClean="0">
                <a:solidFill>
                  <a:srgbClr val="000000"/>
                </a:solidFill>
                <a:ea typeface="ＭＳ Ｐゴシック" charset="0"/>
              </a:rPr>
              <a:t>propensity to emulsify</a:t>
            </a:r>
          </a:p>
          <a:p>
            <a:pPr>
              <a:buFontTx/>
              <a:buNone/>
              <a:defRPr/>
            </a:pPr>
            <a:endParaRPr lang="en-GB" baseline="30000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17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335378" y="93963"/>
            <a:ext cx="9338657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Fate and Behaviour of Spilled </a:t>
            </a:r>
            <a:r>
              <a:rPr lang="en-GB" altLang="en-US" b="1" dirty="0"/>
              <a:t>O</a:t>
            </a:r>
            <a:r>
              <a:rPr lang="en-GB" altLang="en-US" b="1" dirty="0" smtClean="0"/>
              <a:t>il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335378" y="1541793"/>
            <a:ext cx="3761722" cy="330181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GB" altLang="en-US" dirty="0" smtClean="0"/>
              <a:t> </a:t>
            </a:r>
            <a:r>
              <a:rPr lang="en-GB" altLang="en-US" sz="3200" u="sng" dirty="0" smtClean="0"/>
              <a:t>Major processes:</a:t>
            </a:r>
            <a:endParaRPr lang="en-GB" altLang="en-US" sz="3200" dirty="0" smtClean="0"/>
          </a:p>
          <a:p>
            <a:r>
              <a:rPr lang="en-GB" altLang="en-US" dirty="0" smtClean="0"/>
              <a:t>Drifting</a:t>
            </a:r>
          </a:p>
          <a:p>
            <a:r>
              <a:rPr lang="en-GB" altLang="en-US" dirty="0" smtClean="0"/>
              <a:t>Spreading</a:t>
            </a:r>
          </a:p>
          <a:p>
            <a:r>
              <a:rPr lang="en-GB" altLang="en-US" dirty="0" smtClean="0"/>
              <a:t>Evaporation</a:t>
            </a:r>
          </a:p>
          <a:p>
            <a:r>
              <a:rPr lang="en-GB" altLang="en-US" dirty="0" smtClean="0"/>
              <a:t>Emulsification</a:t>
            </a:r>
          </a:p>
          <a:p>
            <a:r>
              <a:rPr lang="en-GB" altLang="en-US" dirty="0" smtClean="0"/>
              <a:t>Dispersion</a:t>
            </a:r>
          </a:p>
        </p:txBody>
      </p:sp>
      <p:sp>
        <p:nvSpPr>
          <p:cNvPr id="7" name="Rectangle 4"/>
          <p:cNvSpPr txBox="1">
            <a:spLocks/>
          </p:cNvSpPr>
          <p:nvPr/>
        </p:nvSpPr>
        <p:spPr>
          <a:xfrm>
            <a:off x="5912667" y="2041556"/>
            <a:ext cx="4191000" cy="4114800"/>
          </a:xfrm>
          <a:prstGeom prst="rect">
            <a:avLst/>
          </a:prstGeom>
        </p:spPr>
        <p:txBody>
          <a:bodyPr vert="horz" lIns="9144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smtClean="0"/>
              <a:t>Biodegradation</a:t>
            </a:r>
          </a:p>
          <a:p>
            <a:r>
              <a:rPr lang="en-GB" altLang="en-US" smtClean="0"/>
              <a:t>Dissolution</a:t>
            </a:r>
          </a:p>
          <a:p>
            <a:r>
              <a:rPr lang="en-GB" altLang="en-US" smtClean="0"/>
              <a:t>Photo-oxidation</a:t>
            </a:r>
          </a:p>
          <a:p>
            <a:r>
              <a:rPr lang="en-GB" altLang="en-US" smtClean="0"/>
              <a:t>Sedimentation</a:t>
            </a:r>
          </a:p>
          <a:p>
            <a:r>
              <a:rPr lang="en-GB" altLang="en-US" smtClean="0"/>
              <a:t>Shoreline interaction</a:t>
            </a: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66620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2"/>
          <p:cNvSpPr txBox="1">
            <a:spLocks/>
          </p:cNvSpPr>
          <p:nvPr/>
        </p:nvSpPr>
        <p:spPr>
          <a:xfrm>
            <a:off x="2101570" y="95250"/>
            <a:ext cx="8229600" cy="589580"/>
          </a:xfrm>
          <a:prstGeom prst="rect">
            <a:avLst/>
          </a:prstGeom>
          <a:noFill/>
        </p:spPr>
        <p:txBody>
          <a:bodyPr lIns="44048" tIns="17619" rIns="44048" bIns="17619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Drifting at Sea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077361" y="927100"/>
            <a:ext cx="10076507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Tahoma" panose="020B0604030504040204" pitchFamily="34" charset="0"/>
              </a:rPr>
              <a:t>Oil will drift at sea under the influence of currents and winds.</a:t>
            </a:r>
          </a:p>
          <a:p>
            <a:pPr>
              <a:spcBef>
                <a:spcPct val="0"/>
              </a:spcBef>
              <a:buFontTx/>
              <a:buNone/>
            </a:pPr>
            <a:endParaRPr lang="en-GB" altLang="en-US" sz="24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400" dirty="0">
                <a:latin typeface="Tahoma" panose="020B0604030504040204" pitchFamily="34" charset="0"/>
              </a:rPr>
              <a:t>100% current direction and speed, approximately 3% wind direction and speed.</a:t>
            </a:r>
          </a:p>
        </p:txBody>
      </p:sp>
      <p:pic>
        <p:nvPicPr>
          <p:cNvPr id="7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1486" y="2635906"/>
            <a:ext cx="5903913" cy="360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796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5" descr="Strong Wind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09" t="10043" r="9335" b="7715"/>
          <a:stretch>
            <a:fillRect/>
          </a:stretch>
        </p:blipFill>
        <p:spPr bwMode="auto">
          <a:xfrm>
            <a:off x="5506989" y="4030663"/>
            <a:ext cx="4383088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706514" y="5284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 smtClean="0"/>
              <a:t>Wind effects</a:t>
            </a:r>
          </a:p>
        </p:txBody>
      </p:sp>
      <p:pic>
        <p:nvPicPr>
          <p:cNvPr id="7" name="Content Placeholder 3" descr="Light Wind.pd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1" t="9982" r="16582" b="10736"/>
          <a:stretch>
            <a:fillRect/>
          </a:stretch>
        </p:blipFill>
        <p:spPr>
          <a:xfrm>
            <a:off x="6037214" y="1052513"/>
            <a:ext cx="2619375" cy="1423987"/>
          </a:xfrm>
          <a:prstGeom prst="rect">
            <a:avLst/>
          </a:prstGeom>
        </p:spPr>
      </p:pic>
      <p:pic>
        <p:nvPicPr>
          <p:cNvPr id="8" name="Picture 4" descr="Medium Wind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12" b="10510"/>
          <a:stretch>
            <a:fillRect/>
          </a:stretch>
        </p:blipFill>
        <p:spPr bwMode="auto">
          <a:xfrm>
            <a:off x="5435552" y="2603500"/>
            <a:ext cx="4178300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8"/>
          <p:cNvGrpSpPr>
            <a:grpSpLocks/>
          </p:cNvGrpSpPr>
          <p:nvPr/>
        </p:nvGrpSpPr>
        <p:grpSpPr bwMode="auto">
          <a:xfrm flipH="1">
            <a:off x="1727152" y="2804840"/>
            <a:ext cx="2409825" cy="823913"/>
            <a:chOff x="6012160" y="2708920"/>
            <a:chExt cx="2948299" cy="822960"/>
          </a:xfrm>
        </p:grpSpPr>
        <p:sp>
          <p:nvSpPr>
            <p:cNvPr id="10" name="Left Arrow 9">
              <a:extLst/>
            </p:cNvPr>
            <p:cNvSpPr>
              <a:spLocks noChangeArrowheads="1"/>
            </p:cNvSpPr>
            <p:nvPr/>
          </p:nvSpPr>
          <p:spPr bwMode="auto">
            <a:xfrm>
              <a:off x="6012160" y="2708920"/>
              <a:ext cx="2944415" cy="822960"/>
            </a:xfrm>
            <a:prstGeom prst="leftArrow">
              <a:avLst>
                <a:gd name="adj1" fmla="val 50000"/>
                <a:gd name="adj2" fmla="val 50007"/>
              </a:avLst>
            </a:prstGeom>
            <a:gradFill rotWithShape="1">
              <a:gsLst>
                <a:gs pos="0">
                  <a:srgbClr val="3A7CCB"/>
                </a:gs>
                <a:gs pos="20000">
                  <a:srgbClr val="3C7BC7"/>
                </a:gs>
                <a:gs pos="100000">
                  <a:srgbClr val="2C5D98"/>
                </a:gs>
              </a:gsLst>
              <a:lin ang="5400000"/>
            </a:gradFill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7"/>
            <p:cNvSpPr txBox="1">
              <a:spLocks noChangeArrowheads="1"/>
            </p:cNvSpPr>
            <p:nvPr/>
          </p:nvSpPr>
          <p:spPr bwMode="auto">
            <a:xfrm>
              <a:off x="7232267" y="2889567"/>
              <a:ext cx="17281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Wind</a:t>
              </a:r>
            </a:p>
          </p:txBody>
        </p:sp>
      </p:grpSp>
      <p:grpSp>
        <p:nvGrpSpPr>
          <p:cNvPr id="12" name="Group 9"/>
          <p:cNvGrpSpPr>
            <a:grpSpLocks/>
          </p:cNvGrpSpPr>
          <p:nvPr/>
        </p:nvGrpSpPr>
        <p:grpSpPr bwMode="auto">
          <a:xfrm flipH="1">
            <a:off x="1727152" y="1368153"/>
            <a:ext cx="1657350" cy="822325"/>
            <a:chOff x="6012160" y="2708920"/>
            <a:chExt cx="2944415" cy="822960"/>
          </a:xfrm>
        </p:grpSpPr>
        <p:sp>
          <p:nvSpPr>
            <p:cNvPr id="13" name="Left Arrow 12">
              <a:extLst/>
            </p:cNvPr>
            <p:cNvSpPr>
              <a:spLocks noChangeArrowheads="1"/>
            </p:cNvSpPr>
            <p:nvPr/>
          </p:nvSpPr>
          <p:spPr bwMode="auto">
            <a:xfrm>
              <a:off x="6012160" y="2708920"/>
              <a:ext cx="2944415" cy="822960"/>
            </a:xfrm>
            <a:prstGeom prst="leftArrow">
              <a:avLst>
                <a:gd name="adj1" fmla="val 50000"/>
                <a:gd name="adj2" fmla="val 50007"/>
              </a:avLst>
            </a:prstGeom>
            <a:gradFill rotWithShape="1">
              <a:gsLst>
                <a:gs pos="0">
                  <a:srgbClr val="3A7CCB"/>
                </a:gs>
                <a:gs pos="20000">
                  <a:srgbClr val="3C7BC7"/>
                </a:gs>
                <a:gs pos="100000">
                  <a:srgbClr val="2C5D98"/>
                </a:gs>
              </a:gsLst>
              <a:lin ang="5400000"/>
            </a:gradFill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4" name="TextBox 11"/>
            <p:cNvSpPr txBox="1">
              <a:spLocks noChangeArrowheads="1"/>
            </p:cNvSpPr>
            <p:nvPr/>
          </p:nvSpPr>
          <p:spPr bwMode="auto">
            <a:xfrm>
              <a:off x="7228384" y="2894773"/>
              <a:ext cx="172819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Wind</a:t>
              </a:r>
            </a:p>
          </p:txBody>
        </p:sp>
      </p:grpSp>
      <p:grpSp>
        <p:nvGrpSpPr>
          <p:cNvPr id="15" name="Group 12"/>
          <p:cNvGrpSpPr>
            <a:grpSpLocks/>
          </p:cNvGrpSpPr>
          <p:nvPr/>
        </p:nvGrpSpPr>
        <p:grpSpPr bwMode="auto">
          <a:xfrm flipH="1">
            <a:off x="1727152" y="4318000"/>
            <a:ext cx="3589337" cy="823913"/>
            <a:chOff x="6012160" y="2708920"/>
            <a:chExt cx="2944415" cy="822960"/>
          </a:xfrm>
        </p:grpSpPr>
        <p:sp>
          <p:nvSpPr>
            <p:cNvPr id="16" name="Left Arrow 15">
              <a:extLst/>
            </p:cNvPr>
            <p:cNvSpPr>
              <a:spLocks noChangeArrowheads="1"/>
            </p:cNvSpPr>
            <p:nvPr/>
          </p:nvSpPr>
          <p:spPr bwMode="auto">
            <a:xfrm>
              <a:off x="6012160" y="2708920"/>
              <a:ext cx="2944415" cy="822960"/>
            </a:xfrm>
            <a:prstGeom prst="leftArrow">
              <a:avLst>
                <a:gd name="adj1" fmla="val 50000"/>
                <a:gd name="adj2" fmla="val 50007"/>
              </a:avLst>
            </a:prstGeom>
            <a:gradFill rotWithShape="1">
              <a:gsLst>
                <a:gs pos="0">
                  <a:srgbClr val="3A7CCB"/>
                </a:gs>
                <a:gs pos="20000">
                  <a:srgbClr val="3C7BC7"/>
                </a:gs>
                <a:gs pos="100000">
                  <a:srgbClr val="2C5D98"/>
                </a:gs>
              </a:gsLst>
              <a:lin ang="5400000"/>
            </a:gradFill>
            <a:ln w="9525">
              <a:solidFill>
                <a:srgbClr val="4A7EBB"/>
              </a:solidFill>
              <a:miter lim="800000"/>
              <a:headEnd/>
              <a:tailEnd/>
            </a:ln>
            <a:effectLst>
              <a:outerShdw blurRad="40000" dist="23000" dir="5400000" rotWithShape="0">
                <a:srgbClr val="808080">
                  <a:alpha val="34999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>
                <a:solidFill>
                  <a:schemeClr val="lt1"/>
                </a:solidFill>
                <a:latin typeface="+mn-lt"/>
                <a:ea typeface="+mn-ea"/>
              </a:endParaRPr>
            </a:p>
          </p:txBody>
        </p:sp>
        <p:sp>
          <p:nvSpPr>
            <p:cNvPr id="17" name="TextBox 14"/>
            <p:cNvSpPr txBox="1">
              <a:spLocks noChangeArrowheads="1"/>
            </p:cNvSpPr>
            <p:nvPr/>
          </p:nvSpPr>
          <p:spPr bwMode="auto">
            <a:xfrm>
              <a:off x="7228383" y="2895901"/>
              <a:ext cx="172819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latin typeface="Tahoma" panose="020B0604030504040204" pitchFamily="34" charset="0"/>
                </a:rPr>
                <a:t>Wind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82470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603"/>
          <p:cNvSpPr txBox="1">
            <a:spLocks/>
          </p:cNvSpPr>
          <p:nvPr/>
        </p:nvSpPr>
        <p:spPr bwMode="gray">
          <a:xfrm>
            <a:off x="1729212" y="35042"/>
            <a:ext cx="8560046" cy="561975"/>
          </a:xfrm>
          <a:prstGeom prst="rect">
            <a:avLst/>
          </a:prstGeom>
        </p:spPr>
        <p:txBody>
          <a:bodyPr lIns="92075" tIns="46038" rIns="92075" bIns="46038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b="1" dirty="0" smtClean="0"/>
              <a:t>Weathering Processes</a:t>
            </a:r>
          </a:p>
        </p:txBody>
      </p:sp>
      <p:pic>
        <p:nvPicPr>
          <p:cNvPr id="6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68" y="989390"/>
            <a:ext cx="10927686" cy="5251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3800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617" r="-21617"/>
          <a:stretch>
            <a:fillRect/>
          </a:stretch>
        </p:blipFill>
        <p:spPr bwMode="auto">
          <a:xfrm>
            <a:off x="2007629" y="995881"/>
            <a:ext cx="7853256" cy="5100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 bwMode="auto">
          <a:xfrm>
            <a:off x="624689" y="30592"/>
            <a:ext cx="1085510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b="1" dirty="0">
                <a:latin typeface="+mj-lt"/>
              </a:rPr>
              <a:t>Weathering </a:t>
            </a:r>
            <a:r>
              <a:rPr lang="en-US" altLang="en-US" sz="4000" b="1" dirty="0" smtClean="0">
                <a:latin typeface="+mj-lt"/>
              </a:rPr>
              <a:t>Processes Over Time</a:t>
            </a:r>
            <a:endParaRPr lang="en-US" altLang="en-US" sz="4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69121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457199" y="130175"/>
            <a:ext cx="11276091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Effects of Main </a:t>
            </a:r>
            <a:r>
              <a:rPr lang="en-GB" altLang="en-US" sz="4000" b="1" dirty="0"/>
              <a:t>W</a:t>
            </a:r>
            <a:r>
              <a:rPr lang="en-GB" altLang="en-US" sz="4000" b="1" dirty="0" smtClean="0"/>
              <a:t>eathering </a:t>
            </a:r>
            <a:r>
              <a:rPr lang="en-GB" altLang="en-US" sz="4000" b="1" dirty="0"/>
              <a:t>P</a:t>
            </a:r>
            <a:r>
              <a:rPr lang="en-GB" altLang="en-US" sz="4000" b="1" dirty="0" smtClean="0"/>
              <a:t>rocesses</a:t>
            </a:r>
          </a:p>
        </p:txBody>
      </p:sp>
      <p:sp>
        <p:nvSpPr>
          <p:cNvPr id="7" name="Line 10"/>
          <p:cNvSpPr>
            <a:spLocks noChangeShapeType="1"/>
          </p:cNvSpPr>
          <p:nvPr/>
        </p:nvSpPr>
        <p:spPr bwMode="auto">
          <a:xfrm>
            <a:off x="2080021" y="1324830"/>
            <a:ext cx="8001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" name="Line 11"/>
          <p:cNvSpPr>
            <a:spLocks noChangeShapeType="1"/>
          </p:cNvSpPr>
          <p:nvPr/>
        </p:nvSpPr>
        <p:spPr bwMode="auto">
          <a:xfrm flipV="1">
            <a:off x="2080021" y="2772630"/>
            <a:ext cx="8001000" cy="9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" name="Line 12"/>
          <p:cNvSpPr>
            <a:spLocks noChangeShapeType="1"/>
          </p:cNvSpPr>
          <p:nvPr/>
        </p:nvSpPr>
        <p:spPr bwMode="auto">
          <a:xfrm flipV="1">
            <a:off x="2080021" y="4144230"/>
            <a:ext cx="8001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" name="Line 13"/>
          <p:cNvSpPr>
            <a:spLocks noChangeShapeType="1"/>
          </p:cNvSpPr>
          <p:nvPr/>
        </p:nvSpPr>
        <p:spPr bwMode="auto">
          <a:xfrm>
            <a:off x="2080021" y="5744430"/>
            <a:ext cx="8001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" name="Line 14"/>
          <p:cNvSpPr>
            <a:spLocks noChangeShapeType="1"/>
          </p:cNvSpPr>
          <p:nvPr/>
        </p:nvSpPr>
        <p:spPr bwMode="auto">
          <a:xfrm>
            <a:off x="2080021" y="1324830"/>
            <a:ext cx="0" cy="44196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2" name="Line 15"/>
          <p:cNvSpPr>
            <a:spLocks noChangeShapeType="1"/>
          </p:cNvSpPr>
          <p:nvPr/>
        </p:nvSpPr>
        <p:spPr bwMode="auto">
          <a:xfrm>
            <a:off x="5432821" y="1324830"/>
            <a:ext cx="0" cy="4371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3" name="Line 16"/>
          <p:cNvSpPr>
            <a:spLocks noChangeShapeType="1"/>
          </p:cNvSpPr>
          <p:nvPr/>
        </p:nvSpPr>
        <p:spPr bwMode="auto">
          <a:xfrm>
            <a:off x="10081021" y="1324830"/>
            <a:ext cx="0" cy="441960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4" name="Rectangle 9">
            <a:extLst/>
          </p:cNvPr>
          <p:cNvSpPr>
            <a:spLocks noChangeArrowheads="1"/>
          </p:cNvSpPr>
          <p:nvPr/>
        </p:nvSpPr>
        <p:spPr bwMode="auto">
          <a:xfrm>
            <a:off x="5604850" y="4165012"/>
            <a:ext cx="4648200" cy="14573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/>
          <a:lstStyle/>
          <a:p>
            <a:pPr eaLnBrk="1" hangingPunct="1">
              <a:spcBef>
                <a:spcPct val="20000"/>
              </a:spcBef>
              <a:buFontTx/>
              <a:buChar char="•"/>
              <a:defRPr/>
            </a:pPr>
            <a:r>
              <a:rPr lang="en-GB" sz="2800" dirty="0">
                <a:solidFill>
                  <a:srgbClr val="000000"/>
                </a:solidFill>
                <a:latin typeface="+mn-lt"/>
                <a:ea typeface="ＭＳ Ｐゴシック" charset="0"/>
                <a:cs typeface="ＭＳ Ｐゴシック" charset="0"/>
              </a:rPr>
              <a:t> Increase in volume</a:t>
            </a:r>
          </a:p>
          <a:p>
            <a:pPr eaLnBrk="1" hangingPunct="1">
              <a:spcBef>
                <a:spcPct val="20000"/>
              </a:spcBef>
              <a:buFontTx/>
              <a:buChar char="•"/>
              <a:defRPr/>
            </a:pPr>
            <a:r>
              <a:rPr lang="en-GB" sz="2800" dirty="0">
                <a:solidFill>
                  <a:srgbClr val="000000"/>
                </a:solidFill>
                <a:latin typeface="+mn-lt"/>
                <a:ea typeface="ＭＳ Ｐゴシック" charset="0"/>
                <a:cs typeface="ＭＳ Ｐゴシック" charset="0"/>
              </a:rPr>
              <a:t> Increase viscosity</a:t>
            </a:r>
          </a:p>
        </p:txBody>
      </p:sp>
      <p:sp>
        <p:nvSpPr>
          <p:cNvPr id="15" name="Rectangle 8">
            <a:extLst/>
          </p:cNvPr>
          <p:cNvSpPr>
            <a:spLocks noChangeArrowheads="1"/>
          </p:cNvSpPr>
          <p:nvPr/>
        </p:nvSpPr>
        <p:spPr bwMode="auto">
          <a:xfrm>
            <a:off x="2252050" y="4165012"/>
            <a:ext cx="3505200" cy="14573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/>
          <a:lstStyle/>
          <a:p>
            <a:pPr eaLnBrk="1" hangingPunct="1">
              <a:spcBef>
                <a:spcPct val="20000"/>
              </a:spcBef>
              <a:defRPr/>
            </a:pPr>
            <a:endParaRPr lang="en-GB" sz="2800" dirty="0">
              <a:solidFill>
                <a:schemeClr val="bg1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ct val="20000"/>
              </a:spcBef>
              <a:defRPr/>
            </a:pPr>
            <a:r>
              <a:rPr lang="en-GB" sz="3200" b="1" dirty="0">
                <a:solidFill>
                  <a:srgbClr val="000000"/>
                </a:solidFill>
                <a:latin typeface="+mn-lt"/>
                <a:ea typeface="ＭＳ Ｐゴシック" charset="0"/>
                <a:cs typeface="ＭＳ Ｐゴシック" charset="0"/>
              </a:rPr>
              <a:t>EMULSIFICATION</a:t>
            </a:r>
          </a:p>
        </p:txBody>
      </p:sp>
      <p:sp>
        <p:nvSpPr>
          <p:cNvPr id="16" name="Rectangle 7">
            <a:extLst/>
          </p:cNvPr>
          <p:cNvSpPr>
            <a:spLocks noChangeArrowheads="1"/>
          </p:cNvSpPr>
          <p:nvPr/>
        </p:nvSpPr>
        <p:spPr bwMode="auto">
          <a:xfrm>
            <a:off x="5604850" y="2707687"/>
            <a:ext cx="4648200" cy="14573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/>
          <a:lstStyle/>
          <a:p>
            <a:pPr eaLnBrk="1" hangingPunct="1">
              <a:spcBef>
                <a:spcPct val="20000"/>
              </a:spcBef>
              <a:buFontTx/>
              <a:buChar char="•"/>
              <a:defRPr/>
            </a:pPr>
            <a:r>
              <a:rPr lang="en-GB" sz="2800" dirty="0">
                <a:solidFill>
                  <a:srgbClr val="000000"/>
                </a:solidFill>
                <a:latin typeface="+mn-lt"/>
                <a:ea typeface="ＭＳ Ｐゴシック" charset="0"/>
                <a:cs typeface="ＭＳ Ｐゴシック" charset="0"/>
              </a:rPr>
              <a:t> Reduction in volume</a:t>
            </a:r>
          </a:p>
          <a:p>
            <a:pPr eaLnBrk="1" hangingPunct="1">
              <a:spcBef>
                <a:spcPct val="20000"/>
              </a:spcBef>
              <a:buFontTx/>
              <a:buChar char="•"/>
              <a:defRPr/>
            </a:pPr>
            <a:r>
              <a:rPr lang="en-GB" sz="2800" dirty="0">
                <a:solidFill>
                  <a:srgbClr val="000000"/>
                </a:solidFill>
                <a:latin typeface="+mn-lt"/>
                <a:ea typeface="ＭＳ Ｐゴシック" charset="0"/>
                <a:cs typeface="ＭＳ Ｐゴシック" charset="0"/>
              </a:rPr>
              <a:t> Enhances biodegradation</a:t>
            </a:r>
          </a:p>
        </p:txBody>
      </p:sp>
      <p:sp>
        <p:nvSpPr>
          <p:cNvPr id="17" name="Rectangle 6">
            <a:extLst/>
          </p:cNvPr>
          <p:cNvSpPr>
            <a:spLocks noChangeArrowheads="1"/>
          </p:cNvSpPr>
          <p:nvPr/>
        </p:nvSpPr>
        <p:spPr bwMode="auto">
          <a:xfrm>
            <a:off x="2252050" y="2707687"/>
            <a:ext cx="3505200" cy="14573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/>
          <a:lstStyle/>
          <a:p>
            <a:pPr eaLnBrk="1" hangingPunct="1">
              <a:spcBef>
                <a:spcPct val="20000"/>
              </a:spcBef>
              <a:defRPr/>
            </a:pPr>
            <a:endParaRPr lang="en-GB" sz="2800" dirty="0">
              <a:solidFill>
                <a:schemeClr val="bg1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ct val="20000"/>
              </a:spcBef>
              <a:defRPr/>
            </a:pPr>
            <a:r>
              <a:rPr lang="en-GB" sz="3200" b="1" dirty="0">
                <a:solidFill>
                  <a:srgbClr val="000000"/>
                </a:solidFill>
                <a:latin typeface="+mn-lt"/>
                <a:ea typeface="ＭＳ Ｐゴシック" charset="0"/>
                <a:cs typeface="ＭＳ Ｐゴシック" charset="0"/>
              </a:rPr>
              <a:t>DISPERSION</a:t>
            </a:r>
          </a:p>
        </p:txBody>
      </p:sp>
      <p:sp>
        <p:nvSpPr>
          <p:cNvPr id="18" name="Rectangle 5">
            <a:extLst/>
          </p:cNvPr>
          <p:cNvSpPr>
            <a:spLocks noChangeArrowheads="1"/>
          </p:cNvSpPr>
          <p:nvPr/>
        </p:nvSpPr>
        <p:spPr bwMode="auto">
          <a:xfrm>
            <a:off x="5604850" y="1250362"/>
            <a:ext cx="4419600" cy="14573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/>
          <a:lstStyle/>
          <a:p>
            <a:pPr eaLnBrk="1" hangingPunct="1">
              <a:spcBef>
                <a:spcPct val="20000"/>
              </a:spcBef>
              <a:buFontTx/>
              <a:buChar char="•"/>
              <a:defRPr/>
            </a:pPr>
            <a:r>
              <a:rPr lang="en-GB" sz="2800" dirty="0">
                <a:solidFill>
                  <a:srgbClr val="000000"/>
                </a:solidFill>
                <a:latin typeface="+mn-lt"/>
                <a:ea typeface="ＭＳ Ｐゴシック" charset="0"/>
                <a:cs typeface="ＭＳ Ｐゴシック" charset="0"/>
              </a:rPr>
              <a:t> Reduction in volume</a:t>
            </a:r>
          </a:p>
          <a:p>
            <a:pPr eaLnBrk="1" hangingPunct="1">
              <a:spcBef>
                <a:spcPct val="20000"/>
              </a:spcBef>
              <a:buFontTx/>
              <a:buChar char="•"/>
              <a:defRPr/>
            </a:pPr>
            <a:r>
              <a:rPr lang="en-GB" sz="2800" dirty="0">
                <a:solidFill>
                  <a:srgbClr val="000000"/>
                </a:solidFill>
                <a:latin typeface="+mn-lt"/>
                <a:ea typeface="ＭＳ Ｐゴシック" charset="0"/>
                <a:cs typeface="ＭＳ Ｐゴシック" charset="0"/>
              </a:rPr>
              <a:t> Increase viscosity</a:t>
            </a:r>
          </a:p>
        </p:txBody>
      </p:sp>
      <p:sp>
        <p:nvSpPr>
          <p:cNvPr id="19" name="Rectangle 4">
            <a:extLst/>
          </p:cNvPr>
          <p:cNvSpPr>
            <a:spLocks noChangeArrowheads="1"/>
          </p:cNvSpPr>
          <p:nvPr/>
        </p:nvSpPr>
        <p:spPr bwMode="auto">
          <a:xfrm>
            <a:off x="2175850" y="1202737"/>
            <a:ext cx="3581400" cy="145732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/>
          <a:lstStyle/>
          <a:p>
            <a:pPr eaLnBrk="1" hangingPunct="1">
              <a:spcBef>
                <a:spcPct val="20000"/>
              </a:spcBef>
              <a:defRPr/>
            </a:pPr>
            <a:endParaRPr lang="en-GB" sz="2800" dirty="0">
              <a:solidFill>
                <a:srgbClr val="FF0000"/>
              </a:solidFill>
              <a:latin typeface="Tahoma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ct val="20000"/>
              </a:spcBef>
              <a:defRPr/>
            </a:pPr>
            <a:r>
              <a:rPr lang="en-GB" sz="3200" b="1" dirty="0">
                <a:solidFill>
                  <a:srgbClr val="000000"/>
                </a:solidFill>
                <a:latin typeface="+mn-lt"/>
                <a:ea typeface="ＭＳ Ｐゴシック" charset="0"/>
                <a:cs typeface="ＭＳ Ｐゴシック" charset="0"/>
              </a:rPr>
              <a:t>EVAPORATION</a:t>
            </a:r>
          </a:p>
        </p:txBody>
      </p:sp>
    </p:spTree>
    <p:extLst>
      <p:ext uri="{BB962C8B-B14F-4D97-AF65-F5344CB8AC3E}">
        <p14:creationId xmlns:p14="http://schemas.microsoft.com/office/powerpoint/2010/main" val="372738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3"/>
          <p:cNvSpPr txBox="1">
            <a:spLocks/>
          </p:cNvSpPr>
          <p:nvPr/>
        </p:nvSpPr>
        <p:spPr>
          <a:xfrm>
            <a:off x="3012541" y="2927130"/>
            <a:ext cx="7772400" cy="14700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altLang="en-US" b="1" dirty="0" smtClean="0">
                <a:solidFill>
                  <a:srgbClr val="000000"/>
                </a:solidFill>
              </a:rPr>
              <a:t>Oil Spill Modelling</a:t>
            </a:r>
          </a:p>
        </p:txBody>
      </p:sp>
    </p:spTree>
    <p:extLst>
      <p:ext uri="{BB962C8B-B14F-4D97-AF65-F5344CB8AC3E}">
        <p14:creationId xmlns:p14="http://schemas.microsoft.com/office/powerpoint/2010/main" val="3852605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1253899" y="130175"/>
            <a:ext cx="9863755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Oil Spill </a:t>
            </a:r>
            <a:r>
              <a:rPr lang="en-GB" altLang="en-US" b="1" dirty="0"/>
              <a:t>M</a:t>
            </a:r>
            <a:r>
              <a:rPr lang="en-GB" altLang="en-US" b="1" dirty="0" smtClean="0"/>
              <a:t>odelling</a:t>
            </a:r>
          </a:p>
        </p:txBody>
      </p:sp>
      <p:sp>
        <p:nvSpPr>
          <p:cNvPr id="6" name="Espace réservé du contenu 2">
            <a:extLst/>
          </p:cNvPr>
          <p:cNvSpPr txBox="1">
            <a:spLocks/>
          </p:cNvSpPr>
          <p:nvPr/>
        </p:nvSpPr>
        <p:spPr>
          <a:xfrm>
            <a:off x="1513462" y="1342749"/>
            <a:ext cx="10524659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Arial" charset="0"/>
              <a:buChar char="•"/>
              <a:defRPr/>
            </a:pPr>
            <a:r>
              <a:rPr lang="en-GB" dirty="0" smtClean="0">
                <a:ea typeface="ＭＳ Ｐゴシック" charset="0"/>
                <a:cs typeface="ＭＳ Ｐゴシック" charset="0"/>
              </a:rPr>
              <a:t>Useful tool for oil spill preparedness and response</a:t>
            </a:r>
          </a:p>
          <a:p>
            <a:pPr algn="just">
              <a:buFont typeface="Arial" charset="0"/>
              <a:buChar char="•"/>
              <a:defRPr/>
            </a:pPr>
            <a:r>
              <a:rPr lang="en-GB" dirty="0" smtClean="0">
                <a:ea typeface="ＭＳ Ｐゴシック" charset="0"/>
                <a:cs typeface="ＭＳ Ｐゴシック" charset="0"/>
              </a:rPr>
              <a:t>Oil spill models will provide information on:</a:t>
            </a:r>
          </a:p>
          <a:p>
            <a:pPr lvl="1" indent="-400050" algn="just">
              <a:buFont typeface="Wingdings" panose="05000000000000000000" pitchFamily="2" charset="2"/>
              <a:buChar char="Ø"/>
              <a:defRPr/>
            </a:pPr>
            <a:r>
              <a:rPr lang="en-GB" dirty="0" smtClean="0">
                <a:ea typeface="ＭＳ Ｐゴシック" charset="0"/>
              </a:rPr>
              <a:t>Oil weathering</a:t>
            </a:r>
          </a:p>
          <a:p>
            <a:pPr lvl="1" indent="-400050" algn="just">
              <a:buFont typeface="Wingdings" panose="05000000000000000000" pitchFamily="2" charset="2"/>
              <a:buChar char="Ø"/>
              <a:defRPr/>
            </a:pPr>
            <a:r>
              <a:rPr lang="en-GB" dirty="0" smtClean="0">
                <a:ea typeface="ＭＳ Ｐゴシック" charset="0"/>
              </a:rPr>
              <a:t>Trajectory</a:t>
            </a:r>
          </a:p>
          <a:p>
            <a:pPr algn="just">
              <a:buFont typeface="Arial" charset="0"/>
              <a:buChar char="•"/>
              <a:defRPr/>
            </a:pPr>
            <a:r>
              <a:rPr lang="en-GB" dirty="0" smtClean="0">
                <a:ea typeface="ＭＳ Ｐゴシック" charset="0"/>
                <a:cs typeface="ＭＳ Ｐゴシック" charset="0"/>
              </a:rPr>
              <a:t>Example of oil weathering and trajectory models:</a:t>
            </a:r>
          </a:p>
          <a:p>
            <a:pPr lvl="1" indent="-400050" algn="just">
              <a:buFont typeface="Wingdings" panose="05000000000000000000" pitchFamily="2" charset="2"/>
              <a:buChar char="Ø"/>
              <a:defRPr/>
            </a:pPr>
            <a:r>
              <a:rPr lang="en-GB" dirty="0" smtClean="0">
                <a:ea typeface="ＭＳ Ｐゴシック" charset="0"/>
              </a:rPr>
              <a:t>ADIOS and GNOME (NOAA)</a:t>
            </a:r>
          </a:p>
          <a:p>
            <a:pPr lvl="1" algn="just">
              <a:buFont typeface="Arial" charset="0"/>
              <a:buChar char="–"/>
              <a:defRPr/>
            </a:pPr>
            <a:endParaRPr lang="en-GB" dirty="0" smtClean="0">
              <a:ea typeface="ＭＳ Ｐゴシック" charset="0"/>
            </a:endParaRPr>
          </a:p>
          <a:p>
            <a:pPr marL="0" indent="0" algn="just">
              <a:buFont typeface="Arial" charset="0"/>
              <a:buNone/>
              <a:defRPr/>
            </a:pPr>
            <a:endParaRPr lang="en-GB" dirty="0" smtClean="0">
              <a:ea typeface="ＭＳ Ｐゴシック" charset="0"/>
              <a:cs typeface="ＭＳ Ｐゴシック" charset="0"/>
            </a:endParaRPr>
          </a:p>
          <a:p>
            <a:pPr algn="just">
              <a:buFont typeface="Arial" charset="0"/>
              <a:buChar char="•"/>
              <a:defRPr/>
            </a:pPr>
            <a:endParaRPr lang="en-GB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924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638266" y="45265"/>
            <a:ext cx="11004490" cy="7666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/>
              <a:t>Oil Spill </a:t>
            </a:r>
            <a:r>
              <a:rPr lang="en-GB" altLang="en-US" b="1" dirty="0"/>
              <a:t>M</a:t>
            </a:r>
            <a:r>
              <a:rPr lang="en-GB" altLang="en-US" b="1" dirty="0" smtClean="0"/>
              <a:t>odelling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937029" y="1342749"/>
            <a:ext cx="10126305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altLang="en-US" dirty="0" smtClean="0"/>
              <a:t>Types of models:</a:t>
            </a:r>
          </a:p>
          <a:p>
            <a:pPr lvl="1" indent="-4556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Oil weathering (weathering over time) </a:t>
            </a:r>
          </a:p>
          <a:p>
            <a:pPr lvl="1" indent="-4556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Stochastic (probability of impacts)</a:t>
            </a:r>
          </a:p>
          <a:p>
            <a:pPr lvl="1" indent="-4556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Deterministic (oil trajectory over time)</a:t>
            </a:r>
          </a:p>
          <a:p>
            <a:pPr lvl="1" indent="-4556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Hind-cast (identification of spill sources)</a:t>
            </a:r>
          </a:p>
          <a:p>
            <a:pPr lvl="1" indent="-455613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3D (modelling of water column)</a:t>
            </a:r>
          </a:p>
          <a:p>
            <a:pPr lvl="1">
              <a:lnSpc>
                <a:spcPct val="150000"/>
              </a:lnSpc>
            </a:pPr>
            <a:endParaRPr lang="en-GB" altLang="en-US" dirty="0" smtClean="0"/>
          </a:p>
          <a:p>
            <a:pPr>
              <a:lnSpc>
                <a:spcPct val="150000"/>
              </a:lnSpc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522752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914" name="Titr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/>
              <a:t>O</a:t>
            </a:r>
            <a:r>
              <a:rPr lang="en-GB" altLang="en-US" b="1" dirty="0" smtClean="0"/>
              <a:t>il </a:t>
            </a:r>
            <a:r>
              <a:rPr lang="en-GB" altLang="en-US" b="1" dirty="0"/>
              <a:t>S</a:t>
            </a:r>
            <a:r>
              <a:rPr lang="en-GB" altLang="en-US" b="1" dirty="0" smtClean="0"/>
              <a:t>pill </a:t>
            </a:r>
            <a:r>
              <a:rPr lang="en-GB" altLang="en-US" b="1" dirty="0"/>
              <a:t>M</a:t>
            </a:r>
            <a:r>
              <a:rPr lang="en-GB" altLang="en-US" b="1" dirty="0" smtClean="0"/>
              <a:t>odelling</a:t>
            </a:r>
            <a:endParaRPr lang="en-GB" altLang="en-US" b="1" dirty="0" smtClean="0"/>
          </a:p>
        </p:txBody>
      </p:sp>
      <p:sp>
        <p:nvSpPr>
          <p:cNvPr id="38915" name="Espace réservé du contenu 2"/>
          <p:cNvSpPr>
            <a:spLocks noGrp="1"/>
          </p:cNvSpPr>
          <p:nvPr>
            <p:ph idx="1"/>
          </p:nvPr>
        </p:nvSpPr>
        <p:spPr>
          <a:xfrm>
            <a:off x="1059873" y="1396790"/>
            <a:ext cx="10515600" cy="4351338"/>
          </a:xfrm>
        </p:spPr>
        <p:txBody>
          <a:bodyPr>
            <a:normAutofit/>
          </a:bodyPr>
          <a:lstStyle/>
          <a:p>
            <a:r>
              <a:rPr lang="en-GB" altLang="en-US" sz="3200" dirty="0" smtClean="0"/>
              <a:t>Types of models:</a:t>
            </a:r>
          </a:p>
          <a:p>
            <a:pPr lvl="1" indent="-344488"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Oil weathering (weathering over time) </a:t>
            </a:r>
          </a:p>
          <a:p>
            <a:pPr lvl="1" indent="-344488"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Stochastic (probability of impacts)</a:t>
            </a:r>
          </a:p>
          <a:p>
            <a:pPr lvl="1" indent="-344488"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Deterministic (oil trajectory over time)</a:t>
            </a:r>
          </a:p>
          <a:p>
            <a:pPr lvl="1" indent="-344488"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Hind-cast (identification of spill sources)</a:t>
            </a:r>
          </a:p>
          <a:p>
            <a:pPr lvl="1" indent="-344488">
              <a:buFont typeface="Wingdings" panose="05000000000000000000" pitchFamily="2" charset="2"/>
              <a:buChar char="Ø"/>
            </a:pPr>
            <a:r>
              <a:rPr lang="en-GB" altLang="en-US" sz="2800" dirty="0" smtClean="0"/>
              <a:t>3D (modelling of water column)</a:t>
            </a:r>
          </a:p>
          <a:p>
            <a:pPr lvl="1"/>
            <a:endParaRPr lang="en-GB" altLang="en-US" sz="2800" dirty="0" smtClean="0"/>
          </a:p>
          <a:p>
            <a:endParaRPr lang="en-GB" altLang="en-US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12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938" name="Titre 1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Oil </a:t>
            </a:r>
            <a:r>
              <a:rPr lang="en-GB" altLang="en-US" b="1" dirty="0" smtClean="0"/>
              <a:t>Spill </a:t>
            </a:r>
            <a:r>
              <a:rPr lang="en-GB" altLang="en-US" b="1" dirty="0"/>
              <a:t>M</a:t>
            </a:r>
            <a:r>
              <a:rPr lang="en-GB" altLang="en-US" b="1" dirty="0" smtClean="0"/>
              <a:t>odelling</a:t>
            </a:r>
            <a:endParaRPr lang="en-GB" altLang="en-US" b="1" dirty="0" smtClean="0"/>
          </a:p>
        </p:txBody>
      </p:sp>
      <p:sp>
        <p:nvSpPr>
          <p:cNvPr id="39939" name="Espace réservé du contenu 2"/>
          <p:cNvSpPr>
            <a:spLocks noGrp="1"/>
          </p:cNvSpPr>
          <p:nvPr>
            <p:ph idx="1"/>
          </p:nvPr>
        </p:nvSpPr>
        <p:spPr>
          <a:xfrm>
            <a:off x="985549" y="1085721"/>
            <a:ext cx="10652269" cy="5218112"/>
          </a:xfrm>
        </p:spPr>
        <p:txBody>
          <a:bodyPr/>
          <a:lstStyle/>
          <a:p>
            <a:r>
              <a:rPr lang="en-GB" altLang="en-US" sz="3200" dirty="0" smtClean="0"/>
              <a:t>Data requirements:</a:t>
            </a:r>
          </a:p>
          <a:p>
            <a:pPr lvl="1" indent="-455613">
              <a:buFont typeface="Wingdings" panose="05000000000000000000" pitchFamily="2" charset="2"/>
              <a:buChar char="Ø"/>
            </a:pPr>
            <a:r>
              <a:rPr lang="en-GB" altLang="en-US" dirty="0" smtClean="0"/>
              <a:t>Hydrodynamic </a:t>
            </a:r>
            <a:r>
              <a:rPr lang="en-GB" altLang="en-US" dirty="0" smtClean="0"/>
              <a:t>data (surface currents, speed and direction)</a:t>
            </a:r>
          </a:p>
          <a:p>
            <a:pPr lvl="1" indent="-455613">
              <a:buFont typeface="Wingdings" panose="05000000000000000000" pitchFamily="2" charset="2"/>
              <a:buChar char="Ø"/>
            </a:pPr>
            <a:r>
              <a:rPr lang="en-GB" altLang="en-US" dirty="0" smtClean="0"/>
              <a:t>Wind data (speed and direction)</a:t>
            </a:r>
          </a:p>
          <a:p>
            <a:pPr lvl="1" indent="-455613">
              <a:buFont typeface="Wingdings" panose="05000000000000000000" pitchFamily="2" charset="2"/>
              <a:buChar char="Ø"/>
            </a:pPr>
            <a:r>
              <a:rPr lang="en-GB" altLang="en-US" dirty="0" smtClean="0"/>
              <a:t>Oil type</a:t>
            </a:r>
          </a:p>
          <a:p>
            <a:pPr lvl="1" indent="-455613">
              <a:buFont typeface="Wingdings" panose="05000000000000000000" pitchFamily="2" charset="2"/>
              <a:buChar char="Ø"/>
            </a:pPr>
            <a:r>
              <a:rPr lang="en-GB" altLang="en-US" dirty="0" smtClean="0"/>
              <a:t>Temperature (air and sea)</a:t>
            </a:r>
          </a:p>
          <a:p>
            <a:r>
              <a:rPr lang="en-GB" altLang="en-US" sz="3200" dirty="0" smtClean="0"/>
              <a:t>Caution: </a:t>
            </a:r>
          </a:p>
          <a:p>
            <a:pPr lvl="1" indent="-455613">
              <a:buFont typeface="Wingdings" panose="05000000000000000000" pitchFamily="2" charset="2"/>
              <a:buChar char="Ø"/>
            </a:pPr>
            <a:r>
              <a:rPr lang="en-GB" altLang="en-US" dirty="0" smtClean="0"/>
              <a:t>Output quality is highly dependent on data quality </a:t>
            </a:r>
          </a:p>
          <a:p>
            <a:pPr lvl="1" indent="-455613">
              <a:buFont typeface="Wingdings" panose="05000000000000000000" pitchFamily="2" charset="2"/>
              <a:buChar char="Ø"/>
            </a:pPr>
            <a:r>
              <a:rPr lang="en-GB" altLang="en-US" i="1" dirty="0" smtClean="0">
                <a:solidFill>
                  <a:srgbClr val="000000"/>
                </a:solidFill>
              </a:rPr>
              <a:t>In a spill situation, modelling results must be validated by field observations</a:t>
            </a:r>
          </a:p>
          <a:p>
            <a:pPr lvl="1"/>
            <a:endParaRPr lang="en-GB" altLang="en-US" dirty="0" smtClean="0"/>
          </a:p>
          <a:p>
            <a:endParaRPr lang="en-GB" altLang="en-US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758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re 3"/>
          <p:cNvSpPr>
            <a:spLocks noGrp="1"/>
          </p:cNvSpPr>
          <p:nvPr>
            <p:ph type="ctrTitle"/>
          </p:nvPr>
        </p:nvSpPr>
        <p:spPr>
          <a:xfrm>
            <a:off x="1413163" y="2623128"/>
            <a:ext cx="9144000" cy="942254"/>
          </a:xfrm>
        </p:spPr>
        <p:txBody>
          <a:bodyPr>
            <a:normAutofit/>
          </a:bodyPr>
          <a:lstStyle/>
          <a:p>
            <a:r>
              <a:rPr lang="en-GB" altLang="en-US" sz="4400" b="1" dirty="0" smtClean="0">
                <a:solidFill>
                  <a:srgbClr val="000000"/>
                </a:solidFill>
              </a:rPr>
              <a:t>Sensitivity </a:t>
            </a:r>
            <a:r>
              <a:rPr lang="en-GB" altLang="en-US" sz="4400" b="1" dirty="0" smtClean="0">
                <a:solidFill>
                  <a:srgbClr val="000000"/>
                </a:solidFill>
              </a:rPr>
              <a:t>Maps</a:t>
            </a:r>
            <a:endParaRPr lang="en-GB" altLang="en-US" sz="4400" b="1" dirty="0" smtClean="0">
              <a:solidFill>
                <a:srgbClr val="000000"/>
              </a:solidFill>
            </a:endParaRPr>
          </a:p>
        </p:txBody>
      </p:sp>
      <p:sp>
        <p:nvSpPr>
          <p:cNvPr id="3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772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986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Sensitivity </a:t>
            </a:r>
            <a:r>
              <a:rPr lang="en-GB" altLang="en-US" b="1" dirty="0" smtClean="0"/>
              <a:t>Maps</a:t>
            </a:r>
            <a:endParaRPr lang="en-GB" altLang="en-US" b="1" dirty="0" smtClean="0"/>
          </a:p>
        </p:txBody>
      </p:sp>
      <p:sp>
        <p:nvSpPr>
          <p:cNvPr id="41987" name="Rectangle 3"/>
          <p:cNvSpPr>
            <a:spLocks noGrp="1"/>
          </p:cNvSpPr>
          <p:nvPr>
            <p:ph type="body" idx="1"/>
          </p:nvPr>
        </p:nvSpPr>
        <p:spPr>
          <a:xfrm>
            <a:off x="1008206" y="1409425"/>
            <a:ext cx="10731211" cy="4968875"/>
          </a:xfrm>
        </p:spPr>
        <p:txBody>
          <a:bodyPr>
            <a:normAutofit/>
          </a:bodyPr>
          <a:lstStyle/>
          <a:p>
            <a:pPr algn="just"/>
            <a:r>
              <a:rPr lang="en-GB" altLang="en-US" sz="3200" dirty="0" smtClean="0"/>
              <a:t>Essential tool for preparedness and response</a:t>
            </a:r>
          </a:p>
          <a:p>
            <a:pPr algn="just"/>
            <a:r>
              <a:rPr lang="en-GB" altLang="en-US" sz="3200" dirty="0" smtClean="0"/>
              <a:t>Facilitate the decision-making process</a:t>
            </a:r>
          </a:p>
          <a:p>
            <a:pPr algn="just"/>
            <a:r>
              <a:rPr lang="en-GB" altLang="en-US" sz="3200" dirty="0" smtClean="0"/>
              <a:t>Show locations of sensitive areas and their relative importance</a:t>
            </a:r>
          </a:p>
          <a:p>
            <a:pPr algn="just"/>
            <a:r>
              <a:rPr lang="en-GB" altLang="en-US" sz="3200" dirty="0" smtClean="0"/>
              <a:t>Assist responders in identifying response priorities and potential consequences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0081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034" name="Rectangle 2"/>
          <p:cNvSpPr>
            <a:spLocks noGrp="1"/>
          </p:cNvSpPr>
          <p:nvPr>
            <p:ph type="title"/>
          </p:nvPr>
        </p:nvSpPr>
        <p:spPr>
          <a:xfrm>
            <a:off x="1219200" y="74759"/>
            <a:ext cx="8991600" cy="644976"/>
          </a:xfrm>
          <a:noFill/>
        </p:spPr>
        <p:txBody>
          <a:bodyPr vert="horz" wrap="square" lIns="44044" tIns="17617" rIns="44044" bIns="17617" rtlCol="0" anchor="t">
            <a:spAutoFit/>
          </a:bodyPr>
          <a:lstStyle/>
          <a:p>
            <a:pPr algn="ctr"/>
            <a:r>
              <a:rPr lang="en-GB" altLang="en-US" b="1" dirty="0" smtClean="0"/>
              <a:t>Uses of </a:t>
            </a:r>
            <a:r>
              <a:rPr lang="en-GB" altLang="en-US" b="1" dirty="0" smtClean="0"/>
              <a:t>Sensitivity </a:t>
            </a:r>
            <a:r>
              <a:rPr lang="en-GB" altLang="en-US" b="1" dirty="0"/>
              <a:t>M</a:t>
            </a:r>
            <a:r>
              <a:rPr lang="en-GB" altLang="en-US" b="1" dirty="0" smtClean="0"/>
              <a:t>aps</a:t>
            </a:r>
            <a:endParaRPr lang="en-GB" altLang="en-US" b="1" dirty="0" smtClean="0"/>
          </a:p>
        </p:txBody>
      </p:sp>
      <p:sp>
        <p:nvSpPr>
          <p:cNvPr id="44035" name="Rectangle 3"/>
          <p:cNvSpPr>
            <a:spLocks noGrp="1"/>
          </p:cNvSpPr>
          <p:nvPr>
            <p:ph idx="1"/>
          </p:nvPr>
        </p:nvSpPr>
        <p:spPr>
          <a:xfrm>
            <a:off x="1057563" y="981941"/>
            <a:ext cx="10506363" cy="5473700"/>
          </a:xfrm>
        </p:spPr>
        <p:txBody>
          <a:bodyPr vert="horz" lIns="83684" tIns="41108" rIns="83684" bIns="41108" rtlCol="0">
            <a:normAutofit/>
          </a:bodyPr>
          <a:lstStyle/>
          <a:p>
            <a:pPr marL="381000" indent="-381000" defTabSz="989013"/>
            <a:r>
              <a:rPr lang="en-GB" altLang="en-US" dirty="0" smtClean="0"/>
              <a:t>For contingency planning:</a:t>
            </a:r>
          </a:p>
          <a:p>
            <a:pPr marL="969963" lvl="2" indent="-573088" defTabSz="858838">
              <a:buFont typeface="Wingdings" panose="05000000000000000000" pitchFamily="2" charset="2"/>
              <a:buChar char="Ø"/>
            </a:pPr>
            <a:r>
              <a:rPr lang="en-GB" altLang="en-US" sz="2400" dirty="0" smtClean="0"/>
              <a:t>Location of sensitive areas</a:t>
            </a:r>
          </a:p>
          <a:p>
            <a:pPr marL="969963" lvl="2" indent="-573088" defTabSz="858838">
              <a:buFont typeface="Wingdings" panose="05000000000000000000" pitchFamily="2" charset="2"/>
              <a:buChar char="Ø"/>
            </a:pPr>
            <a:r>
              <a:rPr lang="en-GB" altLang="en-US" sz="2400" dirty="0" smtClean="0"/>
              <a:t>Protection priorities</a:t>
            </a:r>
          </a:p>
          <a:p>
            <a:pPr marL="381000" indent="-381000" defTabSz="989013"/>
            <a:r>
              <a:rPr lang="en-GB" altLang="en-US" dirty="0" smtClean="0"/>
              <a:t>For spill response strategies:</a:t>
            </a:r>
          </a:p>
          <a:p>
            <a:pPr marL="969963" lvl="2" indent="-573088" defTabSz="858838">
              <a:buFont typeface="Wingdings" panose="05000000000000000000" pitchFamily="2" charset="2"/>
              <a:buChar char="Ø"/>
            </a:pPr>
            <a:r>
              <a:rPr lang="en-GB" altLang="en-US" sz="2400" dirty="0" smtClean="0"/>
              <a:t>Dispersant prohibition areas</a:t>
            </a:r>
          </a:p>
          <a:p>
            <a:pPr marL="381000" indent="-381000" defTabSz="989013"/>
            <a:r>
              <a:rPr lang="en-GB" altLang="en-US" dirty="0" smtClean="0"/>
              <a:t>For shoreline protection strategies:</a:t>
            </a:r>
          </a:p>
          <a:p>
            <a:pPr marL="969963" lvl="2" indent="-573088" defTabSz="858838">
              <a:buFont typeface="Wingdings" panose="05000000000000000000" pitchFamily="2" charset="2"/>
              <a:buChar char="Ø"/>
            </a:pPr>
            <a:r>
              <a:rPr lang="en-GB" altLang="en-US" sz="2400" dirty="0" smtClean="0"/>
              <a:t>Booming points</a:t>
            </a:r>
          </a:p>
          <a:p>
            <a:pPr marL="969963" lvl="2" indent="-573088" defTabSz="858838">
              <a:buFont typeface="Wingdings" panose="05000000000000000000" pitchFamily="2" charset="2"/>
              <a:buChar char="Ø"/>
            </a:pPr>
            <a:r>
              <a:rPr lang="en-GB" altLang="ja-JP" sz="2400" dirty="0" smtClean="0"/>
              <a:t>Enhanced collection areas</a:t>
            </a:r>
          </a:p>
          <a:p>
            <a:pPr marL="381000" indent="-381000" defTabSz="989013"/>
            <a:r>
              <a:rPr lang="en-GB" altLang="en-US" dirty="0" smtClean="0"/>
              <a:t>For clean-up strategies:</a:t>
            </a:r>
          </a:p>
          <a:p>
            <a:pPr marL="969963" lvl="2" indent="-573088" defTabSz="858838">
              <a:buFont typeface="Wingdings" panose="05000000000000000000" pitchFamily="2" charset="2"/>
              <a:buChar char="Ø"/>
            </a:pPr>
            <a:r>
              <a:rPr lang="en-GB" altLang="en-US" sz="2400" dirty="0" smtClean="0"/>
              <a:t>Beach types</a:t>
            </a:r>
          </a:p>
          <a:p>
            <a:pPr marL="969963" lvl="2" indent="-573088" defTabSz="858838">
              <a:buFont typeface="Wingdings" panose="05000000000000000000" pitchFamily="2" charset="2"/>
              <a:buChar char="Ø"/>
            </a:pPr>
            <a:r>
              <a:rPr lang="en-GB" altLang="en-US" sz="2400" dirty="0" smtClean="0"/>
              <a:t>Access roads; near shore water depths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135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082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Sensitive </a:t>
            </a:r>
            <a:r>
              <a:rPr lang="en-GB" altLang="en-US" b="1" dirty="0" smtClean="0"/>
              <a:t>Resources</a:t>
            </a:r>
            <a:endParaRPr lang="en-GB" altLang="en-US" b="1" dirty="0" smtClean="0"/>
          </a:p>
        </p:txBody>
      </p:sp>
      <p:sp>
        <p:nvSpPr>
          <p:cNvPr id="46083" name="Rectangle 3"/>
          <p:cNvSpPr>
            <a:spLocks noGrp="1"/>
          </p:cNvSpPr>
          <p:nvPr>
            <p:ph idx="1"/>
          </p:nvPr>
        </p:nvSpPr>
        <p:spPr>
          <a:xfrm>
            <a:off x="1537854" y="904600"/>
            <a:ext cx="9952182" cy="54737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25000"/>
              </a:spcBef>
            </a:pPr>
            <a:r>
              <a:rPr lang="en-GB" altLang="en-US" dirty="0" smtClean="0">
                <a:solidFill>
                  <a:srgbClr val="000000"/>
                </a:solidFill>
              </a:rPr>
              <a:t>Economic</a:t>
            </a:r>
            <a:r>
              <a:rPr lang="en-GB" altLang="en-US" dirty="0">
                <a:solidFill>
                  <a:srgbClr val="000000"/>
                </a:solidFill>
              </a:rPr>
              <a:t>:</a:t>
            </a:r>
          </a:p>
          <a:p>
            <a:pPr lvl="1" indent="-400050">
              <a:lnSpc>
                <a:spcPct val="90000"/>
              </a:lnSpc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GB" altLang="en-US" dirty="0" smtClean="0">
                <a:solidFill>
                  <a:srgbClr val="000000"/>
                </a:solidFill>
              </a:rPr>
              <a:t> industry</a:t>
            </a:r>
            <a:endParaRPr lang="en-GB" altLang="en-US" dirty="0">
              <a:solidFill>
                <a:srgbClr val="000000"/>
              </a:solidFill>
            </a:endParaRPr>
          </a:p>
          <a:p>
            <a:pPr lvl="1" indent="-400050">
              <a:lnSpc>
                <a:spcPct val="90000"/>
              </a:lnSpc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GB" altLang="en-US" dirty="0">
                <a:solidFill>
                  <a:srgbClr val="000000"/>
                </a:solidFill>
              </a:rPr>
              <a:t> tourism</a:t>
            </a:r>
          </a:p>
          <a:p>
            <a:pPr lvl="1" indent="-400050">
              <a:lnSpc>
                <a:spcPct val="90000"/>
              </a:lnSpc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GB" altLang="en-US" dirty="0">
                <a:solidFill>
                  <a:srgbClr val="000000"/>
                </a:solidFill>
              </a:rPr>
              <a:t> fishing areas</a:t>
            </a:r>
          </a:p>
          <a:p>
            <a:pPr lvl="1" indent="-400050">
              <a:lnSpc>
                <a:spcPct val="90000"/>
              </a:lnSpc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GB" altLang="en-US" dirty="0">
                <a:solidFill>
                  <a:srgbClr val="000000"/>
                </a:solidFill>
              </a:rPr>
              <a:t> aquaculture facilities</a:t>
            </a:r>
          </a:p>
          <a:p>
            <a:pPr>
              <a:lnSpc>
                <a:spcPct val="90000"/>
              </a:lnSpc>
              <a:spcBef>
                <a:spcPct val="25000"/>
              </a:spcBef>
            </a:pPr>
            <a:r>
              <a:rPr lang="en-GB" altLang="en-US" dirty="0" smtClean="0">
                <a:solidFill>
                  <a:srgbClr val="000000"/>
                </a:solidFill>
              </a:rPr>
              <a:t>Social:</a:t>
            </a:r>
          </a:p>
          <a:p>
            <a:pPr lvl="1" indent="-400050">
              <a:lnSpc>
                <a:spcPct val="90000"/>
              </a:lnSpc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GB" altLang="en-US" dirty="0">
                <a:solidFill>
                  <a:srgbClr val="000000"/>
                </a:solidFill>
              </a:rPr>
              <a:t> residential areas</a:t>
            </a:r>
          </a:p>
          <a:p>
            <a:pPr lvl="1" indent="-400050">
              <a:lnSpc>
                <a:spcPct val="90000"/>
              </a:lnSpc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GB" altLang="en-US" dirty="0">
                <a:solidFill>
                  <a:srgbClr val="000000"/>
                </a:solidFill>
              </a:rPr>
              <a:t> recreational beaches</a:t>
            </a:r>
          </a:p>
          <a:p>
            <a:pPr>
              <a:lnSpc>
                <a:spcPct val="90000"/>
              </a:lnSpc>
              <a:spcBef>
                <a:spcPct val="25000"/>
              </a:spcBef>
            </a:pPr>
            <a:r>
              <a:rPr lang="en-GB" altLang="en-US" dirty="0" smtClean="0">
                <a:solidFill>
                  <a:srgbClr val="000000"/>
                </a:solidFill>
              </a:rPr>
              <a:t>Environmental:</a:t>
            </a:r>
          </a:p>
          <a:p>
            <a:pPr lvl="1" indent="-400050">
              <a:lnSpc>
                <a:spcPct val="90000"/>
              </a:lnSpc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GB" altLang="en-US" dirty="0">
                <a:solidFill>
                  <a:srgbClr val="000000"/>
                </a:solidFill>
              </a:rPr>
              <a:t>Shoreline types</a:t>
            </a:r>
          </a:p>
          <a:p>
            <a:pPr lvl="1" indent="-400050">
              <a:lnSpc>
                <a:spcPct val="90000"/>
              </a:lnSpc>
              <a:spcBef>
                <a:spcPct val="25000"/>
              </a:spcBef>
              <a:buFont typeface="Wingdings" panose="05000000000000000000" pitchFamily="2" charset="2"/>
              <a:buChar char="Ø"/>
            </a:pPr>
            <a:r>
              <a:rPr lang="en-GB" altLang="en-US" dirty="0">
                <a:solidFill>
                  <a:srgbClr val="000000"/>
                </a:solidFill>
              </a:rPr>
              <a:t>Important areas (bird colonies; habitats, marshes; corals)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8078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130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Priority </a:t>
            </a:r>
            <a:r>
              <a:rPr lang="en-GB" altLang="en-US" b="1" dirty="0" smtClean="0"/>
              <a:t>Ranking </a:t>
            </a:r>
            <a:endParaRPr lang="en-GB" altLang="en-US" b="1" dirty="0" smtClean="0"/>
          </a:p>
        </p:txBody>
      </p:sp>
      <p:sp>
        <p:nvSpPr>
          <p:cNvPr id="48131" name="Rectangle 3"/>
          <p:cNvSpPr>
            <a:spLocks noGrp="1"/>
          </p:cNvSpPr>
          <p:nvPr>
            <p:ph idx="1"/>
          </p:nvPr>
        </p:nvSpPr>
        <p:spPr>
          <a:xfrm>
            <a:off x="1022929" y="1221299"/>
            <a:ext cx="10515600" cy="4351338"/>
          </a:xfrm>
        </p:spPr>
        <p:txBody>
          <a:bodyPr/>
          <a:lstStyle/>
          <a:p>
            <a:pPr algn="just"/>
            <a:r>
              <a:rPr lang="en-GB" altLang="en-US" dirty="0" smtClean="0"/>
              <a:t>Sensitive areas can be ranked according to their relative sensitivity to oil and clean-up difficulty.</a:t>
            </a:r>
          </a:p>
          <a:p>
            <a:pPr algn="just"/>
            <a:r>
              <a:rPr lang="en-GB" altLang="en-US" dirty="0" smtClean="0"/>
              <a:t>It provides a quick overview of highly sensitive areas.</a:t>
            </a:r>
          </a:p>
          <a:p>
            <a:pPr algn="just"/>
            <a:r>
              <a:rPr lang="en-GB" altLang="en-US" dirty="0" smtClean="0"/>
              <a:t>Development of sensitivity maps:</a:t>
            </a:r>
          </a:p>
          <a:p>
            <a:pPr lvl="1" indent="-400050" algn="just">
              <a:buFont typeface="Wingdings" panose="05000000000000000000" pitchFamily="2" charset="2"/>
              <a:buChar char="Ø"/>
            </a:pPr>
            <a:r>
              <a:rPr lang="en-GB" altLang="en-US" dirty="0" smtClean="0"/>
              <a:t>Working group with relevant stakeholders</a:t>
            </a:r>
          </a:p>
          <a:p>
            <a:pPr lvl="1" indent="-400050" algn="just">
              <a:buFont typeface="Wingdings" panose="05000000000000000000" pitchFamily="2" charset="2"/>
              <a:buChar char="Ø"/>
            </a:pPr>
            <a:r>
              <a:rPr lang="en-GB" altLang="en-US" dirty="0" smtClean="0"/>
              <a:t>Compile information on resources and location</a:t>
            </a:r>
          </a:p>
          <a:p>
            <a:pPr lvl="1" indent="-400050" algn="just">
              <a:buFont typeface="Wingdings" panose="05000000000000000000" pitchFamily="2" charset="2"/>
              <a:buChar char="Ø"/>
            </a:pPr>
            <a:r>
              <a:rPr lang="en-GB" altLang="en-US" dirty="0" smtClean="0"/>
              <a:t>Determine ranking</a:t>
            </a:r>
          </a:p>
          <a:p>
            <a:pPr lvl="1" indent="-400050" algn="just">
              <a:buFont typeface="Wingdings" panose="05000000000000000000" pitchFamily="2" charset="2"/>
              <a:buChar char="Ø"/>
            </a:pPr>
            <a:r>
              <a:rPr lang="en-GB" altLang="en-US" dirty="0" smtClean="0"/>
              <a:t>Produce maps (GIS support).</a:t>
            </a:r>
          </a:p>
          <a:p>
            <a:pPr algn="just"/>
            <a:endParaRPr lang="en-GB" altLang="en-US" dirty="0" smtClean="0"/>
          </a:p>
          <a:p>
            <a:pPr algn="just"/>
            <a:endParaRPr lang="en-GB" altLang="en-US" dirty="0" smtClean="0"/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068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178" name="Rectangle 2"/>
          <p:cNvSpPr>
            <a:spLocks noGrp="1"/>
          </p:cNvSpPr>
          <p:nvPr>
            <p:ph type="title"/>
          </p:nvPr>
        </p:nvSpPr>
        <p:spPr>
          <a:xfrm>
            <a:off x="1320799" y="130176"/>
            <a:ext cx="9421091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High </a:t>
            </a:r>
            <a:r>
              <a:rPr lang="en-GB" altLang="en-US" b="1" dirty="0" smtClean="0"/>
              <a:t>Priority </a:t>
            </a:r>
            <a:r>
              <a:rPr lang="en-GB" altLang="en-US" b="1" dirty="0"/>
              <a:t>B</a:t>
            </a:r>
            <a:r>
              <a:rPr lang="en-GB" altLang="en-US" b="1" dirty="0" smtClean="0"/>
              <a:t>iological </a:t>
            </a:r>
            <a:r>
              <a:rPr lang="en-GB" altLang="en-US" b="1" dirty="0"/>
              <a:t>R</a:t>
            </a:r>
            <a:r>
              <a:rPr lang="en-GB" altLang="en-US" b="1" dirty="0" smtClean="0"/>
              <a:t>esources</a:t>
            </a:r>
            <a:endParaRPr lang="en-GB" altLang="en-US" b="1" dirty="0" smtClean="0"/>
          </a:p>
        </p:txBody>
      </p:sp>
      <p:graphicFrame>
        <p:nvGraphicFramePr>
          <p:cNvPr id="1269783" name="Group 23">
            <a:extLst/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4854991"/>
              </p:ext>
            </p:extLst>
          </p:nvPr>
        </p:nvGraphicFramePr>
        <p:xfrm>
          <a:off x="1981200" y="908051"/>
          <a:ext cx="8229600" cy="4918076"/>
        </p:xfrm>
        <a:graphic>
          <a:graphicData uri="http://schemas.openxmlformats.org/drawingml/2006/table">
            <a:tbl>
              <a:tblPr/>
              <a:tblGrid>
                <a:gridCol w="4115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5959">
                <a:tc>
                  <a:txBody>
                    <a:bodyPr/>
                    <a:lstStyle/>
                    <a:p>
                      <a:pPr marL="0" marR="0" lvl="0" indent="0" algn="l" defTabSz="989013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Marshes and mangroves</a:t>
                      </a:r>
                    </a:p>
                  </a:txBody>
                  <a:tcPr marL="84557" marR="84557" marT="42286" marB="42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90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Highly vulnerable   </a:t>
                      </a:r>
                      <a:endParaRPr kumimoji="0" lang="en-GB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557" marR="84557" marT="42286" marB="42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3355">
                <a:tc>
                  <a:txBody>
                    <a:bodyPr/>
                    <a:lstStyle/>
                    <a:p>
                      <a:pPr marL="0" marR="0" lvl="0" indent="0" algn="l" defTabSz="989013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Protected areas/ endangered species</a:t>
                      </a:r>
                    </a:p>
                  </a:txBody>
                  <a:tcPr marL="84557" marR="84557" marT="42286" marB="42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90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Highly vulnerable</a:t>
                      </a:r>
                      <a:endParaRPr kumimoji="0" lang="en-GB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557" marR="84557" marT="42286" marB="42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2747">
                <a:tc>
                  <a:txBody>
                    <a:bodyPr/>
                    <a:lstStyle/>
                    <a:p>
                      <a:pPr marL="0" marR="0" lvl="0" indent="0" algn="l" defTabSz="989013" rtl="0" eaLnBrk="1" fontAlgn="base" latinLnBrk="0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Sites of national and international importance for water birds</a:t>
                      </a:r>
                    </a:p>
                  </a:txBody>
                  <a:tcPr marL="84557" marR="84557" marT="42286" marB="42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90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Highly vulnerable</a:t>
                      </a:r>
                      <a:endParaRPr kumimoji="0" lang="en-GB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557" marR="84557" marT="42286" marB="42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092">
                <a:tc>
                  <a:txBody>
                    <a:bodyPr/>
                    <a:lstStyle/>
                    <a:p>
                      <a:pPr marL="0" marR="0" lvl="0" indent="0" algn="l" defTabSz="989013" rtl="0" eaLnBrk="1" fontAlgn="base" latinLnBrk="0" hangingPunct="1">
                        <a:lnSpc>
                          <a:spcPct val="110000"/>
                        </a:lnSpc>
                        <a:spcBef>
                          <a:spcPct val="16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Turtle nesting beaches</a:t>
                      </a:r>
                    </a:p>
                  </a:txBody>
                  <a:tcPr marL="84557" marR="84557" marT="42286" marB="42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90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Highly vulnerable during breeding season</a:t>
                      </a:r>
                    </a:p>
                  </a:txBody>
                  <a:tcPr marL="84557" marR="84557" marT="42286" marB="42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9923">
                <a:tc>
                  <a:txBody>
                    <a:bodyPr/>
                    <a:lstStyle/>
                    <a:p>
                      <a:pPr marL="0" marR="0" lvl="0" indent="0" algn="l" defTabSz="989013" rtl="0" eaLnBrk="1" fontAlgn="base" latinLnBrk="0" hangingPunct="1">
                        <a:lnSpc>
                          <a:spcPct val="110000"/>
                        </a:lnSpc>
                        <a:spcBef>
                          <a:spcPct val="10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Coral reefs</a:t>
                      </a:r>
                    </a:p>
                  </a:txBody>
                  <a:tcPr marL="84557" marR="84557" marT="42286" marB="42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9013" rtl="0" eaLnBrk="1" fontAlgn="base" latinLnBrk="0" hangingPunct="1">
                        <a:lnSpc>
                          <a:spcPct val="100000"/>
                        </a:lnSpc>
                        <a:spcBef>
                          <a:spcPct val="55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Highly vulnerable</a:t>
                      </a:r>
                      <a:endParaRPr kumimoji="0" lang="en-GB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557" marR="84557" marT="42286" marB="42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9139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923635" y="130176"/>
            <a:ext cx="9781309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CA" altLang="en-US" b="1" dirty="0" smtClean="0"/>
              <a:t>Sensitive </a:t>
            </a:r>
            <a:r>
              <a:rPr lang="en-CA" altLang="en-US" b="1" dirty="0" smtClean="0"/>
              <a:t>Resources </a:t>
            </a:r>
            <a:r>
              <a:rPr lang="en-CA" altLang="en-US" b="1" dirty="0" smtClean="0">
                <a:sym typeface="Symbol" panose="05050102010706020507" pitchFamily="18" charset="2"/>
              </a:rPr>
              <a:t></a:t>
            </a:r>
            <a:r>
              <a:rPr lang="en-CA" altLang="en-US" b="1" dirty="0" smtClean="0"/>
              <a:t> Biological</a:t>
            </a:r>
          </a:p>
        </p:txBody>
      </p:sp>
      <p:pic>
        <p:nvPicPr>
          <p:cNvPr id="51203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46759" y="1239838"/>
            <a:ext cx="6290110" cy="4716550"/>
          </a:xfrm>
        </p:spPr>
      </p:pic>
      <p:pic>
        <p:nvPicPr>
          <p:cNvPr id="5120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3635" y="1239838"/>
            <a:ext cx="3099088" cy="4668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7817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226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Ranking of </a:t>
            </a:r>
            <a:r>
              <a:rPr lang="en-GB" altLang="en-US" b="1" dirty="0" smtClean="0"/>
              <a:t>Human </a:t>
            </a:r>
            <a:r>
              <a:rPr lang="en-GB" altLang="en-US" b="1" dirty="0"/>
              <a:t>U</a:t>
            </a:r>
            <a:r>
              <a:rPr lang="en-GB" altLang="en-US" b="1" dirty="0" smtClean="0"/>
              <a:t>se </a:t>
            </a:r>
            <a:endParaRPr lang="en-GB" altLang="en-US" b="1" dirty="0" smtClean="0"/>
          </a:p>
        </p:txBody>
      </p:sp>
      <p:graphicFrame>
        <p:nvGraphicFramePr>
          <p:cNvPr id="1274897" name="Group 17">
            <a:extLst/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925358"/>
              </p:ext>
            </p:extLst>
          </p:nvPr>
        </p:nvGraphicFramePr>
        <p:xfrm>
          <a:off x="2351089" y="908051"/>
          <a:ext cx="7242175" cy="4968875"/>
        </p:xfrm>
        <a:graphic>
          <a:graphicData uri="http://schemas.openxmlformats.org/drawingml/2006/table">
            <a:tbl>
              <a:tblPr/>
              <a:tblGrid>
                <a:gridCol w="3621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1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2770">
                <a:tc>
                  <a:txBody>
                    <a:bodyPr/>
                    <a:lstStyle/>
                    <a:p>
                      <a:pPr marL="0" marR="0" lvl="0" indent="0" algn="l" defTabSz="9890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High priority</a:t>
                      </a:r>
                    </a:p>
                    <a:p>
                      <a:pPr marL="0" marR="0" lvl="0" indent="0" algn="l" defTabSz="9890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GB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84573" marR="84573" marT="42269" marB="42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9013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5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Tourist areas:</a:t>
                      </a:r>
                      <a:endParaRPr kumimoji="0" lang="en-GB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marL="342900" marR="0" lvl="0" indent="-342900" algn="l" defTabSz="989013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5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Recreational beaches</a:t>
                      </a:r>
                    </a:p>
                    <a:p>
                      <a:pPr marL="342900" marR="0" lvl="0" indent="-342900" algn="l" defTabSz="989013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5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Marinas</a:t>
                      </a:r>
                    </a:p>
                    <a:p>
                      <a:pPr marL="0" marR="0" lvl="0" indent="0" algn="l" defTabSz="989013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5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Water intakes</a:t>
                      </a:r>
                    </a:p>
                    <a:p>
                      <a:pPr marL="0" marR="0" lvl="0" indent="0" algn="l" defTabSz="989013" rtl="0" eaLnBrk="1" fontAlgn="base" latinLnBrk="0" hangingPunct="1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Pct val="75000"/>
                        <a:buFont typeface="Arial" panose="020B0604020202020204" pitchFamily="34" charset="0"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Fishing grounds</a:t>
                      </a:r>
                    </a:p>
                  </a:txBody>
                  <a:tcPr marL="84573" marR="84573" marT="42269" marB="42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7577">
                <a:tc>
                  <a:txBody>
                    <a:bodyPr/>
                    <a:lstStyle/>
                    <a:p>
                      <a:pPr marL="0" marR="0" lvl="0" indent="0" algn="l" defTabSz="9890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Medium priority</a:t>
                      </a:r>
                    </a:p>
                  </a:txBody>
                  <a:tcPr marL="84573" marR="84573" marT="42269" marB="42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90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Ports and harbours</a:t>
                      </a:r>
                    </a:p>
                    <a:p>
                      <a:pPr marL="0" marR="0" lvl="0" indent="0" algn="l" defTabSz="9890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Urban areas</a:t>
                      </a:r>
                    </a:p>
                    <a:p>
                      <a:pPr marL="0" marR="0" lvl="0" indent="0" algn="l" defTabSz="9890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Industrial areas</a:t>
                      </a:r>
                    </a:p>
                    <a:p>
                      <a:pPr marL="0" marR="0" lvl="0" indent="0" algn="l" defTabSz="9890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C00000"/>
                        </a:buClr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Fishing grounds</a:t>
                      </a:r>
                    </a:p>
                  </a:txBody>
                  <a:tcPr marL="84573" marR="84573" marT="42269" marB="42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528">
                <a:tc>
                  <a:txBody>
                    <a:bodyPr/>
                    <a:lstStyle/>
                    <a:p>
                      <a:pPr marL="0" marR="0" lvl="0" indent="0" algn="l" defTabSz="9890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Low priority</a:t>
                      </a:r>
                    </a:p>
                  </a:txBody>
                  <a:tcPr marL="84573" marR="84573" marT="42269" marB="42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890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5000"/>
                        <a:buFont typeface="Arial" pitchFamily="34" charset="0"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Unused land</a:t>
                      </a:r>
                    </a:p>
                  </a:txBody>
                  <a:tcPr marL="84573" marR="84573" marT="42269" marB="42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136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274" name="Titre 1"/>
          <p:cNvSpPr>
            <a:spLocks noGrp="1"/>
          </p:cNvSpPr>
          <p:nvPr>
            <p:ph type="title"/>
          </p:nvPr>
        </p:nvSpPr>
        <p:spPr>
          <a:xfrm>
            <a:off x="1394691" y="130176"/>
            <a:ext cx="9541164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Sensitive </a:t>
            </a:r>
            <a:r>
              <a:rPr lang="en-GB" altLang="en-US" b="1" dirty="0" smtClean="0"/>
              <a:t>Resources </a:t>
            </a:r>
            <a:r>
              <a:rPr lang="en-GB" altLang="en-US" b="1" dirty="0" smtClean="0"/>
              <a:t>– Human </a:t>
            </a:r>
            <a:r>
              <a:rPr lang="en-GB" altLang="en-US" b="1" dirty="0" smtClean="0"/>
              <a:t>Use</a:t>
            </a:r>
            <a:endParaRPr lang="en-GB" altLang="en-US" b="1" dirty="0" smtClean="0"/>
          </a:p>
        </p:txBody>
      </p:sp>
      <p:pic>
        <p:nvPicPr>
          <p:cNvPr id="54275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6492" y="1355807"/>
            <a:ext cx="5890635" cy="3920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277" name="Image 1" descr="cleanupops_touristbeach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5395" y="1355807"/>
            <a:ext cx="5252372" cy="3920441"/>
          </a:xfrm>
          <a:noFill/>
        </p:spPr>
      </p:pic>
      <p:sp>
        <p:nvSpPr>
          <p:cNvPr id="7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003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298" name="Rectangle 2"/>
          <p:cNvSpPr>
            <a:spLocks noGrp="1"/>
          </p:cNvSpPr>
          <p:nvPr>
            <p:ph type="title"/>
          </p:nvPr>
        </p:nvSpPr>
        <p:spPr>
          <a:xfrm>
            <a:off x="1981200" y="130176"/>
            <a:ext cx="8229600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High </a:t>
            </a:r>
            <a:r>
              <a:rPr lang="en-GB" altLang="en-US" b="1" dirty="0" smtClean="0"/>
              <a:t>Priority </a:t>
            </a:r>
            <a:r>
              <a:rPr lang="en-GB" altLang="en-US" b="1" dirty="0"/>
              <a:t>S</a:t>
            </a:r>
            <a:r>
              <a:rPr lang="en-GB" altLang="en-US" b="1" dirty="0" smtClean="0"/>
              <a:t>horelines</a:t>
            </a:r>
            <a:endParaRPr lang="en-GB" altLang="en-US" b="1" dirty="0" smtClean="0"/>
          </a:p>
        </p:txBody>
      </p:sp>
      <p:sp>
        <p:nvSpPr>
          <p:cNvPr id="55299" name="Rectangle 3"/>
          <p:cNvSpPr>
            <a:spLocks noGrp="1"/>
          </p:cNvSpPr>
          <p:nvPr>
            <p:ph type="body" idx="1"/>
          </p:nvPr>
        </p:nvSpPr>
        <p:spPr>
          <a:xfrm>
            <a:off x="1481930" y="1202893"/>
            <a:ext cx="9216303" cy="412273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ct val="40000"/>
              </a:spcBef>
            </a:pPr>
            <a:r>
              <a:rPr lang="en-GB" altLang="en-US" sz="3200" dirty="0" smtClean="0"/>
              <a:t>Marshes and mangroves</a:t>
            </a:r>
          </a:p>
          <a:p>
            <a:pPr>
              <a:lnSpc>
                <a:spcPct val="110000"/>
              </a:lnSpc>
              <a:spcBef>
                <a:spcPct val="40000"/>
              </a:spcBef>
            </a:pPr>
            <a:r>
              <a:rPr lang="en-GB" altLang="en-US" sz="3200" dirty="0" smtClean="0"/>
              <a:t>Reef flats which are exposed at low tide</a:t>
            </a:r>
          </a:p>
          <a:p>
            <a:pPr>
              <a:lnSpc>
                <a:spcPct val="110000"/>
              </a:lnSpc>
              <a:spcBef>
                <a:spcPct val="40000"/>
              </a:spcBef>
            </a:pPr>
            <a:r>
              <a:rPr lang="en-GB" altLang="en-US" sz="3200" dirty="0" smtClean="0"/>
              <a:t>Raised fossil reefs with undercuts </a:t>
            </a:r>
          </a:p>
          <a:p>
            <a:pPr>
              <a:lnSpc>
                <a:spcPct val="110000"/>
              </a:lnSpc>
              <a:spcBef>
                <a:spcPct val="40000"/>
              </a:spcBef>
            </a:pPr>
            <a:r>
              <a:rPr lang="en-GB" altLang="en-US" sz="3200" dirty="0" smtClean="0"/>
              <a:t>Boulder and cobble beaches</a:t>
            </a:r>
          </a:p>
          <a:p>
            <a:pPr>
              <a:lnSpc>
                <a:spcPct val="110000"/>
              </a:lnSpc>
              <a:spcBef>
                <a:spcPct val="40000"/>
              </a:spcBef>
            </a:pPr>
            <a:r>
              <a:rPr lang="en-GB" altLang="en-US" sz="3200" dirty="0" smtClean="0"/>
              <a:t>Pebble and cobble beaches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436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1320799" y="130176"/>
            <a:ext cx="9827491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fr-FR" altLang="en-US" b="1" dirty="0" smtClean="0"/>
              <a:t>Sensitive </a:t>
            </a:r>
            <a:r>
              <a:rPr lang="fr-FR" altLang="en-US" b="1" dirty="0" err="1"/>
              <a:t>R</a:t>
            </a:r>
            <a:r>
              <a:rPr lang="fr-FR" altLang="en-US" b="1" dirty="0" err="1" smtClean="0"/>
              <a:t>esources</a:t>
            </a:r>
            <a:r>
              <a:rPr lang="fr-FR" altLang="en-US" b="1" dirty="0" smtClean="0"/>
              <a:t> </a:t>
            </a:r>
            <a:r>
              <a:rPr lang="fr-FR" altLang="en-US" b="1" dirty="0" smtClean="0"/>
              <a:t>– </a:t>
            </a:r>
            <a:r>
              <a:rPr lang="fr-FR" altLang="en-US" b="1" dirty="0" err="1" smtClean="0"/>
              <a:t>Shorelines</a:t>
            </a:r>
            <a:endParaRPr lang="en-CA" altLang="en-US" b="1" dirty="0" smtClean="0"/>
          </a:p>
        </p:txBody>
      </p:sp>
      <p:pic>
        <p:nvPicPr>
          <p:cNvPr id="57347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5256" y="1675967"/>
            <a:ext cx="5398699" cy="4050577"/>
          </a:xfrm>
        </p:spPr>
      </p:pic>
      <p:pic>
        <p:nvPicPr>
          <p:cNvPr id="57348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4212" y="1675967"/>
            <a:ext cx="5397278" cy="4050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601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370" name="Titre 1"/>
          <p:cNvSpPr>
            <a:spLocks noGrp="1"/>
          </p:cNvSpPr>
          <p:nvPr>
            <p:ph type="title"/>
          </p:nvPr>
        </p:nvSpPr>
        <p:spPr>
          <a:xfrm>
            <a:off x="1450109" y="130176"/>
            <a:ext cx="8760691" cy="561975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dirty="0" smtClean="0"/>
              <a:t>Conclusion</a:t>
            </a:r>
          </a:p>
        </p:txBody>
      </p:sp>
      <p:sp>
        <p:nvSpPr>
          <p:cNvPr id="58371" name="Espace réservé du contenu 2"/>
          <p:cNvSpPr>
            <a:spLocks noGrp="1"/>
          </p:cNvSpPr>
          <p:nvPr>
            <p:ph idx="1"/>
          </p:nvPr>
        </p:nvSpPr>
        <p:spPr>
          <a:xfrm>
            <a:off x="832282" y="1313662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GB" altLang="en-US" sz="3200" dirty="0" smtClean="0"/>
              <a:t>Technical aspects are very important for oil spill preparedness activities and response</a:t>
            </a:r>
          </a:p>
          <a:p>
            <a:pPr algn="just"/>
            <a:endParaRPr lang="en-GB" altLang="en-US" sz="3200" dirty="0" smtClean="0"/>
          </a:p>
          <a:p>
            <a:pPr algn="just"/>
            <a:r>
              <a:rPr lang="en-GB" altLang="en-US" sz="3200" dirty="0" smtClean="0"/>
              <a:t>They are the basis for decision-making</a:t>
            </a:r>
          </a:p>
          <a:p>
            <a:pPr algn="just"/>
            <a:endParaRPr lang="en-GB" altLang="en-US" sz="3200" dirty="0" smtClean="0"/>
          </a:p>
          <a:p>
            <a:pPr algn="just"/>
            <a:r>
              <a:rPr lang="en-GB" altLang="en-US" sz="3200" dirty="0" smtClean="0"/>
              <a:t>Technical tools such as oil spill models and sensitivity maps will facilitate the decision- making process for managers </a:t>
            </a:r>
          </a:p>
        </p:txBody>
      </p:sp>
      <p:sp>
        <p:nvSpPr>
          <p:cNvPr id="4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438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1134</Words>
  <Application>Microsoft Office PowerPoint</Application>
  <PresentationFormat>Widescreen</PresentationFormat>
  <Paragraphs>211</Paragraphs>
  <Slides>30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MS PGothic</vt:lpstr>
      <vt:lpstr>MS PGothic</vt:lpstr>
      <vt:lpstr>Arial</vt:lpstr>
      <vt:lpstr>Calibri</vt:lpstr>
      <vt:lpstr>inherit</vt:lpstr>
      <vt:lpstr>Symbol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Oil Spill Modelling</vt:lpstr>
      <vt:lpstr>Oil Spill Modelling</vt:lpstr>
      <vt:lpstr>Sensitivity Maps</vt:lpstr>
      <vt:lpstr>Sensitivity Maps</vt:lpstr>
      <vt:lpstr>Uses of Sensitivity Maps</vt:lpstr>
      <vt:lpstr>Sensitive Resources</vt:lpstr>
      <vt:lpstr>Priority Ranking </vt:lpstr>
      <vt:lpstr>High Priority Biological Resources</vt:lpstr>
      <vt:lpstr>Sensitive Resources  Biological</vt:lpstr>
      <vt:lpstr>Ranking of Human Use </vt:lpstr>
      <vt:lpstr>Sensitive Resources – Human Use</vt:lpstr>
      <vt:lpstr>High Priority Shorelines</vt:lpstr>
      <vt:lpstr>Sensitive Resources – Shorelines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NN Manchekar</cp:lastModifiedBy>
  <cp:revision>154</cp:revision>
  <dcterms:created xsi:type="dcterms:W3CDTF">2024-09-27T05:40:49Z</dcterms:created>
  <dcterms:modified xsi:type="dcterms:W3CDTF">2025-06-05T10:16:39Z</dcterms:modified>
</cp:coreProperties>
</file>
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7AD97-09FC-41F3-9946-7516543A5C91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72289-313A-4C50-9C05-80192ED14B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72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F892828-9DD8-4203-8C07-896B7046BA6A}" type="slidenum">
              <a:rPr lang="en-GB" altLang="en-US" sz="1300" smtClean="0"/>
              <a:pPr>
                <a:spcBef>
                  <a:spcPct val="0"/>
                </a:spcBef>
              </a:pPr>
              <a:t>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93690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72F7B4C-DF11-40CD-8FD2-D8BC2B2234FF}" type="slidenum">
              <a:rPr lang="en-GB" altLang="en-US" sz="1300" smtClean="0"/>
              <a:pPr>
                <a:spcBef>
                  <a:spcPct val="0"/>
                </a:spcBef>
              </a:pPr>
              <a:t>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19234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26F22-21E7-4124-AE1B-1ACBBFEDC304}" type="slidenum">
              <a:rPr lang="en-GB" altLang="en-US" sz="1300" smtClean="0"/>
              <a:pPr>
                <a:spcBef>
                  <a:spcPct val="0"/>
                </a:spcBef>
              </a:pPr>
              <a:t>4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007127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7B99850-1A20-468C-800D-A8B7F2ADA6E5}" type="slidenum">
              <a:rPr lang="en-GB" altLang="en-US" sz="1300" smtClean="0"/>
              <a:pPr>
                <a:spcBef>
                  <a:spcPct val="0"/>
                </a:spcBef>
              </a:pPr>
              <a:t>5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510679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739300-21A6-4D57-AB05-79E588644049}" type="slidenum">
              <a:rPr lang="en-GB" altLang="en-US" sz="1300" smtClean="0"/>
              <a:pPr>
                <a:spcBef>
                  <a:spcPct val="0"/>
                </a:spcBef>
              </a:pPr>
              <a:t>8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403660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747DE5B-568A-48E3-B490-32EF25876D3C}" type="slidenum">
              <a:rPr lang="en-GB" altLang="en-US" sz="1300" smtClean="0"/>
              <a:pPr>
                <a:spcBef>
                  <a:spcPct val="0"/>
                </a:spcBef>
              </a:pPr>
              <a:t>9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609885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EC0F824-3708-463F-A9F7-65EF500002C3}" type="slidenum">
              <a:rPr lang="en-GB" altLang="en-US" sz="1300" smtClean="0"/>
              <a:pPr>
                <a:spcBef>
                  <a:spcPct val="0"/>
                </a:spcBef>
              </a:pPr>
              <a:t>10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42962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332CC1-3491-4EC3-9466-E004CC7E6C43}" type="slidenum">
              <a:rPr lang="en-GB" altLang="en-US" sz="1300" smtClean="0"/>
              <a:pPr>
                <a:spcBef>
                  <a:spcPct val="0"/>
                </a:spcBef>
              </a:pPr>
              <a:t>11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3721280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11BE92-A999-4107-A5D8-97336E108F07}" type="slidenum">
              <a:rPr lang="en-GB" altLang="en-US" sz="1300" smtClean="0"/>
              <a:pPr>
                <a:spcBef>
                  <a:spcPct val="0"/>
                </a:spcBef>
              </a:pPr>
              <a:t>12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019794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/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endParaRPr lang="en-GB" dirty="0">
              <a:ea typeface="+mn-ea"/>
            </a:endParaRP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C2A3CC-F1FD-4930-8B84-5F3B1334D83B}" type="slidenum">
              <a:rPr lang="en-GB" altLang="en-US" sz="1300" smtClean="0"/>
              <a:pPr>
                <a:spcBef>
                  <a:spcPct val="0"/>
                </a:spcBef>
              </a:pPr>
              <a:t>13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613712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7A75FC9-BEF7-47CF-AC3E-84526112AC94}" type="slidenum">
              <a:rPr lang="en-GB" altLang="en-US" sz="1300" smtClean="0"/>
              <a:pPr>
                <a:spcBef>
                  <a:spcPct val="0"/>
                </a:spcBef>
              </a:pPr>
              <a:t>14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7153385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A5B677-D8ED-438A-8692-0626BE08BA70}" type="slidenum">
              <a:rPr lang="en-GB" altLang="en-US" sz="1300" smtClean="0"/>
              <a:pPr>
                <a:spcBef>
                  <a:spcPct val="0"/>
                </a:spcBef>
              </a:pPr>
              <a:t>15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421007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D90953-12D5-47A4-A081-99B0BF2F4169}" type="slidenum">
              <a:rPr lang="en-GB" altLang="en-US" sz="1300" smtClean="0"/>
              <a:pPr>
                <a:spcBef>
                  <a:spcPct val="0"/>
                </a:spcBef>
              </a:pPr>
              <a:t>16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23779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C769B3D-24D7-4751-898D-EAA1B42A8186}" type="slidenum">
              <a:rPr lang="en-GB" altLang="en-US" sz="1300" smtClean="0"/>
              <a:pPr>
                <a:spcBef>
                  <a:spcPct val="0"/>
                </a:spcBef>
              </a:pPr>
              <a:t>17</a:t>
            </a:fld>
            <a:endParaRPr lang="en-GB" altLang="en-US" sz="1300" smtClean="0"/>
          </a:p>
        </p:txBody>
      </p:sp>
    </p:spTree>
    <p:extLst>
      <p:ext uri="{BB962C8B-B14F-4D97-AF65-F5344CB8AC3E}">
        <p14:creationId xmlns:p14="http://schemas.microsoft.com/office/powerpoint/2010/main" val="1290336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612559" y="2331720"/>
            <a:ext cx="10972800" cy="28254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Lesson 3.12</a:t>
            </a:r>
            <a:br>
              <a:rPr lang="en-GB" altLang="en-US" b="1" dirty="0" smtClean="0"/>
            </a:br>
            <a:r>
              <a:rPr lang="en-GB" altLang="en-US" b="1" dirty="0" smtClean="0"/>
              <a:t>Leadership during an Emergency</a:t>
            </a:r>
            <a:endParaRPr lang="en-GB" alt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Objective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902208" y="150558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3200" dirty="0" smtClean="0"/>
              <a:t>To understand the leadership qualities required in incident management.</a:t>
            </a:r>
            <a:endParaRPr lang="en-GB" altLang="en-US" sz="3200" dirty="0" smtClean="0"/>
          </a:p>
          <a:p>
            <a:pPr marL="0" indent="0" algn="just">
              <a:buNone/>
            </a:pPr>
            <a:r>
              <a:rPr lang="en-US" altLang="en-US" sz="3200" dirty="0" smtClean="0"/>
              <a:t>To understand how to avoid common management failures.</a:t>
            </a:r>
            <a:endParaRPr lang="en-GB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76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Introduction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405128" y="1194689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3200" dirty="0" smtClean="0"/>
              <a:t>Leadership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 smtClean="0"/>
              <a:t>Leadership qualities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 smtClean="0"/>
              <a:t>Appointing leaders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 smtClean="0"/>
              <a:t>Management failures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altLang="en-US" sz="3200" dirty="0" smtClean="0"/>
              <a:t>Avoiding management failures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 sz="3200" dirty="0" smtClean="0"/>
          </a:p>
          <a:p>
            <a:pPr>
              <a:buFont typeface="Arial" panose="020B0604020202020204" pitchFamily="34" charset="0"/>
              <a:buNone/>
            </a:pPr>
            <a:endParaRPr lang="en-US" altLang="en-US" sz="3200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87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Leadership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32282" y="82232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r>
              <a:rPr lang="en-US" altLang="en-US" dirty="0" smtClean="0"/>
              <a:t>Irrespective of the structure of the response organization, the abilities of the leaders of the response will have an important bearing on the progress and outcome of the response.</a:t>
            </a:r>
          </a:p>
          <a:p>
            <a:pPr marL="0" indent="0" algn="just">
              <a:buNone/>
            </a:pPr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447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Leadership</a:t>
            </a:r>
          </a:p>
        </p:txBody>
      </p:sp>
      <p:sp>
        <p:nvSpPr>
          <p:cNvPr id="9011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966216" y="1304417"/>
            <a:ext cx="10515600" cy="435133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dirty="0">
                <a:ea typeface="+mn-ea"/>
              </a:rPr>
              <a:t>Leadership qualities include the ability to: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command or manage personnel from a diverse range of organizations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listen and respond to the concerns and suggestions of the various parties 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assimilate information from a wide range of sources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make timely decisions based on this information</a:t>
            </a:r>
          </a:p>
          <a:p>
            <a:pPr marL="0" indent="0" algn="just">
              <a:buNone/>
              <a:defRPr/>
            </a:pPr>
            <a:endParaRPr lang="en-US" dirty="0">
              <a:ea typeface="+mn-ea"/>
            </a:endParaRPr>
          </a:p>
          <a:p>
            <a:pPr marL="0" indent="0" algn="just"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914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Command </a:t>
            </a:r>
            <a:r>
              <a:rPr lang="en-GB" altLang="en-US" b="1" dirty="0" smtClean="0"/>
              <a:t>Centre</a:t>
            </a:r>
            <a:endParaRPr lang="en-GB" altLang="en-US" b="1" dirty="0" smtClean="0"/>
          </a:p>
        </p:txBody>
      </p:sp>
      <p:pic>
        <p:nvPicPr>
          <p:cNvPr id="24579" name="Picture 2" descr="C:\Users\Joe\Desktop\IMO Received Material\Pictures from ITOPF\CommandCentre_NZ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25765" y="908051"/>
            <a:ext cx="7304087" cy="5218113"/>
          </a:xfrm>
          <a:noFill/>
        </p:spPr>
      </p:pic>
      <p:sp>
        <p:nvSpPr>
          <p:cNvPr id="24580" name="TextBox 1"/>
          <p:cNvSpPr txBox="1">
            <a:spLocks noChangeArrowheads="1"/>
          </p:cNvSpPr>
          <p:nvPr/>
        </p:nvSpPr>
        <p:spPr bwMode="auto">
          <a:xfrm>
            <a:off x="7985126" y="5884863"/>
            <a:ext cx="10080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800">
                <a:solidFill>
                  <a:schemeClr val="bg1"/>
                </a:solidFill>
                <a:latin typeface="Tahoma" panose="020B0604030504040204" pitchFamily="34" charset="0"/>
              </a:rPr>
              <a:t>Source: ITOPF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09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Field </a:t>
            </a:r>
            <a:r>
              <a:rPr lang="en-GB" altLang="en-US" b="1" dirty="0" smtClean="0"/>
              <a:t>Operations</a:t>
            </a:r>
            <a:endParaRPr lang="en-GB" altLang="en-US" b="1" dirty="0" smtClean="0"/>
          </a:p>
        </p:txBody>
      </p:sp>
      <p:pic>
        <p:nvPicPr>
          <p:cNvPr id="25603" name="Picture 2" descr="C:\Users\Joe\Desktop\IMO Received Material\Pictures from USCG\Incident command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03388" y="1023938"/>
            <a:ext cx="7416800" cy="4926012"/>
          </a:xfrm>
          <a:noFill/>
        </p:spPr>
      </p:pic>
      <p:sp>
        <p:nvSpPr>
          <p:cNvPr id="25604" name="TextBox 1"/>
          <p:cNvSpPr txBox="1">
            <a:spLocks noChangeArrowheads="1"/>
          </p:cNvSpPr>
          <p:nvPr/>
        </p:nvSpPr>
        <p:spPr bwMode="auto">
          <a:xfrm>
            <a:off x="7032625" y="5949951"/>
            <a:ext cx="2241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>
                <a:latin typeface="Tahoma" panose="020B0604030504040204" pitchFamily="34" charset="0"/>
              </a:rPr>
              <a:t>Source: US Coast Guard</a:t>
            </a:r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985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Leadership</a:t>
            </a:r>
          </a:p>
        </p:txBody>
      </p:sp>
      <p:sp>
        <p:nvSpPr>
          <p:cNvPr id="9011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1240536" y="109410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3200" dirty="0">
                <a:ea typeface="+mn-ea"/>
              </a:rPr>
              <a:t>Leadership qualities include the ability to: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set priorities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resolve conflicts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allocate limited resources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communicate decisions clearly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motivate team members</a:t>
            </a:r>
          </a:p>
          <a:p>
            <a:pPr marL="363538" indent="-269875">
              <a:buFont typeface="Arial" charset="0"/>
              <a:buChar char="•"/>
              <a:defRPr/>
            </a:pPr>
            <a:r>
              <a:rPr lang="en-US" sz="3200" dirty="0">
                <a:ea typeface="+mn-ea"/>
              </a:rPr>
              <a:t>recognize team members’ limitations and reallocate tasks accordingly</a:t>
            </a:r>
          </a:p>
          <a:p>
            <a:pPr marL="0" indent="0">
              <a:buNone/>
              <a:defRPr/>
            </a:pPr>
            <a:endParaRPr lang="en-US" sz="3200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157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Leadership</a:t>
            </a:r>
          </a:p>
        </p:txBody>
      </p:sp>
      <p:sp>
        <p:nvSpPr>
          <p:cNvPr id="9011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32282" y="1176401"/>
            <a:ext cx="10515600" cy="435133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sz="3200" dirty="0">
                <a:ea typeface="+mn-ea"/>
              </a:rPr>
              <a:t>Leadership qualities include the ability to: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ensure the response is technically reasonable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resist pressure from politicians, media and public to carry out unreasonable or dangerous activities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determine the termination criteria</a:t>
            </a:r>
          </a:p>
          <a:p>
            <a:pPr marL="363538" indent="-269875" algn="just">
              <a:buFont typeface="Arial" charset="0"/>
              <a:buChar char="•"/>
              <a:defRPr/>
            </a:pPr>
            <a:r>
              <a:rPr lang="en-US" dirty="0">
                <a:ea typeface="+mn-ea"/>
              </a:rPr>
              <a:t>reduce or terminate the response efforts when appropriate</a:t>
            </a:r>
          </a:p>
          <a:p>
            <a:pPr marL="363538" indent="-269875" algn="just">
              <a:buFont typeface="Arial" charset="0"/>
              <a:buChar char="•"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08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Appointing </a:t>
            </a:r>
            <a:r>
              <a:rPr lang="en-US" altLang="en-US" b="1" dirty="0" smtClean="0"/>
              <a:t>Leaders</a:t>
            </a:r>
            <a:endParaRPr lang="en-US" altLang="en-US" b="1" dirty="0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32282" y="1249553"/>
            <a:ext cx="10515600" cy="4351338"/>
          </a:xfrm>
        </p:spPr>
        <p:txBody>
          <a:bodyPr/>
          <a:lstStyle/>
          <a:p>
            <a:pPr marL="363538" indent="-269875" algn="just">
              <a:buNone/>
            </a:pPr>
            <a:r>
              <a:rPr lang="en-US" altLang="en-US" sz="3200" dirty="0" smtClean="0"/>
              <a:t>Leaders should be appointed with:</a:t>
            </a:r>
          </a:p>
          <a:p>
            <a:pPr marL="363538" indent="-269875" algn="just"/>
            <a:r>
              <a:rPr lang="en-US" altLang="en-US" dirty="0" smtClean="0"/>
              <a:t>prior relevant experience in a senior command or management position</a:t>
            </a:r>
          </a:p>
          <a:p>
            <a:pPr marL="363538" indent="-269875" algn="just"/>
            <a:r>
              <a:rPr lang="en-US" altLang="en-US" dirty="0" smtClean="0"/>
              <a:t>appropriate to the level and intensity of the incident</a:t>
            </a:r>
          </a:p>
          <a:p>
            <a:pPr marL="363538" indent="-269875" algn="just"/>
            <a:r>
              <a:rPr lang="en-US" altLang="en-US" dirty="0" smtClean="0"/>
              <a:t>technical posts need to be filled with technically skilled personnel</a:t>
            </a:r>
          </a:p>
          <a:p>
            <a:pPr marL="363538" indent="-269875" algn="just"/>
            <a:r>
              <a:rPr lang="en-US" altLang="en-US" dirty="0" smtClean="0"/>
              <a:t>manager posts can be filled with non-technical personnel</a:t>
            </a:r>
          </a:p>
          <a:p>
            <a:pPr marL="363538" indent="-269875" algn="just"/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86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Appointing leaders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1091362" y="1160187"/>
            <a:ext cx="10247198" cy="2451693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Long hours and intense pressures, especially during the initial stage of an incident, can lead to extreme fatigue and impaired judgment at all levels.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Deputies must be appointed to allow rest periods to be taken.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299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Appointing </a:t>
            </a:r>
            <a:r>
              <a:rPr lang="en-US" altLang="en-US" b="1" dirty="0" smtClean="0"/>
              <a:t>Leaders</a:t>
            </a:r>
            <a:endParaRPr lang="en-US" altLang="en-US" b="1" dirty="0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054786" y="1457325"/>
            <a:ext cx="10070592" cy="5400675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The qualities, qualifications and experience of the deputies should be similar to those they relieve.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Continuity should be preserved through hand-over briefings.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44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Management </a:t>
            </a:r>
            <a:r>
              <a:rPr lang="en-US" altLang="en-US" b="1" dirty="0" smtClean="0"/>
              <a:t>Failures</a:t>
            </a:r>
            <a:endParaRPr lang="en-US" altLang="en-US" b="1" dirty="0" smtClean="0"/>
          </a:p>
        </p:txBody>
      </p:sp>
      <p:sp>
        <p:nvSpPr>
          <p:cNvPr id="90115" name="Content Placeholder 2">
            <a:extLst/>
          </p:cNvPr>
          <p:cNvSpPr>
            <a:spLocks noGrp="1"/>
          </p:cNvSpPr>
          <p:nvPr>
            <p:ph idx="1"/>
          </p:nvPr>
        </p:nvSpPr>
        <p:spPr>
          <a:xfrm>
            <a:off x="899338" y="977625"/>
            <a:ext cx="10381488" cy="5400675"/>
          </a:xfrm>
        </p:spPr>
        <p:txBody>
          <a:bodyPr/>
          <a:lstStyle/>
          <a:p>
            <a:pPr marL="0" indent="0" algn="just">
              <a:spcBef>
                <a:spcPts val="0"/>
              </a:spcBef>
              <a:buNone/>
              <a:defRPr/>
            </a:pPr>
            <a:r>
              <a:rPr lang="en-GB" dirty="0">
                <a:ea typeface="+mn-ea"/>
              </a:rPr>
              <a:t>Potential management failures that have been observed at incidents: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ineffective leadership at critical times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ineffective communications and delays in sharing information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failure to provide timely procedures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poor training and supervision of employees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ineffective management and oversight of contractors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inadequate use of technology</a:t>
            </a:r>
          </a:p>
          <a:p>
            <a:pPr marL="268288" indent="-268288" algn="just">
              <a:spcBef>
                <a:spcPts val="0"/>
              </a:spcBef>
              <a:buFont typeface="Arial" charset="0"/>
              <a:buChar char="•"/>
              <a:defRPr/>
            </a:pPr>
            <a:r>
              <a:rPr lang="en-GB" sz="3000" dirty="0"/>
              <a:t>failure to appropriately analyse and appreciate risk</a:t>
            </a:r>
          </a:p>
          <a:p>
            <a:pPr marL="0" indent="0" algn="just">
              <a:spcBef>
                <a:spcPts val="0"/>
              </a:spcBef>
              <a:buNone/>
              <a:defRPr/>
            </a:pPr>
            <a:endParaRPr lang="en-US" dirty="0">
              <a:ea typeface="+mn-ea"/>
            </a:endParaRP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508760" y="130176"/>
            <a:ext cx="9217152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Avoiding </a:t>
            </a:r>
            <a:r>
              <a:rPr lang="en-US" altLang="en-US" b="1" dirty="0" smtClean="0"/>
              <a:t>Management </a:t>
            </a:r>
            <a:r>
              <a:rPr lang="en-US" altLang="en-US" b="1" dirty="0"/>
              <a:t>F</a:t>
            </a:r>
            <a:r>
              <a:rPr lang="en-US" altLang="en-US" b="1" dirty="0" smtClean="0"/>
              <a:t>ailures</a:t>
            </a:r>
            <a:endParaRPr lang="en-US" altLang="en-US" b="1" dirty="0" smtClean="0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021080" y="1090931"/>
            <a:ext cx="9915144" cy="5400675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en-US" dirty="0" smtClean="0"/>
              <a:t>Some or all of these remarks can be apportioned to many incidents.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2400" dirty="0"/>
          </a:p>
          <a:p>
            <a:pPr marL="0" indent="0">
              <a:spcBef>
                <a:spcPct val="0"/>
              </a:spcBef>
              <a:buNone/>
            </a:pPr>
            <a:r>
              <a:rPr lang="en-US" altLang="en-US" dirty="0" smtClean="0"/>
              <a:t>Each incident will differ in size and complexity.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2400" dirty="0"/>
          </a:p>
          <a:p>
            <a:pPr marL="0" indent="0">
              <a:spcBef>
                <a:spcPct val="0"/>
              </a:spcBef>
              <a:buNone/>
            </a:pPr>
            <a:r>
              <a:rPr lang="en-US" altLang="en-US" dirty="0" smtClean="0"/>
              <a:t>A pre-requisite for operational success is to establish an organizational structure scaled appropriately to the situation.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sz="2400" dirty="0"/>
          </a:p>
          <a:p>
            <a:pPr marL="0" indent="0">
              <a:spcBef>
                <a:spcPct val="0"/>
              </a:spcBef>
              <a:buNone/>
            </a:pPr>
            <a:r>
              <a:rPr lang="en-US" altLang="en-US" dirty="0" smtClean="0"/>
              <a:t>The organization must have effective leadership and management.</a:t>
            </a:r>
          </a:p>
          <a:p>
            <a:pPr marL="0" indent="0">
              <a:spcBef>
                <a:spcPct val="0"/>
              </a:spcBef>
              <a:buNone/>
            </a:pPr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00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Avoiding </a:t>
            </a:r>
            <a:r>
              <a:rPr lang="en-US" altLang="en-US" b="1" dirty="0" smtClean="0"/>
              <a:t>Management </a:t>
            </a:r>
            <a:r>
              <a:rPr lang="en-US" altLang="en-US" b="1" dirty="0"/>
              <a:t>F</a:t>
            </a:r>
            <a:r>
              <a:rPr lang="en-US" altLang="en-US" b="1" dirty="0" smtClean="0"/>
              <a:t>ailures</a:t>
            </a:r>
            <a:endParaRPr lang="en-US" altLang="en-US" b="1" dirty="0" smtClean="0"/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1054786" y="1342750"/>
            <a:ext cx="10070592" cy="5400675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This structure needs to be tested regularly and thoroughly through a series of exercises.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The structure needs to be capable of being scaled up and down as appropriate.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A thorough understanding of the roles and responsibilities of each function in the command structure promotes coordination and communication.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754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b="1" dirty="0" smtClean="0"/>
              <a:t>Avoiding </a:t>
            </a:r>
            <a:r>
              <a:rPr lang="en-US" altLang="en-US" b="1" dirty="0" smtClean="0"/>
              <a:t>Management </a:t>
            </a:r>
            <a:r>
              <a:rPr lang="en-US" altLang="en-US" b="1" dirty="0"/>
              <a:t>F</a:t>
            </a:r>
            <a:r>
              <a:rPr lang="en-US" altLang="en-US" b="1" dirty="0" smtClean="0"/>
              <a:t>ailures</a:t>
            </a:r>
            <a:endParaRPr lang="en-US" altLang="en-US" b="1" dirty="0" smtClean="0"/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1176528" y="1246379"/>
            <a:ext cx="10198608" cy="5400675"/>
          </a:xfrm>
        </p:spPr>
        <p:txBody>
          <a:bodyPr/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Clear and open lines of communication are vital to minimize confusion and delays.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Mechanisms to manage volunteers, media demands and offers of assistance need to be established.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dirty="0" smtClean="0"/>
              <a:t>Lessons from incidents, training or exercises need to be learned and acted upon.</a:t>
            </a:r>
          </a:p>
          <a:p>
            <a:pPr marL="0" indent="0" algn="just">
              <a:spcBef>
                <a:spcPct val="0"/>
              </a:spcBef>
              <a:buNone/>
            </a:pPr>
            <a:endParaRPr lang="en-US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920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Summary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1002792" y="1440268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dirty="0" smtClean="0"/>
              <a:t>In this lesson we have considered the leadership qualities required in incident management.</a:t>
            </a:r>
            <a:endParaRPr lang="en-GB" altLang="en-US" dirty="0" smtClean="0"/>
          </a:p>
          <a:p>
            <a:pPr marL="0" indent="0" algn="just">
              <a:buNone/>
            </a:pPr>
            <a:endParaRPr lang="en-US" altLang="en-US" dirty="0" smtClean="0"/>
          </a:p>
          <a:p>
            <a:pPr marL="0" indent="0" algn="just">
              <a:buNone/>
            </a:pPr>
            <a:r>
              <a:rPr lang="en-US" altLang="en-US" dirty="0" smtClean="0"/>
              <a:t>We have also looked at some common management failures and how we might avoid them.</a:t>
            </a:r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86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798</Words>
  <Application>Microsoft Office PowerPoint</Application>
  <PresentationFormat>Widescreen</PresentationFormat>
  <Paragraphs>118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MS PGothic</vt:lpstr>
      <vt:lpstr>Arial</vt:lpstr>
      <vt:lpstr>Calibri</vt:lpstr>
      <vt:lpstr>inherit</vt:lpstr>
      <vt:lpstr>Tahoma</vt:lpstr>
      <vt:lpstr>Office Theme</vt:lpstr>
      <vt:lpstr>PowerPoint Presentation</vt:lpstr>
      <vt:lpstr>Objective</vt:lpstr>
      <vt:lpstr>Introduction</vt:lpstr>
      <vt:lpstr>Leadership</vt:lpstr>
      <vt:lpstr>Leadership</vt:lpstr>
      <vt:lpstr>Command Centre</vt:lpstr>
      <vt:lpstr>Field Operations</vt:lpstr>
      <vt:lpstr>Leadership</vt:lpstr>
      <vt:lpstr>Leadership</vt:lpstr>
      <vt:lpstr>Appointing Leaders</vt:lpstr>
      <vt:lpstr>Appointing leaders</vt:lpstr>
      <vt:lpstr>Appointing Leaders</vt:lpstr>
      <vt:lpstr>Management Failures</vt:lpstr>
      <vt:lpstr>Avoiding Management Failures</vt:lpstr>
      <vt:lpstr>Avoiding Management Failures</vt:lpstr>
      <vt:lpstr>Avoiding Management Failures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135</cp:revision>
  <dcterms:created xsi:type="dcterms:W3CDTF">2024-09-27T05:40:49Z</dcterms:created>
  <dcterms:modified xsi:type="dcterms:W3CDTF">2025-06-04T03:57:30Z</dcterms:modified>
</cp:coreProperties>
</file>
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267623" y="2432304"/>
            <a:ext cx="7662672" cy="12618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Lesson 3.5</a:t>
            </a:r>
            <a:br>
              <a:rPr lang="en-GB" altLang="en-US" b="1" dirty="0" smtClean="0"/>
            </a:br>
            <a:r>
              <a:rPr lang="en-US" altLang="en-US" b="1" dirty="0" smtClean="0"/>
              <a:t>Assessment of Spill Risks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188719" y="130175"/>
            <a:ext cx="974553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>
                <a:latin typeface="Arial" panose="020B0604020202020204" pitchFamily="34" charset="0"/>
              </a:rPr>
              <a:t>Objective</a:t>
            </a:r>
            <a:endParaRPr lang="en-US" altLang="en-US" b="1" dirty="0" smtClean="0"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199832" y="1412875"/>
            <a:ext cx="9745535" cy="43926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To understand oil spill risks and potential consequences.</a:t>
            </a:r>
          </a:p>
          <a:p>
            <a:pPr algn="just"/>
            <a:endParaRPr lang="fr-CA" altLang="en-US" dirty="0" smtClean="0"/>
          </a:p>
          <a:p>
            <a:pPr algn="just"/>
            <a:r>
              <a:rPr lang="en-US" altLang="en-US" dirty="0" smtClean="0"/>
              <a:t>To understand how to evaluate risks and to use results for contingency planning.</a:t>
            </a:r>
            <a:r>
              <a:rPr lang="fr-CA" altLang="en-US" dirty="0" smtClean="0"/>
              <a:t> </a:t>
            </a:r>
          </a:p>
          <a:p>
            <a:pPr algn="just"/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en-US" altLang="en-US" dirty="0" smtClean="0">
              <a:latin typeface="Arial" panose="020B0604020202020204" pitchFamily="34" charset="0"/>
            </a:endParaRPr>
          </a:p>
          <a:p>
            <a:pPr algn="just"/>
            <a:endParaRPr lang="fr-F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417320" y="49724"/>
            <a:ext cx="96469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Risks Assessment</a:t>
            </a:r>
            <a:endParaRPr lang="en-GB" altLang="en-US" b="1" dirty="0" smtClean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15568" y="1098705"/>
            <a:ext cx="96469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A proper risks assessment should be the foundation of your contingency plan.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It ensures that your contingency plan is adapted to probable spill scenarios for your area of responsibility.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Risks assessment must answer two questions:</a:t>
            </a:r>
          </a:p>
          <a:p>
            <a:pPr marL="914400" lvl="1" indent="-514350" algn="just"/>
            <a:r>
              <a:rPr lang="en-GB" altLang="en-US" dirty="0" smtClean="0"/>
              <a:t>What is the likelihood of an oil spill?</a:t>
            </a:r>
          </a:p>
          <a:p>
            <a:pPr marL="914400" lvl="1" indent="-514350" algn="just"/>
            <a:r>
              <a:rPr lang="en-GB" altLang="en-US" dirty="0" smtClean="0"/>
              <a:t>What are the potential consequences?</a:t>
            </a:r>
          </a:p>
          <a:p>
            <a:pPr marL="914400" lvl="1" indent="-514350" algn="just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965960" y="66167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 </a:t>
            </a:r>
            <a:r>
              <a:rPr lang="en-GB" altLang="en-US" b="1" dirty="0"/>
              <a:t>P</a:t>
            </a:r>
            <a:r>
              <a:rPr lang="en-GB" altLang="en-US" b="1" dirty="0" smtClean="0"/>
              <a:t>rocess</a:t>
            </a:r>
            <a:endParaRPr lang="en-US" altLang="en-US" b="1" dirty="0" smtClean="0"/>
          </a:p>
        </p:txBody>
      </p:sp>
      <p:grpSp>
        <p:nvGrpSpPr>
          <p:cNvPr id="6" name="Grouper 2"/>
          <p:cNvGrpSpPr>
            <a:grpSpLocks/>
          </p:cNvGrpSpPr>
          <p:nvPr/>
        </p:nvGrpSpPr>
        <p:grpSpPr bwMode="auto">
          <a:xfrm>
            <a:off x="2551748" y="981075"/>
            <a:ext cx="6994525" cy="5099050"/>
            <a:chOff x="1600200" y="1498600"/>
            <a:chExt cx="6994525" cy="5099050"/>
          </a:xfrm>
        </p:grpSpPr>
        <p:grpSp>
          <p:nvGrpSpPr>
            <p:cNvPr id="7" name="Group 75"/>
            <p:cNvGrpSpPr>
              <a:grpSpLocks/>
            </p:cNvGrpSpPr>
            <p:nvPr/>
          </p:nvGrpSpPr>
          <p:grpSpPr bwMode="auto">
            <a:xfrm>
              <a:off x="2320925" y="1498600"/>
              <a:ext cx="5326063" cy="595313"/>
              <a:chOff x="1045" y="944"/>
              <a:chExt cx="3355" cy="375"/>
            </a:xfrm>
          </p:grpSpPr>
          <p:sp>
            <p:nvSpPr>
              <p:cNvPr id="48" name="Freeform 42"/>
              <p:cNvSpPr>
                <a:spLocks/>
              </p:cNvSpPr>
              <p:nvPr/>
            </p:nvSpPr>
            <p:spPr bwMode="auto">
              <a:xfrm>
                <a:off x="1045" y="944"/>
                <a:ext cx="3355" cy="375"/>
              </a:xfrm>
              <a:custGeom>
                <a:avLst/>
                <a:gdLst>
                  <a:gd name="T0" fmla="*/ 0 w 393"/>
                  <a:gd name="T1" fmla="*/ 0 h 44"/>
                  <a:gd name="T2" fmla="*/ 2147483646 w 393"/>
                  <a:gd name="T3" fmla="*/ 0 h 44"/>
                  <a:gd name="T4" fmla="*/ 2147483646 w 393"/>
                  <a:gd name="T5" fmla="*/ 2147483646 h 44"/>
                  <a:gd name="T6" fmla="*/ 2147483646 w 393"/>
                  <a:gd name="T7" fmla="*/ 2147483646 h 44"/>
                  <a:gd name="T8" fmla="*/ 2147483646 w 393"/>
                  <a:gd name="T9" fmla="*/ 2147483646 h 44"/>
                  <a:gd name="T10" fmla="*/ 0 w 393"/>
                  <a:gd name="T11" fmla="*/ 2147483646 h 44"/>
                  <a:gd name="T12" fmla="*/ 0 w 393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3"/>
                  <a:gd name="T22" fmla="*/ 0 h 44"/>
                  <a:gd name="T23" fmla="*/ 393 w 393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3" h="44">
                    <a:moveTo>
                      <a:pt x="0" y="0"/>
                    </a:moveTo>
                    <a:lnTo>
                      <a:pt x="377" y="0"/>
                    </a:lnTo>
                    <a:cubicBezTo>
                      <a:pt x="385" y="0"/>
                      <a:pt x="393" y="8"/>
                      <a:pt x="393" y="17"/>
                    </a:cubicBezTo>
                    <a:lnTo>
                      <a:pt x="393" y="44"/>
                    </a:lnTo>
                    <a:lnTo>
                      <a:pt x="16" y="44"/>
                    </a:lnTo>
                    <a:cubicBezTo>
                      <a:pt x="7" y="44"/>
                      <a:pt x="0" y="37"/>
                      <a:pt x="0" y="2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7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Rectangle 47"/>
              <p:cNvSpPr>
                <a:spLocks noChangeArrowheads="1"/>
              </p:cNvSpPr>
              <p:nvPr/>
            </p:nvSpPr>
            <p:spPr bwMode="auto">
              <a:xfrm>
                <a:off x="1332" y="1011"/>
                <a:ext cx="157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Analyse hazards and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Rectangle 48"/>
              <p:cNvSpPr>
                <a:spLocks noChangeArrowheads="1"/>
              </p:cNvSpPr>
              <p:nvPr/>
            </p:nvSpPr>
            <p:spPr bwMode="auto">
              <a:xfrm>
                <a:off x="2927" y="1011"/>
                <a:ext cx="133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possible scenarios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8" name="Group 78"/>
            <p:cNvGrpSpPr>
              <a:grpSpLocks/>
            </p:cNvGrpSpPr>
            <p:nvPr/>
          </p:nvGrpSpPr>
          <p:grpSpPr bwMode="auto">
            <a:xfrm>
              <a:off x="1600200" y="2093913"/>
              <a:ext cx="3128963" cy="830262"/>
              <a:chOff x="591" y="1319"/>
              <a:chExt cx="1971" cy="523"/>
            </a:xfrm>
          </p:grpSpPr>
          <p:sp>
            <p:nvSpPr>
              <p:cNvPr id="42" name="Line 61"/>
              <p:cNvSpPr>
                <a:spLocks noChangeShapeType="1"/>
              </p:cNvSpPr>
              <p:nvPr/>
            </p:nvSpPr>
            <p:spPr bwMode="auto">
              <a:xfrm>
                <a:off x="1600" y="1319"/>
                <a:ext cx="1" cy="137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43" name="Group 76"/>
              <p:cNvGrpSpPr>
                <a:grpSpLocks/>
              </p:cNvGrpSpPr>
              <p:nvPr/>
            </p:nvGrpSpPr>
            <p:grpSpPr bwMode="auto">
              <a:xfrm>
                <a:off x="591" y="1390"/>
                <a:ext cx="1971" cy="452"/>
                <a:chOff x="576" y="1370"/>
                <a:chExt cx="1971" cy="452"/>
              </a:xfrm>
            </p:grpSpPr>
            <p:sp>
              <p:nvSpPr>
                <p:cNvPr id="44" name="Freeform 44"/>
                <p:cNvSpPr>
                  <a:spLocks/>
                </p:cNvSpPr>
                <p:nvPr/>
              </p:nvSpPr>
              <p:spPr bwMode="auto">
                <a:xfrm>
                  <a:off x="576" y="1456"/>
                  <a:ext cx="1971" cy="366"/>
                </a:xfrm>
                <a:custGeom>
                  <a:avLst/>
                  <a:gdLst>
                    <a:gd name="T0" fmla="*/ 0 w 231"/>
                    <a:gd name="T1" fmla="*/ 0 h 43"/>
                    <a:gd name="T2" fmla="*/ 2147483646 w 231"/>
                    <a:gd name="T3" fmla="*/ 0 h 43"/>
                    <a:gd name="T4" fmla="*/ 2147483646 w 231"/>
                    <a:gd name="T5" fmla="*/ 2147483646 h 43"/>
                    <a:gd name="T6" fmla="*/ 2147483646 w 231"/>
                    <a:gd name="T7" fmla="*/ 2147483646 h 43"/>
                    <a:gd name="T8" fmla="*/ 2147483646 w 231"/>
                    <a:gd name="T9" fmla="*/ 2147483646 h 43"/>
                    <a:gd name="T10" fmla="*/ 0 w 231"/>
                    <a:gd name="T11" fmla="*/ 2147483646 h 43"/>
                    <a:gd name="T12" fmla="*/ 0 w 231"/>
                    <a:gd name="T13" fmla="*/ 0 h 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1"/>
                    <a:gd name="T22" fmla="*/ 0 h 43"/>
                    <a:gd name="T23" fmla="*/ 231 w 231"/>
                    <a:gd name="T24" fmla="*/ 43 h 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1" h="43">
                      <a:moveTo>
                        <a:pt x="0" y="0"/>
                      </a:moveTo>
                      <a:lnTo>
                        <a:pt x="215" y="0"/>
                      </a:lnTo>
                      <a:cubicBezTo>
                        <a:pt x="224" y="0"/>
                        <a:pt x="231" y="7"/>
                        <a:pt x="231" y="16"/>
                      </a:cubicBezTo>
                      <a:lnTo>
                        <a:pt x="231" y="43"/>
                      </a:lnTo>
                      <a:lnTo>
                        <a:pt x="16" y="43"/>
                      </a:lnTo>
                      <a:cubicBezTo>
                        <a:pt x="8" y="43"/>
                        <a:pt x="0" y="36"/>
                        <a:pt x="0" y="2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8C37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5" name="Rectangle 49"/>
                <p:cNvSpPr>
                  <a:spLocks noChangeArrowheads="1"/>
                </p:cNvSpPr>
                <p:nvPr/>
              </p:nvSpPr>
              <p:spPr bwMode="auto">
                <a:xfrm>
                  <a:off x="845" y="1515"/>
                  <a:ext cx="621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100">
                      <a:solidFill>
                        <a:srgbClr val="24282B"/>
                      </a:solidFill>
                      <a:latin typeface="Tahoma" panose="020B0604030504040204" pitchFamily="34" charset="0"/>
                    </a:rPr>
                    <a:t>Analyse </a:t>
                  </a: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6" name="Rectangle 50"/>
                <p:cNvSpPr>
                  <a:spLocks noChangeArrowheads="1"/>
                </p:cNvSpPr>
                <p:nvPr/>
              </p:nvSpPr>
              <p:spPr bwMode="auto">
                <a:xfrm>
                  <a:off x="1586" y="1515"/>
                  <a:ext cx="700" cy="2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100">
                      <a:solidFill>
                        <a:srgbClr val="24282B"/>
                      </a:solidFill>
                      <a:latin typeface="Tahoma" panose="020B0604030504040204" pitchFamily="34" charset="0"/>
                    </a:rPr>
                    <a:t>likelihood</a:t>
                  </a: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7" name="Freeform 62"/>
                <p:cNvSpPr>
                  <a:spLocks/>
                </p:cNvSpPr>
                <p:nvPr/>
              </p:nvSpPr>
              <p:spPr bwMode="auto">
                <a:xfrm>
                  <a:off x="1549" y="1370"/>
                  <a:ext cx="94" cy="86"/>
                </a:xfrm>
                <a:custGeom>
                  <a:avLst/>
                  <a:gdLst>
                    <a:gd name="T0" fmla="*/ 51 w 94"/>
                    <a:gd name="T1" fmla="*/ 86 h 86"/>
                    <a:gd name="T2" fmla="*/ 94 w 94"/>
                    <a:gd name="T3" fmla="*/ 0 h 86"/>
                    <a:gd name="T4" fmla="*/ 0 w 94"/>
                    <a:gd name="T5" fmla="*/ 0 h 86"/>
                    <a:gd name="T6" fmla="*/ 51 w 94"/>
                    <a:gd name="T7" fmla="*/ 86 h 8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4"/>
                    <a:gd name="T13" fmla="*/ 0 h 86"/>
                    <a:gd name="T14" fmla="*/ 94 w 94"/>
                    <a:gd name="T15" fmla="*/ 86 h 8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4" h="86">
                      <a:moveTo>
                        <a:pt x="51" y="86"/>
                      </a:moveTo>
                      <a:lnTo>
                        <a:pt x="94" y="0"/>
                      </a:lnTo>
                      <a:lnTo>
                        <a:pt x="0" y="0"/>
                      </a:lnTo>
                      <a:lnTo>
                        <a:pt x="51" y="86"/>
                      </a:lnTo>
                      <a:close/>
                    </a:path>
                  </a:pathLst>
                </a:custGeom>
                <a:solidFill>
                  <a:srgbClr val="6062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9" name="Group 77"/>
            <p:cNvGrpSpPr>
              <a:grpSpLocks/>
            </p:cNvGrpSpPr>
            <p:nvPr/>
          </p:nvGrpSpPr>
          <p:grpSpPr bwMode="auto">
            <a:xfrm>
              <a:off x="5464175" y="2093913"/>
              <a:ext cx="3130550" cy="798512"/>
              <a:chOff x="3025" y="1319"/>
              <a:chExt cx="1972" cy="503"/>
            </a:xfrm>
          </p:grpSpPr>
          <p:sp>
            <p:nvSpPr>
              <p:cNvPr id="37" name="Freeform 43"/>
              <p:cNvSpPr>
                <a:spLocks/>
              </p:cNvSpPr>
              <p:nvPr/>
            </p:nvSpPr>
            <p:spPr bwMode="auto">
              <a:xfrm>
                <a:off x="3025" y="1456"/>
                <a:ext cx="1972" cy="366"/>
              </a:xfrm>
              <a:custGeom>
                <a:avLst/>
                <a:gdLst>
                  <a:gd name="T0" fmla="*/ 0 w 231"/>
                  <a:gd name="T1" fmla="*/ 0 h 43"/>
                  <a:gd name="T2" fmla="*/ 2147483646 w 231"/>
                  <a:gd name="T3" fmla="*/ 0 h 43"/>
                  <a:gd name="T4" fmla="*/ 2147483646 w 231"/>
                  <a:gd name="T5" fmla="*/ 2147483646 h 43"/>
                  <a:gd name="T6" fmla="*/ 2147483646 w 231"/>
                  <a:gd name="T7" fmla="*/ 2147483646 h 43"/>
                  <a:gd name="T8" fmla="*/ 2147483646 w 231"/>
                  <a:gd name="T9" fmla="*/ 2147483646 h 43"/>
                  <a:gd name="T10" fmla="*/ 0 w 231"/>
                  <a:gd name="T11" fmla="*/ 2147483646 h 43"/>
                  <a:gd name="T12" fmla="*/ 0 w 231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1"/>
                  <a:gd name="T22" fmla="*/ 0 h 43"/>
                  <a:gd name="T23" fmla="*/ 231 w 231"/>
                  <a:gd name="T24" fmla="*/ 43 h 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1" h="43">
                    <a:moveTo>
                      <a:pt x="0" y="0"/>
                    </a:moveTo>
                    <a:lnTo>
                      <a:pt x="215" y="0"/>
                    </a:lnTo>
                    <a:cubicBezTo>
                      <a:pt x="223" y="0"/>
                      <a:pt x="231" y="7"/>
                      <a:pt x="231" y="16"/>
                    </a:cubicBezTo>
                    <a:lnTo>
                      <a:pt x="231" y="43"/>
                    </a:lnTo>
                    <a:lnTo>
                      <a:pt x="16" y="43"/>
                    </a:lnTo>
                    <a:cubicBezTo>
                      <a:pt x="7" y="43"/>
                      <a:pt x="0" y="36"/>
                      <a:pt x="0" y="2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3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Rectangle 51"/>
              <p:cNvSpPr>
                <a:spLocks noChangeArrowheads="1"/>
              </p:cNvSpPr>
              <p:nvPr/>
            </p:nvSpPr>
            <p:spPr bwMode="auto">
              <a:xfrm>
                <a:off x="3226" y="1515"/>
                <a:ext cx="62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Analyse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Rectangle 52"/>
              <p:cNvSpPr>
                <a:spLocks noChangeArrowheads="1"/>
              </p:cNvSpPr>
              <p:nvPr/>
            </p:nvSpPr>
            <p:spPr bwMode="auto">
              <a:xfrm>
                <a:off x="3873" y="1515"/>
                <a:ext cx="103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consequences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Line 63"/>
              <p:cNvSpPr>
                <a:spLocks noChangeShapeType="1"/>
              </p:cNvSpPr>
              <p:nvPr/>
            </p:nvSpPr>
            <p:spPr bwMode="auto">
              <a:xfrm>
                <a:off x="3836" y="1319"/>
                <a:ext cx="1" cy="137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64"/>
              <p:cNvSpPr>
                <a:spLocks/>
              </p:cNvSpPr>
              <p:nvPr/>
            </p:nvSpPr>
            <p:spPr bwMode="auto">
              <a:xfrm>
                <a:off x="3794" y="1370"/>
                <a:ext cx="93" cy="86"/>
              </a:xfrm>
              <a:custGeom>
                <a:avLst/>
                <a:gdLst>
                  <a:gd name="T0" fmla="*/ 42 w 93"/>
                  <a:gd name="T1" fmla="*/ 86 h 86"/>
                  <a:gd name="T2" fmla="*/ 93 w 93"/>
                  <a:gd name="T3" fmla="*/ 0 h 86"/>
                  <a:gd name="T4" fmla="*/ 0 w 93"/>
                  <a:gd name="T5" fmla="*/ 0 h 86"/>
                  <a:gd name="T6" fmla="*/ 42 w 93"/>
                  <a:gd name="T7" fmla="*/ 86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86"/>
                  <a:gd name="T14" fmla="*/ 93 w 93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86">
                    <a:moveTo>
                      <a:pt x="42" y="86"/>
                    </a:moveTo>
                    <a:lnTo>
                      <a:pt x="93" y="0"/>
                    </a:lnTo>
                    <a:lnTo>
                      <a:pt x="0" y="0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79"/>
            <p:cNvGrpSpPr>
              <a:grpSpLocks/>
            </p:cNvGrpSpPr>
            <p:nvPr/>
          </p:nvGrpSpPr>
          <p:grpSpPr bwMode="auto">
            <a:xfrm>
              <a:off x="2320925" y="2921000"/>
              <a:ext cx="5326063" cy="825500"/>
              <a:chOff x="1045" y="1840"/>
              <a:chExt cx="3355" cy="520"/>
            </a:xfrm>
          </p:grpSpPr>
          <p:sp>
            <p:nvSpPr>
              <p:cNvPr id="31" name="Freeform 41"/>
              <p:cNvSpPr>
                <a:spLocks/>
              </p:cNvSpPr>
              <p:nvPr/>
            </p:nvSpPr>
            <p:spPr bwMode="auto">
              <a:xfrm>
                <a:off x="1045" y="1993"/>
                <a:ext cx="3355" cy="367"/>
              </a:xfrm>
              <a:custGeom>
                <a:avLst/>
                <a:gdLst>
                  <a:gd name="T0" fmla="*/ 0 w 393"/>
                  <a:gd name="T1" fmla="*/ 0 h 43"/>
                  <a:gd name="T2" fmla="*/ 2147483646 w 393"/>
                  <a:gd name="T3" fmla="*/ 0 h 43"/>
                  <a:gd name="T4" fmla="*/ 2147483646 w 393"/>
                  <a:gd name="T5" fmla="*/ 2147483646 h 43"/>
                  <a:gd name="T6" fmla="*/ 2147483646 w 393"/>
                  <a:gd name="T7" fmla="*/ 2147483646 h 43"/>
                  <a:gd name="T8" fmla="*/ 2147483646 w 393"/>
                  <a:gd name="T9" fmla="*/ 2147483646 h 43"/>
                  <a:gd name="T10" fmla="*/ 0 w 393"/>
                  <a:gd name="T11" fmla="*/ 2147483646 h 43"/>
                  <a:gd name="T12" fmla="*/ 0 w 393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3"/>
                  <a:gd name="T22" fmla="*/ 0 h 43"/>
                  <a:gd name="T23" fmla="*/ 393 w 393"/>
                  <a:gd name="T24" fmla="*/ 43 h 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3" h="43">
                    <a:moveTo>
                      <a:pt x="0" y="0"/>
                    </a:moveTo>
                    <a:lnTo>
                      <a:pt x="377" y="0"/>
                    </a:lnTo>
                    <a:cubicBezTo>
                      <a:pt x="385" y="0"/>
                      <a:pt x="393" y="7"/>
                      <a:pt x="393" y="16"/>
                    </a:cubicBezTo>
                    <a:lnTo>
                      <a:pt x="393" y="43"/>
                    </a:lnTo>
                    <a:lnTo>
                      <a:pt x="16" y="43"/>
                    </a:lnTo>
                    <a:cubicBezTo>
                      <a:pt x="7" y="43"/>
                      <a:pt x="0" y="36"/>
                      <a:pt x="0" y="2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C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Rectangle 53"/>
              <p:cNvSpPr>
                <a:spLocks noChangeArrowheads="1"/>
              </p:cNvSpPr>
              <p:nvPr/>
            </p:nvSpPr>
            <p:spPr bwMode="auto">
              <a:xfrm>
                <a:off x="2034" y="2070"/>
                <a:ext cx="1529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Characterize the risk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Line 65"/>
              <p:cNvSpPr>
                <a:spLocks noChangeShapeType="1"/>
              </p:cNvSpPr>
              <p:nvPr/>
            </p:nvSpPr>
            <p:spPr bwMode="auto">
              <a:xfrm>
                <a:off x="1600" y="1840"/>
                <a:ext cx="1" cy="136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66"/>
              <p:cNvSpPr>
                <a:spLocks/>
              </p:cNvSpPr>
              <p:nvPr/>
            </p:nvSpPr>
            <p:spPr bwMode="auto">
              <a:xfrm>
                <a:off x="1549" y="1894"/>
                <a:ext cx="94" cy="85"/>
              </a:xfrm>
              <a:custGeom>
                <a:avLst/>
                <a:gdLst>
                  <a:gd name="T0" fmla="*/ 51 w 94"/>
                  <a:gd name="T1" fmla="*/ 85 h 85"/>
                  <a:gd name="T2" fmla="*/ 94 w 94"/>
                  <a:gd name="T3" fmla="*/ 0 h 85"/>
                  <a:gd name="T4" fmla="*/ 0 w 94"/>
                  <a:gd name="T5" fmla="*/ 0 h 85"/>
                  <a:gd name="T6" fmla="*/ 51 w 94"/>
                  <a:gd name="T7" fmla="*/ 85 h 8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4"/>
                  <a:gd name="T13" fmla="*/ 0 h 85"/>
                  <a:gd name="T14" fmla="*/ 94 w 94"/>
                  <a:gd name="T15" fmla="*/ 85 h 8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4" h="85">
                    <a:moveTo>
                      <a:pt x="51" y="85"/>
                    </a:moveTo>
                    <a:lnTo>
                      <a:pt x="94" y="0"/>
                    </a:lnTo>
                    <a:lnTo>
                      <a:pt x="0" y="0"/>
                    </a:lnTo>
                    <a:lnTo>
                      <a:pt x="51" y="85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Line 67"/>
              <p:cNvSpPr>
                <a:spLocks noChangeShapeType="1"/>
              </p:cNvSpPr>
              <p:nvPr/>
            </p:nvSpPr>
            <p:spPr bwMode="auto">
              <a:xfrm>
                <a:off x="3836" y="1840"/>
                <a:ext cx="1" cy="136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68"/>
              <p:cNvSpPr>
                <a:spLocks/>
              </p:cNvSpPr>
              <p:nvPr/>
            </p:nvSpPr>
            <p:spPr bwMode="auto">
              <a:xfrm>
                <a:off x="3794" y="1891"/>
                <a:ext cx="93" cy="85"/>
              </a:xfrm>
              <a:custGeom>
                <a:avLst/>
                <a:gdLst>
                  <a:gd name="T0" fmla="*/ 42 w 93"/>
                  <a:gd name="T1" fmla="*/ 85 h 85"/>
                  <a:gd name="T2" fmla="*/ 93 w 93"/>
                  <a:gd name="T3" fmla="*/ 0 h 85"/>
                  <a:gd name="T4" fmla="*/ 0 w 93"/>
                  <a:gd name="T5" fmla="*/ 0 h 85"/>
                  <a:gd name="T6" fmla="*/ 42 w 93"/>
                  <a:gd name="T7" fmla="*/ 85 h 8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85"/>
                  <a:gd name="T14" fmla="*/ 93 w 93"/>
                  <a:gd name="T15" fmla="*/ 85 h 8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85">
                    <a:moveTo>
                      <a:pt x="42" y="85"/>
                    </a:moveTo>
                    <a:lnTo>
                      <a:pt x="93" y="0"/>
                    </a:lnTo>
                    <a:lnTo>
                      <a:pt x="0" y="0"/>
                    </a:lnTo>
                    <a:lnTo>
                      <a:pt x="42" y="85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80"/>
            <p:cNvGrpSpPr>
              <a:grpSpLocks/>
            </p:cNvGrpSpPr>
            <p:nvPr/>
          </p:nvGrpSpPr>
          <p:grpSpPr bwMode="auto">
            <a:xfrm>
              <a:off x="3378200" y="3760788"/>
              <a:ext cx="3319463" cy="1165225"/>
              <a:chOff x="1711" y="2369"/>
              <a:chExt cx="2091" cy="734"/>
            </a:xfrm>
          </p:grpSpPr>
          <p:sp>
            <p:nvSpPr>
              <p:cNvPr id="26" name="Freeform 40"/>
              <p:cNvSpPr>
                <a:spLocks/>
              </p:cNvSpPr>
              <p:nvPr/>
            </p:nvSpPr>
            <p:spPr bwMode="auto">
              <a:xfrm>
                <a:off x="1711" y="2531"/>
                <a:ext cx="2091" cy="572"/>
              </a:xfrm>
              <a:custGeom>
                <a:avLst/>
                <a:gdLst>
                  <a:gd name="T0" fmla="*/ 0 w 245"/>
                  <a:gd name="T1" fmla="*/ 0 h 67"/>
                  <a:gd name="T2" fmla="*/ 2147483646 w 245"/>
                  <a:gd name="T3" fmla="*/ 0 h 67"/>
                  <a:gd name="T4" fmla="*/ 2147483646 w 245"/>
                  <a:gd name="T5" fmla="*/ 2147483646 h 67"/>
                  <a:gd name="T6" fmla="*/ 2147483646 w 245"/>
                  <a:gd name="T7" fmla="*/ 2147483646 h 67"/>
                  <a:gd name="T8" fmla="*/ 2147483646 w 245"/>
                  <a:gd name="T9" fmla="*/ 2147483646 h 67"/>
                  <a:gd name="T10" fmla="*/ 0 w 245"/>
                  <a:gd name="T11" fmla="*/ 2147483646 h 67"/>
                  <a:gd name="T12" fmla="*/ 0 w 245"/>
                  <a:gd name="T13" fmla="*/ 0 h 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5"/>
                  <a:gd name="T22" fmla="*/ 0 h 67"/>
                  <a:gd name="T23" fmla="*/ 245 w 245"/>
                  <a:gd name="T24" fmla="*/ 67 h 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5" h="67">
                    <a:moveTo>
                      <a:pt x="0" y="0"/>
                    </a:moveTo>
                    <a:lnTo>
                      <a:pt x="229" y="0"/>
                    </a:lnTo>
                    <a:cubicBezTo>
                      <a:pt x="238" y="0"/>
                      <a:pt x="245" y="7"/>
                      <a:pt x="245" y="16"/>
                    </a:cubicBezTo>
                    <a:lnTo>
                      <a:pt x="245" y="67"/>
                    </a:lnTo>
                    <a:lnTo>
                      <a:pt x="16" y="67"/>
                    </a:lnTo>
                    <a:cubicBezTo>
                      <a:pt x="8" y="67"/>
                      <a:pt x="0" y="59"/>
                      <a:pt x="0" y="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7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Rectangle 45"/>
              <p:cNvSpPr>
                <a:spLocks noChangeArrowheads="1"/>
              </p:cNvSpPr>
              <p:nvPr/>
            </p:nvSpPr>
            <p:spPr bwMode="auto">
              <a:xfrm>
                <a:off x="2135" y="2693"/>
                <a:ext cx="35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Risk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" name="Rectangle 46"/>
              <p:cNvSpPr>
                <a:spLocks noChangeArrowheads="1"/>
              </p:cNvSpPr>
              <p:nvPr/>
            </p:nvSpPr>
            <p:spPr bwMode="auto">
              <a:xfrm>
                <a:off x="2514" y="2693"/>
                <a:ext cx="97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management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9" name="Line 69"/>
              <p:cNvSpPr>
                <a:spLocks noChangeShapeType="1"/>
              </p:cNvSpPr>
              <p:nvPr/>
            </p:nvSpPr>
            <p:spPr bwMode="auto">
              <a:xfrm>
                <a:off x="2752" y="2369"/>
                <a:ext cx="1" cy="162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70"/>
              <p:cNvSpPr>
                <a:spLocks/>
              </p:cNvSpPr>
              <p:nvPr/>
            </p:nvSpPr>
            <p:spPr bwMode="auto">
              <a:xfrm>
                <a:off x="2710" y="2445"/>
                <a:ext cx="85" cy="86"/>
              </a:xfrm>
              <a:custGeom>
                <a:avLst/>
                <a:gdLst>
                  <a:gd name="T0" fmla="*/ 42 w 85"/>
                  <a:gd name="T1" fmla="*/ 86 h 86"/>
                  <a:gd name="T2" fmla="*/ 85 w 85"/>
                  <a:gd name="T3" fmla="*/ 0 h 86"/>
                  <a:gd name="T4" fmla="*/ 0 w 85"/>
                  <a:gd name="T5" fmla="*/ 0 h 86"/>
                  <a:gd name="T6" fmla="*/ 42 w 85"/>
                  <a:gd name="T7" fmla="*/ 86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5"/>
                  <a:gd name="T13" fmla="*/ 0 h 86"/>
                  <a:gd name="T14" fmla="*/ 85 w 85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5" h="86">
                    <a:moveTo>
                      <a:pt x="42" y="86"/>
                    </a:moveTo>
                    <a:lnTo>
                      <a:pt x="85" y="0"/>
                    </a:lnTo>
                    <a:lnTo>
                      <a:pt x="0" y="0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2" name="Group 81"/>
            <p:cNvGrpSpPr>
              <a:grpSpLocks/>
            </p:cNvGrpSpPr>
            <p:nvPr/>
          </p:nvGrpSpPr>
          <p:grpSpPr bwMode="auto">
            <a:xfrm>
              <a:off x="1920875" y="4911725"/>
              <a:ext cx="2166938" cy="1679575"/>
              <a:chOff x="793" y="3094"/>
              <a:chExt cx="1365" cy="1058"/>
            </a:xfrm>
          </p:grpSpPr>
          <p:sp>
            <p:nvSpPr>
              <p:cNvPr id="20" name="Freeform 57"/>
              <p:cNvSpPr>
                <a:spLocks/>
              </p:cNvSpPr>
              <p:nvPr/>
            </p:nvSpPr>
            <p:spPr bwMode="auto">
              <a:xfrm>
                <a:off x="793" y="3282"/>
                <a:ext cx="1365" cy="870"/>
              </a:xfrm>
              <a:custGeom>
                <a:avLst/>
                <a:gdLst>
                  <a:gd name="T0" fmla="*/ 2147483646 w 160"/>
                  <a:gd name="T1" fmla="*/ 0 h 102"/>
                  <a:gd name="T2" fmla="*/ 2147483646 w 160"/>
                  <a:gd name="T3" fmla="*/ 0 h 102"/>
                  <a:gd name="T4" fmla="*/ 2147483646 w 160"/>
                  <a:gd name="T5" fmla="*/ 2147483646 h 102"/>
                  <a:gd name="T6" fmla="*/ 2147483646 w 160"/>
                  <a:gd name="T7" fmla="*/ 2147483646 h 102"/>
                  <a:gd name="T8" fmla="*/ 2147483646 w 160"/>
                  <a:gd name="T9" fmla="*/ 2147483646 h 102"/>
                  <a:gd name="T10" fmla="*/ 2147483646 w 160"/>
                  <a:gd name="T11" fmla="*/ 2147483646 h 102"/>
                  <a:gd name="T12" fmla="*/ 0 w 160"/>
                  <a:gd name="T13" fmla="*/ 2147483646 h 102"/>
                  <a:gd name="T14" fmla="*/ 0 w 160"/>
                  <a:gd name="T15" fmla="*/ 2147483646 h 102"/>
                  <a:gd name="T16" fmla="*/ 2147483646 w 160"/>
                  <a:gd name="T17" fmla="*/ 0 h 1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0"/>
                  <a:gd name="T28" fmla="*/ 0 h 102"/>
                  <a:gd name="T29" fmla="*/ 160 w 160"/>
                  <a:gd name="T30" fmla="*/ 102 h 1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0" h="102">
                    <a:moveTo>
                      <a:pt x="8" y="0"/>
                    </a:moveTo>
                    <a:lnTo>
                      <a:pt x="153" y="0"/>
                    </a:lnTo>
                    <a:cubicBezTo>
                      <a:pt x="157" y="0"/>
                      <a:pt x="160" y="4"/>
                      <a:pt x="160" y="8"/>
                    </a:cubicBezTo>
                    <a:lnTo>
                      <a:pt x="160" y="94"/>
                    </a:lnTo>
                    <a:cubicBezTo>
                      <a:pt x="160" y="98"/>
                      <a:pt x="157" y="102"/>
                      <a:pt x="153" y="102"/>
                    </a:cubicBezTo>
                    <a:lnTo>
                      <a:pt x="8" y="102"/>
                    </a:lnTo>
                    <a:cubicBezTo>
                      <a:pt x="4" y="102"/>
                      <a:pt x="0" y="98"/>
                      <a:pt x="0" y="94"/>
                    </a:cubicBezTo>
                    <a:lnTo>
                      <a:pt x="0" y="8"/>
                    </a:ln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009E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>
                <a:off x="1035" y="3384"/>
                <a:ext cx="92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Options to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Rectangle 59"/>
              <p:cNvSpPr>
                <a:spLocks noChangeArrowheads="1"/>
              </p:cNvSpPr>
              <p:nvPr/>
            </p:nvSpPr>
            <p:spPr bwMode="auto">
              <a:xfrm>
                <a:off x="1163" y="3597"/>
                <a:ext cx="62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reduce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3" name="Rectangle 60"/>
              <p:cNvSpPr>
                <a:spLocks noChangeArrowheads="1"/>
              </p:cNvSpPr>
              <p:nvPr/>
            </p:nvSpPr>
            <p:spPr bwMode="auto">
              <a:xfrm>
                <a:off x="1035" y="3802"/>
                <a:ext cx="91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probability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Line 71"/>
              <p:cNvSpPr>
                <a:spLocks noChangeShapeType="1"/>
              </p:cNvSpPr>
              <p:nvPr/>
            </p:nvSpPr>
            <p:spPr bwMode="auto">
              <a:xfrm>
                <a:off x="1941" y="3094"/>
                <a:ext cx="1" cy="171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72"/>
              <p:cNvSpPr>
                <a:spLocks/>
              </p:cNvSpPr>
              <p:nvPr/>
            </p:nvSpPr>
            <p:spPr bwMode="auto">
              <a:xfrm>
                <a:off x="1890" y="3171"/>
                <a:ext cx="94" cy="94"/>
              </a:xfrm>
              <a:custGeom>
                <a:avLst/>
                <a:gdLst>
                  <a:gd name="T0" fmla="*/ 51 w 94"/>
                  <a:gd name="T1" fmla="*/ 94 h 94"/>
                  <a:gd name="T2" fmla="*/ 94 w 94"/>
                  <a:gd name="T3" fmla="*/ 0 h 94"/>
                  <a:gd name="T4" fmla="*/ 0 w 94"/>
                  <a:gd name="T5" fmla="*/ 0 h 94"/>
                  <a:gd name="T6" fmla="*/ 51 w 94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4"/>
                  <a:gd name="T13" fmla="*/ 0 h 94"/>
                  <a:gd name="T14" fmla="*/ 94 w 94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4" h="94">
                    <a:moveTo>
                      <a:pt x="51" y="94"/>
                    </a:moveTo>
                    <a:lnTo>
                      <a:pt x="94" y="0"/>
                    </a:lnTo>
                    <a:lnTo>
                      <a:pt x="0" y="0"/>
                    </a:lnTo>
                    <a:lnTo>
                      <a:pt x="51" y="94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" name="Group 82"/>
            <p:cNvGrpSpPr>
              <a:grpSpLocks/>
            </p:cNvGrpSpPr>
            <p:nvPr/>
          </p:nvGrpSpPr>
          <p:grpSpPr bwMode="auto">
            <a:xfrm>
              <a:off x="6242050" y="4918075"/>
              <a:ext cx="2154238" cy="1679575"/>
              <a:chOff x="3515" y="3094"/>
              <a:chExt cx="1357" cy="1058"/>
            </a:xfrm>
          </p:grpSpPr>
          <p:sp>
            <p:nvSpPr>
              <p:cNvPr id="14" name="Freeform 39"/>
              <p:cNvSpPr>
                <a:spLocks/>
              </p:cNvSpPr>
              <p:nvPr/>
            </p:nvSpPr>
            <p:spPr bwMode="auto">
              <a:xfrm>
                <a:off x="3515" y="3282"/>
                <a:ext cx="1357" cy="870"/>
              </a:xfrm>
              <a:custGeom>
                <a:avLst/>
                <a:gdLst>
                  <a:gd name="T0" fmla="*/ 2147483646 w 159"/>
                  <a:gd name="T1" fmla="*/ 0 h 102"/>
                  <a:gd name="T2" fmla="*/ 2147483646 w 159"/>
                  <a:gd name="T3" fmla="*/ 0 h 102"/>
                  <a:gd name="T4" fmla="*/ 2147483646 w 159"/>
                  <a:gd name="T5" fmla="*/ 2147483646 h 102"/>
                  <a:gd name="T6" fmla="*/ 2147483646 w 159"/>
                  <a:gd name="T7" fmla="*/ 2147483646 h 102"/>
                  <a:gd name="T8" fmla="*/ 2147483646 w 159"/>
                  <a:gd name="T9" fmla="*/ 2147483646 h 102"/>
                  <a:gd name="T10" fmla="*/ 2147483646 w 159"/>
                  <a:gd name="T11" fmla="*/ 2147483646 h 102"/>
                  <a:gd name="T12" fmla="*/ 0 w 159"/>
                  <a:gd name="T13" fmla="*/ 2147483646 h 102"/>
                  <a:gd name="T14" fmla="*/ 0 w 159"/>
                  <a:gd name="T15" fmla="*/ 2147483646 h 102"/>
                  <a:gd name="T16" fmla="*/ 2147483646 w 159"/>
                  <a:gd name="T17" fmla="*/ 0 h 1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9"/>
                  <a:gd name="T28" fmla="*/ 0 h 102"/>
                  <a:gd name="T29" fmla="*/ 159 w 159"/>
                  <a:gd name="T30" fmla="*/ 102 h 1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9" h="102">
                    <a:moveTo>
                      <a:pt x="7" y="0"/>
                    </a:moveTo>
                    <a:lnTo>
                      <a:pt x="152" y="0"/>
                    </a:lnTo>
                    <a:cubicBezTo>
                      <a:pt x="156" y="0"/>
                      <a:pt x="159" y="4"/>
                      <a:pt x="159" y="8"/>
                    </a:cubicBezTo>
                    <a:lnTo>
                      <a:pt x="159" y="94"/>
                    </a:lnTo>
                    <a:cubicBezTo>
                      <a:pt x="159" y="98"/>
                      <a:pt x="156" y="102"/>
                      <a:pt x="152" y="102"/>
                    </a:cubicBezTo>
                    <a:lnTo>
                      <a:pt x="7" y="102"/>
                    </a:lnTo>
                    <a:cubicBezTo>
                      <a:pt x="3" y="102"/>
                      <a:pt x="0" y="98"/>
                      <a:pt x="0" y="94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009E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Rectangle 54"/>
              <p:cNvSpPr>
                <a:spLocks noChangeArrowheads="1"/>
              </p:cNvSpPr>
              <p:nvPr/>
            </p:nvSpPr>
            <p:spPr bwMode="auto">
              <a:xfrm>
                <a:off x="3868" y="3597"/>
                <a:ext cx="62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reduce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" name="Rectangle 55"/>
              <p:cNvSpPr>
                <a:spLocks noChangeArrowheads="1"/>
              </p:cNvSpPr>
              <p:nvPr/>
            </p:nvSpPr>
            <p:spPr bwMode="auto">
              <a:xfrm>
                <a:off x="3610" y="3802"/>
                <a:ext cx="11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consequences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7" name="Rectangle 56"/>
              <p:cNvSpPr>
                <a:spLocks noChangeArrowheads="1"/>
              </p:cNvSpPr>
              <p:nvPr/>
            </p:nvSpPr>
            <p:spPr bwMode="auto">
              <a:xfrm>
                <a:off x="3739" y="3384"/>
                <a:ext cx="92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Options to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Line 73"/>
              <p:cNvSpPr>
                <a:spLocks noChangeShapeType="1"/>
              </p:cNvSpPr>
              <p:nvPr/>
            </p:nvSpPr>
            <p:spPr bwMode="auto">
              <a:xfrm>
                <a:off x="3691" y="3094"/>
                <a:ext cx="1" cy="171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74"/>
              <p:cNvSpPr>
                <a:spLocks/>
              </p:cNvSpPr>
              <p:nvPr/>
            </p:nvSpPr>
            <p:spPr bwMode="auto">
              <a:xfrm>
                <a:off x="3648" y="3171"/>
                <a:ext cx="86" cy="94"/>
              </a:xfrm>
              <a:custGeom>
                <a:avLst/>
                <a:gdLst>
                  <a:gd name="T0" fmla="*/ 43 w 86"/>
                  <a:gd name="T1" fmla="*/ 94 h 94"/>
                  <a:gd name="T2" fmla="*/ 86 w 86"/>
                  <a:gd name="T3" fmla="*/ 0 h 94"/>
                  <a:gd name="T4" fmla="*/ 0 w 86"/>
                  <a:gd name="T5" fmla="*/ 0 h 94"/>
                  <a:gd name="T6" fmla="*/ 43 w 86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94"/>
                  <a:gd name="T14" fmla="*/ 86 w 86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94">
                    <a:moveTo>
                      <a:pt x="43" y="94"/>
                    </a:moveTo>
                    <a:lnTo>
                      <a:pt x="86" y="0"/>
                    </a:lnTo>
                    <a:lnTo>
                      <a:pt x="0" y="0"/>
                    </a:ln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600200" y="130175"/>
            <a:ext cx="91988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Risks Assessment Process</a:t>
            </a:r>
            <a:endParaRPr lang="en-GB" altLang="en-US" b="1" dirty="0" smtClean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325880" y="1246378"/>
            <a:ext cx="91988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GB" altLang="en-US" dirty="0" smtClean="0"/>
              <a:t>What are the hazards?</a:t>
            </a:r>
          </a:p>
          <a:p>
            <a:pPr marL="914400" lvl="1" indent="-514350"/>
            <a:r>
              <a:rPr lang="en-GB" altLang="en-US" dirty="0" smtClean="0"/>
              <a:t>Identify potential source</a:t>
            </a:r>
          </a:p>
          <a:p>
            <a:pPr marL="1314450" lvl="2" indent="-419100">
              <a:buFont typeface="Wingdings" panose="05000000000000000000" pitchFamily="2" charset="2"/>
              <a:buChar char="Ø"/>
            </a:pPr>
            <a:r>
              <a:rPr lang="en-GB" altLang="en-US" dirty="0" smtClean="0"/>
              <a:t>Many potential sources</a:t>
            </a:r>
          </a:p>
          <a:p>
            <a:pPr marL="1314450" lvl="2" indent="-419100">
              <a:buFont typeface="Wingdings" panose="05000000000000000000" pitchFamily="2" charset="2"/>
              <a:buChar char="Ø"/>
            </a:pPr>
            <a:r>
              <a:rPr lang="en-GB" altLang="en-US" dirty="0" smtClean="0"/>
              <a:t>Vessels</a:t>
            </a:r>
          </a:p>
          <a:p>
            <a:pPr marL="1771650" lvl="3" indent="-514350"/>
            <a:r>
              <a:rPr lang="en-GB" altLang="en-US" dirty="0" smtClean="0"/>
              <a:t>Tankers (size)</a:t>
            </a:r>
          </a:p>
          <a:p>
            <a:pPr marL="1771650" lvl="3" indent="-514350"/>
            <a:r>
              <a:rPr lang="en-GB" altLang="en-US" dirty="0" smtClean="0"/>
              <a:t>Non-tankers (cargo, </a:t>
            </a:r>
            <a:r>
              <a:rPr lang="en-GB" altLang="en-US" dirty="0" err="1" smtClean="0"/>
              <a:t>RoRo</a:t>
            </a:r>
            <a:r>
              <a:rPr lang="en-GB" altLang="en-US" dirty="0" smtClean="0"/>
              <a:t>, fishing, etc.)</a:t>
            </a:r>
          </a:p>
          <a:p>
            <a:pPr marL="1771650" lvl="3" indent="-514350"/>
            <a:r>
              <a:rPr lang="en-GB" altLang="en-US" dirty="0" smtClean="0"/>
              <a:t>Offshore traffic</a:t>
            </a:r>
          </a:p>
          <a:p>
            <a:pPr marL="1314450" lvl="2" indent="-419100">
              <a:buFont typeface="Wingdings" panose="05000000000000000000" pitchFamily="2" charset="2"/>
              <a:buChar char="Ø"/>
            </a:pPr>
            <a:r>
              <a:rPr lang="en-GB" altLang="en-US" dirty="0" smtClean="0"/>
              <a:t>Oil handling facilities</a:t>
            </a:r>
          </a:p>
          <a:p>
            <a:pPr marL="1771650" lvl="3" indent="-514350"/>
            <a:r>
              <a:rPr lang="en-GB" altLang="en-US" dirty="0" smtClean="0"/>
              <a:t>Oil terminal</a:t>
            </a:r>
          </a:p>
          <a:p>
            <a:pPr marL="1314450" lvl="2" indent="-419100">
              <a:buFont typeface="Wingdings" panose="05000000000000000000" pitchFamily="2" charset="2"/>
              <a:buChar char="Ø"/>
            </a:pPr>
            <a:r>
              <a:rPr lang="en-GB" altLang="en-US" dirty="0" smtClean="0"/>
              <a:t>Offshore facilities</a:t>
            </a:r>
          </a:p>
          <a:p>
            <a:pPr marL="1771650" lvl="3" indent="-514350"/>
            <a:r>
              <a:rPr lang="en-GB" altLang="en-US" dirty="0" smtClean="0"/>
              <a:t>Floating Production Storage and Offloading Unit (FPSO)</a:t>
            </a:r>
          </a:p>
          <a:p>
            <a:pPr marL="1771650" lvl="3" indent="-514350"/>
            <a:r>
              <a:rPr lang="en-GB" altLang="en-US" dirty="0" smtClean="0"/>
              <a:t>Platforms</a:t>
            </a:r>
          </a:p>
          <a:p>
            <a:pPr marL="1314450" lvl="2" indent="-514350"/>
            <a:endParaRPr lang="en-GB" altLang="en-US" dirty="0" smtClean="0"/>
          </a:p>
          <a:p>
            <a:pPr marL="1314450" lvl="2" indent="-514350"/>
            <a:endParaRPr lang="en-GB" altLang="en-US" dirty="0" smtClean="0"/>
          </a:p>
          <a:p>
            <a:pPr marL="914400" lvl="1" indent="-514350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Image 2" descr="platfor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642" y="1196975"/>
            <a:ext cx="3074988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re 1"/>
          <p:cNvSpPr txBox="1">
            <a:spLocks/>
          </p:cNvSpPr>
          <p:nvPr/>
        </p:nvSpPr>
        <p:spPr>
          <a:xfrm>
            <a:off x="1993392" y="57023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b="1" dirty="0" err="1" smtClean="0"/>
              <a:t>Risk</a:t>
            </a:r>
            <a:r>
              <a:rPr lang="fr-FR" altLang="en-US" b="1" dirty="0" smtClean="0"/>
              <a:t> </a:t>
            </a:r>
            <a:r>
              <a:rPr lang="fr-FR" altLang="en-US" b="1" dirty="0" err="1" smtClean="0"/>
              <a:t>Assessment</a:t>
            </a:r>
            <a:endParaRPr lang="fr-FR" altLang="en-US" b="1" dirty="0" smtClean="0"/>
          </a:p>
        </p:txBody>
      </p:sp>
      <p:pic>
        <p:nvPicPr>
          <p:cNvPr id="7" name="Espace réservé du contenu 1" descr="Braer tanker wre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" b="339"/>
          <a:stretch>
            <a:fillRect/>
          </a:stretch>
        </p:blipFill>
        <p:spPr>
          <a:xfrm>
            <a:off x="5963730" y="2492375"/>
            <a:ext cx="3898900" cy="247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89888" y="57023"/>
            <a:ext cx="96286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088314" y="1012567"/>
            <a:ext cx="1000353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Calibri" panose="020F0502020204030204" pitchFamily="34" charset="0"/>
              <a:buAutoNum type="arabicPeriod" startAt="2"/>
            </a:pPr>
            <a:r>
              <a:rPr lang="en-GB" altLang="en-US" dirty="0" smtClean="0"/>
              <a:t>What is the likelihood of an oil spill?</a:t>
            </a:r>
          </a:p>
          <a:p>
            <a:pPr marL="914400" lvl="1" indent="-514350">
              <a:lnSpc>
                <a:spcPct val="150000"/>
              </a:lnSpc>
            </a:pPr>
            <a:r>
              <a:rPr lang="en-GB" altLang="en-US" dirty="0" smtClean="0"/>
              <a:t>Find vessel traffic data</a:t>
            </a:r>
          </a:p>
          <a:p>
            <a:pPr marL="1314450" lvl="2" indent="-4191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AIS data</a:t>
            </a:r>
          </a:p>
          <a:p>
            <a:pPr marL="1314450" lvl="2" indent="-4191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Major Ports</a:t>
            </a:r>
          </a:p>
          <a:p>
            <a:pPr marL="1314450" lvl="2" indent="-4191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Will show areas with high traffic density</a:t>
            </a:r>
          </a:p>
          <a:p>
            <a:pPr marL="914400" lvl="1" indent="-514350">
              <a:lnSpc>
                <a:spcPct val="150000"/>
              </a:lnSpc>
            </a:pPr>
            <a:r>
              <a:rPr lang="en-GB" altLang="en-US" dirty="0" smtClean="0"/>
              <a:t>Identify incident types and frequencies</a:t>
            </a:r>
          </a:p>
          <a:p>
            <a:pPr marL="1314450" lvl="2" indent="-4191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Grounding, collision, refuelling operations, etc.</a:t>
            </a:r>
          </a:p>
          <a:p>
            <a:pPr marL="1314450" lvl="2" indent="-4191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Historical incident data in your area and internationally</a:t>
            </a:r>
          </a:p>
          <a:p>
            <a:pPr marL="1314450" lvl="2" indent="-4191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altLang="en-US" dirty="0" smtClean="0"/>
          </a:p>
          <a:p>
            <a:pPr marL="1314450" lvl="2" indent="-514350">
              <a:lnSpc>
                <a:spcPct val="150000"/>
              </a:lnSpc>
            </a:pPr>
            <a:endParaRPr lang="en-GB" altLang="en-US" dirty="0" smtClean="0"/>
          </a:p>
          <a:p>
            <a:pPr marL="914400" lvl="1" indent="-514350">
              <a:lnSpc>
                <a:spcPct val="150000"/>
              </a:lnSpc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060704" y="130175"/>
            <a:ext cx="98846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060704" y="1160187"/>
            <a:ext cx="98846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3"/>
              <a:defRPr/>
            </a:pPr>
            <a:r>
              <a:rPr lang="en-GB" dirty="0" smtClean="0">
                <a:ea typeface="ＭＳ Ｐゴシック" charset="0"/>
              </a:rPr>
              <a:t>What is the likelihood of an oil spill?</a:t>
            </a:r>
          </a:p>
          <a:p>
            <a:pPr marL="804863" lvl="1" indent="-265113">
              <a:lnSpc>
                <a:spcPct val="100000"/>
              </a:lnSpc>
              <a:defRPr/>
            </a:pPr>
            <a:r>
              <a:rPr lang="en-GB" dirty="0" smtClean="0">
                <a:ea typeface="ＭＳ Ｐゴシック" charset="0"/>
              </a:rPr>
              <a:t>Vessel traffic data and incident frequencies will help to identify probabilities for accidents and spills</a:t>
            </a:r>
          </a:p>
          <a:p>
            <a:pPr lvl="2" indent="-338138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Navigational incidents frequency</a:t>
            </a:r>
          </a:p>
          <a:p>
            <a:pPr lvl="2" indent="-338138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Cargo spill frequency</a:t>
            </a:r>
          </a:p>
          <a:p>
            <a:pPr lvl="1">
              <a:lnSpc>
                <a:spcPct val="150000"/>
              </a:lnSpc>
              <a:buFont typeface="Arial" charset="0"/>
              <a:buChar char="–"/>
              <a:defRPr/>
            </a:pPr>
            <a:endParaRPr lang="en-GB" dirty="0" smtClean="0">
              <a:ea typeface="ＭＳ Ｐゴシック" charset="0"/>
            </a:endParaRPr>
          </a:p>
          <a:p>
            <a:pPr lvl="1">
              <a:lnSpc>
                <a:spcPct val="150000"/>
              </a:lnSpc>
              <a:buFont typeface="Arial" charset="0"/>
              <a:buChar char="–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sz="4000" dirty="0" smtClean="0">
              <a:solidFill>
                <a:srgbClr val="FF0000"/>
              </a:solidFill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914400" lvl="1" indent="-514350">
              <a:lnSpc>
                <a:spcPct val="150000"/>
              </a:lnSpc>
              <a:buFont typeface="Arial" charset="0"/>
              <a:buChar char="–"/>
              <a:defRPr/>
            </a:pP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25880" y="38735"/>
            <a:ext cx="96834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051560" y="994279"/>
            <a:ext cx="101041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  <a:defRPr/>
            </a:pPr>
            <a:r>
              <a:rPr lang="en-GB" dirty="0" smtClean="0">
                <a:ea typeface="ＭＳ Ｐゴシック" charset="0"/>
              </a:rPr>
              <a:t>What is the likelihood of an oil spill?</a:t>
            </a:r>
          </a:p>
          <a:p>
            <a:pPr marL="1314450" lvl="2" indent="-514350">
              <a:buFont typeface="+mj-lt"/>
              <a:buAutoNum type="arabicPeriod" startAt="4"/>
              <a:defRPr/>
            </a:pPr>
            <a:endParaRPr lang="en-GB" dirty="0" smtClean="0">
              <a:ea typeface="ＭＳ Ｐゴシック" charset="0"/>
            </a:endParaRPr>
          </a:p>
          <a:p>
            <a:pPr marL="0" indent="0"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</a:rPr>
              <a:t>This information will help you to build your risks model:</a:t>
            </a:r>
          </a:p>
          <a:p>
            <a:pPr lvl="1" indent="-593725">
              <a:defRPr/>
            </a:pPr>
            <a:r>
              <a:rPr lang="en-GB" dirty="0" smtClean="0">
                <a:ea typeface="ＭＳ Ｐゴシック" charset="0"/>
              </a:rPr>
              <a:t>Identify areas where an oil spill is more likely</a:t>
            </a:r>
          </a:p>
          <a:p>
            <a:pPr lvl="1" indent="-593725">
              <a:defRPr/>
            </a:pPr>
            <a:r>
              <a:rPr lang="en-GB" dirty="0" smtClean="0">
                <a:ea typeface="ＭＳ Ｐゴシック" charset="0"/>
              </a:rPr>
              <a:t>Estimate oil spill frequencies</a:t>
            </a:r>
          </a:p>
          <a:p>
            <a:pPr lvl="1" indent="-593725">
              <a:defRPr/>
            </a:pPr>
            <a:r>
              <a:rPr lang="en-GB" dirty="0" smtClean="0">
                <a:ea typeface="ＭＳ Ｐゴシック" charset="0"/>
              </a:rPr>
              <a:t>Estimate oil spill size </a:t>
            </a:r>
          </a:p>
          <a:p>
            <a:pPr marL="0" indent="0">
              <a:buFont typeface="Arial" charset="0"/>
              <a:buNone/>
              <a:defRPr/>
            </a:pPr>
            <a:endParaRPr lang="en-GB" dirty="0" smtClean="0">
              <a:ea typeface="ＭＳ Ｐゴシック" charset="0"/>
            </a:endParaRPr>
          </a:p>
          <a:p>
            <a:pPr marL="0" indent="0" algn="ctr">
              <a:buFont typeface="Arial" charset="0"/>
              <a:buNone/>
              <a:tabLst>
                <a:tab pos="712788" algn="l"/>
              </a:tabLst>
              <a:defRPr/>
            </a:pPr>
            <a:r>
              <a:rPr lang="en-GB" dirty="0" smtClean="0">
                <a:ea typeface="ＭＳ Ｐゴシック" charset="0"/>
              </a:rPr>
              <a:t>Now, you must estimate potential consequences.</a:t>
            </a: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99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16736" y="49724"/>
            <a:ext cx="95280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179576" y="1160187"/>
            <a:ext cx="98298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  <a:defRPr/>
            </a:pPr>
            <a:r>
              <a:rPr lang="en-GB" dirty="0" smtClean="0">
                <a:ea typeface="ＭＳ Ｐゴシック" charset="0"/>
              </a:rPr>
              <a:t>What are the potential consequences?</a:t>
            </a:r>
          </a:p>
          <a:p>
            <a:pPr marL="914400" lvl="1" indent="-374650">
              <a:defRPr/>
            </a:pPr>
            <a:r>
              <a:rPr lang="en-GB" dirty="0" smtClean="0">
                <a:ea typeface="ＭＳ Ｐゴシック" charset="0"/>
              </a:rPr>
              <a:t>Identify sensitive resources</a:t>
            </a:r>
          </a:p>
          <a:p>
            <a:pPr marL="1314450" lvl="2" indent="-419100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Biological, human, economic</a:t>
            </a:r>
          </a:p>
          <a:p>
            <a:pPr marL="1314450" lvl="2" indent="-419100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Use information from sensitivity map</a:t>
            </a:r>
          </a:p>
          <a:p>
            <a:pPr marL="914400" lvl="1" indent="-374650">
              <a:defRPr/>
            </a:pPr>
            <a:r>
              <a:rPr lang="en-GB" dirty="0" smtClean="0">
                <a:ea typeface="ＭＳ Ｐゴシック" charset="0"/>
              </a:rPr>
              <a:t>Identify types and volume of oil transported</a:t>
            </a:r>
          </a:p>
          <a:p>
            <a:pPr marL="1314450" lvl="2" indent="-419100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Persistent vs. non persistent oils</a:t>
            </a:r>
          </a:p>
          <a:p>
            <a:pPr marL="1314450" lvl="2" indent="-419100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Oil fate and behaviour</a:t>
            </a:r>
          </a:p>
          <a:p>
            <a:pPr marL="914400" lvl="1" indent="-374650">
              <a:defRPr/>
            </a:pPr>
            <a:r>
              <a:rPr lang="en-GB" dirty="0" smtClean="0">
                <a:ea typeface="ＭＳ Ｐゴシック" charset="0"/>
              </a:rPr>
              <a:t>Identify oil spill trajectory</a:t>
            </a:r>
          </a:p>
          <a:p>
            <a:pPr marL="1314450" lvl="2" indent="-419100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Using a probable scenario and oil type</a:t>
            </a:r>
          </a:p>
          <a:p>
            <a:pPr marL="1314450" lvl="2" indent="-419100">
              <a:buFont typeface="Wingdings" panose="05000000000000000000" pitchFamily="2" charset="2"/>
              <a:buChar char="ü"/>
              <a:defRPr/>
            </a:pPr>
            <a:r>
              <a:rPr lang="en-GB" dirty="0" smtClean="0">
                <a:ea typeface="ＭＳ Ｐゴシック" charset="0"/>
              </a:rPr>
              <a:t>Oil spill modelling</a:t>
            </a:r>
          </a:p>
          <a:p>
            <a:pPr marL="1314450" lvl="2" indent="-514350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800100" lvl="2" indent="0">
              <a:buFont typeface="Arial" charset="0"/>
              <a:buNone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8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1133856" y="57023"/>
            <a:ext cx="967435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8" name="Espace réservé du contenu 2">
            <a:extLst/>
          </p:cNvPr>
          <p:cNvSpPr txBox="1">
            <a:spLocks/>
          </p:cNvSpPr>
          <p:nvPr/>
        </p:nvSpPr>
        <p:spPr>
          <a:xfrm>
            <a:off x="1133856" y="1342749"/>
            <a:ext cx="993038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buFont typeface="+mj-lt"/>
              <a:buAutoNum type="arabicPeriod" startAt="6"/>
              <a:defRPr/>
            </a:pPr>
            <a:r>
              <a:rPr lang="en-GB" dirty="0" smtClean="0">
                <a:ea typeface="ＭＳ Ｐゴシック" charset="0"/>
              </a:rPr>
              <a:t>What are the potential consequences?</a:t>
            </a:r>
          </a:p>
          <a:p>
            <a:pPr marL="857250" lvl="1" indent="-317500" algn="just">
              <a:defRPr/>
            </a:pPr>
            <a:r>
              <a:rPr lang="en-GB" dirty="0" smtClean="0">
                <a:ea typeface="ＭＳ Ｐゴシック" charset="0"/>
              </a:rPr>
              <a:t>Estimate effects of oil on impacted sensitive resources</a:t>
            </a:r>
          </a:p>
          <a:p>
            <a:pPr marL="1162050" lvl="2" indent="-266700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Effects of oil have been studied over the last 40 years.</a:t>
            </a:r>
          </a:p>
          <a:p>
            <a:pPr marL="1162050" lvl="2" indent="-266700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Much information available for various species.</a:t>
            </a:r>
          </a:p>
          <a:p>
            <a:pPr marL="1162050" lvl="1" indent="-266700" algn="just">
              <a:buFont typeface="Wingdings" panose="05000000000000000000" pitchFamily="2" charset="2"/>
              <a:buChar char="Ø"/>
              <a:defRPr/>
            </a:pPr>
            <a:endParaRPr lang="en-GB" dirty="0" smtClean="0">
              <a:ea typeface="ＭＳ Ｐゴシック" charset="0"/>
            </a:endParaRPr>
          </a:p>
          <a:p>
            <a:pPr marL="400050" lvl="1" indent="0" algn="just"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</a:rPr>
              <a:t>This information will help you to identify areas that are likely to be impacted by oil and the effects on sensitive resources.</a:t>
            </a:r>
          </a:p>
          <a:p>
            <a:pPr marL="1314450" lvl="2" indent="-514350" algn="just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 algn="just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 algn="just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800100" lvl="2" indent="0" algn="just">
              <a:buFont typeface="Arial" charset="0"/>
              <a:buNone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 algn="just">
              <a:buFont typeface="Arial" charset="0"/>
              <a:buChar char="•"/>
              <a:defRPr/>
            </a:pP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06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097280" y="47879"/>
            <a:ext cx="97657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727126" y="1260453"/>
            <a:ext cx="1072591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7"/>
              <a:defRPr/>
            </a:pPr>
            <a:r>
              <a:rPr lang="en-GB" dirty="0" smtClean="0">
                <a:ea typeface="ＭＳ Ｐゴシック" charset="0"/>
              </a:rPr>
              <a:t>What is the risk?</a:t>
            </a:r>
          </a:p>
          <a:p>
            <a:pPr marL="857250" lvl="1" indent="-317500">
              <a:lnSpc>
                <a:spcPct val="150000"/>
              </a:lnSpc>
              <a:defRPr/>
            </a:pPr>
            <a:r>
              <a:rPr lang="en-GB" dirty="0" smtClean="0">
                <a:ea typeface="ＭＳ Ｐゴシック" charset="0"/>
              </a:rPr>
              <a:t>Integrate information from hazards, spill frequencies and consequences </a:t>
            </a:r>
          </a:p>
          <a:p>
            <a:pPr marL="857250" lvl="1" indent="-317500">
              <a:lnSpc>
                <a:spcPct val="150000"/>
              </a:lnSpc>
              <a:defRPr/>
            </a:pPr>
            <a:r>
              <a:rPr lang="en-GB" dirty="0" smtClean="0">
                <a:ea typeface="ＭＳ Ｐゴシック" charset="0"/>
              </a:rPr>
              <a:t>Elaboration of a risk matrix</a:t>
            </a:r>
          </a:p>
          <a:p>
            <a:pPr marL="857250" lvl="1" indent="-457200">
              <a:lnSpc>
                <a:spcPct val="150000"/>
              </a:lnSpc>
              <a:buFont typeface="Arial" charset="0"/>
              <a:buChar char="–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800100" lvl="2" indent="0">
              <a:lnSpc>
                <a:spcPct val="150000"/>
              </a:lnSpc>
              <a:buFont typeface="Arial" charset="0"/>
              <a:buNone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lnSpc>
                <a:spcPct val="150000"/>
              </a:lnSpc>
              <a:buFont typeface="Arial" charset="0"/>
              <a:buChar char="•"/>
              <a:defRPr/>
            </a:pP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06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au 3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668068"/>
              </p:ext>
            </p:extLst>
          </p:nvPr>
        </p:nvGraphicFramePr>
        <p:xfrm>
          <a:off x="813815" y="1064168"/>
          <a:ext cx="10588753" cy="4970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9009">
                <a:tc>
                  <a:txBody>
                    <a:bodyPr/>
                    <a:lstStyle/>
                    <a:p>
                      <a:endParaRPr lang="en-GB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GB" sz="2800" b="1" noProof="0" dirty="0"/>
                        <a:t>Consequences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009">
                <a:tc rowSpan="6">
                  <a:txBody>
                    <a:bodyPr/>
                    <a:lstStyle/>
                    <a:p>
                      <a:pPr algn="ctr"/>
                      <a:r>
                        <a:rPr lang="en-GB" sz="2400" b="1" noProof="0" dirty="0">
                          <a:solidFill>
                            <a:schemeClr val="tx1"/>
                          </a:solidFill>
                        </a:rPr>
                        <a:t>Probability</a:t>
                      </a:r>
                    </a:p>
                  </a:txBody>
                  <a:tcPr vert="vert270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/>
                        <a:t>Extreme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/>
                        <a:t>Very high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/>
                        <a:t>High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/>
                        <a:t>Moderate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/>
                        <a:t>Low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914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/>
                        <a:t>Highly probable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00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/>
                        <a:t>Probable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00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 dirty="0"/>
                        <a:t>Possible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00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/>
                        <a:t>Unlikely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914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noProof="0"/>
                        <a:t>Improbable</a:t>
                      </a:r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itre 4"/>
          <p:cNvSpPr txBox="1">
            <a:spLocks/>
          </p:cNvSpPr>
          <p:nvPr/>
        </p:nvSpPr>
        <p:spPr>
          <a:xfrm>
            <a:off x="1984248" y="66167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Matrix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4484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426464" y="57023"/>
            <a:ext cx="90857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969264" y="836613"/>
            <a:ext cx="9976104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8"/>
              <a:defRPr/>
            </a:pPr>
            <a:r>
              <a:rPr lang="en-GB" smtClean="0">
                <a:ea typeface="ＭＳ Ｐゴシック" charset="0"/>
              </a:rPr>
              <a:t>What is the risk?</a:t>
            </a:r>
          </a:p>
          <a:p>
            <a:pPr marL="857250" lvl="1" indent="-457200">
              <a:buFont typeface="Arial" charset="0"/>
              <a:buChar char="–"/>
              <a:defRPr/>
            </a:pPr>
            <a:r>
              <a:rPr lang="en-GB" smtClean="0">
                <a:ea typeface="ＭＳ Ｐゴシック" charset="0"/>
              </a:rPr>
              <a:t>Is risk acceptable or unacceptable?</a:t>
            </a:r>
          </a:p>
          <a:p>
            <a:pPr marL="857250" lvl="1" indent="-457200">
              <a:buFont typeface="Arial" charset="0"/>
              <a:buChar char="–"/>
              <a:defRPr/>
            </a:pPr>
            <a:r>
              <a:rPr lang="en-GB" smtClean="0">
                <a:ea typeface="ＭＳ Ｐゴシック" charset="0"/>
              </a:rPr>
              <a:t>Subjective decision but based on scientific facts</a:t>
            </a:r>
          </a:p>
          <a:p>
            <a:pPr marL="857250" lvl="1" indent="-457200">
              <a:buFont typeface="Arial" charset="0"/>
              <a:buChar char="–"/>
              <a:defRPr/>
            </a:pPr>
            <a:r>
              <a:rPr lang="en-GB" smtClean="0">
                <a:ea typeface="ＭＳ Ｐゴシック" charset="0"/>
              </a:rPr>
              <a:t>Involve multiple stakeholders in decision</a:t>
            </a:r>
          </a:p>
          <a:p>
            <a:pPr marL="514350" indent="-514350">
              <a:buFont typeface="+mj-lt"/>
              <a:buAutoNum type="arabicPeriod" startAt="8"/>
              <a:defRPr/>
            </a:pPr>
            <a:r>
              <a:rPr lang="en-GB" smtClean="0">
                <a:ea typeface="ＭＳ Ｐゴシック" charset="0"/>
              </a:rPr>
              <a:t>Risk management</a:t>
            </a:r>
          </a:p>
          <a:p>
            <a:pPr lvl="1">
              <a:buFont typeface="Arial" charset="0"/>
              <a:buChar char="–"/>
              <a:defRPr/>
            </a:pPr>
            <a:r>
              <a:rPr lang="en-GB" smtClean="0">
                <a:ea typeface="ＭＳ Ｐゴシック" charset="0"/>
              </a:rPr>
              <a:t>Identify areas where risks are high, moderate or low;</a:t>
            </a:r>
          </a:p>
          <a:p>
            <a:pPr lvl="1">
              <a:buFont typeface="Arial" charset="0"/>
              <a:buChar char="–"/>
              <a:defRPr/>
            </a:pPr>
            <a:r>
              <a:rPr lang="en-GB" smtClean="0">
                <a:ea typeface="ＭＳ Ｐゴシック" charset="0"/>
              </a:rPr>
              <a:t>Identify measures to reduce likelihood</a:t>
            </a:r>
          </a:p>
          <a:p>
            <a:pPr lvl="2">
              <a:buFont typeface="Arial" charset="0"/>
              <a:buChar char="•"/>
              <a:defRPr/>
            </a:pPr>
            <a:r>
              <a:rPr lang="en-GB" smtClean="0">
                <a:ea typeface="ＭＳ Ｐゴシック" charset="0"/>
              </a:rPr>
              <a:t>Pilotage</a:t>
            </a:r>
          </a:p>
          <a:p>
            <a:pPr lvl="2">
              <a:buFont typeface="Arial" charset="0"/>
              <a:buChar char="•"/>
              <a:defRPr/>
            </a:pPr>
            <a:r>
              <a:rPr lang="en-GB" smtClean="0">
                <a:ea typeface="ＭＳ Ｐゴシック" charset="0"/>
              </a:rPr>
              <a:t>Navigational aids</a:t>
            </a:r>
          </a:p>
          <a:p>
            <a:pPr lvl="2">
              <a:buFont typeface="Arial" charset="0"/>
              <a:buChar char="•"/>
              <a:defRPr/>
            </a:pPr>
            <a:r>
              <a:rPr lang="en-GB" smtClean="0">
                <a:ea typeface="ＭＳ Ｐゴシック" charset="0"/>
              </a:rPr>
              <a:t>Engineering design</a:t>
            </a:r>
          </a:p>
          <a:p>
            <a:pPr lvl="2">
              <a:buFont typeface="Arial" charset="0"/>
              <a:buChar char="•"/>
              <a:defRPr/>
            </a:pPr>
            <a:r>
              <a:rPr lang="en-GB" smtClean="0">
                <a:ea typeface="ＭＳ Ｐゴシック" charset="0"/>
              </a:rPr>
              <a:t>Improved operating procedures</a:t>
            </a:r>
          </a:p>
          <a:p>
            <a:pPr marL="857250" lvl="1" indent="-457200">
              <a:buFont typeface="Arial" charset="0"/>
              <a:buChar char="–"/>
              <a:defRPr/>
            </a:pPr>
            <a:endParaRPr lang="en-GB" smtClean="0">
              <a:ea typeface="ＭＳ Ｐゴシック" charset="0"/>
            </a:endParaRPr>
          </a:p>
          <a:p>
            <a:pPr marL="857250" lvl="1" indent="-457200">
              <a:buFont typeface="Arial" charset="0"/>
              <a:buChar char="–"/>
              <a:defRPr/>
            </a:pPr>
            <a:endParaRPr lang="en-GB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smtClean="0">
              <a:ea typeface="ＭＳ Ｐゴシック" charset="0"/>
            </a:endParaRPr>
          </a:p>
          <a:p>
            <a:pPr marL="800100" lvl="2" indent="0">
              <a:buFont typeface="Arial" charset="0"/>
              <a:buNone/>
              <a:defRPr/>
            </a:pPr>
            <a:endParaRPr lang="en-GB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4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883664" y="66167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US" altLang="en-US" b="1" dirty="0" smtClean="0"/>
          </a:p>
        </p:txBody>
      </p:sp>
      <p:grpSp>
        <p:nvGrpSpPr>
          <p:cNvPr id="6" name="Grouper 2"/>
          <p:cNvGrpSpPr>
            <a:grpSpLocks/>
          </p:cNvGrpSpPr>
          <p:nvPr/>
        </p:nvGrpSpPr>
        <p:grpSpPr bwMode="auto">
          <a:xfrm>
            <a:off x="2469452" y="981075"/>
            <a:ext cx="6994525" cy="5099050"/>
            <a:chOff x="1600200" y="1498600"/>
            <a:chExt cx="6994525" cy="5099050"/>
          </a:xfrm>
        </p:grpSpPr>
        <p:grpSp>
          <p:nvGrpSpPr>
            <p:cNvPr id="7" name="Group 75"/>
            <p:cNvGrpSpPr>
              <a:grpSpLocks/>
            </p:cNvGrpSpPr>
            <p:nvPr/>
          </p:nvGrpSpPr>
          <p:grpSpPr bwMode="auto">
            <a:xfrm>
              <a:off x="2320925" y="1498600"/>
              <a:ext cx="5326063" cy="595313"/>
              <a:chOff x="1045" y="944"/>
              <a:chExt cx="3355" cy="375"/>
            </a:xfrm>
          </p:grpSpPr>
          <p:sp>
            <p:nvSpPr>
              <p:cNvPr id="48" name="Freeform 42"/>
              <p:cNvSpPr>
                <a:spLocks/>
              </p:cNvSpPr>
              <p:nvPr/>
            </p:nvSpPr>
            <p:spPr bwMode="auto">
              <a:xfrm>
                <a:off x="1045" y="944"/>
                <a:ext cx="3355" cy="375"/>
              </a:xfrm>
              <a:custGeom>
                <a:avLst/>
                <a:gdLst>
                  <a:gd name="T0" fmla="*/ 0 w 393"/>
                  <a:gd name="T1" fmla="*/ 0 h 44"/>
                  <a:gd name="T2" fmla="*/ 2147483646 w 393"/>
                  <a:gd name="T3" fmla="*/ 0 h 44"/>
                  <a:gd name="T4" fmla="*/ 2147483646 w 393"/>
                  <a:gd name="T5" fmla="*/ 2147483646 h 44"/>
                  <a:gd name="T6" fmla="*/ 2147483646 w 393"/>
                  <a:gd name="T7" fmla="*/ 2147483646 h 44"/>
                  <a:gd name="T8" fmla="*/ 2147483646 w 393"/>
                  <a:gd name="T9" fmla="*/ 2147483646 h 44"/>
                  <a:gd name="T10" fmla="*/ 0 w 393"/>
                  <a:gd name="T11" fmla="*/ 2147483646 h 44"/>
                  <a:gd name="T12" fmla="*/ 0 w 393"/>
                  <a:gd name="T13" fmla="*/ 0 h 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3"/>
                  <a:gd name="T22" fmla="*/ 0 h 44"/>
                  <a:gd name="T23" fmla="*/ 393 w 393"/>
                  <a:gd name="T24" fmla="*/ 44 h 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3" h="44">
                    <a:moveTo>
                      <a:pt x="0" y="0"/>
                    </a:moveTo>
                    <a:lnTo>
                      <a:pt x="377" y="0"/>
                    </a:lnTo>
                    <a:cubicBezTo>
                      <a:pt x="385" y="0"/>
                      <a:pt x="393" y="8"/>
                      <a:pt x="393" y="17"/>
                    </a:cubicBezTo>
                    <a:lnTo>
                      <a:pt x="393" y="44"/>
                    </a:lnTo>
                    <a:lnTo>
                      <a:pt x="16" y="44"/>
                    </a:lnTo>
                    <a:cubicBezTo>
                      <a:pt x="7" y="44"/>
                      <a:pt x="0" y="37"/>
                      <a:pt x="0" y="2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7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49" name="Rectangle 47"/>
              <p:cNvSpPr>
                <a:spLocks noChangeArrowheads="1"/>
              </p:cNvSpPr>
              <p:nvPr/>
            </p:nvSpPr>
            <p:spPr bwMode="auto">
              <a:xfrm>
                <a:off x="1332" y="1011"/>
                <a:ext cx="157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Analyse hazards and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Rectangle 48"/>
              <p:cNvSpPr>
                <a:spLocks noChangeArrowheads="1"/>
              </p:cNvSpPr>
              <p:nvPr/>
            </p:nvSpPr>
            <p:spPr bwMode="auto">
              <a:xfrm>
                <a:off x="2927" y="1011"/>
                <a:ext cx="133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possible scenarios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8" name="Group 78"/>
            <p:cNvGrpSpPr>
              <a:grpSpLocks/>
            </p:cNvGrpSpPr>
            <p:nvPr/>
          </p:nvGrpSpPr>
          <p:grpSpPr bwMode="auto">
            <a:xfrm>
              <a:off x="1600200" y="2093913"/>
              <a:ext cx="3128963" cy="830262"/>
              <a:chOff x="591" y="1319"/>
              <a:chExt cx="1971" cy="523"/>
            </a:xfrm>
          </p:grpSpPr>
          <p:sp>
            <p:nvSpPr>
              <p:cNvPr id="42" name="Line 61"/>
              <p:cNvSpPr>
                <a:spLocks noChangeShapeType="1"/>
              </p:cNvSpPr>
              <p:nvPr/>
            </p:nvSpPr>
            <p:spPr bwMode="auto">
              <a:xfrm>
                <a:off x="1600" y="1319"/>
                <a:ext cx="1" cy="137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grpSp>
            <p:nvGrpSpPr>
              <p:cNvPr id="43" name="Group 76"/>
              <p:cNvGrpSpPr>
                <a:grpSpLocks/>
              </p:cNvGrpSpPr>
              <p:nvPr/>
            </p:nvGrpSpPr>
            <p:grpSpPr bwMode="auto">
              <a:xfrm>
                <a:off x="591" y="1390"/>
                <a:ext cx="1971" cy="452"/>
                <a:chOff x="576" y="1370"/>
                <a:chExt cx="1971" cy="452"/>
              </a:xfrm>
            </p:grpSpPr>
            <p:sp>
              <p:nvSpPr>
                <p:cNvPr id="44" name="Freeform 44"/>
                <p:cNvSpPr>
                  <a:spLocks/>
                </p:cNvSpPr>
                <p:nvPr/>
              </p:nvSpPr>
              <p:spPr bwMode="auto">
                <a:xfrm>
                  <a:off x="576" y="1456"/>
                  <a:ext cx="1971" cy="366"/>
                </a:xfrm>
                <a:custGeom>
                  <a:avLst/>
                  <a:gdLst>
                    <a:gd name="T0" fmla="*/ 0 w 231"/>
                    <a:gd name="T1" fmla="*/ 0 h 43"/>
                    <a:gd name="T2" fmla="*/ 2147483646 w 231"/>
                    <a:gd name="T3" fmla="*/ 0 h 43"/>
                    <a:gd name="T4" fmla="*/ 2147483646 w 231"/>
                    <a:gd name="T5" fmla="*/ 2147483646 h 43"/>
                    <a:gd name="T6" fmla="*/ 2147483646 w 231"/>
                    <a:gd name="T7" fmla="*/ 2147483646 h 43"/>
                    <a:gd name="T8" fmla="*/ 2147483646 w 231"/>
                    <a:gd name="T9" fmla="*/ 2147483646 h 43"/>
                    <a:gd name="T10" fmla="*/ 0 w 231"/>
                    <a:gd name="T11" fmla="*/ 2147483646 h 43"/>
                    <a:gd name="T12" fmla="*/ 0 w 231"/>
                    <a:gd name="T13" fmla="*/ 0 h 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1"/>
                    <a:gd name="T22" fmla="*/ 0 h 43"/>
                    <a:gd name="T23" fmla="*/ 231 w 231"/>
                    <a:gd name="T24" fmla="*/ 43 h 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1" h="43">
                      <a:moveTo>
                        <a:pt x="0" y="0"/>
                      </a:moveTo>
                      <a:lnTo>
                        <a:pt x="215" y="0"/>
                      </a:lnTo>
                      <a:cubicBezTo>
                        <a:pt x="224" y="0"/>
                        <a:pt x="231" y="7"/>
                        <a:pt x="231" y="16"/>
                      </a:cubicBezTo>
                      <a:lnTo>
                        <a:pt x="231" y="43"/>
                      </a:lnTo>
                      <a:lnTo>
                        <a:pt x="16" y="43"/>
                      </a:lnTo>
                      <a:cubicBezTo>
                        <a:pt x="8" y="43"/>
                        <a:pt x="0" y="36"/>
                        <a:pt x="0" y="2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8C37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" name="Rectangle 49"/>
                <p:cNvSpPr>
                  <a:spLocks noChangeArrowheads="1"/>
                </p:cNvSpPr>
                <p:nvPr/>
              </p:nvSpPr>
              <p:spPr bwMode="auto">
                <a:xfrm>
                  <a:off x="845" y="1515"/>
                  <a:ext cx="621" cy="2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100">
                      <a:solidFill>
                        <a:srgbClr val="24282B"/>
                      </a:solidFill>
                      <a:latin typeface="Tahoma" panose="020B0604030504040204" pitchFamily="34" charset="0"/>
                    </a:rPr>
                    <a:t>Analyse </a:t>
                  </a: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6" name="Rectangle 50"/>
                <p:cNvSpPr>
                  <a:spLocks noChangeArrowheads="1"/>
                </p:cNvSpPr>
                <p:nvPr/>
              </p:nvSpPr>
              <p:spPr bwMode="auto">
                <a:xfrm>
                  <a:off x="1493" y="1516"/>
                  <a:ext cx="700" cy="2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100">
                      <a:solidFill>
                        <a:srgbClr val="24282B"/>
                      </a:solidFill>
                      <a:latin typeface="Tahoma" panose="020B0604030504040204" pitchFamily="34" charset="0"/>
                    </a:rPr>
                    <a:t>likelihood</a:t>
                  </a:r>
                  <a:endParaRPr lang="en-US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7" name="Freeform 62"/>
                <p:cNvSpPr>
                  <a:spLocks/>
                </p:cNvSpPr>
                <p:nvPr/>
              </p:nvSpPr>
              <p:spPr bwMode="auto">
                <a:xfrm>
                  <a:off x="1549" y="1370"/>
                  <a:ext cx="94" cy="86"/>
                </a:xfrm>
                <a:custGeom>
                  <a:avLst/>
                  <a:gdLst>
                    <a:gd name="T0" fmla="*/ 51 w 94"/>
                    <a:gd name="T1" fmla="*/ 86 h 86"/>
                    <a:gd name="T2" fmla="*/ 94 w 94"/>
                    <a:gd name="T3" fmla="*/ 0 h 86"/>
                    <a:gd name="T4" fmla="*/ 0 w 94"/>
                    <a:gd name="T5" fmla="*/ 0 h 86"/>
                    <a:gd name="T6" fmla="*/ 51 w 94"/>
                    <a:gd name="T7" fmla="*/ 86 h 8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4"/>
                    <a:gd name="T13" fmla="*/ 0 h 86"/>
                    <a:gd name="T14" fmla="*/ 94 w 94"/>
                    <a:gd name="T15" fmla="*/ 86 h 8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4" h="86">
                      <a:moveTo>
                        <a:pt x="51" y="86"/>
                      </a:moveTo>
                      <a:lnTo>
                        <a:pt x="94" y="0"/>
                      </a:lnTo>
                      <a:lnTo>
                        <a:pt x="0" y="0"/>
                      </a:lnTo>
                      <a:lnTo>
                        <a:pt x="51" y="86"/>
                      </a:lnTo>
                      <a:close/>
                    </a:path>
                  </a:pathLst>
                </a:custGeom>
                <a:solidFill>
                  <a:srgbClr val="6062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ctr"/>
                  <a:endParaRPr lang="en-IN"/>
                </a:p>
              </p:txBody>
            </p:sp>
          </p:grpSp>
        </p:grpSp>
        <p:grpSp>
          <p:nvGrpSpPr>
            <p:cNvPr id="9" name="Group 77"/>
            <p:cNvGrpSpPr>
              <a:grpSpLocks/>
            </p:cNvGrpSpPr>
            <p:nvPr/>
          </p:nvGrpSpPr>
          <p:grpSpPr bwMode="auto">
            <a:xfrm>
              <a:off x="5464175" y="2093913"/>
              <a:ext cx="3130550" cy="798512"/>
              <a:chOff x="3025" y="1319"/>
              <a:chExt cx="1972" cy="503"/>
            </a:xfrm>
          </p:grpSpPr>
          <p:sp>
            <p:nvSpPr>
              <p:cNvPr id="37" name="Freeform 43"/>
              <p:cNvSpPr>
                <a:spLocks/>
              </p:cNvSpPr>
              <p:nvPr/>
            </p:nvSpPr>
            <p:spPr bwMode="auto">
              <a:xfrm>
                <a:off x="3025" y="1456"/>
                <a:ext cx="1972" cy="366"/>
              </a:xfrm>
              <a:custGeom>
                <a:avLst/>
                <a:gdLst>
                  <a:gd name="T0" fmla="*/ 0 w 231"/>
                  <a:gd name="T1" fmla="*/ 0 h 43"/>
                  <a:gd name="T2" fmla="*/ 2147483646 w 231"/>
                  <a:gd name="T3" fmla="*/ 0 h 43"/>
                  <a:gd name="T4" fmla="*/ 2147483646 w 231"/>
                  <a:gd name="T5" fmla="*/ 2147483646 h 43"/>
                  <a:gd name="T6" fmla="*/ 2147483646 w 231"/>
                  <a:gd name="T7" fmla="*/ 2147483646 h 43"/>
                  <a:gd name="T8" fmla="*/ 2147483646 w 231"/>
                  <a:gd name="T9" fmla="*/ 2147483646 h 43"/>
                  <a:gd name="T10" fmla="*/ 0 w 231"/>
                  <a:gd name="T11" fmla="*/ 2147483646 h 43"/>
                  <a:gd name="T12" fmla="*/ 0 w 231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1"/>
                  <a:gd name="T22" fmla="*/ 0 h 43"/>
                  <a:gd name="T23" fmla="*/ 231 w 231"/>
                  <a:gd name="T24" fmla="*/ 43 h 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1" h="43">
                    <a:moveTo>
                      <a:pt x="0" y="0"/>
                    </a:moveTo>
                    <a:lnTo>
                      <a:pt x="215" y="0"/>
                    </a:lnTo>
                    <a:cubicBezTo>
                      <a:pt x="223" y="0"/>
                      <a:pt x="231" y="7"/>
                      <a:pt x="231" y="16"/>
                    </a:cubicBezTo>
                    <a:lnTo>
                      <a:pt x="231" y="43"/>
                    </a:lnTo>
                    <a:lnTo>
                      <a:pt x="16" y="43"/>
                    </a:lnTo>
                    <a:cubicBezTo>
                      <a:pt x="7" y="43"/>
                      <a:pt x="0" y="36"/>
                      <a:pt x="0" y="2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3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38" name="Rectangle 51"/>
              <p:cNvSpPr>
                <a:spLocks noChangeArrowheads="1"/>
              </p:cNvSpPr>
              <p:nvPr/>
            </p:nvSpPr>
            <p:spPr bwMode="auto">
              <a:xfrm>
                <a:off x="3226" y="1515"/>
                <a:ext cx="62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Analyse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Rectangle 52"/>
              <p:cNvSpPr>
                <a:spLocks noChangeArrowheads="1"/>
              </p:cNvSpPr>
              <p:nvPr/>
            </p:nvSpPr>
            <p:spPr bwMode="auto">
              <a:xfrm>
                <a:off x="3873" y="1515"/>
                <a:ext cx="103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consequences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Line 63"/>
              <p:cNvSpPr>
                <a:spLocks noChangeShapeType="1"/>
              </p:cNvSpPr>
              <p:nvPr/>
            </p:nvSpPr>
            <p:spPr bwMode="auto">
              <a:xfrm>
                <a:off x="3836" y="1319"/>
                <a:ext cx="1" cy="137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41" name="Freeform 64"/>
              <p:cNvSpPr>
                <a:spLocks/>
              </p:cNvSpPr>
              <p:nvPr/>
            </p:nvSpPr>
            <p:spPr bwMode="auto">
              <a:xfrm>
                <a:off x="3794" y="1370"/>
                <a:ext cx="93" cy="86"/>
              </a:xfrm>
              <a:custGeom>
                <a:avLst/>
                <a:gdLst>
                  <a:gd name="T0" fmla="*/ 42 w 93"/>
                  <a:gd name="T1" fmla="*/ 86 h 86"/>
                  <a:gd name="T2" fmla="*/ 93 w 93"/>
                  <a:gd name="T3" fmla="*/ 0 h 86"/>
                  <a:gd name="T4" fmla="*/ 0 w 93"/>
                  <a:gd name="T5" fmla="*/ 0 h 86"/>
                  <a:gd name="T6" fmla="*/ 42 w 93"/>
                  <a:gd name="T7" fmla="*/ 86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86"/>
                  <a:gd name="T14" fmla="*/ 93 w 93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86">
                    <a:moveTo>
                      <a:pt x="42" y="86"/>
                    </a:moveTo>
                    <a:lnTo>
                      <a:pt x="93" y="0"/>
                    </a:lnTo>
                    <a:lnTo>
                      <a:pt x="0" y="0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0" name="Group 79"/>
            <p:cNvGrpSpPr>
              <a:grpSpLocks/>
            </p:cNvGrpSpPr>
            <p:nvPr/>
          </p:nvGrpSpPr>
          <p:grpSpPr bwMode="auto">
            <a:xfrm>
              <a:off x="2320925" y="2921000"/>
              <a:ext cx="5326063" cy="825500"/>
              <a:chOff x="1045" y="1840"/>
              <a:chExt cx="3355" cy="520"/>
            </a:xfrm>
          </p:grpSpPr>
          <p:sp>
            <p:nvSpPr>
              <p:cNvPr id="31" name="Freeform 41"/>
              <p:cNvSpPr>
                <a:spLocks/>
              </p:cNvSpPr>
              <p:nvPr/>
            </p:nvSpPr>
            <p:spPr bwMode="auto">
              <a:xfrm>
                <a:off x="1045" y="1993"/>
                <a:ext cx="3355" cy="367"/>
              </a:xfrm>
              <a:custGeom>
                <a:avLst/>
                <a:gdLst>
                  <a:gd name="T0" fmla="*/ 0 w 393"/>
                  <a:gd name="T1" fmla="*/ 0 h 43"/>
                  <a:gd name="T2" fmla="*/ 2147483646 w 393"/>
                  <a:gd name="T3" fmla="*/ 0 h 43"/>
                  <a:gd name="T4" fmla="*/ 2147483646 w 393"/>
                  <a:gd name="T5" fmla="*/ 2147483646 h 43"/>
                  <a:gd name="T6" fmla="*/ 2147483646 w 393"/>
                  <a:gd name="T7" fmla="*/ 2147483646 h 43"/>
                  <a:gd name="T8" fmla="*/ 2147483646 w 393"/>
                  <a:gd name="T9" fmla="*/ 2147483646 h 43"/>
                  <a:gd name="T10" fmla="*/ 0 w 393"/>
                  <a:gd name="T11" fmla="*/ 2147483646 h 43"/>
                  <a:gd name="T12" fmla="*/ 0 w 393"/>
                  <a:gd name="T13" fmla="*/ 0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93"/>
                  <a:gd name="T22" fmla="*/ 0 h 43"/>
                  <a:gd name="T23" fmla="*/ 393 w 393"/>
                  <a:gd name="T24" fmla="*/ 43 h 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93" h="43">
                    <a:moveTo>
                      <a:pt x="0" y="0"/>
                    </a:moveTo>
                    <a:lnTo>
                      <a:pt x="377" y="0"/>
                    </a:lnTo>
                    <a:cubicBezTo>
                      <a:pt x="385" y="0"/>
                      <a:pt x="393" y="7"/>
                      <a:pt x="393" y="16"/>
                    </a:cubicBezTo>
                    <a:lnTo>
                      <a:pt x="393" y="43"/>
                    </a:lnTo>
                    <a:lnTo>
                      <a:pt x="16" y="43"/>
                    </a:lnTo>
                    <a:cubicBezTo>
                      <a:pt x="7" y="43"/>
                      <a:pt x="0" y="36"/>
                      <a:pt x="0" y="2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C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32" name="Rectangle 53"/>
              <p:cNvSpPr>
                <a:spLocks noChangeArrowheads="1"/>
              </p:cNvSpPr>
              <p:nvPr/>
            </p:nvSpPr>
            <p:spPr bwMode="auto">
              <a:xfrm>
                <a:off x="2034" y="2070"/>
                <a:ext cx="1529" cy="2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Characterize the risk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Line 65"/>
              <p:cNvSpPr>
                <a:spLocks noChangeShapeType="1"/>
              </p:cNvSpPr>
              <p:nvPr/>
            </p:nvSpPr>
            <p:spPr bwMode="auto">
              <a:xfrm>
                <a:off x="1600" y="1840"/>
                <a:ext cx="1" cy="136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34" name="Freeform 66"/>
              <p:cNvSpPr>
                <a:spLocks/>
              </p:cNvSpPr>
              <p:nvPr/>
            </p:nvSpPr>
            <p:spPr bwMode="auto">
              <a:xfrm>
                <a:off x="1549" y="1894"/>
                <a:ext cx="94" cy="85"/>
              </a:xfrm>
              <a:custGeom>
                <a:avLst/>
                <a:gdLst>
                  <a:gd name="T0" fmla="*/ 51 w 94"/>
                  <a:gd name="T1" fmla="*/ 85 h 85"/>
                  <a:gd name="T2" fmla="*/ 94 w 94"/>
                  <a:gd name="T3" fmla="*/ 0 h 85"/>
                  <a:gd name="T4" fmla="*/ 0 w 94"/>
                  <a:gd name="T5" fmla="*/ 0 h 85"/>
                  <a:gd name="T6" fmla="*/ 51 w 94"/>
                  <a:gd name="T7" fmla="*/ 85 h 8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4"/>
                  <a:gd name="T13" fmla="*/ 0 h 85"/>
                  <a:gd name="T14" fmla="*/ 94 w 94"/>
                  <a:gd name="T15" fmla="*/ 85 h 8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4" h="85">
                    <a:moveTo>
                      <a:pt x="51" y="85"/>
                    </a:moveTo>
                    <a:lnTo>
                      <a:pt x="94" y="0"/>
                    </a:lnTo>
                    <a:lnTo>
                      <a:pt x="0" y="0"/>
                    </a:lnTo>
                    <a:lnTo>
                      <a:pt x="51" y="85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35" name="Line 67"/>
              <p:cNvSpPr>
                <a:spLocks noChangeShapeType="1"/>
              </p:cNvSpPr>
              <p:nvPr/>
            </p:nvSpPr>
            <p:spPr bwMode="auto">
              <a:xfrm>
                <a:off x="3836" y="1840"/>
                <a:ext cx="1" cy="136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36" name="Freeform 68"/>
              <p:cNvSpPr>
                <a:spLocks/>
              </p:cNvSpPr>
              <p:nvPr/>
            </p:nvSpPr>
            <p:spPr bwMode="auto">
              <a:xfrm>
                <a:off x="3794" y="1891"/>
                <a:ext cx="93" cy="85"/>
              </a:xfrm>
              <a:custGeom>
                <a:avLst/>
                <a:gdLst>
                  <a:gd name="T0" fmla="*/ 42 w 93"/>
                  <a:gd name="T1" fmla="*/ 85 h 85"/>
                  <a:gd name="T2" fmla="*/ 93 w 93"/>
                  <a:gd name="T3" fmla="*/ 0 h 85"/>
                  <a:gd name="T4" fmla="*/ 0 w 93"/>
                  <a:gd name="T5" fmla="*/ 0 h 85"/>
                  <a:gd name="T6" fmla="*/ 42 w 93"/>
                  <a:gd name="T7" fmla="*/ 85 h 8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85"/>
                  <a:gd name="T14" fmla="*/ 93 w 93"/>
                  <a:gd name="T15" fmla="*/ 85 h 8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85">
                    <a:moveTo>
                      <a:pt x="42" y="85"/>
                    </a:moveTo>
                    <a:lnTo>
                      <a:pt x="93" y="0"/>
                    </a:lnTo>
                    <a:lnTo>
                      <a:pt x="0" y="0"/>
                    </a:lnTo>
                    <a:lnTo>
                      <a:pt x="42" y="85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1" name="Group 80"/>
            <p:cNvGrpSpPr>
              <a:grpSpLocks/>
            </p:cNvGrpSpPr>
            <p:nvPr/>
          </p:nvGrpSpPr>
          <p:grpSpPr bwMode="auto">
            <a:xfrm>
              <a:off x="3378200" y="3760788"/>
              <a:ext cx="3319463" cy="1165225"/>
              <a:chOff x="1711" y="2369"/>
              <a:chExt cx="2091" cy="734"/>
            </a:xfrm>
          </p:grpSpPr>
          <p:sp>
            <p:nvSpPr>
              <p:cNvPr id="26" name="Freeform 40"/>
              <p:cNvSpPr>
                <a:spLocks/>
              </p:cNvSpPr>
              <p:nvPr/>
            </p:nvSpPr>
            <p:spPr bwMode="auto">
              <a:xfrm>
                <a:off x="1711" y="2531"/>
                <a:ext cx="2091" cy="572"/>
              </a:xfrm>
              <a:custGeom>
                <a:avLst/>
                <a:gdLst>
                  <a:gd name="T0" fmla="*/ 0 w 245"/>
                  <a:gd name="T1" fmla="*/ 0 h 67"/>
                  <a:gd name="T2" fmla="*/ 2147483646 w 245"/>
                  <a:gd name="T3" fmla="*/ 0 h 67"/>
                  <a:gd name="T4" fmla="*/ 2147483646 w 245"/>
                  <a:gd name="T5" fmla="*/ 2147483646 h 67"/>
                  <a:gd name="T6" fmla="*/ 2147483646 w 245"/>
                  <a:gd name="T7" fmla="*/ 2147483646 h 67"/>
                  <a:gd name="T8" fmla="*/ 2147483646 w 245"/>
                  <a:gd name="T9" fmla="*/ 2147483646 h 67"/>
                  <a:gd name="T10" fmla="*/ 0 w 245"/>
                  <a:gd name="T11" fmla="*/ 2147483646 h 67"/>
                  <a:gd name="T12" fmla="*/ 0 w 245"/>
                  <a:gd name="T13" fmla="*/ 0 h 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5"/>
                  <a:gd name="T22" fmla="*/ 0 h 67"/>
                  <a:gd name="T23" fmla="*/ 245 w 245"/>
                  <a:gd name="T24" fmla="*/ 67 h 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5" h="67">
                    <a:moveTo>
                      <a:pt x="0" y="0"/>
                    </a:moveTo>
                    <a:lnTo>
                      <a:pt x="229" y="0"/>
                    </a:lnTo>
                    <a:cubicBezTo>
                      <a:pt x="238" y="0"/>
                      <a:pt x="245" y="7"/>
                      <a:pt x="245" y="16"/>
                    </a:cubicBezTo>
                    <a:lnTo>
                      <a:pt x="245" y="67"/>
                    </a:lnTo>
                    <a:lnTo>
                      <a:pt x="16" y="67"/>
                    </a:lnTo>
                    <a:cubicBezTo>
                      <a:pt x="8" y="67"/>
                      <a:pt x="0" y="59"/>
                      <a:pt x="0" y="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7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27" name="Rectangle 45"/>
              <p:cNvSpPr>
                <a:spLocks noChangeArrowheads="1"/>
              </p:cNvSpPr>
              <p:nvPr/>
            </p:nvSpPr>
            <p:spPr bwMode="auto">
              <a:xfrm>
                <a:off x="2135" y="2693"/>
                <a:ext cx="35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Risk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8" name="Rectangle 46"/>
              <p:cNvSpPr>
                <a:spLocks noChangeArrowheads="1"/>
              </p:cNvSpPr>
              <p:nvPr/>
            </p:nvSpPr>
            <p:spPr bwMode="auto">
              <a:xfrm>
                <a:off x="2514" y="2693"/>
                <a:ext cx="97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>
                    <a:solidFill>
                      <a:srgbClr val="24282B"/>
                    </a:solidFill>
                    <a:latin typeface="Tahoma" panose="020B0604030504040204" pitchFamily="34" charset="0"/>
                  </a:rPr>
                  <a:t>management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9" name="Line 69"/>
              <p:cNvSpPr>
                <a:spLocks noChangeShapeType="1"/>
              </p:cNvSpPr>
              <p:nvPr/>
            </p:nvSpPr>
            <p:spPr bwMode="auto">
              <a:xfrm>
                <a:off x="2752" y="2369"/>
                <a:ext cx="1" cy="162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30" name="Freeform 70"/>
              <p:cNvSpPr>
                <a:spLocks/>
              </p:cNvSpPr>
              <p:nvPr/>
            </p:nvSpPr>
            <p:spPr bwMode="auto">
              <a:xfrm>
                <a:off x="2710" y="2445"/>
                <a:ext cx="85" cy="86"/>
              </a:xfrm>
              <a:custGeom>
                <a:avLst/>
                <a:gdLst>
                  <a:gd name="T0" fmla="*/ 42 w 85"/>
                  <a:gd name="T1" fmla="*/ 86 h 86"/>
                  <a:gd name="T2" fmla="*/ 85 w 85"/>
                  <a:gd name="T3" fmla="*/ 0 h 86"/>
                  <a:gd name="T4" fmla="*/ 0 w 85"/>
                  <a:gd name="T5" fmla="*/ 0 h 86"/>
                  <a:gd name="T6" fmla="*/ 42 w 85"/>
                  <a:gd name="T7" fmla="*/ 86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5"/>
                  <a:gd name="T13" fmla="*/ 0 h 86"/>
                  <a:gd name="T14" fmla="*/ 85 w 85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5" h="86">
                    <a:moveTo>
                      <a:pt x="42" y="86"/>
                    </a:moveTo>
                    <a:lnTo>
                      <a:pt x="85" y="0"/>
                    </a:lnTo>
                    <a:lnTo>
                      <a:pt x="0" y="0"/>
                    </a:lnTo>
                    <a:lnTo>
                      <a:pt x="42" y="86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2" name="Group 81"/>
            <p:cNvGrpSpPr>
              <a:grpSpLocks/>
            </p:cNvGrpSpPr>
            <p:nvPr/>
          </p:nvGrpSpPr>
          <p:grpSpPr bwMode="auto">
            <a:xfrm>
              <a:off x="1920875" y="4911725"/>
              <a:ext cx="2166938" cy="1679575"/>
              <a:chOff x="793" y="3094"/>
              <a:chExt cx="1365" cy="1058"/>
            </a:xfrm>
          </p:grpSpPr>
          <p:sp>
            <p:nvSpPr>
              <p:cNvPr id="20" name="Freeform 57"/>
              <p:cNvSpPr>
                <a:spLocks/>
              </p:cNvSpPr>
              <p:nvPr/>
            </p:nvSpPr>
            <p:spPr bwMode="auto">
              <a:xfrm>
                <a:off x="793" y="3282"/>
                <a:ext cx="1365" cy="870"/>
              </a:xfrm>
              <a:custGeom>
                <a:avLst/>
                <a:gdLst>
                  <a:gd name="T0" fmla="*/ 2147483646 w 160"/>
                  <a:gd name="T1" fmla="*/ 0 h 102"/>
                  <a:gd name="T2" fmla="*/ 2147483646 w 160"/>
                  <a:gd name="T3" fmla="*/ 0 h 102"/>
                  <a:gd name="T4" fmla="*/ 2147483646 w 160"/>
                  <a:gd name="T5" fmla="*/ 2147483646 h 102"/>
                  <a:gd name="T6" fmla="*/ 2147483646 w 160"/>
                  <a:gd name="T7" fmla="*/ 2147483646 h 102"/>
                  <a:gd name="T8" fmla="*/ 2147483646 w 160"/>
                  <a:gd name="T9" fmla="*/ 2147483646 h 102"/>
                  <a:gd name="T10" fmla="*/ 2147483646 w 160"/>
                  <a:gd name="T11" fmla="*/ 2147483646 h 102"/>
                  <a:gd name="T12" fmla="*/ 0 w 160"/>
                  <a:gd name="T13" fmla="*/ 2147483646 h 102"/>
                  <a:gd name="T14" fmla="*/ 0 w 160"/>
                  <a:gd name="T15" fmla="*/ 2147483646 h 102"/>
                  <a:gd name="T16" fmla="*/ 2147483646 w 160"/>
                  <a:gd name="T17" fmla="*/ 0 h 1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0"/>
                  <a:gd name="T28" fmla="*/ 0 h 102"/>
                  <a:gd name="T29" fmla="*/ 160 w 160"/>
                  <a:gd name="T30" fmla="*/ 102 h 1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0" h="102">
                    <a:moveTo>
                      <a:pt x="8" y="0"/>
                    </a:moveTo>
                    <a:lnTo>
                      <a:pt x="153" y="0"/>
                    </a:lnTo>
                    <a:cubicBezTo>
                      <a:pt x="157" y="0"/>
                      <a:pt x="160" y="4"/>
                      <a:pt x="160" y="8"/>
                    </a:cubicBezTo>
                    <a:lnTo>
                      <a:pt x="160" y="94"/>
                    </a:lnTo>
                    <a:cubicBezTo>
                      <a:pt x="160" y="98"/>
                      <a:pt x="157" y="102"/>
                      <a:pt x="153" y="102"/>
                    </a:cubicBezTo>
                    <a:lnTo>
                      <a:pt x="8" y="102"/>
                    </a:lnTo>
                    <a:cubicBezTo>
                      <a:pt x="4" y="102"/>
                      <a:pt x="0" y="98"/>
                      <a:pt x="0" y="94"/>
                    </a:cubicBezTo>
                    <a:lnTo>
                      <a:pt x="0" y="8"/>
                    </a:ln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009E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>
                <a:off x="1035" y="3384"/>
                <a:ext cx="92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Options to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Rectangle 59"/>
              <p:cNvSpPr>
                <a:spLocks noChangeArrowheads="1"/>
              </p:cNvSpPr>
              <p:nvPr/>
            </p:nvSpPr>
            <p:spPr bwMode="auto">
              <a:xfrm>
                <a:off x="1163" y="3597"/>
                <a:ext cx="62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reduce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3" name="Rectangle 60"/>
              <p:cNvSpPr>
                <a:spLocks noChangeArrowheads="1"/>
              </p:cNvSpPr>
              <p:nvPr/>
            </p:nvSpPr>
            <p:spPr bwMode="auto">
              <a:xfrm>
                <a:off x="1035" y="3802"/>
                <a:ext cx="91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probability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Line 71"/>
              <p:cNvSpPr>
                <a:spLocks noChangeShapeType="1"/>
              </p:cNvSpPr>
              <p:nvPr/>
            </p:nvSpPr>
            <p:spPr bwMode="auto">
              <a:xfrm>
                <a:off x="1941" y="3094"/>
                <a:ext cx="1" cy="171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25" name="Freeform 72"/>
              <p:cNvSpPr>
                <a:spLocks/>
              </p:cNvSpPr>
              <p:nvPr/>
            </p:nvSpPr>
            <p:spPr bwMode="auto">
              <a:xfrm>
                <a:off x="1890" y="3171"/>
                <a:ext cx="94" cy="94"/>
              </a:xfrm>
              <a:custGeom>
                <a:avLst/>
                <a:gdLst>
                  <a:gd name="T0" fmla="*/ 51 w 94"/>
                  <a:gd name="T1" fmla="*/ 94 h 94"/>
                  <a:gd name="T2" fmla="*/ 94 w 94"/>
                  <a:gd name="T3" fmla="*/ 0 h 94"/>
                  <a:gd name="T4" fmla="*/ 0 w 94"/>
                  <a:gd name="T5" fmla="*/ 0 h 94"/>
                  <a:gd name="T6" fmla="*/ 51 w 94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4"/>
                  <a:gd name="T13" fmla="*/ 0 h 94"/>
                  <a:gd name="T14" fmla="*/ 94 w 94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4" h="94">
                    <a:moveTo>
                      <a:pt x="51" y="94"/>
                    </a:moveTo>
                    <a:lnTo>
                      <a:pt x="94" y="0"/>
                    </a:lnTo>
                    <a:lnTo>
                      <a:pt x="0" y="0"/>
                    </a:lnTo>
                    <a:lnTo>
                      <a:pt x="51" y="94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3" name="Group 82"/>
            <p:cNvGrpSpPr>
              <a:grpSpLocks/>
            </p:cNvGrpSpPr>
            <p:nvPr/>
          </p:nvGrpSpPr>
          <p:grpSpPr bwMode="auto">
            <a:xfrm>
              <a:off x="6242050" y="4918075"/>
              <a:ext cx="2154238" cy="1679575"/>
              <a:chOff x="3515" y="3094"/>
              <a:chExt cx="1357" cy="1058"/>
            </a:xfrm>
          </p:grpSpPr>
          <p:sp>
            <p:nvSpPr>
              <p:cNvPr id="14" name="Freeform 39"/>
              <p:cNvSpPr>
                <a:spLocks/>
              </p:cNvSpPr>
              <p:nvPr/>
            </p:nvSpPr>
            <p:spPr bwMode="auto">
              <a:xfrm>
                <a:off x="3515" y="3282"/>
                <a:ext cx="1357" cy="870"/>
              </a:xfrm>
              <a:custGeom>
                <a:avLst/>
                <a:gdLst>
                  <a:gd name="T0" fmla="*/ 2147483646 w 159"/>
                  <a:gd name="T1" fmla="*/ 0 h 102"/>
                  <a:gd name="T2" fmla="*/ 2147483646 w 159"/>
                  <a:gd name="T3" fmla="*/ 0 h 102"/>
                  <a:gd name="T4" fmla="*/ 2147483646 w 159"/>
                  <a:gd name="T5" fmla="*/ 2147483646 h 102"/>
                  <a:gd name="T6" fmla="*/ 2147483646 w 159"/>
                  <a:gd name="T7" fmla="*/ 2147483646 h 102"/>
                  <a:gd name="T8" fmla="*/ 2147483646 w 159"/>
                  <a:gd name="T9" fmla="*/ 2147483646 h 102"/>
                  <a:gd name="T10" fmla="*/ 2147483646 w 159"/>
                  <a:gd name="T11" fmla="*/ 2147483646 h 102"/>
                  <a:gd name="T12" fmla="*/ 0 w 159"/>
                  <a:gd name="T13" fmla="*/ 2147483646 h 102"/>
                  <a:gd name="T14" fmla="*/ 0 w 159"/>
                  <a:gd name="T15" fmla="*/ 2147483646 h 102"/>
                  <a:gd name="T16" fmla="*/ 2147483646 w 159"/>
                  <a:gd name="T17" fmla="*/ 0 h 10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9"/>
                  <a:gd name="T28" fmla="*/ 0 h 102"/>
                  <a:gd name="T29" fmla="*/ 159 w 159"/>
                  <a:gd name="T30" fmla="*/ 102 h 10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9" h="102">
                    <a:moveTo>
                      <a:pt x="7" y="0"/>
                    </a:moveTo>
                    <a:lnTo>
                      <a:pt x="152" y="0"/>
                    </a:lnTo>
                    <a:cubicBezTo>
                      <a:pt x="156" y="0"/>
                      <a:pt x="159" y="4"/>
                      <a:pt x="159" y="8"/>
                    </a:cubicBezTo>
                    <a:lnTo>
                      <a:pt x="159" y="94"/>
                    </a:lnTo>
                    <a:cubicBezTo>
                      <a:pt x="159" y="98"/>
                      <a:pt x="156" y="102"/>
                      <a:pt x="152" y="102"/>
                    </a:cubicBezTo>
                    <a:lnTo>
                      <a:pt x="7" y="102"/>
                    </a:lnTo>
                    <a:cubicBezTo>
                      <a:pt x="3" y="102"/>
                      <a:pt x="0" y="98"/>
                      <a:pt x="0" y="94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009E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15" name="Rectangle 54"/>
              <p:cNvSpPr>
                <a:spLocks noChangeArrowheads="1"/>
              </p:cNvSpPr>
              <p:nvPr/>
            </p:nvSpPr>
            <p:spPr bwMode="auto">
              <a:xfrm>
                <a:off x="3868" y="3597"/>
                <a:ext cx="62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reduce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" name="Rectangle 55"/>
              <p:cNvSpPr>
                <a:spLocks noChangeArrowheads="1"/>
              </p:cNvSpPr>
              <p:nvPr/>
            </p:nvSpPr>
            <p:spPr bwMode="auto">
              <a:xfrm>
                <a:off x="3610" y="3802"/>
                <a:ext cx="11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consequences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7" name="Rectangle 56"/>
              <p:cNvSpPr>
                <a:spLocks noChangeArrowheads="1"/>
              </p:cNvSpPr>
              <p:nvPr/>
            </p:nvSpPr>
            <p:spPr bwMode="auto">
              <a:xfrm>
                <a:off x="3739" y="3384"/>
                <a:ext cx="92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100" b="1">
                    <a:solidFill>
                      <a:srgbClr val="FFFFFF"/>
                    </a:solidFill>
                    <a:latin typeface="Tahoma" panose="020B0604030504040204" pitchFamily="34" charset="0"/>
                  </a:rPr>
                  <a:t>Options to </a:t>
                </a:r>
                <a:endParaRPr lang="en-US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Line 73"/>
              <p:cNvSpPr>
                <a:spLocks noChangeShapeType="1"/>
              </p:cNvSpPr>
              <p:nvPr/>
            </p:nvSpPr>
            <p:spPr bwMode="auto">
              <a:xfrm>
                <a:off x="3691" y="3094"/>
                <a:ext cx="1" cy="171"/>
              </a:xfrm>
              <a:prstGeom prst="line">
                <a:avLst/>
              </a:prstGeom>
              <a:noFill/>
              <a:ln w="0">
                <a:solidFill>
                  <a:srgbClr val="606265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  <p:sp>
            <p:nvSpPr>
              <p:cNvPr id="19" name="Freeform 74"/>
              <p:cNvSpPr>
                <a:spLocks/>
              </p:cNvSpPr>
              <p:nvPr/>
            </p:nvSpPr>
            <p:spPr bwMode="auto">
              <a:xfrm>
                <a:off x="3648" y="3171"/>
                <a:ext cx="86" cy="94"/>
              </a:xfrm>
              <a:custGeom>
                <a:avLst/>
                <a:gdLst>
                  <a:gd name="T0" fmla="*/ 43 w 86"/>
                  <a:gd name="T1" fmla="*/ 94 h 94"/>
                  <a:gd name="T2" fmla="*/ 86 w 86"/>
                  <a:gd name="T3" fmla="*/ 0 h 94"/>
                  <a:gd name="T4" fmla="*/ 0 w 86"/>
                  <a:gd name="T5" fmla="*/ 0 h 94"/>
                  <a:gd name="T6" fmla="*/ 43 w 86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94"/>
                  <a:gd name="T14" fmla="*/ 86 w 86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94">
                    <a:moveTo>
                      <a:pt x="43" y="94"/>
                    </a:moveTo>
                    <a:lnTo>
                      <a:pt x="86" y="0"/>
                    </a:lnTo>
                    <a:lnTo>
                      <a:pt x="0" y="0"/>
                    </a:lnTo>
                    <a:lnTo>
                      <a:pt x="43" y="94"/>
                    </a:lnTo>
                    <a:close/>
                  </a:path>
                </a:pathLst>
              </a:custGeom>
              <a:solidFill>
                <a:srgbClr val="606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914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481328" y="75311"/>
            <a:ext cx="95646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Risk Assessment</a:t>
            </a:r>
            <a:endParaRPr lang="en-GB" altLang="en-US" b="1" dirty="0" smtClean="0"/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069848" y="1160187"/>
            <a:ext cx="1041501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All risks cannot be eliminated</a:t>
            </a:r>
          </a:p>
          <a:p>
            <a:pPr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Adapt your contingency plan to your residual risks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Appropriate equipment, tiered and commensurate with the risks involved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Establish incident management system supported by training and exercising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Response strategies</a:t>
            </a:r>
          </a:p>
          <a:p>
            <a:pPr lvl="1" indent="-420688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Places of refuge </a:t>
            </a:r>
          </a:p>
          <a:p>
            <a:pPr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 marL="800100" lvl="2" indent="0">
              <a:buFont typeface="Arial" charset="0"/>
              <a:buNone/>
              <a:defRPr/>
            </a:pPr>
            <a:endParaRPr lang="en-GB" dirty="0" smtClean="0">
              <a:ea typeface="ＭＳ Ｐゴシック" charset="0"/>
            </a:endParaRPr>
          </a:p>
          <a:p>
            <a:pPr marL="1314450" lvl="2" indent="-514350">
              <a:buFont typeface="Arial" charset="0"/>
              <a:buChar char="•"/>
              <a:defRPr/>
            </a:pP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39012" y="0"/>
            <a:ext cx="96377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b="1" dirty="0" smtClean="0"/>
              <a:t>Conclusion</a:t>
            </a:r>
            <a:endParaRPr lang="fr-FR" altLang="en-US" b="1" dirty="0" smtClean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996696" y="1237235"/>
            <a:ext cx="10122408" cy="36090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Risk assessment is an essential part of the contingency planning process</a:t>
            </a:r>
          </a:p>
          <a:p>
            <a:pPr algn="just"/>
            <a:r>
              <a:rPr lang="en-GB" altLang="en-US" dirty="0" smtClean="0"/>
              <a:t>The scope and scale of the risk assessment can be adjusted to your needs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Local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National</a:t>
            </a:r>
          </a:p>
          <a:p>
            <a:pPr algn="just"/>
            <a:r>
              <a:rPr lang="en-GB" altLang="en-US" dirty="0" smtClean="0"/>
              <a:t>Will ensure that your contingency plan is tailored to the risks you are facing 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630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829</Words>
  <Application>Microsoft Office PowerPoint</Application>
  <PresentationFormat>Widescreen</PresentationFormat>
  <Paragraphs>193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MS PGothic</vt:lpstr>
      <vt:lpstr>MS PGothic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141</cp:revision>
  <dcterms:created xsi:type="dcterms:W3CDTF">2024-09-27T05:40:49Z</dcterms:created>
  <dcterms:modified xsi:type="dcterms:W3CDTF">2025-06-02T05:15:30Z</dcterms:modified>
</cp:coreProperties>
</file>